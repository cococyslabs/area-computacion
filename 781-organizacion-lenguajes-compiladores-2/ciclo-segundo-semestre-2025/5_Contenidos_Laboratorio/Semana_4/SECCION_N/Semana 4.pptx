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10287000" cx="18288000"/>
  <p:notesSz cx="6858000" cy="9144000"/>
  <p:embeddedFontLst>
    <p:embeddedFont>
      <p:font typeface="Questrial"/>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86F03F-B3FB-44E6-961C-779DB196E455}">
  <a:tblStyle styleId="{6F86F03F-B3FB-44E6-961C-779DB196E45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Questrial-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ff8e35d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6ff8e35de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8c452c98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c8c452c98d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8c452c98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c8c452c98d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8c452c98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c8c452c98d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8c452c98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c8c452c98d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623520" y="889920"/>
            <a:ext cx="1704000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a:off x="623520" y="2304720"/>
            <a:ext cx="17040000" cy="6832200"/>
          </a:xfrm>
          <a:prstGeom prst="rect">
            <a:avLst/>
          </a:prstGeom>
          <a:noFill/>
          <a:ln>
            <a:noFill/>
          </a:ln>
        </p:spPr>
        <p:txBody>
          <a:bodyPr anchorCtr="0" anchor="t" bIns="0" lIns="0" spcFirstLastPara="1" rIns="0" wrap="square" tIns="0">
            <a:normAutofit/>
          </a:bodyPr>
          <a:lstStyle>
            <a:lvl1pPr indent="-457200" lvl="0" marL="457200" algn="l">
              <a:lnSpc>
                <a:spcPct val="90000"/>
              </a:lnSpc>
              <a:spcBef>
                <a:spcPts val="2000"/>
              </a:spcBef>
              <a:spcAft>
                <a:spcPts val="0"/>
              </a:spcAft>
              <a:buClr>
                <a:schemeClr val="dk1"/>
              </a:buClr>
              <a:buSzPts val="3600"/>
              <a:buChar char="•"/>
              <a:defRPr/>
            </a:lvl1pPr>
            <a:lvl2pPr indent="-457200" lvl="1" marL="914400" algn="l">
              <a:lnSpc>
                <a:spcPct val="90000"/>
              </a:lnSpc>
              <a:spcBef>
                <a:spcPts val="1000"/>
              </a:spcBef>
              <a:spcAft>
                <a:spcPts val="0"/>
              </a:spcAft>
              <a:buClr>
                <a:schemeClr val="dk1"/>
              </a:buClr>
              <a:buSzPts val="3600"/>
              <a:buChar char="–"/>
              <a:defRPr/>
            </a:lvl2pPr>
            <a:lvl3pPr indent="-457200" lvl="2" marL="1371600" algn="l">
              <a:lnSpc>
                <a:spcPct val="90000"/>
              </a:lnSpc>
              <a:spcBef>
                <a:spcPts val="1000"/>
              </a:spcBef>
              <a:spcAft>
                <a:spcPts val="0"/>
              </a:spcAft>
              <a:buClr>
                <a:schemeClr val="dk1"/>
              </a:buClr>
              <a:buSzPts val="3600"/>
              <a:buChar char="•"/>
              <a:defRPr/>
            </a:lvl3pPr>
            <a:lvl4pPr indent="-457200" lvl="3" marL="1828800" algn="l">
              <a:lnSpc>
                <a:spcPct val="90000"/>
              </a:lnSpc>
              <a:spcBef>
                <a:spcPts val="1000"/>
              </a:spcBef>
              <a:spcAft>
                <a:spcPts val="0"/>
              </a:spcAft>
              <a:buClr>
                <a:schemeClr val="dk1"/>
              </a:buClr>
              <a:buSzPts val="3600"/>
              <a:buChar char="–"/>
              <a:defRPr/>
            </a:lvl4pPr>
            <a:lvl5pPr indent="-457200" lvl="4" marL="2286000" algn="l">
              <a:lnSpc>
                <a:spcPct val="90000"/>
              </a:lnSpc>
              <a:spcBef>
                <a:spcPts val="1000"/>
              </a:spcBef>
              <a:spcAft>
                <a:spcPts val="0"/>
              </a:spcAft>
              <a:buClr>
                <a:schemeClr val="dk1"/>
              </a:buClr>
              <a:buSzPts val="3600"/>
              <a:buChar char="»"/>
              <a:defRPr/>
            </a:lvl5pPr>
            <a:lvl6pPr indent="-457200" lvl="5" marL="2743200" algn="l">
              <a:lnSpc>
                <a:spcPct val="90000"/>
              </a:lnSpc>
              <a:spcBef>
                <a:spcPts val="1000"/>
              </a:spcBef>
              <a:spcAft>
                <a:spcPts val="0"/>
              </a:spcAft>
              <a:buClr>
                <a:schemeClr val="dk1"/>
              </a:buClr>
              <a:buSzPts val="3600"/>
              <a:buChar char="•"/>
              <a:defRPr/>
            </a:lvl6pPr>
            <a:lvl7pPr indent="-457200" lvl="6" marL="3200400" algn="l">
              <a:lnSpc>
                <a:spcPct val="90000"/>
              </a:lnSpc>
              <a:spcBef>
                <a:spcPts val="1000"/>
              </a:spcBef>
              <a:spcAft>
                <a:spcPts val="0"/>
              </a:spcAft>
              <a:buClr>
                <a:schemeClr val="dk1"/>
              </a:buClr>
              <a:buSzPts val="3600"/>
              <a:buChar char="•"/>
              <a:defRPr/>
            </a:lvl7pPr>
            <a:lvl8pPr indent="-457200" lvl="7" marL="3657600" algn="l">
              <a:lnSpc>
                <a:spcPct val="90000"/>
              </a:lnSpc>
              <a:spcBef>
                <a:spcPts val="1000"/>
              </a:spcBef>
              <a:spcAft>
                <a:spcPts val="0"/>
              </a:spcAft>
              <a:buClr>
                <a:schemeClr val="dk1"/>
              </a:buClr>
              <a:buSzPts val="3600"/>
              <a:buChar char="•"/>
              <a:defRPr/>
            </a:lvl8pPr>
            <a:lvl9pPr indent="-457200" lvl="8" marL="4114800" algn="l">
              <a:lnSpc>
                <a:spcPct val="90000"/>
              </a:lnSpc>
              <a:spcBef>
                <a:spcPts val="1000"/>
              </a:spcBef>
              <a:spcAft>
                <a:spcPts val="0"/>
              </a:spcAft>
              <a:buClr>
                <a:schemeClr val="dk1"/>
              </a:buClr>
              <a:buSzPts val="3600"/>
              <a:buChar char="•"/>
              <a:defRPr/>
            </a:lvl9pPr>
          </a:lstStyle>
          <a:p/>
        </p:txBody>
      </p:sp>
      <p:sp>
        <p:nvSpPr>
          <p:cNvPr id="83" name="Google Shape;83;p13"/>
          <p:cNvSpPr txBox="1"/>
          <p:nvPr>
            <p:ph idx="12" type="sldNum"/>
          </p:nvPr>
        </p:nvSpPr>
        <p:spPr>
          <a:xfrm>
            <a:off x="16945200" y="9326160"/>
            <a:ext cx="1096800" cy="786000"/>
          </a:xfrm>
          <a:prstGeom prst="rect">
            <a:avLst/>
          </a:prstGeom>
          <a:noFill/>
          <a:ln>
            <a:noFill/>
          </a:ln>
        </p:spPr>
        <p:txBody>
          <a:bodyPr anchorCtr="0" anchor="ctr" bIns="182850" lIns="182850" spcFirstLastPara="1" rIns="182850" wrap="square" tIns="182850">
            <a:normAutofit/>
          </a:bodyPr>
          <a:lstStyle>
            <a:lvl1pPr indent="0" lvl="0"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2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10.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hyperlink" Target="http://www.youtube.com/watch?v=S1PVPluvV9I" TargetMode="External"/><Relationship Id="rId5"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4"/>
          <p:cNvPicPr preferRelativeResize="0"/>
          <p:nvPr/>
        </p:nvPicPr>
        <p:blipFill rotWithShape="1">
          <a:blip r:embed="rId3">
            <a:alphaModFix amt="62000"/>
          </a:blip>
          <a:srcRect b="0" l="0" r="0" t="0"/>
          <a:stretch/>
        </p:blipFill>
        <p:spPr>
          <a:xfrm>
            <a:off x="16560" y="0"/>
            <a:ext cx="18253440" cy="10286639"/>
          </a:xfrm>
          <a:prstGeom prst="rect">
            <a:avLst/>
          </a:prstGeom>
          <a:noFill/>
          <a:ln>
            <a:noFill/>
          </a:ln>
        </p:spPr>
      </p:pic>
      <p:graphicFrame>
        <p:nvGraphicFramePr>
          <p:cNvPr id="89" name="Google Shape;89;p14"/>
          <p:cNvGraphicFramePr/>
          <p:nvPr/>
        </p:nvGraphicFramePr>
        <p:xfrm>
          <a:off x="10656720" y="1940400"/>
          <a:ext cx="3000000" cy="3000000"/>
        </p:xfrm>
        <a:graphic>
          <a:graphicData uri="http://schemas.openxmlformats.org/drawingml/2006/table">
            <a:tbl>
              <a:tblPr>
                <a:noFill/>
                <a:tableStyleId>{6F86F03F-B3FB-44E6-961C-779DB196E455}</a:tableStyleId>
              </a:tblPr>
              <a:tblGrid>
                <a:gridCol w="3036250"/>
                <a:gridCol w="4344500"/>
              </a:tblGrid>
              <a:tr h="64440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Día, Fecha:</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Arial"/>
                          <a:ea typeface="Arial"/>
                          <a:cs typeface="Arial"/>
                          <a:sym typeface="Arial"/>
                        </a:rPr>
                        <a:t>Martes, </a:t>
                      </a:r>
                      <a:r>
                        <a:rPr lang="en-US" sz="2800"/>
                        <a:t>17</a:t>
                      </a:r>
                      <a:r>
                        <a:rPr b="0" lang="en-US" sz="2800" u="none" cap="none" strike="noStrike">
                          <a:solidFill>
                            <a:srgbClr val="000000"/>
                          </a:solidFill>
                          <a:latin typeface="Arial"/>
                          <a:ea typeface="Arial"/>
                          <a:cs typeface="Arial"/>
                          <a:sym typeface="Arial"/>
                        </a:rPr>
                        <a:t>/</a:t>
                      </a:r>
                      <a:r>
                        <a:rPr lang="en-US" sz="2800"/>
                        <a:t>02</a:t>
                      </a:r>
                      <a:r>
                        <a:rPr b="0" lang="en-US" sz="2800" u="none" cap="none" strike="noStrike">
                          <a:solidFill>
                            <a:srgbClr val="000000"/>
                          </a:solidFill>
                          <a:latin typeface="Arial"/>
                          <a:ea typeface="Arial"/>
                          <a:cs typeface="Arial"/>
                          <a:sym typeface="Arial"/>
                        </a:rPr>
                        <a:t>/202</a:t>
                      </a:r>
                      <a:r>
                        <a:rPr lang="en-US" sz="2800"/>
                        <a:t>6</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72575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Hora de inicio:</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800"/>
                        <a:t>17</a:t>
                      </a:r>
                      <a:r>
                        <a:rPr b="0" lang="en-US" sz="2800" u="none" cap="none" strike="noStrike">
                          <a:solidFill>
                            <a:srgbClr val="000000"/>
                          </a:solidFill>
                          <a:latin typeface="Arial"/>
                          <a:ea typeface="Arial"/>
                          <a:cs typeface="Arial"/>
                          <a:sym typeface="Arial"/>
                        </a:rPr>
                        <a:t>:</a:t>
                      </a:r>
                      <a:r>
                        <a:rPr lang="en-US" sz="2800"/>
                        <a:t>20</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0" name="Google Shape;90;p14"/>
          <p:cNvSpPr/>
          <p:nvPr/>
        </p:nvSpPr>
        <p:spPr>
          <a:xfrm>
            <a:off x="2880000" y="4516560"/>
            <a:ext cx="11956800" cy="1888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5000" u="none" cap="none" strike="noStrike">
                <a:solidFill>
                  <a:srgbClr val="000000"/>
                </a:solidFill>
                <a:latin typeface="Arial"/>
                <a:ea typeface="Arial"/>
                <a:cs typeface="Arial"/>
                <a:sym typeface="Arial"/>
              </a:rPr>
              <a:t>Organización de Lenguajes y Compiladores 2 </a:t>
            </a:r>
            <a:r>
              <a:rPr lang="en-US" sz="5000"/>
              <a:t>N</a:t>
            </a:r>
            <a:endParaRPr b="0" i="0" sz="5000" u="none" cap="none" strike="noStrike">
              <a:solidFill>
                <a:srgbClr val="000000"/>
              </a:solidFill>
              <a:latin typeface="Arial"/>
              <a:ea typeface="Arial"/>
              <a:cs typeface="Arial"/>
              <a:sym typeface="Arial"/>
            </a:endParaRPr>
          </a:p>
        </p:txBody>
      </p:sp>
      <p:sp>
        <p:nvSpPr>
          <p:cNvPr id="91" name="Google Shape;91;p14"/>
          <p:cNvSpPr/>
          <p:nvPr/>
        </p:nvSpPr>
        <p:spPr>
          <a:xfrm>
            <a:off x="3557520" y="6189120"/>
            <a:ext cx="11172000" cy="975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lang="en-US" sz="4000"/>
              <a:t>Omar Alejandro Vides Esteban</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cxnSp>
        <p:nvCxnSpPr>
          <p:cNvPr id="97" name="Google Shape;97;p15"/>
          <p:cNvCxnSpPr/>
          <p:nvPr/>
        </p:nvCxnSpPr>
        <p:spPr>
          <a:xfrm>
            <a:off x="1789657" y="6030622"/>
            <a:ext cx="45000" cy="2831700"/>
          </a:xfrm>
          <a:prstGeom prst="straightConnector1">
            <a:avLst/>
          </a:prstGeom>
          <a:noFill/>
          <a:ln cap="flat" cmpd="sng" w="38100">
            <a:solidFill>
              <a:srgbClr val="6AD3F3"/>
            </a:solidFill>
            <a:prstDash val="solid"/>
            <a:round/>
            <a:headEnd len="sm" w="sm" type="none"/>
            <a:tailEnd len="sm" w="sm" type="none"/>
          </a:ln>
        </p:spPr>
      </p:cxnSp>
      <p:sp>
        <p:nvSpPr>
          <p:cNvPr id="98" name="Google Shape;98;p15"/>
          <p:cNvSpPr txBox="1"/>
          <p:nvPr/>
        </p:nvSpPr>
        <p:spPr>
          <a:xfrm>
            <a:off x="1808707" y="1362075"/>
            <a:ext cx="13530446" cy="3548678"/>
          </a:xfrm>
          <a:prstGeom prst="rect">
            <a:avLst/>
          </a:prstGeom>
          <a:noFill/>
          <a:ln>
            <a:noFill/>
          </a:ln>
        </p:spPr>
        <p:txBody>
          <a:bodyPr anchorCtr="0" anchor="t" bIns="0" lIns="0" spcFirstLastPara="1" rIns="0" wrap="square" tIns="0">
            <a:spAutoFit/>
          </a:bodyPr>
          <a:lstStyle/>
          <a:p>
            <a:pPr indent="0" lvl="0" marL="0" marR="0" rtl="0" algn="l">
              <a:lnSpc>
                <a:spcPct val="85998"/>
              </a:lnSpc>
              <a:spcBef>
                <a:spcPts val="0"/>
              </a:spcBef>
              <a:spcAft>
                <a:spcPts val="0"/>
              </a:spcAft>
              <a:buNone/>
            </a:pPr>
            <a:r>
              <a:rPr b="0" i="0" lang="en-US" sz="10492" u="none" cap="none" strike="noStrike">
                <a:solidFill>
                  <a:srgbClr val="FFFFFF"/>
                </a:solidFill>
                <a:latin typeface="Questrial"/>
                <a:ea typeface="Questrial"/>
                <a:cs typeface="Questrial"/>
                <a:sym typeface="Questrial"/>
              </a:rPr>
              <a:t>Organización de Lenguajes y Compiladores 2</a:t>
            </a:r>
            <a:endParaRPr/>
          </a:p>
        </p:txBody>
      </p:sp>
      <p:sp>
        <p:nvSpPr>
          <p:cNvPr id="99" name="Google Shape;99;p15"/>
          <p:cNvSpPr txBox="1"/>
          <p:nvPr/>
        </p:nvSpPr>
        <p:spPr>
          <a:xfrm>
            <a:off x="2018032" y="6030619"/>
            <a:ext cx="11710500" cy="639300"/>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lang="en-US" sz="4154">
                <a:solidFill>
                  <a:srgbClr val="FFFFFF"/>
                </a:solidFill>
              </a:rPr>
              <a:t>Primer Semestre</a:t>
            </a:r>
            <a:endParaRPr/>
          </a:p>
        </p:txBody>
      </p:sp>
      <p:sp>
        <p:nvSpPr>
          <p:cNvPr id="100" name="Google Shape;100;p15"/>
          <p:cNvSpPr txBox="1"/>
          <p:nvPr/>
        </p:nvSpPr>
        <p:spPr>
          <a:xfrm>
            <a:off x="2018029" y="6939525"/>
            <a:ext cx="8011200" cy="1899600"/>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0" i="0" lang="en-US" sz="3248" u="none" cap="none" strike="noStrike">
                <a:solidFill>
                  <a:srgbClr val="FFFFFF"/>
                </a:solidFill>
                <a:latin typeface="Arial"/>
                <a:ea typeface="Arial"/>
                <a:cs typeface="Arial"/>
                <a:sym typeface="Arial"/>
              </a:rPr>
              <a:t>Escuela de Ciencias Y Sistemas</a:t>
            </a:r>
            <a:endParaRPr/>
          </a:p>
          <a:p>
            <a:pPr indent="0" lvl="0" marL="0" marR="0" rtl="0" algn="l">
              <a:lnSpc>
                <a:spcPct val="139993"/>
              </a:lnSpc>
              <a:spcBef>
                <a:spcPts val="0"/>
              </a:spcBef>
              <a:spcAft>
                <a:spcPts val="0"/>
              </a:spcAft>
              <a:buNone/>
            </a:pPr>
            <a:r>
              <a:rPr b="0" i="0" lang="en-US" sz="3248" u="none" cap="none" strike="noStrike">
                <a:solidFill>
                  <a:srgbClr val="FFFFFF"/>
                </a:solidFill>
                <a:latin typeface="Arial"/>
                <a:ea typeface="Arial"/>
                <a:cs typeface="Arial"/>
                <a:sym typeface="Arial"/>
              </a:rPr>
              <a:t>Facultad de Ingeniería</a:t>
            </a:r>
            <a:endParaRPr/>
          </a:p>
          <a:p>
            <a:pPr indent="0" lvl="0" marL="0" marR="0" rtl="0" algn="l">
              <a:lnSpc>
                <a:spcPct val="139993"/>
              </a:lnSpc>
              <a:spcBef>
                <a:spcPts val="0"/>
              </a:spcBef>
              <a:spcAft>
                <a:spcPts val="0"/>
              </a:spcAft>
              <a:buNone/>
            </a:pPr>
            <a:r>
              <a:rPr b="0" i="0" lang="en-US" sz="3248" u="none" cap="none" strike="noStrike">
                <a:solidFill>
                  <a:srgbClr val="FFFFFF"/>
                </a:solidFill>
                <a:latin typeface="Arial"/>
                <a:ea typeface="Arial"/>
                <a:cs typeface="Arial"/>
                <a:sym typeface="Arial"/>
              </a:rPr>
              <a:t>Universidad de San Carlos de Guatemala</a:t>
            </a:r>
            <a:endParaRPr/>
          </a:p>
        </p:txBody>
      </p:sp>
      <p:sp>
        <p:nvSpPr>
          <p:cNvPr id="101" name="Google Shape;101;p15"/>
          <p:cNvSpPr/>
          <p:nvPr/>
        </p:nvSpPr>
        <p:spPr>
          <a:xfrm>
            <a:off x="12785514" y="0"/>
            <a:ext cx="5502486" cy="1458309"/>
          </a:xfrm>
          <a:custGeom>
            <a:rect b="b" l="l" r="r" t="t"/>
            <a:pathLst>
              <a:path extrusionOk="0" h="1458309" w="5502486">
                <a:moveTo>
                  <a:pt x="0" y="0"/>
                </a:moveTo>
                <a:lnTo>
                  <a:pt x="5502486" y="0"/>
                </a:lnTo>
                <a:lnTo>
                  <a:pt x="5502486" y="1458309"/>
                </a:lnTo>
                <a:lnTo>
                  <a:pt x="0" y="145830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07" name="Google Shape;107;p16"/>
          <p:cNvSpPr/>
          <p:nvPr/>
        </p:nvSpPr>
        <p:spPr>
          <a:xfrm>
            <a:off x="8279386" y="1336367"/>
            <a:ext cx="807245" cy="1088197"/>
          </a:xfrm>
          <a:custGeom>
            <a:rect b="b" l="l" r="r" t="t"/>
            <a:pathLst>
              <a:path extrusionOk="0" h="1088197" w="807245">
                <a:moveTo>
                  <a:pt x="0" y="0"/>
                </a:moveTo>
                <a:lnTo>
                  <a:pt x="807244" y="0"/>
                </a:lnTo>
                <a:lnTo>
                  <a:pt x="807244" y="1088197"/>
                </a:lnTo>
                <a:lnTo>
                  <a:pt x="0" y="1088197"/>
                </a:lnTo>
                <a:lnTo>
                  <a:pt x="0" y="0"/>
                </a:lnTo>
                <a:close/>
              </a:path>
            </a:pathLst>
          </a:custGeom>
          <a:blipFill rotWithShape="1">
            <a:blip r:embed="rId4">
              <a:alphaModFix/>
            </a:blip>
            <a:stretch>
              <a:fillRect b="0" l="0" r="0" t="0"/>
            </a:stretch>
          </a:blipFill>
          <a:ln>
            <a:noFill/>
          </a:ln>
        </p:spPr>
      </p:sp>
      <p:sp>
        <p:nvSpPr>
          <p:cNvPr id="108" name="Google Shape;108;p16"/>
          <p:cNvSpPr/>
          <p:nvPr/>
        </p:nvSpPr>
        <p:spPr>
          <a:xfrm>
            <a:off x="8222010" y="2866805"/>
            <a:ext cx="921977" cy="1006126"/>
          </a:xfrm>
          <a:custGeom>
            <a:rect b="b" l="l" r="r" t="t"/>
            <a:pathLst>
              <a:path extrusionOk="0" h="1006126" w="921977">
                <a:moveTo>
                  <a:pt x="0" y="0"/>
                </a:moveTo>
                <a:lnTo>
                  <a:pt x="921977" y="0"/>
                </a:lnTo>
                <a:lnTo>
                  <a:pt x="921977" y="1006126"/>
                </a:lnTo>
                <a:lnTo>
                  <a:pt x="0" y="1006126"/>
                </a:lnTo>
                <a:lnTo>
                  <a:pt x="0" y="0"/>
                </a:lnTo>
                <a:close/>
              </a:path>
            </a:pathLst>
          </a:custGeom>
          <a:blipFill rotWithShape="1">
            <a:blip r:embed="rId5">
              <a:alphaModFix/>
            </a:blip>
            <a:stretch>
              <a:fillRect b="0" l="0" r="0" t="0"/>
            </a:stretch>
          </a:blipFill>
          <a:ln>
            <a:noFill/>
          </a:ln>
        </p:spPr>
      </p:sp>
      <p:sp>
        <p:nvSpPr>
          <p:cNvPr id="109" name="Google Shape;109;p16"/>
          <p:cNvSpPr/>
          <p:nvPr/>
        </p:nvSpPr>
        <p:spPr>
          <a:xfrm>
            <a:off x="8222023" y="4315146"/>
            <a:ext cx="921977" cy="1034872"/>
          </a:xfrm>
          <a:custGeom>
            <a:rect b="b" l="l" r="r" t="t"/>
            <a:pathLst>
              <a:path extrusionOk="0" h="1034872" w="921977">
                <a:moveTo>
                  <a:pt x="0" y="0"/>
                </a:moveTo>
                <a:lnTo>
                  <a:pt x="921977" y="0"/>
                </a:lnTo>
                <a:lnTo>
                  <a:pt x="921977" y="1034873"/>
                </a:lnTo>
                <a:lnTo>
                  <a:pt x="0" y="1034873"/>
                </a:lnTo>
                <a:lnTo>
                  <a:pt x="0" y="0"/>
                </a:lnTo>
                <a:close/>
              </a:path>
            </a:pathLst>
          </a:custGeom>
          <a:blipFill rotWithShape="1">
            <a:blip r:embed="rId6">
              <a:alphaModFix/>
            </a:blip>
            <a:stretch>
              <a:fillRect b="0" l="0" r="0" t="0"/>
            </a:stretch>
          </a:blipFill>
          <a:ln>
            <a:noFill/>
          </a:ln>
        </p:spPr>
      </p:sp>
      <p:sp>
        <p:nvSpPr>
          <p:cNvPr id="110" name="Google Shape;110;p16"/>
          <p:cNvSpPr/>
          <p:nvPr/>
        </p:nvSpPr>
        <p:spPr>
          <a:xfrm>
            <a:off x="8222023" y="7094151"/>
            <a:ext cx="921977" cy="791224"/>
          </a:xfrm>
          <a:custGeom>
            <a:rect b="b" l="l" r="r" t="t"/>
            <a:pathLst>
              <a:path extrusionOk="0" h="791224" w="921977">
                <a:moveTo>
                  <a:pt x="0" y="0"/>
                </a:moveTo>
                <a:lnTo>
                  <a:pt x="921977" y="0"/>
                </a:lnTo>
                <a:lnTo>
                  <a:pt x="921977" y="791224"/>
                </a:lnTo>
                <a:lnTo>
                  <a:pt x="0" y="791224"/>
                </a:lnTo>
                <a:lnTo>
                  <a:pt x="0" y="0"/>
                </a:lnTo>
                <a:close/>
              </a:path>
            </a:pathLst>
          </a:custGeom>
          <a:blipFill rotWithShape="1">
            <a:blip r:embed="rId7">
              <a:alphaModFix/>
            </a:blip>
            <a:stretch>
              <a:fillRect b="0" l="0" r="0" t="0"/>
            </a:stretch>
          </a:blipFill>
          <a:ln>
            <a:noFill/>
          </a:ln>
        </p:spPr>
      </p:sp>
      <p:sp>
        <p:nvSpPr>
          <p:cNvPr id="111" name="Google Shape;111;p16"/>
          <p:cNvSpPr/>
          <p:nvPr/>
        </p:nvSpPr>
        <p:spPr>
          <a:xfrm>
            <a:off x="8222023" y="5732477"/>
            <a:ext cx="921977" cy="875040"/>
          </a:xfrm>
          <a:custGeom>
            <a:rect b="b" l="l" r="r" t="t"/>
            <a:pathLst>
              <a:path extrusionOk="0" h="875040" w="921977">
                <a:moveTo>
                  <a:pt x="0" y="0"/>
                </a:moveTo>
                <a:lnTo>
                  <a:pt x="921977" y="0"/>
                </a:lnTo>
                <a:lnTo>
                  <a:pt x="921977" y="875040"/>
                </a:lnTo>
                <a:lnTo>
                  <a:pt x="0" y="875040"/>
                </a:lnTo>
                <a:lnTo>
                  <a:pt x="0" y="0"/>
                </a:lnTo>
                <a:close/>
              </a:path>
            </a:pathLst>
          </a:custGeom>
          <a:blipFill rotWithShape="1">
            <a:blip r:embed="rId8">
              <a:alphaModFix/>
            </a:blip>
            <a:stretch>
              <a:fillRect b="0" l="0" r="0" t="0"/>
            </a:stretch>
          </a:blipFill>
          <a:ln>
            <a:noFill/>
          </a:ln>
        </p:spPr>
      </p:sp>
      <p:grpSp>
        <p:nvGrpSpPr>
          <p:cNvPr id="112" name="Google Shape;112;p16"/>
          <p:cNvGrpSpPr/>
          <p:nvPr/>
        </p:nvGrpSpPr>
        <p:grpSpPr>
          <a:xfrm>
            <a:off x="9482417" y="1382708"/>
            <a:ext cx="3466167" cy="995540"/>
            <a:chOff x="0" y="-192881"/>
            <a:chExt cx="4621557" cy="1327387"/>
          </a:xfrm>
        </p:grpSpPr>
        <p:grpSp>
          <p:nvGrpSpPr>
            <p:cNvPr id="113" name="Google Shape;113;p16"/>
            <p:cNvGrpSpPr/>
            <p:nvPr/>
          </p:nvGrpSpPr>
          <p:grpSpPr>
            <a:xfrm>
              <a:off x="0" y="-192881"/>
              <a:ext cx="4621557" cy="1327387"/>
              <a:chOff x="0" y="-38100"/>
              <a:chExt cx="912900" cy="262200"/>
            </a:xfrm>
          </p:grpSpPr>
          <p:sp>
            <p:nvSpPr>
              <p:cNvPr id="114" name="Google Shape;114;p16"/>
              <p:cNvSpPr/>
              <p:nvPr/>
            </p:nvSpPr>
            <p:spPr>
              <a:xfrm>
                <a:off x="0" y="0"/>
                <a:ext cx="912891" cy="224084"/>
              </a:xfrm>
              <a:custGeom>
                <a:rect b="b" l="l" r="r" t="t"/>
                <a:pathLst>
                  <a:path extrusionOk="0" h="224084" w="912891">
                    <a:moveTo>
                      <a:pt x="112042" y="0"/>
                    </a:moveTo>
                    <a:lnTo>
                      <a:pt x="800849" y="0"/>
                    </a:lnTo>
                    <a:cubicBezTo>
                      <a:pt x="830564" y="0"/>
                      <a:pt x="859063" y="11804"/>
                      <a:pt x="880075" y="32816"/>
                    </a:cubicBezTo>
                    <a:cubicBezTo>
                      <a:pt x="901087" y="53828"/>
                      <a:pt x="912891" y="82327"/>
                      <a:pt x="912891" y="112042"/>
                    </a:cubicBezTo>
                    <a:lnTo>
                      <a:pt x="912891" y="112042"/>
                    </a:lnTo>
                    <a:cubicBezTo>
                      <a:pt x="912891" y="173921"/>
                      <a:pt x="862728" y="224084"/>
                      <a:pt x="800849" y="224084"/>
                    </a:cubicBezTo>
                    <a:lnTo>
                      <a:pt x="112042" y="224084"/>
                    </a:lnTo>
                    <a:cubicBezTo>
                      <a:pt x="50163" y="224084"/>
                      <a:pt x="0" y="173921"/>
                      <a:pt x="0" y="112042"/>
                    </a:cubicBezTo>
                    <a:lnTo>
                      <a:pt x="0" y="112042"/>
                    </a:lnTo>
                    <a:cubicBezTo>
                      <a:pt x="0" y="50163"/>
                      <a:pt x="50163" y="0"/>
                      <a:pt x="112042"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txBox="1"/>
              <p:nvPr/>
            </p:nvSpPr>
            <p:spPr>
              <a:xfrm>
                <a:off x="0" y="-38100"/>
                <a:ext cx="912900" cy="262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 name="Google Shape;116;p16"/>
            <p:cNvSpPr txBox="1"/>
            <p:nvPr/>
          </p:nvSpPr>
          <p:spPr>
            <a:xfrm>
              <a:off x="472788" y="171040"/>
              <a:ext cx="3852600" cy="616200"/>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lang="en-US" sz="3002">
                  <a:solidFill>
                    <a:srgbClr val="FFFFFF"/>
                  </a:solidFill>
                </a:rPr>
                <a:t>Avisos</a:t>
              </a:r>
              <a:endParaRPr/>
            </a:p>
          </p:txBody>
        </p:sp>
      </p:grpSp>
      <p:grpSp>
        <p:nvGrpSpPr>
          <p:cNvPr id="117" name="Google Shape;117;p16"/>
          <p:cNvGrpSpPr/>
          <p:nvPr/>
        </p:nvGrpSpPr>
        <p:grpSpPr>
          <a:xfrm>
            <a:off x="9482417" y="2872123"/>
            <a:ext cx="6218968" cy="995480"/>
            <a:chOff x="0" y="-192881"/>
            <a:chExt cx="8291957" cy="1327306"/>
          </a:xfrm>
        </p:grpSpPr>
        <p:grpSp>
          <p:nvGrpSpPr>
            <p:cNvPr id="118" name="Google Shape;118;p16"/>
            <p:cNvGrpSpPr/>
            <p:nvPr/>
          </p:nvGrpSpPr>
          <p:grpSpPr>
            <a:xfrm>
              <a:off x="0" y="-192881"/>
              <a:ext cx="8291957" cy="1327306"/>
              <a:chOff x="0" y="-38100"/>
              <a:chExt cx="1637918" cy="262184"/>
            </a:xfrm>
          </p:grpSpPr>
          <p:sp>
            <p:nvSpPr>
              <p:cNvPr id="119" name="Google Shape;119;p16"/>
              <p:cNvSpPr/>
              <p:nvPr/>
            </p:nvSpPr>
            <p:spPr>
              <a:xfrm>
                <a:off x="0" y="0"/>
                <a:ext cx="1637917" cy="224084"/>
              </a:xfrm>
              <a:custGeom>
                <a:rect b="b" l="l" r="r" t="t"/>
                <a:pathLst>
                  <a:path extrusionOk="0" h="224084" w="1637917">
                    <a:moveTo>
                      <a:pt x="63489" y="0"/>
                    </a:moveTo>
                    <a:lnTo>
                      <a:pt x="1574428" y="0"/>
                    </a:lnTo>
                    <a:cubicBezTo>
                      <a:pt x="1591267" y="0"/>
                      <a:pt x="1607415" y="6689"/>
                      <a:pt x="1619322" y="18596"/>
                    </a:cubicBezTo>
                    <a:cubicBezTo>
                      <a:pt x="1631229" y="30502"/>
                      <a:pt x="1637917" y="46651"/>
                      <a:pt x="1637917" y="63489"/>
                    </a:cubicBezTo>
                    <a:lnTo>
                      <a:pt x="1637917" y="160595"/>
                    </a:lnTo>
                    <a:cubicBezTo>
                      <a:pt x="1637917" y="177433"/>
                      <a:pt x="1631229" y="193582"/>
                      <a:pt x="1619322" y="205488"/>
                    </a:cubicBezTo>
                    <a:cubicBezTo>
                      <a:pt x="1607415" y="217395"/>
                      <a:pt x="1591267" y="224084"/>
                      <a:pt x="1574428" y="224084"/>
                    </a:cubicBezTo>
                    <a:lnTo>
                      <a:pt x="63489" y="224084"/>
                    </a:lnTo>
                    <a:cubicBezTo>
                      <a:pt x="46651" y="224084"/>
                      <a:pt x="30502" y="217395"/>
                      <a:pt x="18596" y="205488"/>
                    </a:cubicBezTo>
                    <a:cubicBezTo>
                      <a:pt x="6689" y="193582"/>
                      <a:pt x="0" y="177433"/>
                      <a:pt x="0" y="160595"/>
                    </a:cubicBezTo>
                    <a:lnTo>
                      <a:pt x="0" y="63489"/>
                    </a:lnTo>
                    <a:cubicBezTo>
                      <a:pt x="0" y="46651"/>
                      <a:pt x="6689" y="30502"/>
                      <a:pt x="18596" y="18596"/>
                    </a:cubicBezTo>
                    <a:cubicBezTo>
                      <a:pt x="30502" y="6689"/>
                      <a:pt x="46651" y="0"/>
                      <a:pt x="63489"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txBox="1"/>
              <p:nvPr/>
            </p:nvSpPr>
            <p:spPr>
              <a:xfrm>
                <a:off x="0" y="-38100"/>
                <a:ext cx="1637918" cy="26218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16"/>
            <p:cNvSpPr txBox="1"/>
            <p:nvPr/>
          </p:nvSpPr>
          <p:spPr>
            <a:xfrm>
              <a:off x="848281" y="171040"/>
              <a:ext cx="6912300" cy="616200"/>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lang="en-US" sz="3002">
                  <a:solidFill>
                    <a:srgbClr val="FFFFFF"/>
                  </a:solidFill>
                </a:rPr>
                <a:t>Lenguajes Turing Completos</a:t>
              </a:r>
              <a:endParaRPr/>
            </a:p>
          </p:txBody>
        </p:sp>
      </p:grpSp>
      <p:grpSp>
        <p:nvGrpSpPr>
          <p:cNvPr id="122" name="Google Shape;122;p16"/>
          <p:cNvGrpSpPr/>
          <p:nvPr/>
        </p:nvGrpSpPr>
        <p:grpSpPr>
          <a:xfrm>
            <a:off x="9482392" y="4281192"/>
            <a:ext cx="6219011" cy="1017292"/>
            <a:chOff x="0" y="-38100"/>
            <a:chExt cx="1637918" cy="267927"/>
          </a:xfrm>
        </p:grpSpPr>
        <p:sp>
          <p:nvSpPr>
            <p:cNvPr id="123" name="Google Shape;123;p16"/>
            <p:cNvSpPr/>
            <p:nvPr/>
          </p:nvSpPr>
          <p:spPr>
            <a:xfrm>
              <a:off x="0" y="0"/>
              <a:ext cx="1637917" cy="229827"/>
            </a:xfrm>
            <a:custGeom>
              <a:rect b="b" l="l" r="r" t="t"/>
              <a:pathLst>
                <a:path extrusionOk="0" h="229827" w="1637917">
                  <a:moveTo>
                    <a:pt x="63489" y="0"/>
                  </a:moveTo>
                  <a:lnTo>
                    <a:pt x="1574428" y="0"/>
                  </a:lnTo>
                  <a:cubicBezTo>
                    <a:pt x="1591267" y="0"/>
                    <a:pt x="1607415" y="6689"/>
                    <a:pt x="1619322" y="18596"/>
                  </a:cubicBezTo>
                  <a:cubicBezTo>
                    <a:pt x="1631229" y="30502"/>
                    <a:pt x="1637917" y="46651"/>
                    <a:pt x="1637917" y="63489"/>
                  </a:cubicBezTo>
                  <a:lnTo>
                    <a:pt x="1637917" y="166338"/>
                  </a:lnTo>
                  <a:cubicBezTo>
                    <a:pt x="1637917" y="201402"/>
                    <a:pt x="1609492" y="229827"/>
                    <a:pt x="1574428" y="229827"/>
                  </a:cubicBezTo>
                  <a:lnTo>
                    <a:pt x="63489" y="229827"/>
                  </a:lnTo>
                  <a:cubicBezTo>
                    <a:pt x="46651" y="229827"/>
                    <a:pt x="30502" y="223138"/>
                    <a:pt x="18596" y="211232"/>
                  </a:cubicBezTo>
                  <a:cubicBezTo>
                    <a:pt x="6689" y="199325"/>
                    <a:pt x="0" y="183177"/>
                    <a:pt x="0" y="166338"/>
                  </a:cubicBezTo>
                  <a:lnTo>
                    <a:pt x="0" y="63489"/>
                  </a:lnTo>
                  <a:cubicBezTo>
                    <a:pt x="0" y="46651"/>
                    <a:pt x="6689" y="30502"/>
                    <a:pt x="18596" y="18596"/>
                  </a:cubicBezTo>
                  <a:cubicBezTo>
                    <a:pt x="30502" y="6689"/>
                    <a:pt x="46651" y="0"/>
                    <a:pt x="63489"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txBox="1"/>
            <p:nvPr/>
          </p:nvSpPr>
          <p:spPr>
            <a:xfrm>
              <a:off x="0" y="-38100"/>
              <a:ext cx="1637918" cy="26792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5" name="Google Shape;125;p16"/>
          <p:cNvSpPr txBox="1"/>
          <p:nvPr/>
        </p:nvSpPr>
        <p:spPr>
          <a:xfrm>
            <a:off x="9831608" y="4601578"/>
            <a:ext cx="5520600" cy="462000"/>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lang="en-US" sz="3002">
                <a:solidFill>
                  <a:srgbClr val="FFFFFF"/>
                </a:solidFill>
              </a:rPr>
              <a:t>Estructuras de Control</a:t>
            </a:r>
            <a:endParaRPr/>
          </a:p>
        </p:txBody>
      </p:sp>
      <p:grpSp>
        <p:nvGrpSpPr>
          <p:cNvPr id="126" name="Google Shape;126;p16"/>
          <p:cNvGrpSpPr/>
          <p:nvPr/>
        </p:nvGrpSpPr>
        <p:grpSpPr>
          <a:xfrm>
            <a:off x="9482392" y="5597271"/>
            <a:ext cx="5514422" cy="995480"/>
            <a:chOff x="0" y="-192881"/>
            <a:chExt cx="7352563" cy="1327306"/>
          </a:xfrm>
        </p:grpSpPr>
        <p:grpSp>
          <p:nvGrpSpPr>
            <p:cNvPr id="127" name="Google Shape;127;p16"/>
            <p:cNvGrpSpPr/>
            <p:nvPr/>
          </p:nvGrpSpPr>
          <p:grpSpPr>
            <a:xfrm>
              <a:off x="0" y="-192881"/>
              <a:ext cx="7352563" cy="1327306"/>
              <a:chOff x="0" y="-38100"/>
              <a:chExt cx="1452358" cy="262184"/>
            </a:xfrm>
          </p:grpSpPr>
          <p:sp>
            <p:nvSpPr>
              <p:cNvPr id="128" name="Google Shape;128;p16"/>
              <p:cNvSpPr/>
              <p:nvPr/>
            </p:nvSpPr>
            <p:spPr>
              <a:xfrm>
                <a:off x="0" y="0"/>
                <a:ext cx="1452358" cy="224084"/>
              </a:xfrm>
              <a:custGeom>
                <a:rect b="b" l="l" r="r" t="t"/>
                <a:pathLst>
                  <a:path extrusionOk="0" h="224084" w="1452358">
                    <a:moveTo>
                      <a:pt x="71601" y="0"/>
                    </a:moveTo>
                    <a:lnTo>
                      <a:pt x="1380757" y="0"/>
                    </a:lnTo>
                    <a:cubicBezTo>
                      <a:pt x="1399747" y="0"/>
                      <a:pt x="1417959" y="7544"/>
                      <a:pt x="1431387" y="20971"/>
                    </a:cubicBezTo>
                    <a:cubicBezTo>
                      <a:pt x="1444815" y="34399"/>
                      <a:pt x="1452358" y="52611"/>
                      <a:pt x="1452358" y="71601"/>
                    </a:cubicBezTo>
                    <a:lnTo>
                      <a:pt x="1452358" y="152483"/>
                    </a:lnTo>
                    <a:cubicBezTo>
                      <a:pt x="1452358" y="192027"/>
                      <a:pt x="1420301" y="224084"/>
                      <a:pt x="1380757" y="224084"/>
                    </a:cubicBezTo>
                    <a:lnTo>
                      <a:pt x="71601" y="224084"/>
                    </a:lnTo>
                    <a:cubicBezTo>
                      <a:pt x="32057" y="224084"/>
                      <a:pt x="0" y="192027"/>
                      <a:pt x="0" y="152483"/>
                    </a:cubicBezTo>
                    <a:lnTo>
                      <a:pt x="0" y="71601"/>
                    </a:lnTo>
                    <a:cubicBezTo>
                      <a:pt x="0" y="32057"/>
                      <a:pt x="32057" y="0"/>
                      <a:pt x="71601"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txBox="1"/>
              <p:nvPr/>
            </p:nvSpPr>
            <p:spPr>
              <a:xfrm>
                <a:off x="0" y="-38100"/>
                <a:ext cx="1452358" cy="26218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0" name="Google Shape;130;p16"/>
            <p:cNvSpPr txBox="1"/>
            <p:nvPr/>
          </p:nvSpPr>
          <p:spPr>
            <a:xfrm>
              <a:off x="706764" y="165325"/>
              <a:ext cx="6201900" cy="616200"/>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lang="en-US" sz="3002">
                  <a:solidFill>
                    <a:srgbClr val="FFFFFF"/>
                  </a:solidFill>
                </a:rPr>
                <a:t>Ciclos</a:t>
              </a:r>
              <a:endParaRPr/>
            </a:p>
          </p:txBody>
        </p:sp>
      </p:grpSp>
      <p:sp>
        <p:nvSpPr>
          <p:cNvPr id="131" name="Google Shape;131;p16"/>
          <p:cNvSpPr txBox="1"/>
          <p:nvPr/>
        </p:nvSpPr>
        <p:spPr>
          <a:xfrm>
            <a:off x="1028700" y="2155240"/>
            <a:ext cx="5460128" cy="1717676"/>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9999" u="none" cap="none" strike="noStrike">
                <a:solidFill>
                  <a:srgbClr val="FFFFFF"/>
                </a:solidFill>
                <a:latin typeface="Questrial"/>
                <a:ea typeface="Questrial"/>
                <a:cs typeface="Questrial"/>
                <a:sym typeface="Questrial"/>
              </a:rPr>
              <a:t>Agenda</a:t>
            </a:r>
            <a:endParaRPr/>
          </a:p>
        </p:txBody>
      </p:sp>
      <p:grpSp>
        <p:nvGrpSpPr>
          <p:cNvPr id="132" name="Google Shape;132;p16"/>
          <p:cNvGrpSpPr/>
          <p:nvPr/>
        </p:nvGrpSpPr>
        <p:grpSpPr>
          <a:xfrm>
            <a:off x="9482401" y="6991987"/>
            <a:ext cx="6001897" cy="995540"/>
            <a:chOff x="0" y="-192881"/>
            <a:chExt cx="7352563" cy="1327387"/>
          </a:xfrm>
        </p:grpSpPr>
        <p:grpSp>
          <p:nvGrpSpPr>
            <p:cNvPr id="133" name="Google Shape;133;p16"/>
            <p:cNvGrpSpPr/>
            <p:nvPr/>
          </p:nvGrpSpPr>
          <p:grpSpPr>
            <a:xfrm>
              <a:off x="0" y="-192881"/>
              <a:ext cx="7352563" cy="1327387"/>
              <a:chOff x="0" y="-38100"/>
              <a:chExt cx="1452358" cy="262200"/>
            </a:xfrm>
          </p:grpSpPr>
          <p:sp>
            <p:nvSpPr>
              <p:cNvPr id="134" name="Google Shape;134;p16"/>
              <p:cNvSpPr/>
              <p:nvPr/>
            </p:nvSpPr>
            <p:spPr>
              <a:xfrm>
                <a:off x="0" y="0"/>
                <a:ext cx="1452358" cy="224084"/>
              </a:xfrm>
              <a:custGeom>
                <a:rect b="b" l="l" r="r" t="t"/>
                <a:pathLst>
                  <a:path extrusionOk="0" h="224084" w="1452358">
                    <a:moveTo>
                      <a:pt x="71601" y="0"/>
                    </a:moveTo>
                    <a:lnTo>
                      <a:pt x="1380757" y="0"/>
                    </a:lnTo>
                    <a:cubicBezTo>
                      <a:pt x="1399747" y="0"/>
                      <a:pt x="1417959" y="7544"/>
                      <a:pt x="1431387" y="20971"/>
                    </a:cubicBezTo>
                    <a:cubicBezTo>
                      <a:pt x="1444815" y="34399"/>
                      <a:pt x="1452358" y="52611"/>
                      <a:pt x="1452358" y="71601"/>
                    </a:cubicBezTo>
                    <a:lnTo>
                      <a:pt x="1452358" y="152483"/>
                    </a:lnTo>
                    <a:cubicBezTo>
                      <a:pt x="1452358" y="192027"/>
                      <a:pt x="1420301" y="224084"/>
                      <a:pt x="1380757" y="224084"/>
                    </a:cubicBezTo>
                    <a:lnTo>
                      <a:pt x="71601" y="224084"/>
                    </a:lnTo>
                    <a:cubicBezTo>
                      <a:pt x="32057" y="224084"/>
                      <a:pt x="0" y="192027"/>
                      <a:pt x="0" y="152483"/>
                    </a:cubicBezTo>
                    <a:lnTo>
                      <a:pt x="0" y="71601"/>
                    </a:lnTo>
                    <a:cubicBezTo>
                      <a:pt x="0" y="32057"/>
                      <a:pt x="32057" y="0"/>
                      <a:pt x="71601"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txBox="1"/>
              <p:nvPr/>
            </p:nvSpPr>
            <p:spPr>
              <a:xfrm>
                <a:off x="0" y="-38100"/>
                <a:ext cx="1452300" cy="262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16"/>
            <p:cNvSpPr txBox="1"/>
            <p:nvPr/>
          </p:nvSpPr>
          <p:spPr>
            <a:xfrm>
              <a:off x="706764" y="165325"/>
              <a:ext cx="6201900" cy="616200"/>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lang="en-US" sz="3002">
                  <a:solidFill>
                    <a:srgbClr val="FFFFFF"/>
                  </a:solidFill>
                </a:rPr>
                <a:t>Sentencias de Transferencia</a:t>
              </a:r>
              <a:endParaRPr/>
            </a:p>
          </p:txBody>
        </p:sp>
      </p:grpSp>
      <p:sp>
        <p:nvSpPr>
          <p:cNvPr id="137" name="Google Shape;137;p16"/>
          <p:cNvSpPr/>
          <p:nvPr/>
        </p:nvSpPr>
        <p:spPr>
          <a:xfrm>
            <a:off x="8222010" y="8372003"/>
            <a:ext cx="921977" cy="875040"/>
          </a:xfrm>
          <a:custGeom>
            <a:rect b="b" l="l" r="r" t="t"/>
            <a:pathLst>
              <a:path extrusionOk="0" h="875040" w="921977">
                <a:moveTo>
                  <a:pt x="0" y="0"/>
                </a:moveTo>
                <a:lnTo>
                  <a:pt x="921977" y="0"/>
                </a:lnTo>
                <a:lnTo>
                  <a:pt x="921977" y="875040"/>
                </a:lnTo>
                <a:lnTo>
                  <a:pt x="0" y="875040"/>
                </a:lnTo>
                <a:lnTo>
                  <a:pt x="0" y="0"/>
                </a:lnTo>
                <a:close/>
              </a:path>
            </a:pathLst>
          </a:custGeom>
          <a:blipFill rotWithShape="1">
            <a:blip r:embed="rId8">
              <a:alphaModFix/>
            </a:blip>
            <a:stretch>
              <a:fillRect b="0" l="0" r="0" t="0"/>
            </a:stretch>
          </a:blipFill>
          <a:ln>
            <a:noFill/>
          </a:ln>
        </p:spPr>
      </p:sp>
      <p:grpSp>
        <p:nvGrpSpPr>
          <p:cNvPr id="138" name="Google Shape;138;p16"/>
          <p:cNvGrpSpPr/>
          <p:nvPr/>
        </p:nvGrpSpPr>
        <p:grpSpPr>
          <a:xfrm>
            <a:off x="9482401" y="8311762"/>
            <a:ext cx="6001897" cy="995541"/>
            <a:chOff x="0" y="-192881"/>
            <a:chExt cx="7352562" cy="1327388"/>
          </a:xfrm>
        </p:grpSpPr>
        <p:grpSp>
          <p:nvGrpSpPr>
            <p:cNvPr id="139" name="Google Shape;139;p16"/>
            <p:cNvGrpSpPr/>
            <p:nvPr/>
          </p:nvGrpSpPr>
          <p:grpSpPr>
            <a:xfrm>
              <a:off x="0" y="-192881"/>
              <a:ext cx="7352562" cy="1327388"/>
              <a:chOff x="0" y="-38100"/>
              <a:chExt cx="1452358" cy="262200"/>
            </a:xfrm>
          </p:grpSpPr>
          <p:sp>
            <p:nvSpPr>
              <p:cNvPr id="140" name="Google Shape;140;p16"/>
              <p:cNvSpPr/>
              <p:nvPr/>
            </p:nvSpPr>
            <p:spPr>
              <a:xfrm>
                <a:off x="0" y="0"/>
                <a:ext cx="1452358" cy="224084"/>
              </a:xfrm>
              <a:custGeom>
                <a:rect b="b" l="l" r="r" t="t"/>
                <a:pathLst>
                  <a:path extrusionOk="0" h="224084" w="1452358">
                    <a:moveTo>
                      <a:pt x="71601" y="0"/>
                    </a:moveTo>
                    <a:lnTo>
                      <a:pt x="1380757" y="0"/>
                    </a:lnTo>
                    <a:cubicBezTo>
                      <a:pt x="1399747" y="0"/>
                      <a:pt x="1417959" y="7544"/>
                      <a:pt x="1431387" y="20971"/>
                    </a:cubicBezTo>
                    <a:cubicBezTo>
                      <a:pt x="1444815" y="34399"/>
                      <a:pt x="1452358" y="52611"/>
                      <a:pt x="1452358" y="71601"/>
                    </a:cubicBezTo>
                    <a:lnTo>
                      <a:pt x="1452358" y="152483"/>
                    </a:lnTo>
                    <a:cubicBezTo>
                      <a:pt x="1452358" y="192027"/>
                      <a:pt x="1420301" y="224084"/>
                      <a:pt x="1380757" y="224084"/>
                    </a:cubicBezTo>
                    <a:lnTo>
                      <a:pt x="71601" y="224084"/>
                    </a:lnTo>
                    <a:cubicBezTo>
                      <a:pt x="32057" y="224084"/>
                      <a:pt x="0" y="192027"/>
                      <a:pt x="0" y="152483"/>
                    </a:cubicBezTo>
                    <a:lnTo>
                      <a:pt x="0" y="71601"/>
                    </a:lnTo>
                    <a:cubicBezTo>
                      <a:pt x="0" y="32057"/>
                      <a:pt x="32057" y="0"/>
                      <a:pt x="71601"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txBox="1"/>
              <p:nvPr/>
            </p:nvSpPr>
            <p:spPr>
              <a:xfrm>
                <a:off x="0" y="-38100"/>
                <a:ext cx="1452300" cy="2622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2" name="Google Shape;142;p16"/>
            <p:cNvSpPr txBox="1"/>
            <p:nvPr/>
          </p:nvSpPr>
          <p:spPr>
            <a:xfrm>
              <a:off x="706764" y="165325"/>
              <a:ext cx="6201900" cy="616200"/>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lang="en-US" sz="3002">
                  <a:solidFill>
                    <a:srgbClr val="FFFFFF"/>
                  </a:solidFill>
                </a:rPr>
                <a:t>Ejemplo </a:t>
              </a:r>
              <a:r>
                <a:rPr lang="en-US" sz="3002">
                  <a:solidFill>
                    <a:srgbClr val="FFFFFF"/>
                  </a:solidFill>
                </a:rPr>
                <a:t>Práctico</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148" name="Google Shape;148;p17"/>
          <p:cNvSpPr txBox="1"/>
          <p:nvPr/>
        </p:nvSpPr>
        <p:spPr>
          <a:xfrm>
            <a:off x="2895640" y="1655309"/>
            <a:ext cx="12496800" cy="1185300"/>
          </a:xfrm>
          <a:prstGeom prst="rect">
            <a:avLst/>
          </a:prstGeom>
          <a:noFill/>
          <a:ln>
            <a:noFill/>
          </a:ln>
        </p:spPr>
        <p:txBody>
          <a:bodyPr anchorCtr="0" anchor="t" bIns="0" lIns="0" spcFirstLastPara="1" rIns="0" wrap="square" tIns="0">
            <a:spAutoFit/>
          </a:bodyPr>
          <a:lstStyle/>
          <a:p>
            <a:pPr indent="0" lvl="0" marL="0" marR="0" rtl="0" algn="ctr">
              <a:lnSpc>
                <a:spcPct val="109000"/>
              </a:lnSpc>
              <a:spcBef>
                <a:spcPts val="0"/>
              </a:spcBef>
              <a:spcAft>
                <a:spcPts val="0"/>
              </a:spcAft>
              <a:buNone/>
            </a:pPr>
            <a:r>
              <a:rPr lang="en-US" sz="7700">
                <a:solidFill>
                  <a:srgbClr val="FFFFFF"/>
                </a:solidFill>
                <a:latin typeface="Questrial"/>
                <a:ea typeface="Questrial"/>
                <a:cs typeface="Questrial"/>
                <a:sym typeface="Questrial"/>
              </a:rPr>
              <a:t>Maquina de Turing</a:t>
            </a:r>
            <a:endParaRPr/>
          </a:p>
        </p:txBody>
      </p:sp>
      <p:sp>
        <p:nvSpPr>
          <p:cNvPr id="149" name="Google Shape;149;p17"/>
          <p:cNvSpPr txBox="1"/>
          <p:nvPr/>
        </p:nvSpPr>
        <p:spPr>
          <a:xfrm>
            <a:off x="4444995" y="3428991"/>
            <a:ext cx="9398100" cy="921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495">
                <a:solidFill>
                  <a:srgbClr val="FFFFFF"/>
                </a:solidFill>
              </a:rPr>
              <a:t>Cualquier </a:t>
            </a:r>
            <a:r>
              <a:rPr lang="en-US" sz="2495">
                <a:solidFill>
                  <a:srgbClr val="FFFFFF"/>
                </a:solidFill>
              </a:rPr>
              <a:t>máquina</a:t>
            </a:r>
            <a:r>
              <a:rPr lang="en-US" sz="2495">
                <a:solidFill>
                  <a:srgbClr val="FFFFFF"/>
                </a:solidFill>
              </a:rPr>
              <a:t> que pueda computar todo lo que es calculable, dado que tenga </a:t>
            </a:r>
            <a:r>
              <a:rPr lang="en-US" sz="2495">
                <a:solidFill>
                  <a:srgbClr val="FFFFFF"/>
                </a:solidFill>
              </a:rPr>
              <a:t>suficiente</a:t>
            </a:r>
            <a:r>
              <a:rPr lang="en-US" sz="2495">
                <a:solidFill>
                  <a:srgbClr val="FFFFFF"/>
                </a:solidFill>
              </a:rPr>
              <a:t> memoria.</a:t>
            </a:r>
            <a:endParaRPr/>
          </a:p>
        </p:txBody>
      </p:sp>
      <p:pic>
        <p:nvPicPr>
          <p:cNvPr descr="Unos dibujan en una libreta, otro pasa las páginas, otro recita órdenes al aire…. Muy sobrios no están, pero lo cierto es que están representando una de las ideas más revolucionarias de la humanidad. Así fue como Alan Turing fue capaz de revolver las raíces de las matemáticas.&#10;&#10;¡CAMBLY! ¡55% de descuento! | Clases privadas y grupales con profesores nativos hasta el 10 de marzo. Código: QUANTUMGROUPS | https://bit.ly/QUANTUMGROUPS&#10;&#10;⚛️No te pierdas ningún vídeo: solo tienes que... SUSCRIBIRTE, ¡es GRATIS!: https://www.youtube.com/user/QuantumFracture&#10;🐦¡Sígueme en TWITTER! https://twitter.com/QuantumFracture&#10;📘¡Y también en FACEBOOK! https://www.facebook.com/QuantumFracture&#10;📱¡Ahora en TikTok! https://www.tiktok.com/@thequantumfracture &#10;📸¡Y (sí, como no) también en INSTAGRAM! https://instagram.com/quantumfracture/&#10;🌐¡Nuestra nueva web!  https://quantumfracture.es/&#10;&#10;✊¡HAZTE MIEMBRO DE QF! https://www.youtube.com/user/QuantumFracture/join &#10;&#10;Quantum Fracture ahora ¡muy cortito! Los Quantums:&#10;🔴En Youtube: https://youtu.be/e59sYQ0oP1U&#10;&#10;¡Disfruta de QUANTUM FM! Nuestro podcast científico.&#10;🔴El primer capítulo en nuestro canal: https://youtu.be/yJfPlzkRDsU&#10;🟠En Ivoox: https://go.ivoox.com/rf/91854433&#10;🟢En Spotify: https://open.spotify.com/show/4NYYG4lBDhMqzNgMc2jJW6?si=5a0d3c2ec59b4e2b&#10;🔵En Google Podcast: https://podcasts.google.com/feed/aHR0cHM6Ly93d3cuaXZvb3guY29tL2ZlZWRfZmdfZjExNjQ2NDA1X2ZpbHRyb18xLnhtbA&#10;&#10;Todas las referencias y fuentes. La bibliografía:&#10;https://drive.google.com/file/d/1csEKuPPpiyOoo_TMMRsI5Uzgx6jDQKsp/view?usp=sharing&#10;&#10;Las animaciones aquí mostradas no pretenden ser precisas, sino mostrar aspectos cualitativos. Tienen propósitos educativos." id="150" name="Google Shape;150;p17" title="8 Borrachos Pueden Revolucionar Todas las Matemáticas">
            <a:hlinkClick r:id="rId4"/>
          </p:cNvPr>
          <p:cNvPicPr preferRelativeResize="0"/>
          <p:nvPr/>
        </p:nvPicPr>
        <p:blipFill>
          <a:blip r:embed="rId5">
            <a:alphaModFix/>
          </a:blip>
          <a:stretch>
            <a:fillRect/>
          </a:stretch>
        </p:blipFill>
        <p:spPr>
          <a:xfrm>
            <a:off x="6594475" y="5237125"/>
            <a:ext cx="5099050" cy="2868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56" name="Google Shape;156;p18"/>
          <p:cNvSpPr txBox="1"/>
          <p:nvPr/>
        </p:nvSpPr>
        <p:spPr>
          <a:xfrm>
            <a:off x="1019175" y="1047750"/>
            <a:ext cx="15477300" cy="954300"/>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6199" u="none" cap="none" strike="noStrike">
                <a:solidFill>
                  <a:srgbClr val="FFFFFF"/>
                </a:solidFill>
                <a:latin typeface="Questrial"/>
                <a:ea typeface="Questrial"/>
                <a:cs typeface="Questrial"/>
                <a:sym typeface="Questrial"/>
              </a:rPr>
              <a:t> </a:t>
            </a:r>
            <a:r>
              <a:rPr lang="en-US" sz="6199">
                <a:solidFill>
                  <a:srgbClr val="FFFFFF"/>
                </a:solidFill>
                <a:latin typeface="Questrial"/>
                <a:ea typeface="Questrial"/>
                <a:cs typeface="Questrial"/>
                <a:sym typeface="Questrial"/>
              </a:rPr>
              <a:t>¿Qué lenguajes son Turing completos?</a:t>
            </a:r>
            <a:endParaRPr/>
          </a:p>
        </p:txBody>
      </p:sp>
      <p:sp>
        <p:nvSpPr>
          <p:cNvPr id="157" name="Google Shape;157;p18"/>
          <p:cNvSpPr txBox="1"/>
          <p:nvPr/>
        </p:nvSpPr>
        <p:spPr>
          <a:xfrm>
            <a:off x="1028700" y="2318397"/>
            <a:ext cx="11985000" cy="2253300"/>
          </a:xfrm>
          <a:prstGeom prst="rect">
            <a:avLst/>
          </a:prstGeom>
          <a:noFill/>
          <a:ln>
            <a:noFill/>
          </a:ln>
        </p:spPr>
        <p:txBody>
          <a:bodyPr anchorCtr="0" anchor="t" bIns="0" lIns="0" spcFirstLastPara="1" rIns="0" wrap="square" tIns="0">
            <a:spAutoFit/>
          </a:bodyPr>
          <a:lstStyle/>
          <a:p>
            <a:pPr indent="0" lvl="0" marL="0" marR="0" rtl="0" algn="l">
              <a:lnSpc>
                <a:spcPct val="158000"/>
              </a:lnSpc>
              <a:spcBef>
                <a:spcPts val="0"/>
              </a:spcBef>
              <a:spcAft>
                <a:spcPts val="0"/>
              </a:spcAft>
              <a:buNone/>
            </a:pPr>
            <a:r>
              <a:rPr lang="en-US" sz="2000">
                <a:solidFill>
                  <a:srgbClr val="FFFFFF"/>
                </a:solidFill>
              </a:rPr>
              <a:t>Los requisitos para que un lenguaje sea turing completo son:</a:t>
            </a:r>
            <a:endParaRPr sz="2000">
              <a:solidFill>
                <a:srgbClr val="FFFFFF"/>
              </a:solidFill>
            </a:endParaRPr>
          </a:p>
          <a:p>
            <a:pPr indent="-355600" lvl="0" marL="457200" marR="0" rtl="0" algn="l">
              <a:lnSpc>
                <a:spcPct val="158000"/>
              </a:lnSpc>
              <a:spcBef>
                <a:spcPts val="0"/>
              </a:spcBef>
              <a:spcAft>
                <a:spcPts val="0"/>
              </a:spcAft>
              <a:buClr>
                <a:srgbClr val="FFFFFF"/>
              </a:buClr>
              <a:buSzPts val="2000"/>
              <a:buChar char="-"/>
            </a:pPr>
            <a:r>
              <a:rPr lang="en-US" sz="2000">
                <a:solidFill>
                  <a:srgbClr val="FFFFFF"/>
                </a:solidFill>
              </a:rPr>
              <a:t>Capacidad para realizar bucles.</a:t>
            </a:r>
            <a:endParaRPr sz="2000">
              <a:solidFill>
                <a:srgbClr val="FFFFFF"/>
              </a:solidFill>
            </a:endParaRPr>
          </a:p>
          <a:p>
            <a:pPr indent="-355600" lvl="0" marL="457200" marR="0" rtl="0" algn="l">
              <a:lnSpc>
                <a:spcPct val="158000"/>
              </a:lnSpc>
              <a:spcBef>
                <a:spcPts val="0"/>
              </a:spcBef>
              <a:spcAft>
                <a:spcPts val="0"/>
              </a:spcAft>
              <a:buClr>
                <a:srgbClr val="FFFFFF"/>
              </a:buClr>
              <a:buSzPts val="2000"/>
              <a:buChar char="-"/>
            </a:pPr>
            <a:r>
              <a:rPr lang="en-US" sz="2000">
                <a:solidFill>
                  <a:srgbClr val="FFFFFF"/>
                </a:solidFill>
              </a:rPr>
              <a:t>Capacidad para ramificar condicionalmente.</a:t>
            </a:r>
            <a:endParaRPr sz="2000">
              <a:solidFill>
                <a:srgbClr val="FFFFFF"/>
              </a:solidFill>
            </a:endParaRPr>
          </a:p>
          <a:p>
            <a:pPr indent="-355600" lvl="0" marL="457200" marR="0" rtl="0" algn="l">
              <a:lnSpc>
                <a:spcPct val="158000"/>
              </a:lnSpc>
              <a:spcBef>
                <a:spcPts val="0"/>
              </a:spcBef>
              <a:spcAft>
                <a:spcPts val="0"/>
              </a:spcAft>
              <a:buClr>
                <a:srgbClr val="FFFFFF"/>
              </a:buClr>
              <a:buSzPts val="2000"/>
              <a:buChar char="-"/>
            </a:pPr>
            <a:r>
              <a:rPr lang="en-US" sz="2000">
                <a:solidFill>
                  <a:srgbClr val="FFFFFF"/>
                </a:solidFill>
              </a:rPr>
              <a:t>Suficiente memoria.</a:t>
            </a:r>
            <a:endParaRPr sz="2000">
              <a:solidFill>
                <a:srgbClr val="FFFFFF"/>
              </a:solidFill>
            </a:endParaRPr>
          </a:p>
          <a:p>
            <a:pPr indent="-355600" lvl="0" marL="457200" marR="0" rtl="0" algn="l">
              <a:lnSpc>
                <a:spcPct val="158000"/>
              </a:lnSpc>
              <a:spcBef>
                <a:spcPts val="0"/>
              </a:spcBef>
              <a:spcAft>
                <a:spcPts val="0"/>
              </a:spcAft>
              <a:buClr>
                <a:srgbClr val="FFFFFF"/>
              </a:buClr>
              <a:buSzPts val="2000"/>
              <a:buChar char="-"/>
            </a:pPr>
            <a:r>
              <a:rPr lang="en-US" sz="2000">
                <a:solidFill>
                  <a:srgbClr val="FFFFFF"/>
                </a:solidFill>
              </a:rPr>
              <a:t>Capacidad para simular cualquier maquina de Turing.</a:t>
            </a:r>
            <a:endParaRPr sz="2000">
              <a:solidFill>
                <a:srgbClr val="FFFFFF"/>
              </a:solidFill>
            </a:endParaRPr>
          </a:p>
        </p:txBody>
      </p:sp>
      <p:sp>
        <p:nvSpPr>
          <p:cNvPr id="158" name="Google Shape;158;p18"/>
          <p:cNvSpPr txBox="1"/>
          <p:nvPr/>
        </p:nvSpPr>
        <p:spPr>
          <a:xfrm>
            <a:off x="1019175" y="4735094"/>
            <a:ext cx="2742000" cy="1354500"/>
          </a:xfrm>
          <a:prstGeom prst="rect">
            <a:avLst/>
          </a:prstGeom>
          <a:noFill/>
          <a:ln>
            <a:noFill/>
          </a:ln>
        </p:spPr>
        <p:txBody>
          <a:bodyPr anchorCtr="0" anchor="t" bIns="0" lIns="0" spcFirstLastPara="1" rIns="0" wrap="square" tIns="0">
            <a:spAutoFit/>
          </a:bodyPr>
          <a:lstStyle/>
          <a:p>
            <a:pPr indent="0" lvl="1" marL="0" marR="0" rtl="0" algn="l">
              <a:lnSpc>
                <a:spcPct val="158006"/>
              </a:lnSpc>
              <a:spcBef>
                <a:spcPts val="0"/>
              </a:spcBef>
              <a:spcAft>
                <a:spcPts val="0"/>
              </a:spcAft>
              <a:buNone/>
            </a:pPr>
            <a:r>
              <a:rPr b="0" i="0" lang="en-US" sz="8799" u="none" cap="none" strike="noStrike">
                <a:solidFill>
                  <a:srgbClr val="FFFFFF"/>
                </a:solidFill>
                <a:latin typeface="Questrial"/>
                <a:ea typeface="Questrial"/>
                <a:cs typeface="Questrial"/>
                <a:sym typeface="Questrial"/>
              </a:rPr>
              <a:t>01</a:t>
            </a:r>
            <a:endParaRPr/>
          </a:p>
        </p:txBody>
      </p:sp>
      <p:sp>
        <p:nvSpPr>
          <p:cNvPr id="159" name="Google Shape;159;p18"/>
          <p:cNvSpPr txBox="1"/>
          <p:nvPr/>
        </p:nvSpPr>
        <p:spPr>
          <a:xfrm>
            <a:off x="7183100" y="4735094"/>
            <a:ext cx="2742000" cy="1354500"/>
          </a:xfrm>
          <a:prstGeom prst="rect">
            <a:avLst/>
          </a:prstGeom>
          <a:noFill/>
          <a:ln>
            <a:noFill/>
          </a:ln>
        </p:spPr>
        <p:txBody>
          <a:bodyPr anchorCtr="0" anchor="t" bIns="0" lIns="0" spcFirstLastPara="1" rIns="0" wrap="square" tIns="0">
            <a:spAutoFit/>
          </a:bodyPr>
          <a:lstStyle/>
          <a:p>
            <a:pPr indent="0" lvl="1" marL="0" marR="0" rtl="0" algn="l">
              <a:lnSpc>
                <a:spcPct val="158006"/>
              </a:lnSpc>
              <a:spcBef>
                <a:spcPts val="0"/>
              </a:spcBef>
              <a:spcAft>
                <a:spcPts val="0"/>
              </a:spcAft>
              <a:buNone/>
            </a:pPr>
            <a:r>
              <a:rPr b="0" i="0" lang="en-US" sz="8799" u="none" cap="none" strike="noStrike">
                <a:solidFill>
                  <a:srgbClr val="FFFFFF"/>
                </a:solidFill>
                <a:latin typeface="Questrial"/>
                <a:ea typeface="Questrial"/>
                <a:cs typeface="Questrial"/>
                <a:sym typeface="Questrial"/>
              </a:rPr>
              <a:t>02</a:t>
            </a:r>
            <a:endParaRPr/>
          </a:p>
        </p:txBody>
      </p:sp>
      <p:sp>
        <p:nvSpPr>
          <p:cNvPr id="160" name="Google Shape;160;p18"/>
          <p:cNvSpPr txBox="1"/>
          <p:nvPr/>
        </p:nvSpPr>
        <p:spPr>
          <a:xfrm>
            <a:off x="13445250" y="4735094"/>
            <a:ext cx="2742000" cy="1354500"/>
          </a:xfrm>
          <a:prstGeom prst="rect">
            <a:avLst/>
          </a:prstGeom>
          <a:noFill/>
          <a:ln>
            <a:noFill/>
          </a:ln>
        </p:spPr>
        <p:txBody>
          <a:bodyPr anchorCtr="0" anchor="t" bIns="0" lIns="0" spcFirstLastPara="1" rIns="0" wrap="square" tIns="0">
            <a:spAutoFit/>
          </a:bodyPr>
          <a:lstStyle/>
          <a:p>
            <a:pPr indent="0" lvl="1" marL="0" marR="0" rtl="0" algn="l">
              <a:lnSpc>
                <a:spcPct val="158006"/>
              </a:lnSpc>
              <a:spcBef>
                <a:spcPts val="0"/>
              </a:spcBef>
              <a:spcAft>
                <a:spcPts val="0"/>
              </a:spcAft>
              <a:buNone/>
            </a:pPr>
            <a:r>
              <a:rPr b="0" i="0" lang="en-US" sz="8799" u="none" cap="none" strike="noStrike">
                <a:solidFill>
                  <a:srgbClr val="FFFFFF"/>
                </a:solidFill>
                <a:latin typeface="Questrial"/>
                <a:ea typeface="Questrial"/>
                <a:cs typeface="Questrial"/>
                <a:sym typeface="Questrial"/>
              </a:rPr>
              <a:t>0</a:t>
            </a:r>
            <a:r>
              <a:rPr lang="en-US" sz="8799">
                <a:solidFill>
                  <a:srgbClr val="FFFFFF"/>
                </a:solidFill>
                <a:latin typeface="Questrial"/>
                <a:ea typeface="Questrial"/>
                <a:cs typeface="Questrial"/>
                <a:sym typeface="Questrial"/>
              </a:rPr>
              <a:t>3</a:t>
            </a:r>
            <a:endParaRPr/>
          </a:p>
        </p:txBody>
      </p:sp>
      <p:pic>
        <p:nvPicPr>
          <p:cNvPr id="161" name="Google Shape;161;p18"/>
          <p:cNvPicPr preferRelativeResize="0"/>
          <p:nvPr/>
        </p:nvPicPr>
        <p:blipFill>
          <a:blip r:embed="rId4">
            <a:alphaModFix/>
          </a:blip>
          <a:stretch>
            <a:fillRect/>
          </a:stretch>
        </p:blipFill>
        <p:spPr>
          <a:xfrm>
            <a:off x="192775" y="6089600"/>
            <a:ext cx="5221825" cy="2938800"/>
          </a:xfrm>
          <a:prstGeom prst="rect">
            <a:avLst/>
          </a:prstGeom>
          <a:noFill/>
          <a:ln>
            <a:noFill/>
          </a:ln>
        </p:spPr>
      </p:pic>
      <p:pic>
        <p:nvPicPr>
          <p:cNvPr id="162" name="Google Shape;162;p18"/>
          <p:cNvPicPr preferRelativeResize="0"/>
          <p:nvPr/>
        </p:nvPicPr>
        <p:blipFill>
          <a:blip r:embed="rId5">
            <a:alphaModFix/>
          </a:blip>
          <a:stretch>
            <a:fillRect/>
          </a:stretch>
        </p:blipFill>
        <p:spPr>
          <a:xfrm>
            <a:off x="6994209" y="5999100"/>
            <a:ext cx="3119775" cy="3119801"/>
          </a:xfrm>
          <a:prstGeom prst="rect">
            <a:avLst/>
          </a:prstGeom>
          <a:noFill/>
          <a:ln>
            <a:noFill/>
          </a:ln>
        </p:spPr>
      </p:pic>
      <p:pic>
        <p:nvPicPr>
          <p:cNvPr id="163" name="Google Shape;163;p18"/>
          <p:cNvPicPr preferRelativeResize="0"/>
          <p:nvPr/>
        </p:nvPicPr>
        <p:blipFill>
          <a:blip r:embed="rId6">
            <a:alphaModFix/>
          </a:blip>
          <a:stretch>
            <a:fillRect/>
          </a:stretch>
        </p:blipFill>
        <p:spPr>
          <a:xfrm>
            <a:off x="11458000" y="5999100"/>
            <a:ext cx="5221825" cy="34791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69" name="Google Shape;169;p19"/>
          <p:cNvSpPr/>
          <p:nvPr/>
        </p:nvSpPr>
        <p:spPr>
          <a:xfrm>
            <a:off x="1226116" y="2427405"/>
            <a:ext cx="1567882" cy="1482361"/>
          </a:xfrm>
          <a:custGeom>
            <a:rect b="b" l="l" r="r" t="t"/>
            <a:pathLst>
              <a:path extrusionOk="0" h="1482361" w="1567882">
                <a:moveTo>
                  <a:pt x="0" y="0"/>
                </a:moveTo>
                <a:lnTo>
                  <a:pt x="1567882" y="0"/>
                </a:lnTo>
                <a:lnTo>
                  <a:pt x="1567882" y="1482361"/>
                </a:lnTo>
                <a:lnTo>
                  <a:pt x="0" y="1482361"/>
                </a:lnTo>
                <a:lnTo>
                  <a:pt x="0" y="0"/>
                </a:lnTo>
                <a:close/>
              </a:path>
            </a:pathLst>
          </a:custGeom>
          <a:blipFill rotWithShape="1">
            <a:blip r:embed="rId4">
              <a:alphaModFix/>
            </a:blip>
            <a:stretch>
              <a:fillRect b="0" l="0" r="0" t="0"/>
            </a:stretch>
          </a:blipFill>
          <a:ln>
            <a:noFill/>
          </a:ln>
        </p:spPr>
      </p:sp>
      <p:sp>
        <p:nvSpPr>
          <p:cNvPr id="170" name="Google Shape;170;p19"/>
          <p:cNvSpPr txBox="1"/>
          <p:nvPr/>
        </p:nvSpPr>
        <p:spPr>
          <a:xfrm>
            <a:off x="3219004" y="2320860"/>
            <a:ext cx="6666000" cy="21702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lang="en-US" sz="7500">
                <a:solidFill>
                  <a:srgbClr val="FFFFFF"/>
                </a:solidFill>
                <a:latin typeface="Questrial"/>
                <a:ea typeface="Questrial"/>
                <a:cs typeface="Questrial"/>
                <a:sym typeface="Questrial"/>
              </a:rPr>
              <a:t>Estructuras de Control</a:t>
            </a:r>
            <a:endParaRPr/>
          </a:p>
        </p:txBody>
      </p:sp>
      <p:sp>
        <p:nvSpPr>
          <p:cNvPr id="171" name="Google Shape;171;p19"/>
          <p:cNvSpPr txBox="1"/>
          <p:nvPr/>
        </p:nvSpPr>
        <p:spPr>
          <a:xfrm>
            <a:off x="3219001" y="4853225"/>
            <a:ext cx="11770500" cy="3072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495">
                <a:solidFill>
                  <a:srgbClr val="FFFFFF"/>
                </a:solidFill>
              </a:rPr>
              <a:t>Son instrucciones que permiten modificar el flujo de </a:t>
            </a:r>
            <a:r>
              <a:rPr lang="en-US" sz="2495">
                <a:solidFill>
                  <a:srgbClr val="FFFFFF"/>
                </a:solidFill>
              </a:rPr>
              <a:t>ejecución</a:t>
            </a:r>
            <a:r>
              <a:rPr lang="en-US" sz="2495">
                <a:solidFill>
                  <a:srgbClr val="FFFFFF"/>
                </a:solidFill>
              </a:rPr>
              <a:t> de un programa en base a una condición.</a:t>
            </a:r>
            <a:endParaRPr sz="2495">
              <a:solidFill>
                <a:srgbClr val="FFFFFF"/>
              </a:solidFill>
            </a:endParaRPr>
          </a:p>
          <a:p>
            <a:pPr indent="0" lvl="0" marL="0" marR="0" rtl="0" algn="ctr">
              <a:lnSpc>
                <a:spcPct val="140000"/>
              </a:lnSpc>
              <a:spcBef>
                <a:spcPts val="0"/>
              </a:spcBef>
              <a:spcAft>
                <a:spcPts val="0"/>
              </a:spcAft>
              <a:buNone/>
            </a:pPr>
            <a:r>
              <a:t/>
            </a:r>
            <a:endParaRPr sz="2495">
              <a:solidFill>
                <a:srgbClr val="FFFFFF"/>
              </a:solidFill>
            </a:endParaRPr>
          </a:p>
          <a:p>
            <a:pPr indent="0" lvl="0" marL="0" marR="0" rtl="0" algn="l">
              <a:lnSpc>
                <a:spcPct val="140000"/>
              </a:lnSpc>
              <a:spcBef>
                <a:spcPts val="0"/>
              </a:spcBef>
              <a:spcAft>
                <a:spcPts val="0"/>
              </a:spcAft>
              <a:buNone/>
            </a:pPr>
            <a:r>
              <a:rPr lang="en-US" sz="2495">
                <a:solidFill>
                  <a:srgbClr val="FFFFFF"/>
                </a:solidFill>
              </a:rPr>
              <a:t>Ejemplos:</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If - Then - Else</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Switch - Case</a:t>
            </a:r>
            <a:endParaRPr sz="2495">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77" name="Google Shape;177;p20"/>
          <p:cNvSpPr/>
          <p:nvPr/>
        </p:nvSpPr>
        <p:spPr>
          <a:xfrm>
            <a:off x="1226116" y="2427405"/>
            <a:ext cx="1567882" cy="1482361"/>
          </a:xfrm>
          <a:custGeom>
            <a:rect b="b" l="l" r="r" t="t"/>
            <a:pathLst>
              <a:path extrusionOk="0" h="1482361" w="1567882">
                <a:moveTo>
                  <a:pt x="0" y="0"/>
                </a:moveTo>
                <a:lnTo>
                  <a:pt x="1567882" y="0"/>
                </a:lnTo>
                <a:lnTo>
                  <a:pt x="1567882" y="1482361"/>
                </a:lnTo>
                <a:lnTo>
                  <a:pt x="0" y="1482361"/>
                </a:lnTo>
                <a:lnTo>
                  <a:pt x="0" y="0"/>
                </a:lnTo>
                <a:close/>
              </a:path>
            </a:pathLst>
          </a:custGeom>
          <a:blipFill rotWithShape="1">
            <a:blip r:embed="rId4">
              <a:alphaModFix/>
            </a:blip>
            <a:stretch>
              <a:fillRect b="0" l="0" r="0" t="0"/>
            </a:stretch>
          </a:blipFill>
          <a:ln>
            <a:noFill/>
          </a:ln>
        </p:spPr>
      </p:sp>
      <p:sp>
        <p:nvSpPr>
          <p:cNvPr id="178" name="Google Shape;178;p20"/>
          <p:cNvSpPr txBox="1"/>
          <p:nvPr/>
        </p:nvSpPr>
        <p:spPr>
          <a:xfrm>
            <a:off x="3219004" y="2320860"/>
            <a:ext cx="6666000" cy="10851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lang="en-US" sz="7500">
                <a:solidFill>
                  <a:srgbClr val="FFFFFF"/>
                </a:solidFill>
                <a:latin typeface="Questrial"/>
                <a:ea typeface="Questrial"/>
                <a:cs typeface="Questrial"/>
                <a:sym typeface="Questrial"/>
              </a:rPr>
              <a:t>Gramatica IF</a:t>
            </a:r>
            <a:endParaRPr/>
          </a:p>
        </p:txBody>
      </p:sp>
      <p:sp>
        <p:nvSpPr>
          <p:cNvPr id="179" name="Google Shape;179;p20"/>
          <p:cNvSpPr txBox="1"/>
          <p:nvPr/>
        </p:nvSpPr>
        <p:spPr>
          <a:xfrm>
            <a:off x="3219001" y="4853225"/>
            <a:ext cx="117705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180" name="Google Shape;180;p20"/>
          <p:cNvSpPr/>
          <p:nvPr/>
        </p:nvSpPr>
        <p:spPr>
          <a:xfrm>
            <a:off x="3955960" y="4853229"/>
            <a:ext cx="10376079" cy="3625842"/>
          </a:xfrm>
          <a:custGeom>
            <a:rect b="b" l="l" r="r" t="t"/>
            <a:pathLst>
              <a:path extrusionOk="0" h="3625842" w="10376079">
                <a:moveTo>
                  <a:pt x="0" y="0"/>
                </a:moveTo>
                <a:lnTo>
                  <a:pt x="10376080" y="0"/>
                </a:lnTo>
                <a:lnTo>
                  <a:pt x="10376080" y="3625842"/>
                </a:lnTo>
                <a:lnTo>
                  <a:pt x="0" y="362584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186" name="Google Shape;186;p21"/>
          <p:cNvSpPr txBox="1"/>
          <p:nvPr/>
        </p:nvSpPr>
        <p:spPr>
          <a:xfrm>
            <a:off x="3595671" y="2575938"/>
            <a:ext cx="7689000" cy="1185300"/>
          </a:xfrm>
          <a:prstGeom prst="rect">
            <a:avLst/>
          </a:prstGeom>
          <a:noFill/>
          <a:ln>
            <a:noFill/>
          </a:ln>
        </p:spPr>
        <p:txBody>
          <a:bodyPr anchorCtr="0" anchor="t" bIns="0" lIns="0" spcFirstLastPara="1" rIns="0" wrap="square" tIns="0">
            <a:spAutoFit/>
          </a:bodyPr>
          <a:lstStyle/>
          <a:p>
            <a:pPr indent="0" lvl="0" marL="0" marR="0" rtl="0" algn="l">
              <a:lnSpc>
                <a:spcPct val="109000"/>
              </a:lnSpc>
              <a:spcBef>
                <a:spcPts val="0"/>
              </a:spcBef>
              <a:spcAft>
                <a:spcPts val="0"/>
              </a:spcAft>
              <a:buNone/>
            </a:pPr>
            <a:r>
              <a:rPr lang="en-US" sz="7700">
                <a:solidFill>
                  <a:srgbClr val="FFFFFF"/>
                </a:solidFill>
                <a:latin typeface="Questrial"/>
                <a:ea typeface="Questrial"/>
                <a:cs typeface="Questrial"/>
                <a:sym typeface="Questrial"/>
              </a:rPr>
              <a:t>Ciclos</a:t>
            </a:r>
            <a:endParaRPr/>
          </a:p>
        </p:txBody>
      </p:sp>
      <p:sp>
        <p:nvSpPr>
          <p:cNvPr id="187" name="Google Shape;187;p21"/>
          <p:cNvSpPr txBox="1"/>
          <p:nvPr/>
        </p:nvSpPr>
        <p:spPr>
          <a:xfrm>
            <a:off x="3595675" y="4784450"/>
            <a:ext cx="10247400" cy="4147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495">
                <a:solidFill>
                  <a:srgbClr val="FFFFFF"/>
                </a:solidFill>
              </a:rPr>
              <a:t>Son instrucciones que agrupan un segmento de código que se deberá ejecutar repetidas veces, hasta que la condición asignada deje de cumplirse.</a:t>
            </a:r>
            <a:endParaRPr sz="2495">
              <a:solidFill>
                <a:srgbClr val="FFFFFF"/>
              </a:solidFill>
            </a:endParaRPr>
          </a:p>
          <a:p>
            <a:pPr indent="0" lvl="0" marL="0" marR="0" rtl="0" algn="ctr">
              <a:lnSpc>
                <a:spcPct val="140000"/>
              </a:lnSpc>
              <a:spcBef>
                <a:spcPts val="0"/>
              </a:spcBef>
              <a:spcAft>
                <a:spcPts val="0"/>
              </a:spcAft>
              <a:buNone/>
            </a:pPr>
            <a:r>
              <a:t/>
            </a:r>
            <a:endParaRPr sz="2495">
              <a:solidFill>
                <a:srgbClr val="FFFFFF"/>
              </a:solidFill>
            </a:endParaRPr>
          </a:p>
          <a:p>
            <a:pPr indent="0" lvl="0" marL="0" marR="0" rtl="0" algn="l">
              <a:lnSpc>
                <a:spcPct val="140000"/>
              </a:lnSpc>
              <a:spcBef>
                <a:spcPts val="0"/>
              </a:spcBef>
              <a:spcAft>
                <a:spcPts val="0"/>
              </a:spcAft>
              <a:buNone/>
            </a:pPr>
            <a:r>
              <a:rPr lang="en-US" sz="2495">
                <a:solidFill>
                  <a:srgbClr val="FFFFFF"/>
                </a:solidFill>
              </a:rPr>
              <a:t>Ejemplos:</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For</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While</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Do - While</a:t>
            </a:r>
            <a:endParaRPr sz="2495">
              <a:solidFill>
                <a:srgbClr val="FFFFFF"/>
              </a:solidFill>
            </a:endParaRPr>
          </a:p>
        </p:txBody>
      </p:sp>
      <p:sp>
        <p:nvSpPr>
          <p:cNvPr id="188" name="Google Shape;188;p21"/>
          <p:cNvSpPr/>
          <p:nvPr/>
        </p:nvSpPr>
        <p:spPr>
          <a:xfrm>
            <a:off x="1226116" y="2427405"/>
            <a:ext cx="1567882" cy="1482361"/>
          </a:xfrm>
          <a:custGeom>
            <a:rect b="b" l="l" r="r" t="t"/>
            <a:pathLst>
              <a:path extrusionOk="0" h="1482361" w="1567882">
                <a:moveTo>
                  <a:pt x="0" y="0"/>
                </a:moveTo>
                <a:lnTo>
                  <a:pt x="1567882" y="0"/>
                </a:lnTo>
                <a:lnTo>
                  <a:pt x="1567882" y="1482361"/>
                </a:lnTo>
                <a:lnTo>
                  <a:pt x="0" y="148236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194" name="Google Shape;194;p22"/>
          <p:cNvSpPr txBox="1"/>
          <p:nvPr/>
        </p:nvSpPr>
        <p:spPr>
          <a:xfrm>
            <a:off x="3595671" y="2575938"/>
            <a:ext cx="7689000" cy="1185300"/>
          </a:xfrm>
          <a:prstGeom prst="rect">
            <a:avLst/>
          </a:prstGeom>
          <a:noFill/>
          <a:ln>
            <a:noFill/>
          </a:ln>
        </p:spPr>
        <p:txBody>
          <a:bodyPr anchorCtr="0" anchor="t" bIns="0" lIns="0" spcFirstLastPara="1" rIns="0" wrap="square" tIns="0">
            <a:spAutoFit/>
          </a:bodyPr>
          <a:lstStyle/>
          <a:p>
            <a:pPr indent="0" lvl="0" marL="0" marR="0" rtl="0" algn="l">
              <a:lnSpc>
                <a:spcPct val="109000"/>
              </a:lnSpc>
              <a:spcBef>
                <a:spcPts val="0"/>
              </a:spcBef>
              <a:spcAft>
                <a:spcPts val="0"/>
              </a:spcAft>
              <a:buNone/>
            </a:pPr>
            <a:r>
              <a:rPr lang="en-US" sz="7700">
                <a:solidFill>
                  <a:srgbClr val="FFFFFF"/>
                </a:solidFill>
                <a:latin typeface="Questrial"/>
                <a:ea typeface="Questrial"/>
                <a:cs typeface="Questrial"/>
                <a:sym typeface="Questrial"/>
              </a:rPr>
              <a:t>Gramatica While</a:t>
            </a:r>
            <a:endParaRPr/>
          </a:p>
        </p:txBody>
      </p:sp>
      <p:sp>
        <p:nvSpPr>
          <p:cNvPr id="195" name="Google Shape;195;p22"/>
          <p:cNvSpPr txBox="1"/>
          <p:nvPr/>
        </p:nvSpPr>
        <p:spPr>
          <a:xfrm>
            <a:off x="4444995" y="4784440"/>
            <a:ext cx="93981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196" name="Google Shape;196;p22"/>
          <p:cNvSpPr/>
          <p:nvPr/>
        </p:nvSpPr>
        <p:spPr>
          <a:xfrm>
            <a:off x="1226116" y="2427405"/>
            <a:ext cx="1567882" cy="1482361"/>
          </a:xfrm>
          <a:custGeom>
            <a:rect b="b" l="l" r="r" t="t"/>
            <a:pathLst>
              <a:path extrusionOk="0" h="1482361" w="1567882">
                <a:moveTo>
                  <a:pt x="0" y="0"/>
                </a:moveTo>
                <a:lnTo>
                  <a:pt x="1567882" y="0"/>
                </a:lnTo>
                <a:lnTo>
                  <a:pt x="1567882" y="1482361"/>
                </a:lnTo>
                <a:lnTo>
                  <a:pt x="0" y="1482361"/>
                </a:lnTo>
                <a:lnTo>
                  <a:pt x="0" y="0"/>
                </a:lnTo>
                <a:close/>
              </a:path>
            </a:pathLst>
          </a:custGeom>
          <a:blipFill rotWithShape="1">
            <a:blip r:embed="rId4">
              <a:alphaModFix/>
            </a:blip>
            <a:stretch>
              <a:fillRect b="0" l="0" r="0" t="0"/>
            </a:stretch>
          </a:blipFill>
          <a:ln>
            <a:noFill/>
          </a:ln>
        </p:spPr>
      </p:sp>
      <p:sp>
        <p:nvSpPr>
          <p:cNvPr id="197" name="Google Shape;197;p22"/>
          <p:cNvSpPr/>
          <p:nvPr/>
        </p:nvSpPr>
        <p:spPr>
          <a:xfrm>
            <a:off x="3872632" y="4298636"/>
            <a:ext cx="10542837" cy="3520328"/>
          </a:xfrm>
          <a:custGeom>
            <a:rect b="b" l="l" r="r" t="t"/>
            <a:pathLst>
              <a:path extrusionOk="0" h="3520328" w="10542837">
                <a:moveTo>
                  <a:pt x="0" y="0"/>
                </a:moveTo>
                <a:lnTo>
                  <a:pt x="10542836" y="0"/>
                </a:lnTo>
                <a:lnTo>
                  <a:pt x="10542836" y="3520328"/>
                </a:lnTo>
                <a:lnTo>
                  <a:pt x="0" y="352032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203" name="Google Shape;203;p23"/>
          <p:cNvSpPr txBox="1"/>
          <p:nvPr/>
        </p:nvSpPr>
        <p:spPr>
          <a:xfrm>
            <a:off x="3595678" y="2575950"/>
            <a:ext cx="12963000" cy="1185300"/>
          </a:xfrm>
          <a:prstGeom prst="rect">
            <a:avLst/>
          </a:prstGeom>
          <a:noFill/>
          <a:ln>
            <a:noFill/>
          </a:ln>
        </p:spPr>
        <p:txBody>
          <a:bodyPr anchorCtr="0" anchor="t" bIns="0" lIns="0" spcFirstLastPara="1" rIns="0" wrap="square" tIns="0">
            <a:spAutoFit/>
          </a:bodyPr>
          <a:lstStyle/>
          <a:p>
            <a:pPr indent="0" lvl="0" marL="0" marR="0" rtl="0" algn="l">
              <a:lnSpc>
                <a:spcPct val="109000"/>
              </a:lnSpc>
              <a:spcBef>
                <a:spcPts val="0"/>
              </a:spcBef>
              <a:spcAft>
                <a:spcPts val="0"/>
              </a:spcAft>
              <a:buNone/>
            </a:pPr>
            <a:r>
              <a:rPr lang="en-US" sz="7700">
                <a:solidFill>
                  <a:srgbClr val="FFFFFF"/>
                </a:solidFill>
                <a:latin typeface="Questrial"/>
                <a:ea typeface="Questrial"/>
                <a:cs typeface="Questrial"/>
                <a:sym typeface="Questrial"/>
              </a:rPr>
              <a:t>Sentencias de Transferencia</a:t>
            </a:r>
            <a:endParaRPr/>
          </a:p>
        </p:txBody>
      </p:sp>
      <p:sp>
        <p:nvSpPr>
          <p:cNvPr id="204" name="Google Shape;204;p23"/>
          <p:cNvSpPr txBox="1"/>
          <p:nvPr/>
        </p:nvSpPr>
        <p:spPr>
          <a:xfrm>
            <a:off x="4444995" y="4784440"/>
            <a:ext cx="93981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205" name="Google Shape;205;p23"/>
          <p:cNvSpPr/>
          <p:nvPr/>
        </p:nvSpPr>
        <p:spPr>
          <a:xfrm>
            <a:off x="1226116" y="2427405"/>
            <a:ext cx="1567882" cy="1482361"/>
          </a:xfrm>
          <a:custGeom>
            <a:rect b="b" l="l" r="r" t="t"/>
            <a:pathLst>
              <a:path extrusionOk="0" h="1482361" w="1567882">
                <a:moveTo>
                  <a:pt x="0" y="0"/>
                </a:moveTo>
                <a:lnTo>
                  <a:pt x="1567882" y="0"/>
                </a:lnTo>
                <a:lnTo>
                  <a:pt x="1567882" y="1482361"/>
                </a:lnTo>
                <a:lnTo>
                  <a:pt x="0" y="1482361"/>
                </a:lnTo>
                <a:lnTo>
                  <a:pt x="0" y="0"/>
                </a:lnTo>
                <a:close/>
              </a:path>
            </a:pathLst>
          </a:custGeom>
          <a:blipFill rotWithShape="1">
            <a:blip r:embed="rId4">
              <a:alphaModFix/>
            </a:blip>
            <a:stretch>
              <a:fillRect b="0" l="0" r="0" t="0"/>
            </a:stretch>
          </a:blipFill>
          <a:ln>
            <a:noFill/>
          </a:ln>
        </p:spPr>
      </p:sp>
      <p:sp>
        <p:nvSpPr>
          <p:cNvPr id="206" name="Google Shape;206;p23"/>
          <p:cNvSpPr txBox="1"/>
          <p:nvPr/>
        </p:nvSpPr>
        <p:spPr>
          <a:xfrm>
            <a:off x="3595675" y="4645175"/>
            <a:ext cx="10247400" cy="4147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495">
                <a:solidFill>
                  <a:srgbClr val="FFFFFF"/>
                </a:solidFill>
              </a:rPr>
              <a:t>Son instrucciones que modifican el flujo de </a:t>
            </a:r>
            <a:r>
              <a:rPr lang="en-US" sz="2495">
                <a:solidFill>
                  <a:srgbClr val="FFFFFF"/>
                </a:solidFill>
              </a:rPr>
              <a:t>ejecución</a:t>
            </a:r>
            <a:r>
              <a:rPr lang="en-US" sz="2495">
                <a:solidFill>
                  <a:srgbClr val="FFFFFF"/>
                </a:solidFill>
              </a:rPr>
              <a:t> de un programa de manera incondicional.</a:t>
            </a:r>
            <a:endParaRPr sz="2495">
              <a:solidFill>
                <a:srgbClr val="FFFFFF"/>
              </a:solidFill>
            </a:endParaRPr>
          </a:p>
          <a:p>
            <a:pPr indent="0" lvl="0" marL="0" marR="0" rtl="0" algn="ctr">
              <a:lnSpc>
                <a:spcPct val="140000"/>
              </a:lnSpc>
              <a:spcBef>
                <a:spcPts val="0"/>
              </a:spcBef>
              <a:spcAft>
                <a:spcPts val="0"/>
              </a:spcAft>
              <a:buNone/>
            </a:pPr>
            <a:r>
              <a:t/>
            </a:r>
            <a:endParaRPr sz="2495">
              <a:solidFill>
                <a:srgbClr val="FFFFFF"/>
              </a:solidFill>
            </a:endParaRPr>
          </a:p>
          <a:p>
            <a:pPr indent="0" lvl="0" marL="0" marR="0" rtl="0" algn="l">
              <a:lnSpc>
                <a:spcPct val="140000"/>
              </a:lnSpc>
              <a:spcBef>
                <a:spcPts val="0"/>
              </a:spcBef>
              <a:spcAft>
                <a:spcPts val="0"/>
              </a:spcAft>
              <a:buNone/>
            </a:pPr>
            <a:r>
              <a:rPr lang="en-US" sz="2495">
                <a:solidFill>
                  <a:srgbClr val="FFFFFF"/>
                </a:solidFill>
              </a:rPr>
              <a:t>Ejemplos:</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return</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continue</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break</a:t>
            </a:r>
            <a:endParaRPr sz="2495">
              <a:solidFill>
                <a:srgbClr val="FFFFFF"/>
              </a:solidFill>
            </a:endParaRPr>
          </a:p>
          <a:p>
            <a:pPr indent="-387033" lvl="0" marL="457200" marR="0" rtl="0" algn="l">
              <a:lnSpc>
                <a:spcPct val="140000"/>
              </a:lnSpc>
              <a:spcBef>
                <a:spcPts val="0"/>
              </a:spcBef>
              <a:spcAft>
                <a:spcPts val="0"/>
              </a:spcAft>
              <a:buClr>
                <a:srgbClr val="FFFFFF"/>
              </a:buClr>
              <a:buSzPts val="2495"/>
              <a:buChar char="●"/>
            </a:pPr>
            <a:r>
              <a:rPr lang="en-US" sz="2495">
                <a:solidFill>
                  <a:srgbClr val="FFFFFF"/>
                </a:solidFill>
              </a:rPr>
              <a:t>goto</a:t>
            </a:r>
            <a:endParaRPr sz="2495">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12" name="Google Shape;212;p24"/>
          <p:cNvSpPr txBox="1"/>
          <p:nvPr/>
        </p:nvSpPr>
        <p:spPr>
          <a:xfrm>
            <a:off x="4153506" y="3777883"/>
            <a:ext cx="9981000" cy="1083000"/>
          </a:xfrm>
          <a:prstGeom prst="rect">
            <a:avLst/>
          </a:prstGeom>
          <a:noFill/>
          <a:ln>
            <a:noFill/>
          </a:ln>
        </p:spPr>
        <p:txBody>
          <a:bodyPr anchorCtr="0" anchor="t" bIns="0" lIns="0" spcFirstLastPara="1" rIns="0" wrap="square" tIns="0">
            <a:spAutoFit/>
          </a:bodyPr>
          <a:lstStyle/>
          <a:p>
            <a:pPr indent="0" lvl="0" marL="0" marR="0" rtl="0" algn="ctr">
              <a:lnSpc>
                <a:spcPct val="117012"/>
              </a:lnSpc>
              <a:spcBef>
                <a:spcPts val="0"/>
              </a:spcBef>
              <a:spcAft>
                <a:spcPts val="0"/>
              </a:spcAft>
              <a:buNone/>
            </a:pPr>
            <a:r>
              <a:rPr lang="en-US" sz="7036">
                <a:solidFill>
                  <a:srgbClr val="FFFFFF"/>
                </a:solidFill>
                <a:latin typeface="Questrial"/>
                <a:ea typeface="Questrial"/>
                <a:cs typeface="Questrial"/>
                <a:sym typeface="Questrial"/>
              </a:rPr>
              <a:t>Ejemplo Práctico</a:t>
            </a:r>
            <a:endParaRPr sz="7036">
              <a:solidFill>
                <a:srgbClr val="FFFFFF"/>
              </a:solidFill>
              <a:latin typeface="Questrial"/>
              <a:ea typeface="Questrial"/>
              <a:cs typeface="Questrial"/>
              <a:sym typeface="Quest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18" name="Google Shape;218;p25"/>
          <p:cNvSpPr txBox="1"/>
          <p:nvPr/>
        </p:nvSpPr>
        <p:spPr>
          <a:xfrm>
            <a:off x="3427509" y="5104919"/>
            <a:ext cx="12129600" cy="461700"/>
          </a:xfrm>
          <a:prstGeom prst="rect">
            <a:avLst/>
          </a:prstGeom>
          <a:noFill/>
          <a:ln>
            <a:noFill/>
          </a:ln>
        </p:spPr>
        <p:txBody>
          <a:bodyPr anchorCtr="0" anchor="t" bIns="0" lIns="0" spcFirstLastPara="1" rIns="0" wrap="square" tIns="0">
            <a:spAutoFit/>
          </a:bodyPr>
          <a:lstStyle/>
          <a:p>
            <a:pPr indent="0" lvl="0" marL="0" marR="0" rtl="0" algn="ctr">
              <a:lnSpc>
                <a:spcPct val="116966"/>
              </a:lnSpc>
              <a:spcBef>
                <a:spcPts val="0"/>
              </a:spcBef>
              <a:spcAft>
                <a:spcPts val="0"/>
              </a:spcAft>
              <a:buNone/>
            </a:pPr>
            <a:r>
              <a:rPr b="0" i="0" lang="en-US" sz="3000" u="none" cap="none" strike="noStrike">
                <a:solidFill>
                  <a:srgbClr val="FFFFFF"/>
                </a:solidFill>
                <a:latin typeface="Arial"/>
                <a:ea typeface="Arial"/>
                <a:cs typeface="Arial"/>
                <a:sym typeface="Arial"/>
              </a:rPr>
              <a:t>¿Dudas?</a:t>
            </a:r>
            <a:endParaRPr/>
          </a:p>
        </p:txBody>
      </p:sp>
      <p:sp>
        <p:nvSpPr>
          <p:cNvPr id="219" name="Google Shape;219;p25"/>
          <p:cNvSpPr txBox="1"/>
          <p:nvPr/>
        </p:nvSpPr>
        <p:spPr>
          <a:xfrm>
            <a:off x="4153506" y="3777883"/>
            <a:ext cx="9981000" cy="1083000"/>
          </a:xfrm>
          <a:prstGeom prst="rect">
            <a:avLst/>
          </a:prstGeom>
          <a:noFill/>
          <a:ln>
            <a:noFill/>
          </a:ln>
        </p:spPr>
        <p:txBody>
          <a:bodyPr anchorCtr="0" anchor="t" bIns="0" lIns="0" spcFirstLastPara="1" rIns="0" wrap="square" tIns="0">
            <a:spAutoFit/>
          </a:bodyPr>
          <a:lstStyle/>
          <a:p>
            <a:pPr indent="0" lvl="0" marL="0" marR="0" rtl="0" algn="ctr">
              <a:lnSpc>
                <a:spcPct val="117012"/>
              </a:lnSpc>
              <a:spcBef>
                <a:spcPts val="0"/>
              </a:spcBef>
              <a:spcAft>
                <a:spcPts val="0"/>
              </a:spcAft>
              <a:buNone/>
            </a:pPr>
            <a:r>
              <a:rPr b="0" i="0" lang="en-US" sz="7036" u="none" cap="none" strike="noStrike">
                <a:solidFill>
                  <a:srgbClr val="FFFFFF"/>
                </a:solidFill>
                <a:latin typeface="Questrial"/>
                <a:ea typeface="Questrial"/>
                <a:cs typeface="Questrial"/>
                <a:sym typeface="Questrial"/>
              </a:rPr>
              <a:t>¡Gracias por su atención!</a:t>
            </a:r>
            <a:endParaRPr/>
          </a:p>
        </p:txBody>
      </p:sp>
      <p:sp>
        <p:nvSpPr>
          <p:cNvPr id="220" name="Google Shape;220;p25"/>
          <p:cNvSpPr/>
          <p:nvPr/>
        </p:nvSpPr>
        <p:spPr>
          <a:xfrm>
            <a:off x="15530732" y="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