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Arimo"/>
      <p:regular r:id="rId27"/>
      <p:bold r:id="rId28"/>
      <p:italic r:id="rId29"/>
      <p:boldItalic r:id="rId30"/>
    </p:embeddedFont>
    <p:embeddedFont>
      <p:font typeface="Questrial"/>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C16F1C2-6177-42D9-841C-551629A4E6EA}">
  <a:tblStyle styleId="{1C16F1C2-6177-42D9-841C-551629A4E6E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Arimo-bold.fntdata"/><Relationship Id="rId27" Type="http://schemas.openxmlformats.org/officeDocument/2006/relationships/font" Target="fonts/Arim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im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Questrial-regular.fntdata"/><Relationship Id="rId30" Type="http://schemas.openxmlformats.org/officeDocument/2006/relationships/font" Target="fonts/Arim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ff8e35d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6ff8e35de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623520" y="889920"/>
            <a:ext cx="1704000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3"/>
          <p:cNvSpPr txBox="1"/>
          <p:nvPr>
            <p:ph idx="1" type="body"/>
          </p:nvPr>
        </p:nvSpPr>
        <p:spPr>
          <a:xfrm>
            <a:off x="623520" y="2304720"/>
            <a:ext cx="17040000" cy="6832200"/>
          </a:xfrm>
          <a:prstGeom prst="rect">
            <a:avLst/>
          </a:prstGeom>
          <a:noFill/>
          <a:ln>
            <a:noFill/>
          </a:ln>
        </p:spPr>
        <p:txBody>
          <a:bodyPr anchorCtr="0" anchor="t" bIns="0" lIns="0" spcFirstLastPara="1" rIns="0" wrap="square" tIns="0">
            <a:normAutofit/>
          </a:bodyPr>
          <a:lstStyle>
            <a:lvl1pPr indent="-457200" lvl="0" marL="457200" algn="l">
              <a:lnSpc>
                <a:spcPct val="90000"/>
              </a:lnSpc>
              <a:spcBef>
                <a:spcPts val="2000"/>
              </a:spcBef>
              <a:spcAft>
                <a:spcPts val="0"/>
              </a:spcAft>
              <a:buClr>
                <a:schemeClr val="dk1"/>
              </a:buClr>
              <a:buSzPts val="3600"/>
              <a:buChar char="•"/>
              <a:defRPr/>
            </a:lvl1pPr>
            <a:lvl2pPr indent="-457200" lvl="1" marL="914400" algn="l">
              <a:lnSpc>
                <a:spcPct val="90000"/>
              </a:lnSpc>
              <a:spcBef>
                <a:spcPts val="1000"/>
              </a:spcBef>
              <a:spcAft>
                <a:spcPts val="0"/>
              </a:spcAft>
              <a:buClr>
                <a:schemeClr val="dk1"/>
              </a:buClr>
              <a:buSzPts val="3600"/>
              <a:buChar char="–"/>
              <a:defRPr/>
            </a:lvl2pPr>
            <a:lvl3pPr indent="-457200" lvl="2" marL="1371600" algn="l">
              <a:lnSpc>
                <a:spcPct val="90000"/>
              </a:lnSpc>
              <a:spcBef>
                <a:spcPts val="1000"/>
              </a:spcBef>
              <a:spcAft>
                <a:spcPts val="0"/>
              </a:spcAft>
              <a:buClr>
                <a:schemeClr val="dk1"/>
              </a:buClr>
              <a:buSzPts val="3600"/>
              <a:buChar char="•"/>
              <a:defRPr/>
            </a:lvl3pPr>
            <a:lvl4pPr indent="-457200" lvl="3" marL="1828800" algn="l">
              <a:lnSpc>
                <a:spcPct val="90000"/>
              </a:lnSpc>
              <a:spcBef>
                <a:spcPts val="1000"/>
              </a:spcBef>
              <a:spcAft>
                <a:spcPts val="0"/>
              </a:spcAft>
              <a:buClr>
                <a:schemeClr val="dk1"/>
              </a:buClr>
              <a:buSzPts val="3600"/>
              <a:buChar char="–"/>
              <a:defRPr/>
            </a:lvl4pPr>
            <a:lvl5pPr indent="-457200" lvl="4" marL="2286000" algn="l">
              <a:lnSpc>
                <a:spcPct val="90000"/>
              </a:lnSpc>
              <a:spcBef>
                <a:spcPts val="1000"/>
              </a:spcBef>
              <a:spcAft>
                <a:spcPts val="0"/>
              </a:spcAft>
              <a:buClr>
                <a:schemeClr val="dk1"/>
              </a:buClr>
              <a:buSzPts val="3600"/>
              <a:buChar char="»"/>
              <a:defRPr/>
            </a:lvl5pPr>
            <a:lvl6pPr indent="-457200" lvl="5" marL="2743200" algn="l">
              <a:lnSpc>
                <a:spcPct val="90000"/>
              </a:lnSpc>
              <a:spcBef>
                <a:spcPts val="1000"/>
              </a:spcBef>
              <a:spcAft>
                <a:spcPts val="0"/>
              </a:spcAft>
              <a:buClr>
                <a:schemeClr val="dk1"/>
              </a:buClr>
              <a:buSzPts val="3600"/>
              <a:buChar char="•"/>
              <a:defRPr/>
            </a:lvl6pPr>
            <a:lvl7pPr indent="-457200" lvl="6" marL="3200400" algn="l">
              <a:lnSpc>
                <a:spcPct val="90000"/>
              </a:lnSpc>
              <a:spcBef>
                <a:spcPts val="1000"/>
              </a:spcBef>
              <a:spcAft>
                <a:spcPts val="0"/>
              </a:spcAft>
              <a:buClr>
                <a:schemeClr val="dk1"/>
              </a:buClr>
              <a:buSzPts val="3600"/>
              <a:buChar char="•"/>
              <a:defRPr/>
            </a:lvl7pPr>
            <a:lvl8pPr indent="-457200" lvl="7" marL="3657600" algn="l">
              <a:lnSpc>
                <a:spcPct val="90000"/>
              </a:lnSpc>
              <a:spcBef>
                <a:spcPts val="1000"/>
              </a:spcBef>
              <a:spcAft>
                <a:spcPts val="0"/>
              </a:spcAft>
              <a:buClr>
                <a:schemeClr val="dk1"/>
              </a:buClr>
              <a:buSzPts val="3600"/>
              <a:buChar char="•"/>
              <a:defRPr/>
            </a:lvl8pPr>
            <a:lvl9pPr indent="-457200" lvl="8" marL="4114800" algn="l">
              <a:lnSpc>
                <a:spcPct val="90000"/>
              </a:lnSpc>
              <a:spcBef>
                <a:spcPts val="1000"/>
              </a:spcBef>
              <a:spcAft>
                <a:spcPts val="0"/>
              </a:spcAft>
              <a:buClr>
                <a:schemeClr val="dk1"/>
              </a:buClr>
              <a:buSzPts val="3600"/>
              <a:buChar char="•"/>
              <a:defRPr/>
            </a:lvl9pPr>
          </a:lstStyle>
          <a:p/>
        </p:txBody>
      </p:sp>
      <p:sp>
        <p:nvSpPr>
          <p:cNvPr id="83" name="Google Shape;83;p13"/>
          <p:cNvSpPr txBox="1"/>
          <p:nvPr>
            <p:ph idx="12" type="sldNum"/>
          </p:nvPr>
        </p:nvSpPr>
        <p:spPr>
          <a:xfrm>
            <a:off x="16945200" y="9326160"/>
            <a:ext cx="1096800" cy="786000"/>
          </a:xfrm>
          <a:prstGeom prst="rect">
            <a:avLst/>
          </a:prstGeom>
          <a:noFill/>
          <a:ln>
            <a:noFill/>
          </a:ln>
        </p:spPr>
        <p:txBody>
          <a:bodyPr anchorCtr="0" anchor="ctr" bIns="182850" lIns="182850" spcFirstLastPara="1" rIns="182850" wrap="square" tIns="182850">
            <a:normAutofit/>
          </a:bodyPr>
          <a:lstStyle>
            <a:lvl1pPr indent="0" lvl="0"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2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hyperlink" Target="https://www.upv.es/visor/media/1028c7af-cfa0-e445-953d-3e20d09288c7/c"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1.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4.png"/><Relationship Id="rId6"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7.png"/><Relationship Id="rId6"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4"/>
          <p:cNvPicPr preferRelativeResize="0"/>
          <p:nvPr/>
        </p:nvPicPr>
        <p:blipFill rotWithShape="1">
          <a:blip r:embed="rId3">
            <a:alphaModFix amt="62000"/>
          </a:blip>
          <a:srcRect b="0" l="0" r="0" t="0"/>
          <a:stretch/>
        </p:blipFill>
        <p:spPr>
          <a:xfrm>
            <a:off x="16560" y="0"/>
            <a:ext cx="18253440" cy="10286639"/>
          </a:xfrm>
          <a:prstGeom prst="rect">
            <a:avLst/>
          </a:prstGeom>
          <a:noFill/>
          <a:ln>
            <a:noFill/>
          </a:ln>
        </p:spPr>
      </p:pic>
      <p:graphicFrame>
        <p:nvGraphicFramePr>
          <p:cNvPr id="89" name="Google Shape;89;p14"/>
          <p:cNvGraphicFramePr/>
          <p:nvPr/>
        </p:nvGraphicFramePr>
        <p:xfrm>
          <a:off x="10656720" y="1940400"/>
          <a:ext cx="3000000" cy="3000000"/>
        </p:xfrm>
        <a:graphic>
          <a:graphicData uri="http://schemas.openxmlformats.org/drawingml/2006/table">
            <a:tbl>
              <a:tblPr>
                <a:noFill/>
                <a:tableStyleId>{1C16F1C2-6177-42D9-841C-551629A4E6EA}</a:tableStyleId>
              </a:tblPr>
              <a:tblGrid>
                <a:gridCol w="3036250"/>
                <a:gridCol w="4344500"/>
              </a:tblGrid>
              <a:tr h="64440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Día, Fecha:</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Arial"/>
                          <a:ea typeface="Arial"/>
                          <a:cs typeface="Arial"/>
                          <a:sym typeface="Arial"/>
                        </a:rPr>
                        <a:t>Martes, </a:t>
                      </a:r>
                      <a:r>
                        <a:rPr lang="en-US" sz="2800"/>
                        <a:t>XX</a:t>
                      </a:r>
                      <a:r>
                        <a:rPr b="0" lang="en-US" sz="2800" u="none" cap="none" strike="noStrike">
                          <a:solidFill>
                            <a:srgbClr val="000000"/>
                          </a:solidFill>
                          <a:latin typeface="Arial"/>
                          <a:ea typeface="Arial"/>
                          <a:cs typeface="Arial"/>
                          <a:sym typeface="Arial"/>
                        </a:rPr>
                        <a:t>/</a:t>
                      </a:r>
                      <a:r>
                        <a:rPr lang="en-US" sz="2800"/>
                        <a:t>XX</a:t>
                      </a:r>
                      <a:r>
                        <a:rPr b="0" lang="en-US" sz="2800" u="none" cap="none" strike="noStrike">
                          <a:solidFill>
                            <a:srgbClr val="000000"/>
                          </a:solidFill>
                          <a:latin typeface="Arial"/>
                          <a:ea typeface="Arial"/>
                          <a:cs typeface="Arial"/>
                          <a:sym typeface="Arial"/>
                        </a:rPr>
                        <a:t>/202</a:t>
                      </a:r>
                      <a:r>
                        <a:rPr lang="en-US" sz="2800"/>
                        <a:t>X</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72575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Hora de inicio:</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2800"/>
                        <a:t>XX</a:t>
                      </a:r>
                      <a:r>
                        <a:rPr b="0" lang="en-US" sz="2800" u="none" cap="none" strike="noStrike">
                          <a:solidFill>
                            <a:srgbClr val="000000"/>
                          </a:solidFill>
                          <a:latin typeface="Arial"/>
                          <a:ea typeface="Arial"/>
                          <a:cs typeface="Arial"/>
                          <a:sym typeface="Arial"/>
                        </a:rPr>
                        <a:t>:</a:t>
                      </a:r>
                      <a:r>
                        <a:rPr lang="en-US" sz="2800"/>
                        <a:t>XX</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90" name="Google Shape;90;p14"/>
          <p:cNvSpPr/>
          <p:nvPr/>
        </p:nvSpPr>
        <p:spPr>
          <a:xfrm>
            <a:off x="2880000" y="4516560"/>
            <a:ext cx="11956800" cy="1888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5000" u="none" cap="none" strike="noStrike">
                <a:solidFill>
                  <a:srgbClr val="000000"/>
                </a:solidFill>
                <a:latin typeface="Arial"/>
                <a:ea typeface="Arial"/>
                <a:cs typeface="Arial"/>
                <a:sym typeface="Arial"/>
              </a:rPr>
              <a:t>Organización de Lenguajes y Compiladores 2 [</a:t>
            </a:r>
            <a:r>
              <a:rPr lang="en-US" sz="5000"/>
              <a:t>X</a:t>
            </a:r>
            <a:r>
              <a:rPr b="0" i="0" lang="en-US" sz="5000" u="none" cap="none" strike="noStrike">
                <a:solidFill>
                  <a:srgbClr val="000000"/>
                </a:solidFill>
                <a:latin typeface="Arial"/>
                <a:ea typeface="Arial"/>
                <a:cs typeface="Arial"/>
                <a:sym typeface="Arial"/>
              </a:rPr>
              <a:t>]</a:t>
            </a:r>
            <a:endParaRPr b="0" i="0" sz="5000" u="none" cap="none" strike="noStrike">
              <a:solidFill>
                <a:srgbClr val="000000"/>
              </a:solidFill>
              <a:latin typeface="Arial"/>
              <a:ea typeface="Arial"/>
              <a:cs typeface="Arial"/>
              <a:sym typeface="Arial"/>
            </a:endParaRPr>
          </a:p>
        </p:txBody>
      </p:sp>
      <p:sp>
        <p:nvSpPr>
          <p:cNvPr id="91" name="Google Shape;91;p14"/>
          <p:cNvSpPr/>
          <p:nvPr/>
        </p:nvSpPr>
        <p:spPr>
          <a:xfrm>
            <a:off x="3557520" y="6189120"/>
            <a:ext cx="11172000" cy="975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Rubén Alejandro Ralda Mejia</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cxnSp>
        <p:nvCxnSpPr>
          <p:cNvPr id="97" name="Google Shape;97;p15"/>
          <p:cNvCxnSpPr/>
          <p:nvPr/>
        </p:nvCxnSpPr>
        <p:spPr>
          <a:xfrm>
            <a:off x="1789657" y="6030622"/>
            <a:ext cx="0" cy="2384602"/>
          </a:xfrm>
          <a:prstGeom prst="straightConnector1">
            <a:avLst/>
          </a:prstGeom>
          <a:noFill/>
          <a:ln cap="flat" cmpd="sng" w="38100">
            <a:solidFill>
              <a:srgbClr val="6AD3F3"/>
            </a:solidFill>
            <a:prstDash val="solid"/>
            <a:round/>
            <a:headEnd len="sm" w="sm" type="none"/>
            <a:tailEnd len="sm" w="sm" type="none"/>
          </a:ln>
        </p:spPr>
      </p:cxnSp>
      <p:sp>
        <p:nvSpPr>
          <p:cNvPr id="98" name="Google Shape;98;p15"/>
          <p:cNvSpPr txBox="1"/>
          <p:nvPr/>
        </p:nvSpPr>
        <p:spPr>
          <a:xfrm>
            <a:off x="1808707" y="1362075"/>
            <a:ext cx="13530446" cy="3548678"/>
          </a:xfrm>
          <a:prstGeom prst="rect">
            <a:avLst/>
          </a:prstGeom>
          <a:noFill/>
          <a:ln>
            <a:noFill/>
          </a:ln>
        </p:spPr>
        <p:txBody>
          <a:bodyPr anchorCtr="0" anchor="t" bIns="0" lIns="0" spcFirstLastPara="1" rIns="0" wrap="square" tIns="0">
            <a:spAutoFit/>
          </a:bodyPr>
          <a:lstStyle/>
          <a:p>
            <a:pPr indent="0" lvl="0" marL="0" marR="0" rtl="0" algn="l">
              <a:lnSpc>
                <a:spcPct val="85998"/>
              </a:lnSpc>
              <a:spcBef>
                <a:spcPts val="0"/>
              </a:spcBef>
              <a:spcAft>
                <a:spcPts val="0"/>
              </a:spcAft>
              <a:buNone/>
            </a:pPr>
            <a:r>
              <a:rPr b="0" i="0" lang="en-US" sz="10492" u="none" cap="none" strike="noStrike">
                <a:solidFill>
                  <a:srgbClr val="FFFFFF"/>
                </a:solidFill>
                <a:latin typeface="Questrial"/>
                <a:ea typeface="Questrial"/>
                <a:cs typeface="Questrial"/>
                <a:sym typeface="Questrial"/>
              </a:rPr>
              <a:t>Organización de Lenguajes y Compiladores 2</a:t>
            </a:r>
            <a:endParaRPr/>
          </a:p>
        </p:txBody>
      </p:sp>
      <p:sp>
        <p:nvSpPr>
          <p:cNvPr id="99" name="Google Shape;99;p15"/>
          <p:cNvSpPr txBox="1"/>
          <p:nvPr/>
        </p:nvSpPr>
        <p:spPr>
          <a:xfrm>
            <a:off x="1808707" y="4954369"/>
            <a:ext cx="11710411" cy="716059"/>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4154" u="none" cap="none" strike="noStrike">
                <a:solidFill>
                  <a:srgbClr val="FFFFFF"/>
                </a:solidFill>
                <a:latin typeface="Arial"/>
                <a:ea typeface="Arial"/>
                <a:cs typeface="Arial"/>
                <a:sym typeface="Arial"/>
              </a:rPr>
              <a:t>Segundo Semestre</a:t>
            </a:r>
            <a:endParaRPr/>
          </a:p>
        </p:txBody>
      </p:sp>
      <p:sp>
        <p:nvSpPr>
          <p:cNvPr id="100" name="Google Shape;100;p15"/>
          <p:cNvSpPr txBox="1"/>
          <p:nvPr/>
        </p:nvSpPr>
        <p:spPr>
          <a:xfrm>
            <a:off x="2117529" y="6064025"/>
            <a:ext cx="8011243" cy="2260647"/>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0" i="0" lang="en-US" sz="3248" u="none" cap="none" strike="noStrike">
                <a:solidFill>
                  <a:srgbClr val="FFFFFF"/>
                </a:solidFill>
                <a:latin typeface="Arial"/>
                <a:ea typeface="Arial"/>
                <a:cs typeface="Arial"/>
                <a:sym typeface="Arial"/>
              </a:rPr>
              <a:t>Escuela de Ciencias Y Sistemas</a:t>
            </a:r>
            <a:endParaRPr/>
          </a:p>
          <a:p>
            <a:pPr indent="0" lvl="0" marL="0" marR="0" rtl="0" algn="l">
              <a:lnSpc>
                <a:spcPct val="139993"/>
              </a:lnSpc>
              <a:spcBef>
                <a:spcPts val="0"/>
              </a:spcBef>
              <a:spcAft>
                <a:spcPts val="0"/>
              </a:spcAft>
              <a:buNone/>
            </a:pPr>
            <a:r>
              <a:rPr b="0" i="0" lang="en-US" sz="3248" u="none" cap="none" strike="noStrike">
                <a:solidFill>
                  <a:srgbClr val="FFFFFF"/>
                </a:solidFill>
                <a:latin typeface="Arial"/>
                <a:ea typeface="Arial"/>
                <a:cs typeface="Arial"/>
                <a:sym typeface="Arial"/>
              </a:rPr>
              <a:t>Facultad de Ingeniería</a:t>
            </a:r>
            <a:endParaRPr/>
          </a:p>
          <a:p>
            <a:pPr indent="0" lvl="0" marL="0" marR="0" rtl="0" algn="l">
              <a:lnSpc>
                <a:spcPct val="139993"/>
              </a:lnSpc>
              <a:spcBef>
                <a:spcPts val="0"/>
              </a:spcBef>
              <a:spcAft>
                <a:spcPts val="0"/>
              </a:spcAft>
              <a:buNone/>
            </a:pPr>
            <a:r>
              <a:rPr b="0" i="0" lang="en-US" sz="3248" u="none" cap="none" strike="noStrike">
                <a:solidFill>
                  <a:srgbClr val="FFFFFF"/>
                </a:solidFill>
                <a:latin typeface="Arial"/>
                <a:ea typeface="Arial"/>
                <a:cs typeface="Arial"/>
                <a:sym typeface="Arial"/>
              </a:rPr>
              <a:t>Universidad de San Carlos de Guatemala</a:t>
            </a:r>
            <a:endParaRPr/>
          </a:p>
        </p:txBody>
      </p:sp>
      <p:sp>
        <p:nvSpPr>
          <p:cNvPr id="101" name="Google Shape;101;p15"/>
          <p:cNvSpPr/>
          <p:nvPr/>
        </p:nvSpPr>
        <p:spPr>
          <a:xfrm>
            <a:off x="12785514" y="0"/>
            <a:ext cx="5502486" cy="1458309"/>
          </a:xfrm>
          <a:custGeom>
            <a:rect b="b" l="l" r="r" t="t"/>
            <a:pathLst>
              <a:path extrusionOk="0" h="1458309" w="5502486">
                <a:moveTo>
                  <a:pt x="0" y="0"/>
                </a:moveTo>
                <a:lnTo>
                  <a:pt x="5502486" y="0"/>
                </a:lnTo>
                <a:lnTo>
                  <a:pt x="5502486" y="1458309"/>
                </a:lnTo>
                <a:lnTo>
                  <a:pt x="0" y="1458309"/>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07" name="Google Shape;107;p16"/>
          <p:cNvSpPr/>
          <p:nvPr/>
        </p:nvSpPr>
        <p:spPr>
          <a:xfrm>
            <a:off x="8222023" y="2569992"/>
            <a:ext cx="807245" cy="1088197"/>
          </a:xfrm>
          <a:custGeom>
            <a:rect b="b" l="l" r="r" t="t"/>
            <a:pathLst>
              <a:path extrusionOk="0" h="1088197" w="807245">
                <a:moveTo>
                  <a:pt x="0" y="0"/>
                </a:moveTo>
                <a:lnTo>
                  <a:pt x="807244" y="0"/>
                </a:lnTo>
                <a:lnTo>
                  <a:pt x="807244" y="1088197"/>
                </a:lnTo>
                <a:lnTo>
                  <a:pt x="0" y="1088197"/>
                </a:lnTo>
                <a:lnTo>
                  <a:pt x="0" y="0"/>
                </a:lnTo>
                <a:close/>
              </a:path>
            </a:pathLst>
          </a:custGeom>
          <a:blipFill rotWithShape="1">
            <a:blip r:embed="rId4">
              <a:alphaModFix/>
            </a:blip>
            <a:stretch>
              <a:fillRect b="0" l="0" r="0" t="0"/>
            </a:stretch>
          </a:blipFill>
          <a:ln>
            <a:noFill/>
          </a:ln>
        </p:spPr>
      </p:sp>
      <p:sp>
        <p:nvSpPr>
          <p:cNvPr id="108" name="Google Shape;108;p16"/>
          <p:cNvSpPr/>
          <p:nvPr/>
        </p:nvSpPr>
        <p:spPr>
          <a:xfrm>
            <a:off x="8222023" y="4086655"/>
            <a:ext cx="921977" cy="1006126"/>
          </a:xfrm>
          <a:custGeom>
            <a:rect b="b" l="l" r="r" t="t"/>
            <a:pathLst>
              <a:path extrusionOk="0" h="1006126" w="921977">
                <a:moveTo>
                  <a:pt x="0" y="0"/>
                </a:moveTo>
                <a:lnTo>
                  <a:pt x="921977" y="0"/>
                </a:lnTo>
                <a:lnTo>
                  <a:pt x="921977" y="1006126"/>
                </a:lnTo>
                <a:lnTo>
                  <a:pt x="0" y="1006126"/>
                </a:lnTo>
                <a:lnTo>
                  <a:pt x="0" y="0"/>
                </a:lnTo>
                <a:close/>
              </a:path>
            </a:pathLst>
          </a:custGeom>
          <a:blipFill rotWithShape="1">
            <a:blip r:embed="rId5">
              <a:alphaModFix/>
            </a:blip>
            <a:stretch>
              <a:fillRect b="0" l="0" r="0" t="0"/>
            </a:stretch>
          </a:blipFill>
          <a:ln>
            <a:noFill/>
          </a:ln>
        </p:spPr>
      </p:sp>
      <p:sp>
        <p:nvSpPr>
          <p:cNvPr id="109" name="Google Shape;109;p16"/>
          <p:cNvSpPr/>
          <p:nvPr/>
        </p:nvSpPr>
        <p:spPr>
          <a:xfrm>
            <a:off x="8222023" y="5515571"/>
            <a:ext cx="921977" cy="1034872"/>
          </a:xfrm>
          <a:custGeom>
            <a:rect b="b" l="l" r="r" t="t"/>
            <a:pathLst>
              <a:path extrusionOk="0" h="1034872" w="921977">
                <a:moveTo>
                  <a:pt x="0" y="0"/>
                </a:moveTo>
                <a:lnTo>
                  <a:pt x="921977" y="0"/>
                </a:lnTo>
                <a:lnTo>
                  <a:pt x="921977" y="1034873"/>
                </a:lnTo>
                <a:lnTo>
                  <a:pt x="0" y="1034873"/>
                </a:lnTo>
                <a:lnTo>
                  <a:pt x="0" y="0"/>
                </a:lnTo>
                <a:close/>
              </a:path>
            </a:pathLst>
          </a:custGeom>
          <a:blipFill rotWithShape="1">
            <a:blip r:embed="rId6">
              <a:alphaModFix/>
            </a:blip>
            <a:stretch>
              <a:fillRect b="0" l="0" r="0" t="0"/>
            </a:stretch>
          </a:blipFill>
          <a:ln>
            <a:noFill/>
          </a:ln>
        </p:spPr>
      </p:sp>
      <p:sp>
        <p:nvSpPr>
          <p:cNvPr id="110" name="Google Shape;110;p16"/>
          <p:cNvSpPr/>
          <p:nvPr/>
        </p:nvSpPr>
        <p:spPr>
          <a:xfrm>
            <a:off x="8222023" y="8467076"/>
            <a:ext cx="921977" cy="791224"/>
          </a:xfrm>
          <a:custGeom>
            <a:rect b="b" l="l" r="r" t="t"/>
            <a:pathLst>
              <a:path extrusionOk="0" h="791224" w="921977">
                <a:moveTo>
                  <a:pt x="0" y="0"/>
                </a:moveTo>
                <a:lnTo>
                  <a:pt x="921977" y="0"/>
                </a:lnTo>
                <a:lnTo>
                  <a:pt x="921977" y="791224"/>
                </a:lnTo>
                <a:lnTo>
                  <a:pt x="0" y="791224"/>
                </a:lnTo>
                <a:lnTo>
                  <a:pt x="0" y="0"/>
                </a:lnTo>
                <a:close/>
              </a:path>
            </a:pathLst>
          </a:custGeom>
          <a:blipFill rotWithShape="1">
            <a:blip r:embed="rId7">
              <a:alphaModFix/>
            </a:blip>
            <a:stretch>
              <a:fillRect b="0" l="0" r="0" t="0"/>
            </a:stretch>
          </a:blipFill>
          <a:ln>
            <a:noFill/>
          </a:ln>
        </p:spPr>
      </p:sp>
      <p:sp>
        <p:nvSpPr>
          <p:cNvPr id="111" name="Google Shape;111;p16"/>
          <p:cNvSpPr/>
          <p:nvPr/>
        </p:nvSpPr>
        <p:spPr>
          <a:xfrm>
            <a:off x="8222023" y="7071240"/>
            <a:ext cx="921977" cy="875040"/>
          </a:xfrm>
          <a:custGeom>
            <a:rect b="b" l="l" r="r" t="t"/>
            <a:pathLst>
              <a:path extrusionOk="0" h="875040" w="921977">
                <a:moveTo>
                  <a:pt x="0" y="0"/>
                </a:moveTo>
                <a:lnTo>
                  <a:pt x="921977" y="0"/>
                </a:lnTo>
                <a:lnTo>
                  <a:pt x="921977" y="875040"/>
                </a:lnTo>
                <a:lnTo>
                  <a:pt x="0" y="875040"/>
                </a:lnTo>
                <a:lnTo>
                  <a:pt x="0" y="0"/>
                </a:lnTo>
                <a:close/>
              </a:path>
            </a:pathLst>
          </a:custGeom>
          <a:blipFill rotWithShape="1">
            <a:blip r:embed="rId8">
              <a:alphaModFix/>
            </a:blip>
            <a:stretch>
              <a:fillRect b="0" l="0" r="0" t="0"/>
            </a:stretch>
          </a:blipFill>
          <a:ln>
            <a:noFill/>
          </a:ln>
        </p:spPr>
      </p:sp>
      <p:grpSp>
        <p:nvGrpSpPr>
          <p:cNvPr id="112" name="Google Shape;112;p16"/>
          <p:cNvGrpSpPr/>
          <p:nvPr/>
        </p:nvGrpSpPr>
        <p:grpSpPr>
          <a:xfrm>
            <a:off x="9482417" y="2544020"/>
            <a:ext cx="3466133" cy="995480"/>
            <a:chOff x="0" y="-192881"/>
            <a:chExt cx="4621511" cy="1327306"/>
          </a:xfrm>
        </p:grpSpPr>
        <p:grpSp>
          <p:nvGrpSpPr>
            <p:cNvPr id="113" name="Google Shape;113;p16"/>
            <p:cNvGrpSpPr/>
            <p:nvPr/>
          </p:nvGrpSpPr>
          <p:grpSpPr>
            <a:xfrm>
              <a:off x="0" y="-192881"/>
              <a:ext cx="4621511" cy="1327306"/>
              <a:chOff x="0" y="-38100"/>
              <a:chExt cx="912891" cy="262184"/>
            </a:xfrm>
          </p:grpSpPr>
          <p:sp>
            <p:nvSpPr>
              <p:cNvPr id="114" name="Google Shape;114;p16"/>
              <p:cNvSpPr/>
              <p:nvPr/>
            </p:nvSpPr>
            <p:spPr>
              <a:xfrm>
                <a:off x="0" y="0"/>
                <a:ext cx="912891" cy="224084"/>
              </a:xfrm>
              <a:custGeom>
                <a:rect b="b" l="l" r="r" t="t"/>
                <a:pathLst>
                  <a:path extrusionOk="0" h="224084" w="912891">
                    <a:moveTo>
                      <a:pt x="112042" y="0"/>
                    </a:moveTo>
                    <a:lnTo>
                      <a:pt x="800849" y="0"/>
                    </a:lnTo>
                    <a:cubicBezTo>
                      <a:pt x="830564" y="0"/>
                      <a:pt x="859063" y="11804"/>
                      <a:pt x="880075" y="32816"/>
                    </a:cubicBezTo>
                    <a:cubicBezTo>
                      <a:pt x="901087" y="53828"/>
                      <a:pt x="912891" y="82327"/>
                      <a:pt x="912891" y="112042"/>
                    </a:cubicBezTo>
                    <a:lnTo>
                      <a:pt x="912891" y="112042"/>
                    </a:lnTo>
                    <a:cubicBezTo>
                      <a:pt x="912891" y="173921"/>
                      <a:pt x="862728" y="224084"/>
                      <a:pt x="800849" y="224084"/>
                    </a:cubicBezTo>
                    <a:lnTo>
                      <a:pt x="112042" y="224084"/>
                    </a:lnTo>
                    <a:cubicBezTo>
                      <a:pt x="50163" y="224084"/>
                      <a:pt x="0" y="173921"/>
                      <a:pt x="0" y="112042"/>
                    </a:cubicBezTo>
                    <a:lnTo>
                      <a:pt x="0" y="112042"/>
                    </a:lnTo>
                    <a:cubicBezTo>
                      <a:pt x="0" y="50163"/>
                      <a:pt x="50163" y="0"/>
                      <a:pt x="112042"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txBox="1"/>
              <p:nvPr/>
            </p:nvSpPr>
            <p:spPr>
              <a:xfrm>
                <a:off x="0" y="-38100"/>
                <a:ext cx="912891" cy="26218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6" name="Google Shape;116;p16"/>
            <p:cNvSpPr txBox="1"/>
            <p:nvPr/>
          </p:nvSpPr>
          <p:spPr>
            <a:xfrm>
              <a:off x="472788" y="171040"/>
              <a:ext cx="3852536" cy="697096"/>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b="0" i="0" lang="en-US" sz="3002" u="none" cap="none" strike="noStrike">
                  <a:solidFill>
                    <a:srgbClr val="FFFFFF"/>
                  </a:solidFill>
                  <a:latin typeface="Arial"/>
                  <a:ea typeface="Arial"/>
                  <a:cs typeface="Arial"/>
                  <a:sym typeface="Arial"/>
                </a:rPr>
                <a:t>Marcadores</a:t>
              </a:r>
              <a:endParaRPr/>
            </a:p>
          </p:txBody>
        </p:sp>
      </p:grpSp>
      <p:grpSp>
        <p:nvGrpSpPr>
          <p:cNvPr id="117" name="Google Shape;117;p16"/>
          <p:cNvGrpSpPr/>
          <p:nvPr/>
        </p:nvGrpSpPr>
        <p:grpSpPr>
          <a:xfrm>
            <a:off x="9482417" y="4019648"/>
            <a:ext cx="6218968" cy="995480"/>
            <a:chOff x="0" y="-192881"/>
            <a:chExt cx="8291957" cy="1327306"/>
          </a:xfrm>
        </p:grpSpPr>
        <p:grpSp>
          <p:nvGrpSpPr>
            <p:cNvPr id="118" name="Google Shape;118;p16"/>
            <p:cNvGrpSpPr/>
            <p:nvPr/>
          </p:nvGrpSpPr>
          <p:grpSpPr>
            <a:xfrm>
              <a:off x="0" y="-192881"/>
              <a:ext cx="8291957" cy="1327306"/>
              <a:chOff x="0" y="-38100"/>
              <a:chExt cx="1637918" cy="262184"/>
            </a:xfrm>
          </p:grpSpPr>
          <p:sp>
            <p:nvSpPr>
              <p:cNvPr id="119" name="Google Shape;119;p16"/>
              <p:cNvSpPr/>
              <p:nvPr/>
            </p:nvSpPr>
            <p:spPr>
              <a:xfrm>
                <a:off x="0" y="0"/>
                <a:ext cx="1637917" cy="224084"/>
              </a:xfrm>
              <a:custGeom>
                <a:rect b="b" l="l" r="r" t="t"/>
                <a:pathLst>
                  <a:path extrusionOk="0" h="224084" w="1637917">
                    <a:moveTo>
                      <a:pt x="63489" y="0"/>
                    </a:moveTo>
                    <a:lnTo>
                      <a:pt x="1574428" y="0"/>
                    </a:lnTo>
                    <a:cubicBezTo>
                      <a:pt x="1591267" y="0"/>
                      <a:pt x="1607415" y="6689"/>
                      <a:pt x="1619322" y="18596"/>
                    </a:cubicBezTo>
                    <a:cubicBezTo>
                      <a:pt x="1631229" y="30502"/>
                      <a:pt x="1637917" y="46651"/>
                      <a:pt x="1637917" y="63489"/>
                    </a:cubicBezTo>
                    <a:lnTo>
                      <a:pt x="1637917" y="160595"/>
                    </a:lnTo>
                    <a:cubicBezTo>
                      <a:pt x="1637917" y="177433"/>
                      <a:pt x="1631229" y="193582"/>
                      <a:pt x="1619322" y="205488"/>
                    </a:cubicBezTo>
                    <a:cubicBezTo>
                      <a:pt x="1607415" y="217395"/>
                      <a:pt x="1591267" y="224084"/>
                      <a:pt x="1574428" y="224084"/>
                    </a:cubicBezTo>
                    <a:lnTo>
                      <a:pt x="63489" y="224084"/>
                    </a:lnTo>
                    <a:cubicBezTo>
                      <a:pt x="46651" y="224084"/>
                      <a:pt x="30502" y="217395"/>
                      <a:pt x="18596" y="205488"/>
                    </a:cubicBezTo>
                    <a:cubicBezTo>
                      <a:pt x="6689" y="193582"/>
                      <a:pt x="0" y="177433"/>
                      <a:pt x="0" y="160595"/>
                    </a:cubicBezTo>
                    <a:lnTo>
                      <a:pt x="0" y="63489"/>
                    </a:lnTo>
                    <a:cubicBezTo>
                      <a:pt x="0" y="46651"/>
                      <a:pt x="6689" y="30502"/>
                      <a:pt x="18596" y="18596"/>
                    </a:cubicBezTo>
                    <a:cubicBezTo>
                      <a:pt x="30502" y="6689"/>
                      <a:pt x="46651" y="0"/>
                      <a:pt x="63489"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txBox="1"/>
              <p:nvPr/>
            </p:nvSpPr>
            <p:spPr>
              <a:xfrm>
                <a:off x="0" y="-38100"/>
                <a:ext cx="1637918" cy="26218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1" name="Google Shape;121;p16"/>
            <p:cNvSpPr txBox="1"/>
            <p:nvPr/>
          </p:nvSpPr>
          <p:spPr>
            <a:xfrm>
              <a:off x="848281" y="171040"/>
              <a:ext cx="6912256" cy="697096"/>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b="0" i="0" lang="en-US" sz="3002" u="none" cap="none" strike="noStrike">
                  <a:solidFill>
                    <a:srgbClr val="FFFFFF"/>
                  </a:solidFill>
                  <a:latin typeface="Arial"/>
                  <a:ea typeface="Arial"/>
                  <a:cs typeface="Arial"/>
                  <a:sym typeface="Arial"/>
                </a:rPr>
                <a:t>Atributos heredados</a:t>
              </a:r>
              <a:endParaRPr/>
            </a:p>
          </p:txBody>
        </p:sp>
      </p:grpSp>
      <p:grpSp>
        <p:nvGrpSpPr>
          <p:cNvPr id="122" name="Google Shape;122;p16"/>
          <p:cNvGrpSpPr/>
          <p:nvPr/>
        </p:nvGrpSpPr>
        <p:grpSpPr>
          <a:xfrm>
            <a:off x="9482417" y="5441130"/>
            <a:ext cx="6218968" cy="1017287"/>
            <a:chOff x="0" y="-38100"/>
            <a:chExt cx="1637918" cy="267927"/>
          </a:xfrm>
        </p:grpSpPr>
        <p:sp>
          <p:nvSpPr>
            <p:cNvPr id="123" name="Google Shape;123;p16"/>
            <p:cNvSpPr/>
            <p:nvPr/>
          </p:nvSpPr>
          <p:spPr>
            <a:xfrm>
              <a:off x="0" y="0"/>
              <a:ext cx="1637917" cy="229827"/>
            </a:xfrm>
            <a:custGeom>
              <a:rect b="b" l="l" r="r" t="t"/>
              <a:pathLst>
                <a:path extrusionOk="0" h="229827" w="1637917">
                  <a:moveTo>
                    <a:pt x="63489" y="0"/>
                  </a:moveTo>
                  <a:lnTo>
                    <a:pt x="1574428" y="0"/>
                  </a:lnTo>
                  <a:cubicBezTo>
                    <a:pt x="1591267" y="0"/>
                    <a:pt x="1607415" y="6689"/>
                    <a:pt x="1619322" y="18596"/>
                  </a:cubicBezTo>
                  <a:cubicBezTo>
                    <a:pt x="1631229" y="30502"/>
                    <a:pt x="1637917" y="46651"/>
                    <a:pt x="1637917" y="63489"/>
                  </a:cubicBezTo>
                  <a:lnTo>
                    <a:pt x="1637917" y="166338"/>
                  </a:lnTo>
                  <a:cubicBezTo>
                    <a:pt x="1637917" y="201402"/>
                    <a:pt x="1609492" y="229827"/>
                    <a:pt x="1574428" y="229827"/>
                  </a:cubicBezTo>
                  <a:lnTo>
                    <a:pt x="63489" y="229827"/>
                  </a:lnTo>
                  <a:cubicBezTo>
                    <a:pt x="46651" y="229827"/>
                    <a:pt x="30502" y="223138"/>
                    <a:pt x="18596" y="211232"/>
                  </a:cubicBezTo>
                  <a:cubicBezTo>
                    <a:pt x="6689" y="199325"/>
                    <a:pt x="0" y="183177"/>
                    <a:pt x="0" y="166338"/>
                  </a:cubicBezTo>
                  <a:lnTo>
                    <a:pt x="0" y="63489"/>
                  </a:lnTo>
                  <a:cubicBezTo>
                    <a:pt x="0" y="46651"/>
                    <a:pt x="6689" y="30502"/>
                    <a:pt x="18596" y="18596"/>
                  </a:cubicBezTo>
                  <a:cubicBezTo>
                    <a:pt x="30502" y="6689"/>
                    <a:pt x="46651" y="0"/>
                    <a:pt x="63489"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txBox="1"/>
            <p:nvPr/>
          </p:nvSpPr>
          <p:spPr>
            <a:xfrm>
              <a:off x="0" y="-38100"/>
              <a:ext cx="1637918" cy="26792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5" name="Google Shape;125;p16"/>
          <p:cNvSpPr txBox="1"/>
          <p:nvPr/>
        </p:nvSpPr>
        <p:spPr>
          <a:xfrm>
            <a:off x="9837008" y="5712065"/>
            <a:ext cx="5520670" cy="546634"/>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b="0" i="0" lang="en-US" sz="3002" u="none" cap="none" strike="noStrike">
                <a:solidFill>
                  <a:srgbClr val="FFFFFF"/>
                </a:solidFill>
                <a:latin typeface="Arial"/>
                <a:ea typeface="Arial"/>
                <a:cs typeface="Arial"/>
                <a:sym typeface="Arial"/>
              </a:rPr>
              <a:t>Grafo de dependencias</a:t>
            </a:r>
            <a:endParaRPr/>
          </a:p>
        </p:txBody>
      </p:sp>
      <p:grpSp>
        <p:nvGrpSpPr>
          <p:cNvPr id="126" name="Google Shape;126;p16"/>
          <p:cNvGrpSpPr/>
          <p:nvPr/>
        </p:nvGrpSpPr>
        <p:grpSpPr>
          <a:xfrm>
            <a:off x="9482417" y="7034433"/>
            <a:ext cx="5514422" cy="995480"/>
            <a:chOff x="0" y="-192881"/>
            <a:chExt cx="7352563" cy="1327306"/>
          </a:xfrm>
        </p:grpSpPr>
        <p:grpSp>
          <p:nvGrpSpPr>
            <p:cNvPr id="127" name="Google Shape;127;p16"/>
            <p:cNvGrpSpPr/>
            <p:nvPr/>
          </p:nvGrpSpPr>
          <p:grpSpPr>
            <a:xfrm>
              <a:off x="0" y="-192881"/>
              <a:ext cx="7352563" cy="1327306"/>
              <a:chOff x="0" y="-38100"/>
              <a:chExt cx="1452358" cy="262184"/>
            </a:xfrm>
          </p:grpSpPr>
          <p:sp>
            <p:nvSpPr>
              <p:cNvPr id="128" name="Google Shape;128;p16"/>
              <p:cNvSpPr/>
              <p:nvPr/>
            </p:nvSpPr>
            <p:spPr>
              <a:xfrm>
                <a:off x="0" y="0"/>
                <a:ext cx="1452358" cy="224084"/>
              </a:xfrm>
              <a:custGeom>
                <a:rect b="b" l="l" r="r" t="t"/>
                <a:pathLst>
                  <a:path extrusionOk="0" h="224084" w="1452358">
                    <a:moveTo>
                      <a:pt x="71601" y="0"/>
                    </a:moveTo>
                    <a:lnTo>
                      <a:pt x="1380757" y="0"/>
                    </a:lnTo>
                    <a:cubicBezTo>
                      <a:pt x="1399747" y="0"/>
                      <a:pt x="1417959" y="7544"/>
                      <a:pt x="1431387" y="20971"/>
                    </a:cubicBezTo>
                    <a:cubicBezTo>
                      <a:pt x="1444815" y="34399"/>
                      <a:pt x="1452358" y="52611"/>
                      <a:pt x="1452358" y="71601"/>
                    </a:cubicBezTo>
                    <a:lnTo>
                      <a:pt x="1452358" y="152483"/>
                    </a:lnTo>
                    <a:cubicBezTo>
                      <a:pt x="1452358" y="192027"/>
                      <a:pt x="1420301" y="224084"/>
                      <a:pt x="1380757" y="224084"/>
                    </a:cubicBezTo>
                    <a:lnTo>
                      <a:pt x="71601" y="224084"/>
                    </a:lnTo>
                    <a:cubicBezTo>
                      <a:pt x="32057" y="224084"/>
                      <a:pt x="0" y="192027"/>
                      <a:pt x="0" y="152483"/>
                    </a:cubicBezTo>
                    <a:lnTo>
                      <a:pt x="0" y="71601"/>
                    </a:lnTo>
                    <a:cubicBezTo>
                      <a:pt x="0" y="32057"/>
                      <a:pt x="32057" y="0"/>
                      <a:pt x="71601"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txBox="1"/>
              <p:nvPr/>
            </p:nvSpPr>
            <p:spPr>
              <a:xfrm>
                <a:off x="0" y="-38100"/>
                <a:ext cx="1452358" cy="26218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0" name="Google Shape;130;p16"/>
            <p:cNvSpPr txBox="1"/>
            <p:nvPr/>
          </p:nvSpPr>
          <p:spPr>
            <a:xfrm>
              <a:off x="706764" y="165325"/>
              <a:ext cx="6201868" cy="697096"/>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b="0" i="0" lang="en-US" sz="3002" u="none" cap="none" strike="noStrike">
                  <a:solidFill>
                    <a:srgbClr val="FFFFFF"/>
                  </a:solidFill>
                  <a:latin typeface="Arial"/>
                  <a:ea typeface="Arial"/>
                  <a:cs typeface="Arial"/>
                  <a:sym typeface="Arial"/>
                </a:rPr>
                <a:t>Lectura del proyecto</a:t>
              </a:r>
              <a:endParaRPr/>
            </a:p>
          </p:txBody>
        </p:sp>
      </p:grpSp>
      <p:sp>
        <p:nvSpPr>
          <p:cNvPr id="131" name="Google Shape;131;p16"/>
          <p:cNvSpPr txBox="1"/>
          <p:nvPr/>
        </p:nvSpPr>
        <p:spPr>
          <a:xfrm>
            <a:off x="1028700" y="2155240"/>
            <a:ext cx="5460128" cy="1717676"/>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0" i="0" lang="en-US" sz="9999" u="none" cap="none" strike="noStrike">
                <a:solidFill>
                  <a:srgbClr val="FFFFFF"/>
                </a:solidFill>
                <a:latin typeface="Questrial"/>
                <a:ea typeface="Questrial"/>
                <a:cs typeface="Questrial"/>
                <a:sym typeface="Questrial"/>
              </a:rPr>
              <a:t>Agenda</a:t>
            </a:r>
            <a:endParaRPr/>
          </a:p>
        </p:txBody>
      </p:sp>
      <p:grpSp>
        <p:nvGrpSpPr>
          <p:cNvPr id="132" name="Google Shape;132;p16"/>
          <p:cNvGrpSpPr/>
          <p:nvPr/>
        </p:nvGrpSpPr>
        <p:grpSpPr>
          <a:xfrm>
            <a:off x="9482417" y="8322415"/>
            <a:ext cx="5514422" cy="995480"/>
            <a:chOff x="0" y="-192881"/>
            <a:chExt cx="7352563" cy="1327306"/>
          </a:xfrm>
        </p:grpSpPr>
        <p:grpSp>
          <p:nvGrpSpPr>
            <p:cNvPr id="133" name="Google Shape;133;p16"/>
            <p:cNvGrpSpPr/>
            <p:nvPr/>
          </p:nvGrpSpPr>
          <p:grpSpPr>
            <a:xfrm>
              <a:off x="0" y="-192881"/>
              <a:ext cx="7352563" cy="1327306"/>
              <a:chOff x="0" y="-38100"/>
              <a:chExt cx="1452358" cy="262184"/>
            </a:xfrm>
          </p:grpSpPr>
          <p:sp>
            <p:nvSpPr>
              <p:cNvPr id="134" name="Google Shape;134;p16"/>
              <p:cNvSpPr/>
              <p:nvPr/>
            </p:nvSpPr>
            <p:spPr>
              <a:xfrm>
                <a:off x="0" y="0"/>
                <a:ext cx="1452358" cy="224084"/>
              </a:xfrm>
              <a:custGeom>
                <a:rect b="b" l="l" r="r" t="t"/>
                <a:pathLst>
                  <a:path extrusionOk="0" h="224084" w="1452358">
                    <a:moveTo>
                      <a:pt x="71601" y="0"/>
                    </a:moveTo>
                    <a:lnTo>
                      <a:pt x="1380757" y="0"/>
                    </a:lnTo>
                    <a:cubicBezTo>
                      <a:pt x="1399747" y="0"/>
                      <a:pt x="1417959" y="7544"/>
                      <a:pt x="1431387" y="20971"/>
                    </a:cubicBezTo>
                    <a:cubicBezTo>
                      <a:pt x="1444815" y="34399"/>
                      <a:pt x="1452358" y="52611"/>
                      <a:pt x="1452358" y="71601"/>
                    </a:cubicBezTo>
                    <a:lnTo>
                      <a:pt x="1452358" y="152483"/>
                    </a:lnTo>
                    <a:cubicBezTo>
                      <a:pt x="1452358" y="192027"/>
                      <a:pt x="1420301" y="224084"/>
                      <a:pt x="1380757" y="224084"/>
                    </a:cubicBezTo>
                    <a:lnTo>
                      <a:pt x="71601" y="224084"/>
                    </a:lnTo>
                    <a:cubicBezTo>
                      <a:pt x="32057" y="224084"/>
                      <a:pt x="0" y="192027"/>
                      <a:pt x="0" y="152483"/>
                    </a:cubicBezTo>
                    <a:lnTo>
                      <a:pt x="0" y="71601"/>
                    </a:lnTo>
                    <a:cubicBezTo>
                      <a:pt x="0" y="32057"/>
                      <a:pt x="32057" y="0"/>
                      <a:pt x="71601" y="0"/>
                    </a:cubicBezTo>
                    <a:close/>
                  </a:path>
                </a:pathLst>
              </a:custGeom>
              <a:solidFill>
                <a:srgbClr val="000000">
                  <a:alpha val="0"/>
                </a:srgbClr>
              </a:solidFill>
              <a:ln cap="rnd" cmpd="sng" w="19050">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txBox="1"/>
              <p:nvPr/>
            </p:nvSpPr>
            <p:spPr>
              <a:xfrm>
                <a:off x="0" y="-38100"/>
                <a:ext cx="1452358" cy="26218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16"/>
            <p:cNvSpPr txBox="1"/>
            <p:nvPr/>
          </p:nvSpPr>
          <p:spPr>
            <a:xfrm>
              <a:off x="706764" y="165325"/>
              <a:ext cx="6201868" cy="697096"/>
            </a:xfrm>
            <a:prstGeom prst="rect">
              <a:avLst/>
            </a:prstGeom>
            <a:noFill/>
            <a:ln>
              <a:noFill/>
            </a:ln>
          </p:spPr>
          <p:txBody>
            <a:bodyPr anchorCtr="0" anchor="t" bIns="0" lIns="0" spcFirstLastPara="1" rIns="0" wrap="square" tIns="0">
              <a:spAutoFit/>
            </a:bodyPr>
            <a:lstStyle/>
            <a:p>
              <a:pPr indent="0" lvl="0" marL="0" marR="0" rtl="0" algn="l">
                <a:lnSpc>
                  <a:spcPct val="153997"/>
                </a:lnSpc>
                <a:spcBef>
                  <a:spcPts val="0"/>
                </a:spcBef>
                <a:spcAft>
                  <a:spcPts val="0"/>
                </a:spcAft>
                <a:buNone/>
              </a:pPr>
              <a:r>
                <a:rPr b="0" i="0" lang="en-US" sz="3002" u="none" cap="none" strike="noStrike">
                  <a:solidFill>
                    <a:srgbClr val="FFFFFF"/>
                  </a:solidFill>
                  <a:latin typeface="Arial"/>
                  <a:ea typeface="Arial"/>
                  <a:cs typeface="Arial"/>
                  <a:sym typeface="Arial"/>
                </a:rPr>
                <a:t>Ejemplo práctico</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0"/>
            </a:stretch>
          </a:blipFill>
          <a:ln>
            <a:noFill/>
          </a:ln>
        </p:spPr>
      </p:sp>
      <p:sp>
        <p:nvSpPr>
          <p:cNvPr id="142" name="Google Shape;142;p17"/>
          <p:cNvSpPr txBox="1"/>
          <p:nvPr/>
        </p:nvSpPr>
        <p:spPr>
          <a:xfrm>
            <a:off x="2895540" y="3224034"/>
            <a:ext cx="12496920" cy="1079127"/>
          </a:xfrm>
          <a:prstGeom prst="rect">
            <a:avLst/>
          </a:prstGeom>
          <a:noFill/>
          <a:ln>
            <a:noFill/>
          </a:ln>
        </p:spPr>
        <p:txBody>
          <a:bodyPr anchorCtr="0" anchor="t" bIns="0" lIns="0" spcFirstLastPara="1" rIns="0" wrap="square" tIns="0">
            <a:spAutoFit/>
          </a:bodyPr>
          <a:lstStyle/>
          <a:p>
            <a:pPr indent="0" lvl="0" marL="0" marR="0" rtl="0" algn="ctr">
              <a:lnSpc>
                <a:spcPct val="109000"/>
              </a:lnSpc>
              <a:spcBef>
                <a:spcPts val="0"/>
              </a:spcBef>
              <a:spcAft>
                <a:spcPts val="0"/>
              </a:spcAft>
              <a:buNone/>
            </a:pPr>
            <a:r>
              <a:rPr b="0" i="0" lang="en-US" sz="7700" u="none" cap="none" strike="noStrike">
                <a:solidFill>
                  <a:srgbClr val="FFFFFF"/>
                </a:solidFill>
                <a:latin typeface="Questrial"/>
                <a:ea typeface="Questrial"/>
                <a:cs typeface="Questrial"/>
                <a:sym typeface="Questrial"/>
              </a:rPr>
              <a:t>MARCADORES</a:t>
            </a:r>
            <a:endParaRPr/>
          </a:p>
        </p:txBody>
      </p:sp>
      <p:sp>
        <p:nvSpPr>
          <p:cNvPr id="143" name="Google Shape;143;p17"/>
          <p:cNvSpPr txBox="1"/>
          <p:nvPr/>
        </p:nvSpPr>
        <p:spPr>
          <a:xfrm>
            <a:off x="4444995" y="4888766"/>
            <a:ext cx="9398009" cy="173683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495" u="none" cap="none" strike="noStrike">
                <a:solidFill>
                  <a:srgbClr val="FFFFFF"/>
                </a:solidFill>
                <a:latin typeface="Arial"/>
                <a:ea typeface="Arial"/>
                <a:cs typeface="Arial"/>
                <a:sym typeface="Arial"/>
              </a:rPr>
              <a:t>Llamamos marcadores a ciertas acciones semánticas o símbolos especiales que se introducen en la gramática para controlar el momento en que se computan algunos atributos o se realiza cierta acción.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9" name="Google Shape;149;p18"/>
          <p:cNvSpPr txBox="1"/>
          <p:nvPr/>
        </p:nvSpPr>
        <p:spPr>
          <a:xfrm>
            <a:off x="1019175" y="1047750"/>
            <a:ext cx="10385330" cy="914019"/>
          </a:xfrm>
          <a:prstGeom prst="rect">
            <a:avLst/>
          </a:prstGeom>
          <a:noFill/>
          <a:ln>
            <a:noFill/>
          </a:ln>
        </p:spPr>
        <p:txBody>
          <a:bodyPr anchorCtr="0" anchor="t" bIns="0" lIns="0" spcFirstLastPara="1" rIns="0" wrap="square" tIns="0">
            <a:spAutoFit/>
          </a:bodyPr>
          <a:lstStyle/>
          <a:p>
            <a:pPr indent="0" lvl="0" marL="0" marR="0" rtl="0" algn="l">
              <a:lnSpc>
                <a:spcPct val="114002"/>
              </a:lnSpc>
              <a:spcBef>
                <a:spcPts val="0"/>
              </a:spcBef>
              <a:spcAft>
                <a:spcPts val="0"/>
              </a:spcAft>
              <a:buNone/>
            </a:pPr>
            <a:r>
              <a:rPr b="0" i="0" lang="en-US" sz="6199" u="none" cap="none" strike="noStrike">
                <a:solidFill>
                  <a:srgbClr val="FFFFFF"/>
                </a:solidFill>
                <a:latin typeface="Questrial"/>
                <a:ea typeface="Questrial"/>
                <a:cs typeface="Questrial"/>
                <a:sym typeface="Questrial"/>
              </a:rPr>
              <a:t> Marcadores</a:t>
            </a:r>
            <a:endParaRPr/>
          </a:p>
        </p:txBody>
      </p:sp>
      <p:sp>
        <p:nvSpPr>
          <p:cNvPr id="150" name="Google Shape;150;p18"/>
          <p:cNvSpPr txBox="1"/>
          <p:nvPr/>
        </p:nvSpPr>
        <p:spPr>
          <a:xfrm>
            <a:off x="1028700" y="2318397"/>
            <a:ext cx="11985131" cy="1979930"/>
          </a:xfrm>
          <a:prstGeom prst="rect">
            <a:avLst/>
          </a:prstGeom>
          <a:noFill/>
          <a:ln>
            <a:noFill/>
          </a:ln>
        </p:spPr>
        <p:txBody>
          <a:bodyPr anchorCtr="0" anchor="t" bIns="0" lIns="0" spcFirstLastPara="1" rIns="0" wrap="square" tIns="0">
            <a:spAutoFit/>
          </a:bodyPr>
          <a:lstStyle/>
          <a:p>
            <a:pPr indent="0" lvl="0" marL="0" marR="0" rtl="0" algn="l">
              <a:lnSpc>
                <a:spcPct val="158000"/>
              </a:lnSpc>
              <a:spcBef>
                <a:spcPts val="0"/>
              </a:spcBef>
              <a:spcAft>
                <a:spcPts val="0"/>
              </a:spcAft>
              <a:buNone/>
            </a:pPr>
            <a:r>
              <a:rPr b="0" i="0" lang="en-US" sz="2000" u="none" cap="none" strike="noStrike">
                <a:solidFill>
                  <a:srgbClr val="FFFFFF"/>
                </a:solidFill>
                <a:latin typeface="Arial"/>
                <a:ea typeface="Arial"/>
                <a:cs typeface="Arial"/>
                <a:sym typeface="Arial"/>
              </a:rPr>
              <a:t>En parsers ascendentes, las acciones se ejecutan al reducir. Eso es perfecto para atributos sintetizados, pero complica los heredados (info que debería “bajar” desde el contexto del padre o de la izquierda a la derecha).</a:t>
            </a:r>
            <a:endParaRPr/>
          </a:p>
          <a:p>
            <a:pPr indent="0" lvl="0" marL="0" marR="0" rtl="0" algn="l">
              <a:lnSpc>
                <a:spcPct val="158000"/>
              </a:lnSpc>
              <a:spcBef>
                <a:spcPts val="0"/>
              </a:spcBef>
              <a:spcAft>
                <a:spcPts val="0"/>
              </a:spcAft>
              <a:buNone/>
            </a:pPr>
            <a:r>
              <a:rPr b="0" i="0" lang="en-US" sz="2000" u="none" cap="none" strike="noStrike">
                <a:solidFill>
                  <a:srgbClr val="FFFFFF"/>
                </a:solidFill>
                <a:latin typeface="Arial"/>
                <a:ea typeface="Arial"/>
                <a:cs typeface="Arial"/>
                <a:sym typeface="Arial"/>
              </a:rPr>
              <a:t>Los marcadores resuelven esto insertando puntos de ejecución en medio de una producción:</a:t>
            </a:r>
            <a:endParaRPr/>
          </a:p>
        </p:txBody>
      </p:sp>
      <p:sp>
        <p:nvSpPr>
          <p:cNvPr id="151" name="Google Shape;151;p18"/>
          <p:cNvSpPr txBox="1"/>
          <p:nvPr/>
        </p:nvSpPr>
        <p:spPr>
          <a:xfrm>
            <a:off x="1028700" y="4185394"/>
            <a:ext cx="2742090" cy="1670831"/>
          </a:xfrm>
          <a:prstGeom prst="rect">
            <a:avLst/>
          </a:prstGeom>
          <a:noFill/>
          <a:ln>
            <a:noFill/>
          </a:ln>
        </p:spPr>
        <p:txBody>
          <a:bodyPr anchorCtr="0" anchor="t" bIns="0" lIns="0" spcFirstLastPara="1" rIns="0" wrap="square" tIns="0">
            <a:spAutoFit/>
          </a:bodyPr>
          <a:lstStyle/>
          <a:p>
            <a:pPr indent="0" lvl="1" marL="0" marR="0" rtl="0" algn="l">
              <a:lnSpc>
                <a:spcPct val="158006"/>
              </a:lnSpc>
              <a:spcBef>
                <a:spcPts val="0"/>
              </a:spcBef>
              <a:spcAft>
                <a:spcPts val="0"/>
              </a:spcAft>
              <a:buNone/>
            </a:pPr>
            <a:r>
              <a:rPr b="0" i="0" lang="en-US" sz="8799" u="none" cap="none" strike="noStrike">
                <a:solidFill>
                  <a:srgbClr val="FFFFFF"/>
                </a:solidFill>
                <a:latin typeface="Questrial"/>
                <a:ea typeface="Questrial"/>
                <a:cs typeface="Questrial"/>
                <a:sym typeface="Questrial"/>
              </a:rPr>
              <a:t>01</a:t>
            </a:r>
            <a:endParaRPr/>
          </a:p>
        </p:txBody>
      </p:sp>
      <p:sp>
        <p:nvSpPr>
          <p:cNvPr id="152" name="Google Shape;152;p18"/>
          <p:cNvSpPr txBox="1"/>
          <p:nvPr/>
        </p:nvSpPr>
        <p:spPr>
          <a:xfrm>
            <a:off x="1028700" y="5741925"/>
            <a:ext cx="7058389" cy="583820"/>
          </a:xfrm>
          <a:prstGeom prst="rect">
            <a:avLst/>
          </a:prstGeom>
          <a:noFill/>
          <a:ln>
            <a:noFill/>
          </a:ln>
        </p:spPr>
        <p:txBody>
          <a:bodyPr anchorCtr="0" anchor="t" bIns="0" lIns="0" spcFirstLastPara="1" rIns="0" wrap="square" tIns="0">
            <a:spAutoFit/>
          </a:bodyPr>
          <a:lstStyle/>
          <a:p>
            <a:pPr indent="0" lvl="1" marL="0" marR="0" rtl="0" algn="l">
              <a:lnSpc>
                <a:spcPct val="158018"/>
              </a:lnSpc>
              <a:spcBef>
                <a:spcPts val="0"/>
              </a:spcBef>
              <a:spcAft>
                <a:spcPts val="0"/>
              </a:spcAft>
              <a:buNone/>
            </a:pPr>
            <a:r>
              <a:rPr b="0" i="0" lang="en-US" sz="3099" u="none" cap="none" strike="noStrike">
                <a:solidFill>
                  <a:srgbClr val="FFFFFF"/>
                </a:solidFill>
                <a:latin typeface="Questrial"/>
                <a:ea typeface="Questrial"/>
                <a:cs typeface="Questrial"/>
                <a:sym typeface="Questrial"/>
              </a:rPr>
              <a:t>Acciones intermedias (mid-rule actions)</a:t>
            </a:r>
            <a:endParaRPr/>
          </a:p>
        </p:txBody>
      </p:sp>
      <p:sp>
        <p:nvSpPr>
          <p:cNvPr id="153" name="Google Shape;153;p18"/>
          <p:cNvSpPr txBox="1"/>
          <p:nvPr/>
        </p:nvSpPr>
        <p:spPr>
          <a:xfrm>
            <a:off x="1028700" y="6569330"/>
            <a:ext cx="7058389" cy="2780030"/>
          </a:xfrm>
          <a:prstGeom prst="rect">
            <a:avLst/>
          </a:prstGeom>
          <a:noFill/>
          <a:ln>
            <a:noFill/>
          </a:ln>
        </p:spPr>
        <p:txBody>
          <a:bodyPr anchorCtr="0" anchor="t" bIns="0" lIns="0" spcFirstLastPara="1" rIns="0" wrap="square" tIns="0">
            <a:spAutoFit/>
          </a:bodyPr>
          <a:lstStyle/>
          <a:p>
            <a:pPr indent="0" lvl="1" marL="0" marR="0" rtl="0" algn="l">
              <a:lnSpc>
                <a:spcPct val="158000"/>
              </a:lnSpc>
              <a:spcBef>
                <a:spcPts val="0"/>
              </a:spcBef>
              <a:spcAft>
                <a:spcPts val="0"/>
              </a:spcAft>
              <a:buNone/>
            </a:pPr>
            <a:r>
              <a:rPr b="0" i="0" lang="en-US" sz="2000" u="none" cap="none" strike="noStrike">
                <a:solidFill>
                  <a:srgbClr val="FFFFFF"/>
                </a:solidFill>
                <a:latin typeface="Arial"/>
                <a:ea typeface="Arial"/>
                <a:cs typeface="Arial"/>
                <a:sym typeface="Arial"/>
              </a:rPr>
              <a:t>Se escriben como { ... } dentro de la regla. Bison las trata como si fueran un símbolo extra con su propio $$, que puedes usar después como $k.</a:t>
            </a:r>
            <a:endParaRPr/>
          </a:p>
          <a:p>
            <a:pPr indent="0" lvl="0" marL="0" marR="0" rtl="0" algn="l">
              <a:lnSpc>
                <a:spcPct val="158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215900" lvl="1" marL="431801" marR="0" rtl="0" algn="l">
              <a:lnSpc>
                <a:spcPct val="158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Ventaja: pueden leer los valores de los símbolos ya vistos (por ejemplo $1, $2, …).</a:t>
            </a:r>
            <a:endParaRPr/>
          </a:p>
          <a:p>
            <a:pPr indent="-215900" lvl="1" marL="431801" marR="0" rtl="0" algn="l">
              <a:lnSpc>
                <a:spcPct val="158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Uso típico: preparar contexto para lo que viene.</a:t>
            </a:r>
            <a:endParaRPr/>
          </a:p>
        </p:txBody>
      </p:sp>
      <p:sp>
        <p:nvSpPr>
          <p:cNvPr id="154" name="Google Shape;154;p18"/>
          <p:cNvSpPr txBox="1"/>
          <p:nvPr/>
        </p:nvSpPr>
        <p:spPr>
          <a:xfrm>
            <a:off x="9144000" y="4185394"/>
            <a:ext cx="2742090" cy="1670831"/>
          </a:xfrm>
          <a:prstGeom prst="rect">
            <a:avLst/>
          </a:prstGeom>
          <a:noFill/>
          <a:ln>
            <a:noFill/>
          </a:ln>
        </p:spPr>
        <p:txBody>
          <a:bodyPr anchorCtr="0" anchor="t" bIns="0" lIns="0" spcFirstLastPara="1" rIns="0" wrap="square" tIns="0">
            <a:spAutoFit/>
          </a:bodyPr>
          <a:lstStyle/>
          <a:p>
            <a:pPr indent="0" lvl="1" marL="0" marR="0" rtl="0" algn="l">
              <a:lnSpc>
                <a:spcPct val="158006"/>
              </a:lnSpc>
              <a:spcBef>
                <a:spcPts val="0"/>
              </a:spcBef>
              <a:spcAft>
                <a:spcPts val="0"/>
              </a:spcAft>
              <a:buNone/>
            </a:pPr>
            <a:r>
              <a:rPr b="0" i="0" lang="en-US" sz="8799" u="none" cap="none" strike="noStrike">
                <a:solidFill>
                  <a:srgbClr val="FFFFFF"/>
                </a:solidFill>
                <a:latin typeface="Questrial"/>
                <a:ea typeface="Questrial"/>
                <a:cs typeface="Questrial"/>
                <a:sym typeface="Questrial"/>
              </a:rPr>
              <a:t>02</a:t>
            </a:r>
            <a:endParaRPr/>
          </a:p>
        </p:txBody>
      </p:sp>
      <p:sp>
        <p:nvSpPr>
          <p:cNvPr id="155" name="Google Shape;155;p18"/>
          <p:cNvSpPr txBox="1"/>
          <p:nvPr/>
        </p:nvSpPr>
        <p:spPr>
          <a:xfrm>
            <a:off x="9144000" y="5741925"/>
            <a:ext cx="5464643" cy="583820"/>
          </a:xfrm>
          <a:prstGeom prst="rect">
            <a:avLst/>
          </a:prstGeom>
          <a:noFill/>
          <a:ln>
            <a:noFill/>
          </a:ln>
        </p:spPr>
        <p:txBody>
          <a:bodyPr anchorCtr="0" anchor="t" bIns="0" lIns="0" spcFirstLastPara="1" rIns="0" wrap="square" tIns="0">
            <a:spAutoFit/>
          </a:bodyPr>
          <a:lstStyle/>
          <a:p>
            <a:pPr indent="0" lvl="1" marL="0" marR="0" rtl="0" algn="l">
              <a:lnSpc>
                <a:spcPct val="158018"/>
              </a:lnSpc>
              <a:spcBef>
                <a:spcPts val="0"/>
              </a:spcBef>
              <a:spcAft>
                <a:spcPts val="0"/>
              </a:spcAft>
              <a:buNone/>
            </a:pPr>
            <a:r>
              <a:rPr b="0" i="0" lang="en-US" sz="3099" u="none" cap="none" strike="noStrike">
                <a:solidFill>
                  <a:srgbClr val="FFFFFF"/>
                </a:solidFill>
                <a:latin typeface="Questrial"/>
                <a:ea typeface="Questrial"/>
                <a:cs typeface="Questrial"/>
                <a:sym typeface="Questrial"/>
              </a:rPr>
              <a:t>No terminal vacío “M” (marker)</a:t>
            </a:r>
            <a:endParaRPr/>
          </a:p>
        </p:txBody>
      </p:sp>
      <p:sp>
        <p:nvSpPr>
          <p:cNvPr id="156" name="Google Shape;156;p18"/>
          <p:cNvSpPr txBox="1"/>
          <p:nvPr/>
        </p:nvSpPr>
        <p:spPr>
          <a:xfrm>
            <a:off x="9144000" y="6559805"/>
            <a:ext cx="6790377" cy="2170303"/>
          </a:xfrm>
          <a:prstGeom prst="rect">
            <a:avLst/>
          </a:prstGeom>
          <a:noFill/>
          <a:ln>
            <a:noFill/>
          </a:ln>
        </p:spPr>
        <p:txBody>
          <a:bodyPr anchorCtr="0" anchor="t" bIns="0" lIns="0" spcFirstLastPara="1" rIns="0" wrap="square" tIns="0">
            <a:spAutoFit/>
          </a:bodyPr>
          <a:lstStyle/>
          <a:p>
            <a:pPr indent="0" lvl="0" marL="0" marR="0" rtl="0" algn="l">
              <a:lnSpc>
                <a:spcPct val="158026"/>
              </a:lnSpc>
              <a:spcBef>
                <a:spcPts val="0"/>
              </a:spcBef>
              <a:spcAft>
                <a:spcPts val="0"/>
              </a:spcAft>
              <a:buNone/>
            </a:pPr>
            <a:r>
              <a:rPr b="0" i="0" lang="en-US" sz="2199" u="none" cap="none" strike="noStrike">
                <a:solidFill>
                  <a:srgbClr val="FFFFFF"/>
                </a:solidFill>
                <a:latin typeface="Arial"/>
                <a:ea typeface="Arial"/>
                <a:cs typeface="Arial"/>
                <a:sym typeface="Arial"/>
              </a:rPr>
              <a:t>M : /* vacío */ { ... } y luego lo pones en la regla: A : X M Y.</a:t>
            </a:r>
            <a:endParaRPr/>
          </a:p>
          <a:p>
            <a:pPr indent="0" lvl="0" marL="0" marR="0" rtl="0" algn="l">
              <a:lnSpc>
                <a:spcPct val="158026"/>
              </a:lnSpc>
              <a:spcBef>
                <a:spcPts val="0"/>
              </a:spcBef>
              <a:spcAft>
                <a:spcPts val="0"/>
              </a:spcAft>
              <a:buNone/>
            </a:pPr>
            <a:r>
              <a:t/>
            </a:r>
            <a:endParaRPr b="0" i="0" sz="2199" u="none" cap="none" strike="noStrike">
              <a:solidFill>
                <a:srgbClr val="FFFFFF"/>
              </a:solidFill>
              <a:latin typeface="Arial"/>
              <a:ea typeface="Arial"/>
              <a:cs typeface="Arial"/>
              <a:sym typeface="Arial"/>
            </a:endParaRPr>
          </a:p>
          <a:p>
            <a:pPr indent="-237490" lvl="1" marL="474979" marR="0" rtl="0" algn="l">
              <a:lnSpc>
                <a:spcPct val="158026"/>
              </a:lnSpc>
              <a:spcBef>
                <a:spcPts val="0"/>
              </a:spcBef>
              <a:spcAft>
                <a:spcPts val="0"/>
              </a:spcAft>
              <a:buClr>
                <a:srgbClr val="FFFFFF"/>
              </a:buClr>
              <a:buSzPts val="2199"/>
              <a:buFont typeface="Arial"/>
              <a:buChar char="•"/>
            </a:pPr>
            <a:r>
              <a:rPr b="0" i="0" lang="en-US" sz="2199" u="none" cap="none" strike="noStrike">
                <a:solidFill>
                  <a:srgbClr val="FFFFFF"/>
                </a:solidFill>
                <a:latin typeface="Arial"/>
                <a:ea typeface="Arial"/>
                <a:cs typeface="Arial"/>
                <a:sym typeface="Arial"/>
              </a:rPr>
              <a:t>Ventaja: fuerza un punto de reducción antes de Y.</a:t>
            </a:r>
            <a:endParaRPr/>
          </a:p>
        </p:txBody>
      </p:sp>
      <p:grpSp>
        <p:nvGrpSpPr>
          <p:cNvPr id="157" name="Google Shape;157;p18"/>
          <p:cNvGrpSpPr/>
          <p:nvPr/>
        </p:nvGrpSpPr>
        <p:grpSpPr>
          <a:xfrm>
            <a:off x="1028700" y="907661"/>
            <a:ext cx="4727216" cy="1063633"/>
            <a:chOff x="0" y="-38100"/>
            <a:chExt cx="1245028" cy="280134"/>
          </a:xfrm>
        </p:grpSpPr>
        <p:sp>
          <p:nvSpPr>
            <p:cNvPr id="158" name="Google Shape;158;p18"/>
            <p:cNvSpPr/>
            <p:nvPr/>
          </p:nvSpPr>
          <p:spPr>
            <a:xfrm>
              <a:off x="0" y="0"/>
              <a:ext cx="1245028" cy="242034"/>
            </a:xfrm>
            <a:custGeom>
              <a:rect b="b" l="l" r="r" t="t"/>
              <a:pathLst>
                <a:path extrusionOk="0" h="242034" w="1245028">
                  <a:moveTo>
                    <a:pt x="83524" y="0"/>
                  </a:moveTo>
                  <a:lnTo>
                    <a:pt x="1161504" y="0"/>
                  </a:lnTo>
                  <a:cubicBezTo>
                    <a:pt x="1183656" y="0"/>
                    <a:pt x="1204900" y="8800"/>
                    <a:pt x="1220564" y="24464"/>
                  </a:cubicBezTo>
                  <a:cubicBezTo>
                    <a:pt x="1236228" y="40128"/>
                    <a:pt x="1245028" y="61372"/>
                    <a:pt x="1245028" y="83524"/>
                  </a:cubicBezTo>
                  <a:lnTo>
                    <a:pt x="1245028" y="158509"/>
                  </a:lnTo>
                  <a:cubicBezTo>
                    <a:pt x="1245028" y="204639"/>
                    <a:pt x="1207633" y="242034"/>
                    <a:pt x="1161504" y="242034"/>
                  </a:cubicBezTo>
                  <a:lnTo>
                    <a:pt x="83524" y="242034"/>
                  </a:lnTo>
                  <a:cubicBezTo>
                    <a:pt x="37395" y="242034"/>
                    <a:pt x="0" y="204639"/>
                    <a:pt x="0" y="158509"/>
                  </a:cubicBezTo>
                  <a:lnTo>
                    <a:pt x="0" y="83524"/>
                  </a:lnTo>
                  <a:cubicBezTo>
                    <a:pt x="0" y="37395"/>
                    <a:pt x="37395" y="0"/>
                    <a:pt x="83524" y="0"/>
                  </a:cubicBezTo>
                  <a:close/>
                </a:path>
              </a:pathLst>
            </a:custGeom>
            <a:solidFill>
              <a:srgbClr val="000000">
                <a:alpha val="0"/>
              </a:srgbClr>
            </a:solidFill>
            <a:ln cap="rnd" cmpd="sng" w="28575">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txBox="1"/>
            <p:nvPr/>
          </p:nvSpPr>
          <p:spPr>
            <a:xfrm>
              <a:off x="0" y="-38100"/>
              <a:ext cx="1245028" cy="280134"/>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65" name="Google Shape;165;p19"/>
          <p:cNvSpPr/>
          <p:nvPr/>
        </p:nvSpPr>
        <p:spPr>
          <a:xfrm>
            <a:off x="1226116" y="2427405"/>
            <a:ext cx="1567882" cy="1482361"/>
          </a:xfrm>
          <a:custGeom>
            <a:rect b="b" l="l" r="r" t="t"/>
            <a:pathLst>
              <a:path extrusionOk="0" h="1482361" w="1567882">
                <a:moveTo>
                  <a:pt x="0" y="0"/>
                </a:moveTo>
                <a:lnTo>
                  <a:pt x="1567882" y="0"/>
                </a:lnTo>
                <a:lnTo>
                  <a:pt x="1567882" y="1482361"/>
                </a:lnTo>
                <a:lnTo>
                  <a:pt x="0" y="1482361"/>
                </a:lnTo>
                <a:lnTo>
                  <a:pt x="0" y="0"/>
                </a:lnTo>
                <a:close/>
              </a:path>
            </a:pathLst>
          </a:custGeom>
          <a:blipFill rotWithShape="1">
            <a:blip r:embed="rId4">
              <a:alphaModFix/>
            </a:blip>
            <a:stretch>
              <a:fillRect b="0" l="0" r="0" t="0"/>
            </a:stretch>
          </a:blipFill>
          <a:ln>
            <a:noFill/>
          </a:ln>
        </p:spPr>
      </p:sp>
      <p:sp>
        <p:nvSpPr>
          <p:cNvPr id="166" name="Google Shape;166;p19"/>
          <p:cNvSpPr txBox="1"/>
          <p:nvPr/>
        </p:nvSpPr>
        <p:spPr>
          <a:xfrm>
            <a:off x="3219004" y="2320860"/>
            <a:ext cx="6665955" cy="971550"/>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0" i="0" lang="en-US" sz="7500" u="none" cap="none" strike="noStrike">
                <a:solidFill>
                  <a:srgbClr val="FFFFFF"/>
                </a:solidFill>
                <a:latin typeface="Questrial"/>
                <a:ea typeface="Questrial"/>
                <a:cs typeface="Questrial"/>
                <a:sym typeface="Questrial"/>
              </a:rPr>
              <a:t>Ejemplo</a:t>
            </a:r>
            <a:endParaRPr/>
          </a:p>
        </p:txBody>
      </p:sp>
      <p:sp>
        <p:nvSpPr>
          <p:cNvPr id="167" name="Google Shape;167;p19"/>
          <p:cNvSpPr txBox="1"/>
          <p:nvPr/>
        </p:nvSpPr>
        <p:spPr>
          <a:xfrm>
            <a:off x="3219004" y="4772042"/>
            <a:ext cx="13568988" cy="53339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sng" cap="none" strike="noStrike">
                <a:solidFill>
                  <a:schemeClr val="hlink"/>
                </a:solidFill>
                <a:latin typeface="Arimo"/>
                <a:ea typeface="Arimo"/>
                <a:cs typeface="Arimo"/>
                <a:sym typeface="Arimo"/>
                <a:hlinkClick r:id="rId5"/>
              </a:rPr>
              <a:t>https://www.upv.es/visor/media/1028c7af-cfa0-e445-953d-3e20d09288c7/c</a:t>
            </a:r>
            <a:endParaRPr/>
          </a:p>
        </p:txBody>
      </p:sp>
      <p:sp>
        <p:nvSpPr>
          <p:cNvPr id="168" name="Google Shape;168;p19"/>
          <p:cNvSpPr txBox="1"/>
          <p:nvPr/>
        </p:nvSpPr>
        <p:spPr>
          <a:xfrm>
            <a:off x="3219004" y="4134485"/>
            <a:ext cx="2061418" cy="495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US" sz="2999" u="none" cap="none" strike="noStrike">
                <a:solidFill>
                  <a:srgbClr val="FFFFFF"/>
                </a:solidFill>
                <a:latin typeface="Arial"/>
                <a:ea typeface="Arial"/>
                <a:cs typeface="Arial"/>
                <a:sym typeface="Arial"/>
              </a:rPr>
              <a:t>Referencia: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0"/>
            </a:stretch>
          </a:blipFill>
          <a:ln>
            <a:noFill/>
          </a:ln>
        </p:spPr>
      </p:sp>
      <p:sp>
        <p:nvSpPr>
          <p:cNvPr id="174" name="Google Shape;174;p20"/>
          <p:cNvSpPr txBox="1"/>
          <p:nvPr/>
        </p:nvSpPr>
        <p:spPr>
          <a:xfrm>
            <a:off x="2895540" y="3362325"/>
            <a:ext cx="12496920" cy="1079127"/>
          </a:xfrm>
          <a:prstGeom prst="rect">
            <a:avLst/>
          </a:prstGeom>
          <a:noFill/>
          <a:ln>
            <a:noFill/>
          </a:ln>
        </p:spPr>
        <p:txBody>
          <a:bodyPr anchorCtr="0" anchor="t" bIns="0" lIns="0" spcFirstLastPara="1" rIns="0" wrap="square" tIns="0">
            <a:spAutoFit/>
          </a:bodyPr>
          <a:lstStyle/>
          <a:p>
            <a:pPr indent="0" lvl="0" marL="0" marR="0" rtl="0" algn="ctr">
              <a:lnSpc>
                <a:spcPct val="109000"/>
              </a:lnSpc>
              <a:spcBef>
                <a:spcPts val="0"/>
              </a:spcBef>
              <a:spcAft>
                <a:spcPts val="0"/>
              </a:spcAft>
              <a:buNone/>
            </a:pPr>
            <a:r>
              <a:rPr b="0" i="0" lang="en-US" sz="7700" u="none" cap="none" strike="noStrike">
                <a:solidFill>
                  <a:srgbClr val="FFFFFF"/>
                </a:solidFill>
                <a:latin typeface="Questrial"/>
                <a:ea typeface="Questrial"/>
                <a:cs typeface="Questrial"/>
                <a:sym typeface="Questrial"/>
              </a:rPr>
              <a:t>ATRIBUTOS HEREDADOS</a:t>
            </a:r>
            <a:endParaRPr/>
          </a:p>
        </p:txBody>
      </p:sp>
      <p:sp>
        <p:nvSpPr>
          <p:cNvPr id="175" name="Google Shape;175;p20"/>
          <p:cNvSpPr txBox="1"/>
          <p:nvPr/>
        </p:nvSpPr>
        <p:spPr>
          <a:xfrm>
            <a:off x="4444995" y="4784440"/>
            <a:ext cx="9398009" cy="129868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495" u="none" cap="none" strike="noStrike">
                <a:solidFill>
                  <a:srgbClr val="FFFFFF"/>
                </a:solidFill>
                <a:latin typeface="Arial"/>
                <a:ea typeface="Arial"/>
                <a:cs typeface="Arial"/>
                <a:sym typeface="Arial"/>
              </a:rPr>
              <a:t>Un atributo heredado es un valor que un no terminal recibe desde su padre o desde su hermano izquierdo en el árbol (es decir, “baja” información de contexto)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81" name="Google Shape;181;p21"/>
          <p:cNvSpPr/>
          <p:nvPr/>
        </p:nvSpPr>
        <p:spPr>
          <a:xfrm>
            <a:off x="2450037" y="2148569"/>
            <a:ext cx="1881475" cy="1665961"/>
          </a:xfrm>
          <a:custGeom>
            <a:rect b="b" l="l" r="r" t="t"/>
            <a:pathLst>
              <a:path extrusionOk="0" h="1665961" w="1881475">
                <a:moveTo>
                  <a:pt x="0" y="0"/>
                </a:moveTo>
                <a:lnTo>
                  <a:pt x="1881476" y="0"/>
                </a:lnTo>
                <a:lnTo>
                  <a:pt x="1881476" y="1665961"/>
                </a:lnTo>
                <a:lnTo>
                  <a:pt x="0" y="1665961"/>
                </a:lnTo>
                <a:lnTo>
                  <a:pt x="0" y="0"/>
                </a:lnTo>
                <a:close/>
              </a:path>
            </a:pathLst>
          </a:custGeom>
          <a:blipFill rotWithShape="1">
            <a:blip r:embed="rId4">
              <a:alphaModFix/>
            </a:blip>
            <a:stretch>
              <a:fillRect b="0" l="0" r="0" t="0"/>
            </a:stretch>
          </a:blipFill>
          <a:ln>
            <a:noFill/>
          </a:ln>
        </p:spPr>
      </p:sp>
      <p:grpSp>
        <p:nvGrpSpPr>
          <p:cNvPr id="182" name="Google Shape;182;p21"/>
          <p:cNvGrpSpPr/>
          <p:nvPr/>
        </p:nvGrpSpPr>
        <p:grpSpPr>
          <a:xfrm>
            <a:off x="2940724" y="2468096"/>
            <a:ext cx="5102891" cy="6790204"/>
            <a:chOff x="0" y="-38100"/>
            <a:chExt cx="1343971" cy="1788367"/>
          </a:xfrm>
        </p:grpSpPr>
        <p:sp>
          <p:nvSpPr>
            <p:cNvPr id="183" name="Google Shape;183;p21"/>
            <p:cNvSpPr/>
            <p:nvPr/>
          </p:nvSpPr>
          <p:spPr>
            <a:xfrm>
              <a:off x="0" y="0"/>
              <a:ext cx="1343971" cy="1750266"/>
            </a:xfrm>
            <a:custGeom>
              <a:rect b="b" l="l" r="r" t="t"/>
              <a:pathLst>
                <a:path extrusionOk="0" h="1750266" w="1343971">
                  <a:moveTo>
                    <a:pt x="31860" y="0"/>
                  </a:moveTo>
                  <a:lnTo>
                    <a:pt x="1312111" y="0"/>
                  </a:lnTo>
                  <a:cubicBezTo>
                    <a:pt x="1320561" y="0"/>
                    <a:pt x="1328665" y="3357"/>
                    <a:pt x="1334640" y="9332"/>
                  </a:cubicBezTo>
                  <a:cubicBezTo>
                    <a:pt x="1340615" y="15307"/>
                    <a:pt x="1343971" y="23411"/>
                    <a:pt x="1343971" y="31860"/>
                  </a:cubicBezTo>
                  <a:lnTo>
                    <a:pt x="1343971" y="1718406"/>
                  </a:lnTo>
                  <a:cubicBezTo>
                    <a:pt x="1343971" y="1736002"/>
                    <a:pt x="1329707" y="1750266"/>
                    <a:pt x="1312111" y="1750266"/>
                  </a:cubicBezTo>
                  <a:lnTo>
                    <a:pt x="31860" y="1750266"/>
                  </a:lnTo>
                  <a:cubicBezTo>
                    <a:pt x="23411" y="1750266"/>
                    <a:pt x="15307" y="1746910"/>
                    <a:pt x="9332" y="1740935"/>
                  </a:cubicBezTo>
                  <a:cubicBezTo>
                    <a:pt x="3357" y="1734960"/>
                    <a:pt x="0" y="1726856"/>
                    <a:pt x="0" y="1718406"/>
                  </a:cubicBezTo>
                  <a:lnTo>
                    <a:pt x="0" y="31860"/>
                  </a:lnTo>
                  <a:cubicBezTo>
                    <a:pt x="0" y="14264"/>
                    <a:pt x="14264" y="0"/>
                    <a:pt x="31860" y="0"/>
                  </a:cubicBezTo>
                  <a:close/>
                </a:path>
              </a:pathLst>
            </a:custGeom>
            <a:solidFill>
              <a:srgbClr val="000000">
                <a:alpha val="60000"/>
              </a:srgbClr>
            </a:solidFill>
            <a:ln cap="rnd" cmpd="sng" w="28575">
              <a:solidFill>
                <a:srgbClr val="6AD3F3">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txBox="1"/>
            <p:nvPr/>
          </p:nvSpPr>
          <p:spPr>
            <a:xfrm>
              <a:off x="0" y="-38100"/>
              <a:ext cx="1343971" cy="1788367"/>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5" name="Google Shape;185;p21"/>
          <p:cNvSpPr/>
          <p:nvPr/>
        </p:nvSpPr>
        <p:spPr>
          <a:xfrm>
            <a:off x="9556751" y="1966722"/>
            <a:ext cx="1650816" cy="1665961"/>
          </a:xfrm>
          <a:custGeom>
            <a:rect b="b" l="l" r="r" t="t"/>
            <a:pathLst>
              <a:path extrusionOk="0" h="1665961" w="1650816">
                <a:moveTo>
                  <a:pt x="0" y="0"/>
                </a:moveTo>
                <a:lnTo>
                  <a:pt x="1650816" y="0"/>
                </a:lnTo>
                <a:lnTo>
                  <a:pt x="1650816" y="1665961"/>
                </a:lnTo>
                <a:lnTo>
                  <a:pt x="0" y="1665961"/>
                </a:lnTo>
                <a:lnTo>
                  <a:pt x="0" y="0"/>
                </a:lnTo>
                <a:close/>
              </a:path>
            </a:pathLst>
          </a:custGeom>
          <a:blipFill rotWithShape="1">
            <a:blip r:embed="rId5">
              <a:alphaModFix/>
            </a:blip>
            <a:stretch>
              <a:fillRect b="0" l="0" r="0" t="0"/>
            </a:stretch>
          </a:blipFill>
          <a:ln>
            <a:noFill/>
          </a:ln>
        </p:spPr>
      </p:sp>
      <p:grpSp>
        <p:nvGrpSpPr>
          <p:cNvPr id="186" name="Google Shape;186;p21"/>
          <p:cNvGrpSpPr/>
          <p:nvPr/>
        </p:nvGrpSpPr>
        <p:grpSpPr>
          <a:xfrm>
            <a:off x="10244385" y="2468096"/>
            <a:ext cx="5102891" cy="3621413"/>
            <a:chOff x="0" y="-38100"/>
            <a:chExt cx="1343971" cy="953788"/>
          </a:xfrm>
        </p:grpSpPr>
        <p:sp>
          <p:nvSpPr>
            <p:cNvPr id="187" name="Google Shape;187;p21"/>
            <p:cNvSpPr/>
            <p:nvPr/>
          </p:nvSpPr>
          <p:spPr>
            <a:xfrm>
              <a:off x="0" y="0"/>
              <a:ext cx="1343971" cy="915688"/>
            </a:xfrm>
            <a:custGeom>
              <a:rect b="b" l="l" r="r" t="t"/>
              <a:pathLst>
                <a:path extrusionOk="0" h="915688" w="1343971">
                  <a:moveTo>
                    <a:pt x="31860" y="0"/>
                  </a:moveTo>
                  <a:lnTo>
                    <a:pt x="1312111" y="0"/>
                  </a:lnTo>
                  <a:cubicBezTo>
                    <a:pt x="1320561" y="0"/>
                    <a:pt x="1328665" y="3357"/>
                    <a:pt x="1334640" y="9332"/>
                  </a:cubicBezTo>
                  <a:cubicBezTo>
                    <a:pt x="1340615" y="15307"/>
                    <a:pt x="1343971" y="23411"/>
                    <a:pt x="1343971" y="31860"/>
                  </a:cubicBezTo>
                  <a:lnTo>
                    <a:pt x="1343971" y="883827"/>
                  </a:lnTo>
                  <a:cubicBezTo>
                    <a:pt x="1343971" y="901423"/>
                    <a:pt x="1329707" y="915688"/>
                    <a:pt x="1312111" y="915688"/>
                  </a:cubicBezTo>
                  <a:lnTo>
                    <a:pt x="31860" y="915688"/>
                  </a:lnTo>
                  <a:cubicBezTo>
                    <a:pt x="23411" y="915688"/>
                    <a:pt x="15307" y="912331"/>
                    <a:pt x="9332" y="906356"/>
                  </a:cubicBezTo>
                  <a:cubicBezTo>
                    <a:pt x="3357" y="900381"/>
                    <a:pt x="0" y="892277"/>
                    <a:pt x="0" y="883827"/>
                  </a:cubicBezTo>
                  <a:lnTo>
                    <a:pt x="0" y="31860"/>
                  </a:lnTo>
                  <a:cubicBezTo>
                    <a:pt x="0" y="14264"/>
                    <a:pt x="14264" y="0"/>
                    <a:pt x="31860" y="0"/>
                  </a:cubicBezTo>
                  <a:close/>
                </a:path>
              </a:pathLst>
            </a:custGeom>
            <a:solidFill>
              <a:srgbClr val="000000">
                <a:alpha val="60000"/>
              </a:srgbClr>
            </a:solidFill>
            <a:ln cap="rnd" cmpd="sng" w="28575">
              <a:solidFill>
                <a:srgbClr val="6AD3F3">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1"/>
            <p:cNvSpPr txBox="1"/>
            <p:nvPr/>
          </p:nvSpPr>
          <p:spPr>
            <a:xfrm>
              <a:off x="0" y="-38100"/>
              <a:ext cx="1343971" cy="953788"/>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21"/>
          <p:cNvSpPr txBox="1"/>
          <p:nvPr/>
        </p:nvSpPr>
        <p:spPr>
          <a:xfrm>
            <a:off x="3390775" y="1038225"/>
            <a:ext cx="11506450" cy="928497"/>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None/>
            </a:pPr>
            <a:r>
              <a:rPr b="0" i="0" lang="en-US" sz="6199" u="none" cap="none" strike="noStrike">
                <a:solidFill>
                  <a:srgbClr val="FFFFFF"/>
                </a:solidFill>
                <a:latin typeface="Questrial"/>
                <a:ea typeface="Questrial"/>
                <a:cs typeface="Questrial"/>
                <a:sym typeface="Questrial"/>
              </a:rPr>
              <a:t>Atributos heredados</a:t>
            </a:r>
            <a:endParaRPr/>
          </a:p>
        </p:txBody>
      </p:sp>
      <p:sp>
        <p:nvSpPr>
          <p:cNvPr id="190" name="Google Shape;190;p21"/>
          <p:cNvSpPr txBox="1"/>
          <p:nvPr/>
        </p:nvSpPr>
        <p:spPr>
          <a:xfrm>
            <a:off x="3477949" y="2991075"/>
            <a:ext cx="4028440" cy="897545"/>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None/>
            </a:pPr>
            <a:r>
              <a:rPr b="0" i="0" lang="en-US" sz="3076" u="none" cap="none" strike="noStrike">
                <a:solidFill>
                  <a:srgbClr val="FFFFFF"/>
                </a:solidFill>
                <a:latin typeface="Questrial"/>
                <a:ea typeface="Questrial"/>
                <a:cs typeface="Questrial"/>
                <a:sym typeface="Questrial"/>
              </a:rPr>
              <a:t>Se usan para pasar cosas como: </a:t>
            </a:r>
            <a:endParaRPr/>
          </a:p>
        </p:txBody>
      </p:sp>
      <p:sp>
        <p:nvSpPr>
          <p:cNvPr id="191" name="Google Shape;191;p21"/>
          <p:cNvSpPr txBox="1"/>
          <p:nvPr/>
        </p:nvSpPr>
        <p:spPr>
          <a:xfrm>
            <a:off x="10781611" y="2991075"/>
            <a:ext cx="4028440" cy="897545"/>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None/>
            </a:pPr>
            <a:r>
              <a:rPr b="0" i="0" lang="en-US" sz="3076" u="none" cap="none" strike="noStrike">
                <a:solidFill>
                  <a:srgbClr val="FFFFFF"/>
                </a:solidFill>
                <a:latin typeface="Questrial"/>
                <a:ea typeface="Questrial"/>
                <a:cs typeface="Questrial"/>
                <a:sym typeface="Questrial"/>
              </a:rPr>
              <a:t>Diferencia con atributos sintetizados</a:t>
            </a:r>
            <a:endParaRPr/>
          </a:p>
        </p:txBody>
      </p:sp>
      <p:sp>
        <p:nvSpPr>
          <p:cNvPr id="192" name="Google Shape;192;p21"/>
          <p:cNvSpPr txBox="1"/>
          <p:nvPr/>
        </p:nvSpPr>
        <p:spPr>
          <a:xfrm>
            <a:off x="3477949" y="4228387"/>
            <a:ext cx="4028440" cy="3026409"/>
          </a:xfrm>
          <a:prstGeom prst="rect">
            <a:avLst/>
          </a:prstGeom>
          <a:noFill/>
          <a:ln>
            <a:noFill/>
          </a:ln>
        </p:spPr>
        <p:txBody>
          <a:bodyPr anchorCtr="0" anchor="t" bIns="0" lIns="0" spcFirstLastPara="1" rIns="0" wrap="square" tIns="0">
            <a:spAutoFit/>
          </a:bodyPr>
          <a:lstStyle/>
          <a:p>
            <a:pPr indent="-172722" lvl="1" marL="345444" marR="0" rtl="0" algn="l">
              <a:lnSpc>
                <a:spcPct val="14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El tipo actual en una declaración</a:t>
            </a:r>
            <a:r>
              <a:rPr b="1" i="0" lang="en-US" sz="1600" u="none" cap="none" strike="noStrike">
                <a:solidFill>
                  <a:srgbClr val="FFFFFF"/>
                </a:solidFill>
                <a:latin typeface="Arial"/>
                <a:ea typeface="Arial"/>
                <a:cs typeface="Arial"/>
                <a:sym typeface="Arial"/>
              </a:rPr>
              <a:t> (int/float</a:t>
            </a:r>
            <a:r>
              <a:rPr b="0" i="0" lang="en-US" sz="1600" u="none" cap="none" strike="noStrike">
                <a:solidFill>
                  <a:srgbClr val="FFFFFF"/>
                </a:solidFill>
                <a:latin typeface="Arial"/>
                <a:ea typeface="Arial"/>
                <a:cs typeface="Arial"/>
                <a:sym typeface="Arial"/>
              </a:rPr>
              <a:t>),</a:t>
            </a:r>
            <a:endParaRPr/>
          </a:p>
          <a:p>
            <a:pPr indent="0" lvl="0" marL="0" marR="0" rtl="0" algn="l">
              <a:lnSpc>
                <a:spcPct val="140000"/>
              </a:lnSpc>
              <a:spcBef>
                <a:spcPts val="0"/>
              </a:spcBef>
              <a:spcAft>
                <a:spcPts val="0"/>
              </a:spcAft>
              <a:buNone/>
            </a:pPr>
            <a:r>
              <a:t/>
            </a:r>
            <a:endParaRPr b="0" i="0" sz="1600" u="none" cap="none" strike="noStrike">
              <a:solidFill>
                <a:srgbClr val="FFFFFF"/>
              </a:solidFill>
              <a:latin typeface="Arial"/>
              <a:ea typeface="Arial"/>
              <a:cs typeface="Arial"/>
              <a:sym typeface="Arial"/>
            </a:endParaRPr>
          </a:p>
          <a:p>
            <a:pPr indent="-172722" lvl="1" marL="345444" marR="0" rtl="0" algn="l">
              <a:lnSpc>
                <a:spcPct val="14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El nivel de indentación al pretty-printer,</a:t>
            </a:r>
            <a:endParaRPr/>
          </a:p>
          <a:p>
            <a:pPr indent="0" lvl="0" marL="0" marR="0" rtl="0" algn="l">
              <a:lnSpc>
                <a:spcPct val="140000"/>
              </a:lnSpc>
              <a:spcBef>
                <a:spcPts val="0"/>
              </a:spcBef>
              <a:spcAft>
                <a:spcPts val="0"/>
              </a:spcAft>
              <a:buNone/>
            </a:pPr>
            <a:r>
              <a:t/>
            </a:r>
            <a:endParaRPr b="0" i="0" sz="1600" u="none" cap="none" strike="noStrike">
              <a:solidFill>
                <a:srgbClr val="FFFFFF"/>
              </a:solidFill>
              <a:latin typeface="Arial"/>
              <a:ea typeface="Arial"/>
              <a:cs typeface="Arial"/>
              <a:sym typeface="Arial"/>
            </a:endParaRPr>
          </a:p>
          <a:p>
            <a:pPr indent="-172722" lvl="1" marL="345444" marR="0" rtl="0" algn="l">
              <a:lnSpc>
                <a:spcPct val="14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Un acumulador que se arrastra (p. ej., suma parcial),</a:t>
            </a:r>
            <a:endParaRPr/>
          </a:p>
          <a:p>
            <a:pPr indent="0" lvl="0" marL="0" marR="0" rtl="0" algn="l">
              <a:lnSpc>
                <a:spcPct val="140000"/>
              </a:lnSpc>
              <a:spcBef>
                <a:spcPts val="0"/>
              </a:spcBef>
              <a:spcAft>
                <a:spcPts val="0"/>
              </a:spcAft>
              <a:buNone/>
            </a:pPr>
            <a:r>
              <a:t/>
            </a:r>
            <a:endParaRPr b="0" i="0" sz="1600" u="none" cap="none" strike="noStrike">
              <a:solidFill>
                <a:srgbClr val="FFFFFF"/>
              </a:solidFill>
              <a:latin typeface="Arial"/>
              <a:ea typeface="Arial"/>
              <a:cs typeface="Arial"/>
              <a:sym typeface="Arial"/>
            </a:endParaRPr>
          </a:p>
          <a:p>
            <a:pPr indent="-172722" lvl="1" marL="345444" marR="0" rtl="0" algn="l">
              <a:lnSpc>
                <a:spcPct val="14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El ámbito o “estamos dentro de un bucle”.</a:t>
            </a:r>
            <a:endParaRPr/>
          </a:p>
        </p:txBody>
      </p:sp>
      <p:sp>
        <p:nvSpPr>
          <p:cNvPr id="193" name="Google Shape;193;p21"/>
          <p:cNvSpPr txBox="1"/>
          <p:nvPr/>
        </p:nvSpPr>
        <p:spPr>
          <a:xfrm>
            <a:off x="10877110" y="4228387"/>
            <a:ext cx="4028440" cy="1645284"/>
          </a:xfrm>
          <a:prstGeom prst="rect">
            <a:avLst/>
          </a:prstGeom>
          <a:noFill/>
          <a:ln>
            <a:noFill/>
          </a:ln>
        </p:spPr>
        <p:txBody>
          <a:bodyPr anchorCtr="0" anchor="t" bIns="0" lIns="0" spcFirstLastPara="1" rIns="0" wrap="square" tIns="0">
            <a:spAutoFit/>
          </a:bodyPr>
          <a:lstStyle/>
          <a:p>
            <a:pPr indent="-172722" lvl="1" marL="345444" marR="0" rtl="0" algn="l">
              <a:lnSpc>
                <a:spcPct val="140000"/>
              </a:lnSpc>
              <a:spcBef>
                <a:spcPts val="0"/>
              </a:spcBef>
              <a:spcAft>
                <a:spcPts val="0"/>
              </a:spcAft>
              <a:buClr>
                <a:srgbClr val="FFFFFF"/>
              </a:buClr>
              <a:buSzPts val="1600"/>
              <a:buFont typeface="Arial"/>
              <a:buChar char="•"/>
            </a:pPr>
            <a:r>
              <a:rPr b="1" i="0" lang="en-US" sz="1600" u="none" cap="none" strike="noStrike">
                <a:solidFill>
                  <a:srgbClr val="FFFFFF"/>
                </a:solidFill>
                <a:latin typeface="Arial"/>
                <a:ea typeface="Arial"/>
                <a:cs typeface="Arial"/>
                <a:sym typeface="Arial"/>
              </a:rPr>
              <a:t>Sintetizados</a:t>
            </a:r>
            <a:r>
              <a:rPr b="0" i="0" lang="en-US" sz="1600" u="none" cap="none" strike="noStrike">
                <a:solidFill>
                  <a:srgbClr val="FFFFFF"/>
                </a:solidFill>
                <a:latin typeface="Arial"/>
                <a:ea typeface="Arial"/>
                <a:cs typeface="Arial"/>
                <a:sym typeface="Arial"/>
              </a:rPr>
              <a:t>: se calculan desde los hijos hacia el padre (suben).</a:t>
            </a:r>
            <a:endParaRPr/>
          </a:p>
          <a:p>
            <a:pPr indent="-172722" lvl="1" marL="345444" marR="0" rtl="0" algn="l">
              <a:lnSpc>
                <a:spcPct val="140000"/>
              </a:lnSpc>
              <a:spcBef>
                <a:spcPts val="0"/>
              </a:spcBef>
              <a:spcAft>
                <a:spcPts val="0"/>
              </a:spcAft>
              <a:buClr>
                <a:srgbClr val="FFFFFF"/>
              </a:buClr>
              <a:buSzPts val="1600"/>
              <a:buFont typeface="Arial"/>
              <a:buChar char="•"/>
            </a:pPr>
            <a:r>
              <a:rPr b="1" i="0" lang="en-US" sz="1600" u="none" cap="none" strike="noStrike">
                <a:solidFill>
                  <a:srgbClr val="FFFFFF"/>
                </a:solidFill>
                <a:latin typeface="Arial"/>
                <a:ea typeface="Arial"/>
                <a:cs typeface="Arial"/>
                <a:sym typeface="Arial"/>
              </a:rPr>
              <a:t>Heredados</a:t>
            </a:r>
            <a:r>
              <a:rPr b="0" i="0" lang="en-US" sz="1600" u="none" cap="none" strike="noStrike">
                <a:solidFill>
                  <a:srgbClr val="FFFFFF"/>
                </a:solidFill>
                <a:latin typeface="Arial"/>
                <a:ea typeface="Arial"/>
                <a:cs typeface="Arial"/>
                <a:sym typeface="Arial"/>
              </a:rPr>
              <a:t>: se pasan del padre/hermano izq. hacia los hijos (bajan).</a:t>
            </a:r>
            <a:endParaRPr/>
          </a:p>
          <a:p>
            <a:pPr indent="0" lvl="0" marL="0" marR="0" rtl="0" algn="ctr">
              <a:lnSpc>
                <a:spcPct val="140000"/>
              </a:lnSpc>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grpSp>
        <p:nvGrpSpPr>
          <p:cNvPr id="194" name="Google Shape;194;p21"/>
          <p:cNvGrpSpPr/>
          <p:nvPr/>
        </p:nvGrpSpPr>
        <p:grpSpPr>
          <a:xfrm>
            <a:off x="5358692" y="884039"/>
            <a:ext cx="7532638" cy="1063633"/>
            <a:chOff x="0" y="-38100"/>
            <a:chExt cx="1983905" cy="280134"/>
          </a:xfrm>
        </p:grpSpPr>
        <p:sp>
          <p:nvSpPr>
            <p:cNvPr id="195" name="Google Shape;195;p21"/>
            <p:cNvSpPr/>
            <p:nvPr/>
          </p:nvSpPr>
          <p:spPr>
            <a:xfrm>
              <a:off x="0" y="0"/>
              <a:ext cx="1983904" cy="242034"/>
            </a:xfrm>
            <a:custGeom>
              <a:rect b="b" l="l" r="r" t="t"/>
              <a:pathLst>
                <a:path extrusionOk="0" h="242034" w="1983904">
                  <a:moveTo>
                    <a:pt x="52417" y="0"/>
                  </a:moveTo>
                  <a:lnTo>
                    <a:pt x="1931488" y="0"/>
                  </a:lnTo>
                  <a:cubicBezTo>
                    <a:pt x="1960437" y="0"/>
                    <a:pt x="1983904" y="23468"/>
                    <a:pt x="1983904" y="52417"/>
                  </a:cubicBezTo>
                  <a:lnTo>
                    <a:pt x="1983904" y="189617"/>
                  </a:lnTo>
                  <a:cubicBezTo>
                    <a:pt x="1983904" y="203519"/>
                    <a:pt x="1978382" y="216851"/>
                    <a:pt x="1968552" y="226681"/>
                  </a:cubicBezTo>
                  <a:cubicBezTo>
                    <a:pt x="1958722" y="236511"/>
                    <a:pt x="1945389" y="242034"/>
                    <a:pt x="1931488" y="242034"/>
                  </a:cubicBezTo>
                  <a:lnTo>
                    <a:pt x="52417" y="242034"/>
                  </a:lnTo>
                  <a:cubicBezTo>
                    <a:pt x="23468" y="242034"/>
                    <a:pt x="0" y="218566"/>
                    <a:pt x="0" y="189617"/>
                  </a:cubicBezTo>
                  <a:lnTo>
                    <a:pt x="0" y="52417"/>
                  </a:lnTo>
                  <a:cubicBezTo>
                    <a:pt x="0" y="23468"/>
                    <a:pt x="23468" y="0"/>
                    <a:pt x="52417" y="0"/>
                  </a:cubicBezTo>
                  <a:close/>
                </a:path>
              </a:pathLst>
            </a:custGeom>
            <a:solidFill>
              <a:srgbClr val="000000">
                <a:alpha val="0"/>
              </a:srgbClr>
            </a:solidFill>
            <a:ln cap="rnd" cmpd="sng" w="28575">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1"/>
            <p:cNvSpPr txBox="1"/>
            <p:nvPr/>
          </p:nvSpPr>
          <p:spPr>
            <a:xfrm>
              <a:off x="0" y="-38100"/>
              <a:ext cx="1983905" cy="280134"/>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21"/>
          <p:cNvGrpSpPr/>
          <p:nvPr/>
        </p:nvGrpSpPr>
        <p:grpSpPr>
          <a:xfrm>
            <a:off x="10244385" y="6316323"/>
            <a:ext cx="7014915" cy="3418002"/>
            <a:chOff x="0" y="-38100"/>
            <a:chExt cx="1847550" cy="900215"/>
          </a:xfrm>
        </p:grpSpPr>
        <p:sp>
          <p:nvSpPr>
            <p:cNvPr id="198" name="Google Shape;198;p21"/>
            <p:cNvSpPr/>
            <p:nvPr/>
          </p:nvSpPr>
          <p:spPr>
            <a:xfrm>
              <a:off x="0" y="0"/>
              <a:ext cx="1847550" cy="862115"/>
            </a:xfrm>
            <a:custGeom>
              <a:rect b="b" l="l" r="r" t="t"/>
              <a:pathLst>
                <a:path extrusionOk="0" h="862115" w="1847550">
                  <a:moveTo>
                    <a:pt x="23176" y="0"/>
                  </a:moveTo>
                  <a:lnTo>
                    <a:pt x="1824373" y="0"/>
                  </a:lnTo>
                  <a:cubicBezTo>
                    <a:pt x="1830520" y="0"/>
                    <a:pt x="1836415" y="2442"/>
                    <a:pt x="1840761" y="6788"/>
                  </a:cubicBezTo>
                  <a:cubicBezTo>
                    <a:pt x="1845108" y="11135"/>
                    <a:pt x="1847550" y="17030"/>
                    <a:pt x="1847550" y="23176"/>
                  </a:cubicBezTo>
                  <a:lnTo>
                    <a:pt x="1847550" y="838938"/>
                  </a:lnTo>
                  <a:cubicBezTo>
                    <a:pt x="1847550" y="845085"/>
                    <a:pt x="1845108" y="850980"/>
                    <a:pt x="1840761" y="855326"/>
                  </a:cubicBezTo>
                  <a:cubicBezTo>
                    <a:pt x="1836415" y="859673"/>
                    <a:pt x="1830520" y="862115"/>
                    <a:pt x="1824373" y="862115"/>
                  </a:cubicBezTo>
                  <a:lnTo>
                    <a:pt x="23176" y="862115"/>
                  </a:lnTo>
                  <a:cubicBezTo>
                    <a:pt x="17030" y="862115"/>
                    <a:pt x="11135" y="859673"/>
                    <a:pt x="6788" y="855326"/>
                  </a:cubicBezTo>
                  <a:cubicBezTo>
                    <a:pt x="2442" y="850980"/>
                    <a:pt x="0" y="845085"/>
                    <a:pt x="0" y="838938"/>
                  </a:cubicBezTo>
                  <a:lnTo>
                    <a:pt x="0" y="23176"/>
                  </a:lnTo>
                  <a:cubicBezTo>
                    <a:pt x="0" y="17030"/>
                    <a:pt x="2442" y="11135"/>
                    <a:pt x="6788" y="6788"/>
                  </a:cubicBezTo>
                  <a:cubicBezTo>
                    <a:pt x="11135" y="2442"/>
                    <a:pt x="17030" y="0"/>
                    <a:pt x="23176" y="0"/>
                  </a:cubicBezTo>
                  <a:close/>
                </a:path>
              </a:pathLst>
            </a:custGeom>
            <a:solidFill>
              <a:srgbClr val="000000">
                <a:alpha val="60000"/>
              </a:srgbClr>
            </a:solidFill>
            <a:ln cap="rnd" cmpd="sng" w="28575">
              <a:solidFill>
                <a:srgbClr val="6AD3F3">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
            <p:cNvSpPr txBox="1"/>
            <p:nvPr/>
          </p:nvSpPr>
          <p:spPr>
            <a:xfrm>
              <a:off x="0" y="-38100"/>
              <a:ext cx="1847550" cy="900215"/>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0" name="Google Shape;200;p21"/>
          <p:cNvSpPr txBox="1"/>
          <p:nvPr/>
        </p:nvSpPr>
        <p:spPr>
          <a:xfrm>
            <a:off x="10781611" y="6839302"/>
            <a:ext cx="4028440" cy="449870"/>
          </a:xfrm>
          <a:prstGeom prst="rect">
            <a:avLst/>
          </a:prstGeom>
          <a:noFill/>
          <a:ln>
            <a:noFill/>
          </a:ln>
        </p:spPr>
        <p:txBody>
          <a:bodyPr anchorCtr="0" anchor="t" bIns="0" lIns="0" spcFirstLastPara="1" rIns="0" wrap="square" tIns="0">
            <a:spAutoFit/>
          </a:bodyPr>
          <a:lstStyle/>
          <a:p>
            <a:pPr indent="0" lvl="0" marL="0" marR="0" rtl="0" algn="l">
              <a:lnSpc>
                <a:spcPct val="117002"/>
              </a:lnSpc>
              <a:spcBef>
                <a:spcPts val="0"/>
              </a:spcBef>
              <a:spcAft>
                <a:spcPts val="0"/>
              </a:spcAft>
              <a:buNone/>
            </a:pPr>
            <a:r>
              <a:rPr b="0" i="0" lang="en-US" sz="3076" u="none" cap="none" strike="noStrike">
                <a:solidFill>
                  <a:srgbClr val="FFFFFF"/>
                </a:solidFill>
                <a:latin typeface="Questrial"/>
                <a:ea typeface="Questrial"/>
                <a:cs typeface="Questrial"/>
                <a:sym typeface="Questrial"/>
              </a:rPr>
              <a:t>¿Cuándo se usan?</a:t>
            </a:r>
            <a:endParaRPr/>
          </a:p>
        </p:txBody>
      </p:sp>
      <p:sp>
        <p:nvSpPr>
          <p:cNvPr id="201" name="Google Shape;201;p21"/>
          <p:cNvSpPr txBox="1"/>
          <p:nvPr/>
        </p:nvSpPr>
        <p:spPr>
          <a:xfrm>
            <a:off x="10877110" y="7506671"/>
            <a:ext cx="5926653" cy="1878330"/>
          </a:xfrm>
          <a:prstGeom prst="rect">
            <a:avLst/>
          </a:prstGeom>
          <a:noFill/>
          <a:ln>
            <a:noFill/>
          </a:ln>
        </p:spPr>
        <p:txBody>
          <a:bodyPr anchorCtr="0" anchor="t" bIns="0" lIns="0" spcFirstLastPara="1" rIns="0" wrap="square" tIns="0">
            <a:spAutoFit/>
          </a:bodyPr>
          <a:lstStyle/>
          <a:p>
            <a:pPr indent="-194312" lvl="1" marL="388623" marR="0" rtl="0" algn="l">
              <a:lnSpc>
                <a:spcPct val="140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Cuando un símbolo a la derecha necesita un dato que aparece antes en la misma producción o en su padre.</a:t>
            </a:r>
            <a:endParaRPr/>
          </a:p>
          <a:p>
            <a:pPr indent="-194312" lvl="1" marL="388623" marR="0" rtl="0" algn="l">
              <a:lnSpc>
                <a:spcPct val="140000"/>
              </a:lnSpc>
              <a:spcBef>
                <a:spcPts val="0"/>
              </a:spcBef>
              <a:spcAft>
                <a:spcPts val="0"/>
              </a:spcAft>
              <a:buClr>
                <a:srgbClr val="FFFFFF"/>
              </a:buClr>
              <a:buSzPts val="1800"/>
              <a:buFont typeface="Arial"/>
              <a:buChar char="•"/>
            </a:pPr>
            <a:r>
              <a:rPr b="0" i="0" lang="en-US" sz="1800" u="none" cap="none" strike="noStrike">
                <a:solidFill>
                  <a:srgbClr val="FFFFFF"/>
                </a:solidFill>
                <a:latin typeface="Arial"/>
                <a:ea typeface="Arial"/>
                <a:cs typeface="Arial"/>
                <a:sym typeface="Arial"/>
              </a:rPr>
              <a:t>Gramáticas L-atribuidas permiten evaluar todo en una pasada de izq. a der.</a:t>
            </a:r>
            <a:endParaRPr/>
          </a:p>
          <a:p>
            <a:pPr indent="0" lvl="0" marL="0" marR="0" rtl="0" algn="ctr">
              <a:lnSpc>
                <a:spcPct val="140000"/>
              </a:lnSpc>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07" name="Google Shape;207;p22"/>
          <p:cNvGrpSpPr/>
          <p:nvPr/>
        </p:nvGrpSpPr>
        <p:grpSpPr>
          <a:xfrm>
            <a:off x="8439984" y="884039"/>
            <a:ext cx="8575416" cy="7089150"/>
            <a:chOff x="0" y="-38100"/>
            <a:chExt cx="2258546" cy="1867101"/>
          </a:xfrm>
        </p:grpSpPr>
        <p:sp>
          <p:nvSpPr>
            <p:cNvPr id="208" name="Google Shape;208;p22"/>
            <p:cNvSpPr/>
            <p:nvPr/>
          </p:nvSpPr>
          <p:spPr>
            <a:xfrm>
              <a:off x="0" y="0"/>
              <a:ext cx="2258546" cy="1829001"/>
            </a:xfrm>
            <a:custGeom>
              <a:rect b="b" l="l" r="r" t="t"/>
              <a:pathLst>
                <a:path extrusionOk="0" h="1829001" w="2258546">
                  <a:moveTo>
                    <a:pt x="18959" y="0"/>
                  </a:moveTo>
                  <a:lnTo>
                    <a:pt x="2239587" y="0"/>
                  </a:lnTo>
                  <a:cubicBezTo>
                    <a:pt x="2244615" y="0"/>
                    <a:pt x="2249438" y="1997"/>
                    <a:pt x="2252993" y="5553"/>
                  </a:cubicBezTo>
                  <a:cubicBezTo>
                    <a:pt x="2256549" y="9108"/>
                    <a:pt x="2258546" y="13931"/>
                    <a:pt x="2258546" y="18959"/>
                  </a:cubicBezTo>
                  <a:lnTo>
                    <a:pt x="2258546" y="1810042"/>
                  </a:lnTo>
                  <a:cubicBezTo>
                    <a:pt x="2258546" y="1820513"/>
                    <a:pt x="2250058" y="1829001"/>
                    <a:pt x="2239587" y="1829001"/>
                  </a:cubicBezTo>
                  <a:lnTo>
                    <a:pt x="18959" y="1829001"/>
                  </a:lnTo>
                  <a:cubicBezTo>
                    <a:pt x="13931" y="1829001"/>
                    <a:pt x="9108" y="1827004"/>
                    <a:pt x="5553" y="1823448"/>
                  </a:cubicBezTo>
                  <a:cubicBezTo>
                    <a:pt x="1997" y="1819893"/>
                    <a:pt x="0" y="1815071"/>
                    <a:pt x="0" y="1810042"/>
                  </a:cubicBezTo>
                  <a:lnTo>
                    <a:pt x="0" y="18959"/>
                  </a:lnTo>
                  <a:cubicBezTo>
                    <a:pt x="0" y="8488"/>
                    <a:pt x="8488" y="0"/>
                    <a:pt x="18959" y="0"/>
                  </a:cubicBezTo>
                  <a:close/>
                </a:path>
              </a:pathLst>
            </a:custGeom>
            <a:solidFill>
              <a:srgbClr val="737373">
                <a:alpha val="60000"/>
              </a:srgbClr>
            </a:solidFill>
            <a:ln cap="rnd" cmpd="sng" w="28575">
              <a:solidFill>
                <a:srgbClr val="6AD3F3">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2"/>
            <p:cNvSpPr txBox="1"/>
            <p:nvPr/>
          </p:nvSpPr>
          <p:spPr>
            <a:xfrm>
              <a:off x="0" y="-38100"/>
              <a:ext cx="2258546" cy="186710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0" name="Google Shape;210;p22"/>
          <p:cNvSpPr/>
          <p:nvPr/>
        </p:nvSpPr>
        <p:spPr>
          <a:xfrm>
            <a:off x="858720" y="863524"/>
            <a:ext cx="842180" cy="796243"/>
          </a:xfrm>
          <a:custGeom>
            <a:rect b="b" l="l" r="r" t="t"/>
            <a:pathLst>
              <a:path extrusionOk="0" h="796243" w="842180">
                <a:moveTo>
                  <a:pt x="0" y="0"/>
                </a:moveTo>
                <a:lnTo>
                  <a:pt x="842180" y="0"/>
                </a:lnTo>
                <a:lnTo>
                  <a:pt x="842180" y="796243"/>
                </a:lnTo>
                <a:lnTo>
                  <a:pt x="0" y="796243"/>
                </a:lnTo>
                <a:lnTo>
                  <a:pt x="0" y="0"/>
                </a:lnTo>
                <a:close/>
              </a:path>
            </a:pathLst>
          </a:custGeom>
          <a:blipFill rotWithShape="1">
            <a:blip r:embed="rId4">
              <a:alphaModFix/>
            </a:blip>
            <a:stretch>
              <a:fillRect b="0" l="0" r="0" t="0"/>
            </a:stretch>
          </a:blipFill>
          <a:ln>
            <a:noFill/>
          </a:ln>
        </p:spPr>
      </p:sp>
      <p:sp>
        <p:nvSpPr>
          <p:cNvPr id="211" name="Google Shape;211;p22"/>
          <p:cNvSpPr/>
          <p:nvPr/>
        </p:nvSpPr>
        <p:spPr>
          <a:xfrm>
            <a:off x="9316203" y="1659767"/>
            <a:ext cx="6881051" cy="5706527"/>
          </a:xfrm>
          <a:custGeom>
            <a:rect b="b" l="l" r="r" t="t"/>
            <a:pathLst>
              <a:path extrusionOk="0" h="5706527" w="6881051">
                <a:moveTo>
                  <a:pt x="0" y="0"/>
                </a:moveTo>
                <a:lnTo>
                  <a:pt x="6881050" y="0"/>
                </a:lnTo>
                <a:lnTo>
                  <a:pt x="6881050" y="5706527"/>
                </a:lnTo>
                <a:lnTo>
                  <a:pt x="0" y="5706527"/>
                </a:lnTo>
                <a:lnTo>
                  <a:pt x="0" y="0"/>
                </a:lnTo>
                <a:close/>
              </a:path>
            </a:pathLst>
          </a:custGeom>
          <a:blipFill rotWithShape="1">
            <a:blip r:embed="rId5">
              <a:alphaModFix/>
            </a:blip>
            <a:stretch>
              <a:fillRect b="0" l="0" r="0" t="0"/>
            </a:stretch>
          </a:blipFill>
          <a:ln>
            <a:noFill/>
          </a:ln>
        </p:spPr>
      </p:sp>
      <p:sp>
        <p:nvSpPr>
          <p:cNvPr id="212" name="Google Shape;212;p22"/>
          <p:cNvSpPr txBox="1"/>
          <p:nvPr/>
        </p:nvSpPr>
        <p:spPr>
          <a:xfrm>
            <a:off x="2024967" y="968299"/>
            <a:ext cx="6665955" cy="650877"/>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0" i="0" lang="en-US" sz="5000" u="none" cap="none" strike="noStrike">
                <a:solidFill>
                  <a:srgbClr val="FFFFFF"/>
                </a:solidFill>
                <a:latin typeface="Questrial"/>
                <a:ea typeface="Questrial"/>
                <a:cs typeface="Questrial"/>
                <a:sym typeface="Questrial"/>
              </a:rPr>
              <a:t>Ejemplo</a:t>
            </a:r>
            <a:endParaRPr/>
          </a:p>
        </p:txBody>
      </p:sp>
      <p:sp>
        <p:nvSpPr>
          <p:cNvPr id="213" name="Google Shape;213;p22"/>
          <p:cNvSpPr txBox="1"/>
          <p:nvPr/>
        </p:nvSpPr>
        <p:spPr>
          <a:xfrm>
            <a:off x="2024967" y="2130889"/>
            <a:ext cx="6768966" cy="408178"/>
          </a:xfrm>
          <a:prstGeom prst="rect">
            <a:avLst/>
          </a:prstGeom>
          <a:noFill/>
          <a:ln>
            <a:noFill/>
          </a:ln>
        </p:spPr>
        <p:txBody>
          <a:bodyPr anchorCtr="0" anchor="t" bIns="0" lIns="0" spcFirstLastPara="1" rIns="0" wrap="square" tIns="0">
            <a:spAutoFit/>
          </a:bodyPr>
          <a:lstStyle/>
          <a:p>
            <a:pPr indent="0" lvl="1" marL="0" marR="0" rtl="0" algn="l">
              <a:lnSpc>
                <a:spcPct val="158000"/>
              </a:lnSpc>
              <a:spcBef>
                <a:spcPts val="0"/>
              </a:spcBef>
              <a:spcAft>
                <a:spcPts val="0"/>
              </a:spcAft>
              <a:buNone/>
            </a:pPr>
            <a:r>
              <a:rPr b="0" i="0" lang="en-US" sz="2200" u="none" cap="none" strike="noStrike">
                <a:solidFill>
                  <a:srgbClr val="FFFFFF"/>
                </a:solidFill>
                <a:latin typeface="Arial"/>
                <a:ea typeface="Arial"/>
                <a:cs typeface="Arial"/>
                <a:sym typeface="Arial"/>
              </a:rPr>
              <a:t>Evaluar la expresión:</a:t>
            </a:r>
            <a:r>
              <a:rPr b="1" i="0" lang="en-US" sz="2200" u="none" cap="none" strike="noStrike">
                <a:solidFill>
                  <a:srgbClr val="FFFFFF"/>
                </a:solidFill>
                <a:latin typeface="Arial"/>
                <a:ea typeface="Arial"/>
                <a:cs typeface="Arial"/>
                <a:sym typeface="Arial"/>
              </a:rPr>
              <a:t> real id1,id2,id3</a:t>
            </a:r>
            <a:endParaRPr/>
          </a:p>
        </p:txBody>
      </p:sp>
      <p:sp>
        <p:nvSpPr>
          <p:cNvPr id="214" name="Google Shape;214;p22"/>
          <p:cNvSpPr txBox="1"/>
          <p:nvPr/>
        </p:nvSpPr>
        <p:spPr>
          <a:xfrm>
            <a:off x="2024967" y="2656468"/>
            <a:ext cx="4056473" cy="2351151"/>
          </a:xfrm>
          <a:prstGeom prst="rect">
            <a:avLst/>
          </a:prstGeom>
          <a:noFill/>
          <a:ln>
            <a:noFill/>
          </a:ln>
        </p:spPr>
        <p:txBody>
          <a:bodyPr anchorCtr="0" anchor="t" bIns="0" lIns="0" spcFirstLastPara="1" rIns="0" wrap="square" tIns="0">
            <a:spAutoFit/>
          </a:bodyPr>
          <a:lstStyle/>
          <a:p>
            <a:pPr indent="0" lvl="0" marL="0" marR="0" rtl="0" algn="l">
              <a:lnSpc>
                <a:spcPct val="158000"/>
              </a:lnSpc>
              <a:spcBef>
                <a:spcPts val="0"/>
              </a:spcBef>
              <a:spcAft>
                <a:spcPts val="0"/>
              </a:spcAft>
              <a:buNone/>
            </a:pPr>
            <a:r>
              <a:rPr b="0" i="0" lang="en-US" sz="2400" u="none" cap="none" strike="noStrike">
                <a:solidFill>
                  <a:srgbClr val="FFFFFF"/>
                </a:solidFill>
                <a:latin typeface="Arial"/>
                <a:ea typeface="Arial"/>
                <a:cs typeface="Arial"/>
                <a:sym typeface="Arial"/>
              </a:rPr>
              <a:t>D → T L </a:t>
            </a:r>
            <a:endParaRPr/>
          </a:p>
          <a:p>
            <a:pPr indent="0" lvl="0" marL="0" marR="0" rtl="0" algn="l">
              <a:lnSpc>
                <a:spcPct val="158000"/>
              </a:lnSpc>
              <a:spcBef>
                <a:spcPts val="0"/>
              </a:spcBef>
              <a:spcAft>
                <a:spcPts val="0"/>
              </a:spcAft>
              <a:buNone/>
            </a:pPr>
            <a:r>
              <a:rPr b="0" i="0" lang="en-US" sz="2400" u="none" cap="none" strike="noStrike">
                <a:solidFill>
                  <a:srgbClr val="FFFFFF"/>
                </a:solidFill>
                <a:latin typeface="Arial"/>
                <a:ea typeface="Arial"/>
                <a:cs typeface="Arial"/>
                <a:sym typeface="Arial"/>
              </a:rPr>
              <a:t>T → int </a:t>
            </a:r>
            <a:endParaRPr/>
          </a:p>
          <a:p>
            <a:pPr indent="0" lvl="0" marL="0" marR="0" rtl="0" algn="l">
              <a:lnSpc>
                <a:spcPct val="158000"/>
              </a:lnSpc>
              <a:spcBef>
                <a:spcPts val="0"/>
              </a:spcBef>
              <a:spcAft>
                <a:spcPts val="0"/>
              </a:spcAft>
              <a:buNone/>
            </a:pPr>
            <a:r>
              <a:rPr b="0" i="0" lang="en-US" sz="2400" u="none" cap="none" strike="noStrike">
                <a:solidFill>
                  <a:srgbClr val="FFFFFF"/>
                </a:solidFill>
                <a:latin typeface="Arial"/>
                <a:ea typeface="Arial"/>
                <a:cs typeface="Arial"/>
                <a:sym typeface="Arial"/>
              </a:rPr>
              <a:t>T → real </a:t>
            </a:r>
            <a:endParaRPr/>
          </a:p>
          <a:p>
            <a:pPr indent="0" lvl="0" marL="0" marR="0" rtl="0" algn="l">
              <a:lnSpc>
                <a:spcPct val="158000"/>
              </a:lnSpc>
              <a:spcBef>
                <a:spcPts val="0"/>
              </a:spcBef>
              <a:spcAft>
                <a:spcPts val="0"/>
              </a:spcAft>
              <a:buNone/>
            </a:pPr>
            <a:r>
              <a:rPr b="0" i="0" lang="en-US" sz="2400" u="none" cap="none" strike="noStrike">
                <a:solidFill>
                  <a:srgbClr val="FFFFFF"/>
                </a:solidFill>
                <a:latin typeface="Arial"/>
                <a:ea typeface="Arial"/>
                <a:cs typeface="Arial"/>
                <a:sym typeface="Arial"/>
              </a:rPr>
              <a:t>L → L , id </a:t>
            </a:r>
            <a:endParaRPr/>
          </a:p>
          <a:p>
            <a:pPr indent="0" lvl="1" marL="0" marR="0" rtl="0" algn="l">
              <a:lnSpc>
                <a:spcPct val="158000"/>
              </a:lnSpc>
              <a:spcBef>
                <a:spcPts val="0"/>
              </a:spcBef>
              <a:spcAft>
                <a:spcPts val="0"/>
              </a:spcAft>
              <a:buNone/>
            </a:pPr>
            <a:r>
              <a:rPr b="0" i="0" lang="en-US" sz="2400" u="none" cap="none" strike="noStrike">
                <a:solidFill>
                  <a:srgbClr val="FFFFFF"/>
                </a:solidFill>
                <a:latin typeface="Arial"/>
                <a:ea typeface="Arial"/>
                <a:cs typeface="Arial"/>
                <a:sym typeface="Arial"/>
              </a:rPr>
              <a:t>L → id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20" name="Google Shape;220;p23"/>
          <p:cNvGrpSpPr/>
          <p:nvPr/>
        </p:nvGrpSpPr>
        <p:grpSpPr>
          <a:xfrm>
            <a:off x="2160189" y="4503220"/>
            <a:ext cx="426853" cy="426853"/>
            <a:chOff x="0" y="0"/>
            <a:chExt cx="812800" cy="812800"/>
          </a:xfrm>
        </p:grpSpPr>
        <p:sp>
          <p:nvSpPr>
            <p:cNvPr id="221" name="Google Shape;221;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40000"/>
              </a:srgbClr>
            </a:solidFill>
            <a:ln cap="sq" cmpd="sng" w="28575">
              <a:solidFill>
                <a:srgbClr val="6AD3F3">
                  <a:alpha val="4000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23"/>
          <p:cNvSpPr txBox="1"/>
          <p:nvPr/>
        </p:nvSpPr>
        <p:spPr>
          <a:xfrm>
            <a:off x="2301968" y="1544700"/>
            <a:ext cx="13684064" cy="1181100"/>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0" i="0" lang="en-US" sz="7500" u="none" cap="none" strike="noStrike">
                <a:solidFill>
                  <a:srgbClr val="FFFFFF"/>
                </a:solidFill>
                <a:latin typeface="Questrial"/>
                <a:ea typeface="Questrial"/>
                <a:cs typeface="Questrial"/>
                <a:sym typeface="Questrial"/>
              </a:rPr>
              <a:t>Grafo de dependencias</a:t>
            </a:r>
            <a:endParaRPr/>
          </a:p>
        </p:txBody>
      </p:sp>
      <p:grpSp>
        <p:nvGrpSpPr>
          <p:cNvPr id="224" name="Google Shape;224;p23"/>
          <p:cNvGrpSpPr/>
          <p:nvPr/>
        </p:nvGrpSpPr>
        <p:grpSpPr>
          <a:xfrm>
            <a:off x="4049807" y="1503434"/>
            <a:ext cx="10203275" cy="1157072"/>
            <a:chOff x="0" y="-38100"/>
            <a:chExt cx="2687282" cy="304743"/>
          </a:xfrm>
        </p:grpSpPr>
        <p:sp>
          <p:nvSpPr>
            <p:cNvPr id="225" name="Google Shape;225;p23"/>
            <p:cNvSpPr/>
            <p:nvPr/>
          </p:nvSpPr>
          <p:spPr>
            <a:xfrm>
              <a:off x="0" y="0"/>
              <a:ext cx="2687282" cy="266643"/>
            </a:xfrm>
            <a:custGeom>
              <a:rect b="b" l="l" r="r" t="t"/>
              <a:pathLst>
                <a:path extrusionOk="0" h="266643" w="2687282">
                  <a:moveTo>
                    <a:pt x="38697" y="0"/>
                  </a:moveTo>
                  <a:lnTo>
                    <a:pt x="2648585" y="0"/>
                  </a:lnTo>
                  <a:cubicBezTo>
                    <a:pt x="2669957" y="0"/>
                    <a:pt x="2687282" y="17325"/>
                    <a:pt x="2687282" y="38697"/>
                  </a:cubicBezTo>
                  <a:lnTo>
                    <a:pt x="2687282" y="227946"/>
                  </a:lnTo>
                  <a:cubicBezTo>
                    <a:pt x="2687282" y="249318"/>
                    <a:pt x="2669957" y="266643"/>
                    <a:pt x="2648585" y="266643"/>
                  </a:cubicBezTo>
                  <a:lnTo>
                    <a:pt x="38697" y="266643"/>
                  </a:lnTo>
                  <a:cubicBezTo>
                    <a:pt x="17325" y="266643"/>
                    <a:pt x="0" y="249318"/>
                    <a:pt x="0" y="227946"/>
                  </a:cubicBezTo>
                  <a:lnTo>
                    <a:pt x="0" y="38697"/>
                  </a:lnTo>
                  <a:cubicBezTo>
                    <a:pt x="0" y="17325"/>
                    <a:pt x="17325" y="0"/>
                    <a:pt x="38697" y="0"/>
                  </a:cubicBezTo>
                  <a:close/>
                </a:path>
              </a:pathLst>
            </a:custGeom>
            <a:solidFill>
              <a:srgbClr val="000000">
                <a:alpha val="0"/>
              </a:srgbClr>
            </a:solidFill>
            <a:ln cap="rnd" cmpd="sng" w="28575">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
            <p:cNvSpPr txBox="1"/>
            <p:nvPr/>
          </p:nvSpPr>
          <p:spPr>
            <a:xfrm>
              <a:off x="0" y="-38100"/>
              <a:ext cx="2687282" cy="30474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7" name="Google Shape;227;p23"/>
          <p:cNvSpPr txBox="1"/>
          <p:nvPr/>
        </p:nvSpPr>
        <p:spPr>
          <a:xfrm>
            <a:off x="3293622" y="3047262"/>
            <a:ext cx="11700757" cy="965200"/>
          </a:xfrm>
          <a:prstGeom prst="rect">
            <a:avLst/>
          </a:prstGeom>
          <a:noFill/>
          <a:ln>
            <a:noFill/>
          </a:ln>
        </p:spPr>
        <p:txBody>
          <a:bodyPr anchorCtr="0" anchor="t" bIns="0" lIns="0" spcFirstLastPara="1" rIns="0" wrap="square" tIns="0">
            <a:spAutoFit/>
          </a:bodyPr>
          <a:lstStyle/>
          <a:p>
            <a:pPr indent="0" lvl="1" marL="0" marR="0" rtl="0" algn="ctr">
              <a:lnSpc>
                <a:spcPct val="158023"/>
              </a:lnSpc>
              <a:spcBef>
                <a:spcPts val="0"/>
              </a:spcBef>
              <a:spcAft>
                <a:spcPts val="0"/>
              </a:spcAft>
              <a:buNone/>
            </a:pPr>
            <a:r>
              <a:rPr b="0" i="0" lang="en-US" sz="2499" u="none" cap="none" strike="noStrike">
                <a:solidFill>
                  <a:srgbClr val="FFFFFF"/>
                </a:solidFill>
                <a:latin typeface="Arial"/>
                <a:ea typeface="Arial"/>
                <a:cs typeface="Arial"/>
                <a:sym typeface="Arial"/>
              </a:rPr>
              <a:t>Es un grafo dirigido donde cada nodo es una ocurrencia de atributo (p. ej., T.tipo, L.her, id.lex).</a:t>
            </a:r>
            <a:endParaRPr/>
          </a:p>
        </p:txBody>
      </p:sp>
      <p:sp>
        <p:nvSpPr>
          <p:cNvPr id="228" name="Google Shape;228;p23"/>
          <p:cNvSpPr txBox="1"/>
          <p:nvPr/>
        </p:nvSpPr>
        <p:spPr>
          <a:xfrm>
            <a:off x="2714475" y="4452840"/>
            <a:ext cx="3357898" cy="527613"/>
          </a:xfrm>
          <a:prstGeom prst="rect">
            <a:avLst/>
          </a:prstGeom>
          <a:noFill/>
          <a:ln>
            <a:noFill/>
          </a:ln>
        </p:spPr>
        <p:txBody>
          <a:bodyPr anchorCtr="0" anchor="t" bIns="0" lIns="0" spcFirstLastPara="1" rIns="0" wrap="square" tIns="0">
            <a:spAutoFit/>
          </a:bodyPr>
          <a:lstStyle/>
          <a:p>
            <a:pPr indent="0" lvl="0" marL="0" marR="0" rtl="0" algn="l">
              <a:lnSpc>
                <a:spcPct val="116977"/>
              </a:lnSpc>
              <a:spcBef>
                <a:spcPts val="0"/>
              </a:spcBef>
              <a:spcAft>
                <a:spcPts val="0"/>
              </a:spcAft>
              <a:buNone/>
            </a:pPr>
            <a:r>
              <a:rPr b="0" i="0" lang="en-US" sz="3481" u="none" cap="none" strike="noStrike">
                <a:solidFill>
                  <a:srgbClr val="FFFFFF"/>
                </a:solidFill>
                <a:latin typeface="Questrial"/>
                <a:ea typeface="Questrial"/>
                <a:cs typeface="Questrial"/>
                <a:sym typeface="Questrial"/>
              </a:rPr>
              <a:t>Para qué sirve</a:t>
            </a:r>
            <a:endParaRPr/>
          </a:p>
        </p:txBody>
      </p:sp>
      <p:sp>
        <p:nvSpPr>
          <p:cNvPr id="229" name="Google Shape;229;p23"/>
          <p:cNvSpPr txBox="1"/>
          <p:nvPr/>
        </p:nvSpPr>
        <p:spPr>
          <a:xfrm>
            <a:off x="2160189" y="5096734"/>
            <a:ext cx="4174149" cy="4930775"/>
          </a:xfrm>
          <a:prstGeom prst="rect">
            <a:avLst/>
          </a:prstGeom>
          <a:noFill/>
          <a:ln>
            <a:noFill/>
          </a:ln>
        </p:spPr>
        <p:txBody>
          <a:bodyPr anchorCtr="0" anchor="t" bIns="0" lIns="0" spcFirstLastPara="1" rIns="0" wrap="square" tIns="0">
            <a:spAutoFit/>
          </a:bodyPr>
          <a:lstStyle/>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Ordenar la evaluación de atributos.</a:t>
            </a:r>
            <a:endParaRPr/>
          </a:p>
          <a:p>
            <a:pPr indent="0" lvl="0" marL="0" marR="0" rtl="0" algn="l">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Detectar ciclos (si hay, la especificación no es evaluable sin reescritura).</a:t>
            </a:r>
            <a:endParaRPr/>
          </a:p>
          <a:p>
            <a:pPr indent="0" lvl="0" marL="0" marR="0" rtl="0" algn="l">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a:p>
            <a:pPr indent="0" lvl="0" marL="0" marR="0" rtl="0" algn="l">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Visualizar el flujo de info:</a:t>
            </a:r>
            <a:endParaRPr/>
          </a:p>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Sintetizados: suben (de hijos al padre).</a:t>
            </a:r>
            <a:endParaRPr/>
          </a:p>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Heredados: bajan o avanzan a la derecha (de padre/hermano izquierdo al hijo).</a:t>
            </a:r>
            <a:endParaRPr/>
          </a:p>
        </p:txBody>
      </p:sp>
      <p:grpSp>
        <p:nvGrpSpPr>
          <p:cNvPr id="230" name="Google Shape;230;p23"/>
          <p:cNvGrpSpPr/>
          <p:nvPr/>
        </p:nvGrpSpPr>
        <p:grpSpPr>
          <a:xfrm>
            <a:off x="7701167" y="4548617"/>
            <a:ext cx="426853" cy="426853"/>
            <a:chOff x="0" y="0"/>
            <a:chExt cx="812800" cy="812800"/>
          </a:xfrm>
        </p:grpSpPr>
        <p:sp>
          <p:nvSpPr>
            <p:cNvPr id="231" name="Google Shape;231;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40000"/>
              </a:srgbClr>
            </a:solidFill>
            <a:ln cap="sq" cmpd="sng" w="28575">
              <a:solidFill>
                <a:srgbClr val="6AD3F3">
                  <a:alpha val="4000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3" name="Google Shape;233;p23"/>
          <p:cNvSpPr txBox="1"/>
          <p:nvPr/>
        </p:nvSpPr>
        <p:spPr>
          <a:xfrm>
            <a:off x="8255453" y="4498237"/>
            <a:ext cx="7108057" cy="527613"/>
          </a:xfrm>
          <a:prstGeom prst="rect">
            <a:avLst/>
          </a:prstGeom>
          <a:noFill/>
          <a:ln>
            <a:noFill/>
          </a:ln>
        </p:spPr>
        <p:txBody>
          <a:bodyPr anchorCtr="0" anchor="t" bIns="0" lIns="0" spcFirstLastPara="1" rIns="0" wrap="square" tIns="0">
            <a:spAutoFit/>
          </a:bodyPr>
          <a:lstStyle/>
          <a:p>
            <a:pPr indent="0" lvl="0" marL="0" marR="0" rtl="0" algn="l">
              <a:lnSpc>
                <a:spcPct val="116977"/>
              </a:lnSpc>
              <a:spcBef>
                <a:spcPts val="0"/>
              </a:spcBef>
              <a:spcAft>
                <a:spcPts val="0"/>
              </a:spcAft>
              <a:buNone/>
            </a:pPr>
            <a:r>
              <a:rPr b="0" i="0" lang="en-US" sz="3481" u="none" cap="none" strike="noStrike">
                <a:solidFill>
                  <a:srgbClr val="FFFFFF"/>
                </a:solidFill>
                <a:latin typeface="Questrial"/>
                <a:ea typeface="Questrial"/>
                <a:cs typeface="Questrial"/>
                <a:sym typeface="Questrial"/>
              </a:rPr>
              <a:t>Cómo se construye el grafo?</a:t>
            </a:r>
            <a:endParaRPr/>
          </a:p>
        </p:txBody>
      </p:sp>
      <p:sp>
        <p:nvSpPr>
          <p:cNvPr id="234" name="Google Shape;234;p23"/>
          <p:cNvSpPr txBox="1"/>
          <p:nvPr/>
        </p:nvSpPr>
        <p:spPr>
          <a:xfrm>
            <a:off x="7701167" y="5142131"/>
            <a:ext cx="9307862" cy="105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Cada producción, de la forma A → X1 ... Xn define una parte del grafo que se construye a partir de una cadena de entrada concreta. El proceso (para cada producción) es el siguiente:</a:t>
            </a:r>
            <a:endParaRPr/>
          </a:p>
        </p:txBody>
      </p:sp>
      <p:sp>
        <p:nvSpPr>
          <p:cNvPr id="235" name="Google Shape;235;p23"/>
          <p:cNvSpPr txBox="1"/>
          <p:nvPr/>
        </p:nvSpPr>
        <p:spPr>
          <a:xfrm>
            <a:off x="7701167" y="6531835"/>
            <a:ext cx="9307862" cy="2111375"/>
          </a:xfrm>
          <a:prstGeom prst="rect">
            <a:avLst/>
          </a:prstGeom>
          <a:noFill/>
          <a:ln>
            <a:noFill/>
          </a:ln>
        </p:spPr>
        <p:txBody>
          <a:bodyPr anchorCtr="0" anchor="t" bIns="0" lIns="0" spcFirstLastPara="1" rIns="0" wrap="square" tIns="0">
            <a:spAutoFit/>
          </a:bodyPr>
          <a:lstStyle/>
          <a:p>
            <a:pPr indent="-215901" lvl="1" marL="431802" marR="0" rtl="0" algn="l">
              <a:lnSpc>
                <a:spcPct val="140000"/>
              </a:lnSpc>
              <a:spcBef>
                <a:spcPts val="0"/>
              </a:spcBef>
              <a:spcAft>
                <a:spcPts val="0"/>
              </a:spcAft>
              <a:buClr>
                <a:srgbClr val="FFFFFF"/>
              </a:buClr>
              <a:buSzPts val="2000"/>
              <a:buFont typeface="Arial"/>
              <a:buAutoNum type="arabicPeriod"/>
            </a:pPr>
            <a:r>
              <a:rPr b="0" i="0" lang="en-US" sz="2000" u="none" cap="none" strike="noStrike">
                <a:solidFill>
                  <a:srgbClr val="FFFFFF"/>
                </a:solidFill>
                <a:latin typeface="Arial"/>
                <a:ea typeface="Arial"/>
                <a:cs typeface="Arial"/>
                <a:sym typeface="Arial"/>
              </a:rPr>
              <a:t>Se crea un nodo por cada atributo (a) de cada símbolo de la producción (X), representándose los atributos heredados a la izquierda y los sintetizados a la derecha.</a:t>
            </a:r>
            <a:endParaRPr/>
          </a:p>
          <a:p>
            <a:pPr indent="-215901" lvl="1" marL="431802" marR="0" rtl="0" algn="l">
              <a:lnSpc>
                <a:spcPct val="140000"/>
              </a:lnSpc>
              <a:spcBef>
                <a:spcPts val="0"/>
              </a:spcBef>
              <a:spcAft>
                <a:spcPts val="0"/>
              </a:spcAft>
              <a:buClr>
                <a:srgbClr val="FFFFFF"/>
              </a:buClr>
              <a:buSzPts val="2000"/>
              <a:buFont typeface="Arial"/>
              <a:buAutoNum type="arabicPeriod"/>
            </a:pPr>
            <a:r>
              <a:rPr b="0" i="0" lang="en-US" sz="2000" u="none" cap="none" strike="noStrike">
                <a:solidFill>
                  <a:srgbClr val="FFFFFF"/>
                </a:solidFill>
                <a:latin typeface="Arial"/>
                <a:ea typeface="Arial"/>
                <a:cs typeface="Arial"/>
                <a:sym typeface="Arial"/>
              </a:rPr>
              <a:t>Para cada regla semántica se hacen arcos desde cada nodo hijo al nodo padre.</a:t>
            </a:r>
            <a:endParaRPr/>
          </a:p>
          <a:p>
            <a:pPr indent="0" lvl="0" marL="0" marR="0" rtl="0" algn="l">
              <a:lnSpc>
                <a:spcPct val="140000"/>
              </a:lnSpc>
              <a:spcBef>
                <a:spcPts val="0"/>
              </a:spcBef>
              <a:spcAft>
                <a:spcPts val="0"/>
              </a:spcAft>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41" name="Google Shape;241;p24"/>
          <p:cNvSpPr/>
          <p:nvPr/>
        </p:nvSpPr>
        <p:spPr>
          <a:xfrm>
            <a:off x="1153297" y="2149410"/>
            <a:ext cx="843811" cy="797785"/>
          </a:xfrm>
          <a:custGeom>
            <a:rect b="b" l="l" r="r" t="t"/>
            <a:pathLst>
              <a:path extrusionOk="0" h="797785" w="843811">
                <a:moveTo>
                  <a:pt x="0" y="0"/>
                </a:moveTo>
                <a:lnTo>
                  <a:pt x="843811" y="0"/>
                </a:lnTo>
                <a:lnTo>
                  <a:pt x="843811" y="797785"/>
                </a:lnTo>
                <a:lnTo>
                  <a:pt x="0" y="797785"/>
                </a:lnTo>
                <a:lnTo>
                  <a:pt x="0" y="0"/>
                </a:lnTo>
                <a:close/>
              </a:path>
            </a:pathLst>
          </a:custGeom>
          <a:blipFill rotWithShape="1">
            <a:blip r:embed="rId4">
              <a:alphaModFix/>
            </a:blip>
            <a:stretch>
              <a:fillRect b="0" l="0" r="0" t="0"/>
            </a:stretch>
          </a:blipFill>
          <a:ln>
            <a:noFill/>
          </a:ln>
        </p:spPr>
      </p:sp>
      <p:graphicFrame>
        <p:nvGraphicFramePr>
          <p:cNvPr id="242" name="Google Shape;242;p24"/>
          <p:cNvGraphicFramePr/>
          <p:nvPr/>
        </p:nvGraphicFramePr>
        <p:xfrm>
          <a:off x="1216014" y="3304999"/>
          <a:ext cx="3000000" cy="3000000"/>
        </p:xfrm>
        <a:graphic>
          <a:graphicData uri="http://schemas.openxmlformats.org/drawingml/2006/table">
            <a:tbl>
              <a:tblPr>
                <a:noFill/>
                <a:tableStyleId>{1C16F1C2-6177-42D9-841C-551629A4E6EA}</a:tableStyleId>
              </a:tblPr>
              <a:tblGrid>
                <a:gridCol w="3257100"/>
                <a:gridCol w="3257100"/>
              </a:tblGrid>
              <a:tr h="1038225">
                <a:tc>
                  <a:txBody>
                    <a:bodyPr/>
                    <a:lstStyle/>
                    <a:p>
                      <a:pPr indent="0" lvl="0" marL="0" marR="0" rtl="0" algn="ctr">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Regla gramatical</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1800" u="none" cap="none" strike="noStrike">
                          <a:solidFill>
                            <a:srgbClr val="FFFFFF"/>
                          </a:solidFill>
                          <a:latin typeface="Arial"/>
                          <a:ea typeface="Arial"/>
                          <a:cs typeface="Arial"/>
                          <a:sym typeface="Arial"/>
                        </a:rPr>
                        <a:t>Reglas semánticas</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1038225">
                <a:tc>
                  <a:txBody>
                    <a:bodyPr/>
                    <a:lstStyle/>
                    <a:p>
                      <a:pPr indent="0" lvl="0" marL="0" marR="0" rtl="0" algn="ctr">
                        <a:lnSpc>
                          <a:spcPct val="140000"/>
                        </a:lnSpc>
                        <a:spcBef>
                          <a:spcPts val="0"/>
                        </a:spcBef>
                        <a:spcAft>
                          <a:spcPts val="0"/>
                        </a:spcAft>
                        <a:buNone/>
                      </a:pPr>
                      <a:r>
                        <a:rPr lang="en-US" sz="1800" u="none" cap="none" strike="noStrike">
                          <a:solidFill>
                            <a:srgbClr val="FFFFFF"/>
                          </a:solidFill>
                          <a:latin typeface="Arial"/>
                          <a:ea typeface="Arial"/>
                          <a:cs typeface="Arial"/>
                          <a:sym typeface="Arial"/>
                        </a:rPr>
                        <a:t>T → T * F</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1800" u="none" cap="none" strike="noStrike">
                          <a:solidFill>
                            <a:srgbClr val="FFFFFF"/>
                          </a:solidFill>
                          <a:latin typeface="Arial"/>
                          <a:ea typeface="Arial"/>
                          <a:cs typeface="Arial"/>
                          <a:sym typeface="Arial"/>
                        </a:rPr>
                        <a:t>T.val = T.val * F.val</a:t>
                      </a:r>
                      <a:endParaRPr sz="1100" u="none" cap="none" strike="noStrike"/>
                    </a:p>
                  </a:txBody>
                  <a:tcPr marT="190500" marB="190500" marR="190500" marL="190500"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243" name="Google Shape;243;p24"/>
          <p:cNvSpPr/>
          <p:nvPr/>
        </p:nvSpPr>
        <p:spPr>
          <a:xfrm>
            <a:off x="13280427" y="2947195"/>
            <a:ext cx="3978873" cy="3784103"/>
          </a:xfrm>
          <a:custGeom>
            <a:rect b="b" l="l" r="r" t="t"/>
            <a:pathLst>
              <a:path extrusionOk="0" h="3784103" w="3978873">
                <a:moveTo>
                  <a:pt x="0" y="0"/>
                </a:moveTo>
                <a:lnTo>
                  <a:pt x="3978873" y="0"/>
                </a:lnTo>
                <a:lnTo>
                  <a:pt x="3978873" y="3784104"/>
                </a:lnTo>
                <a:lnTo>
                  <a:pt x="0" y="3784104"/>
                </a:lnTo>
                <a:lnTo>
                  <a:pt x="0" y="0"/>
                </a:lnTo>
                <a:close/>
              </a:path>
            </a:pathLst>
          </a:custGeom>
          <a:blipFill rotWithShape="1">
            <a:blip r:embed="rId5">
              <a:alphaModFix/>
            </a:blip>
            <a:stretch>
              <a:fillRect b="0" l="0" r="0" t="0"/>
            </a:stretch>
          </a:blipFill>
          <a:ln>
            <a:noFill/>
          </a:ln>
        </p:spPr>
      </p:sp>
      <p:sp>
        <p:nvSpPr>
          <p:cNvPr id="244" name="Google Shape;244;p24"/>
          <p:cNvSpPr txBox="1"/>
          <p:nvPr/>
        </p:nvSpPr>
        <p:spPr>
          <a:xfrm>
            <a:off x="2235952" y="2119678"/>
            <a:ext cx="6665955" cy="830454"/>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0" i="0" lang="en-US" sz="6400" u="none" cap="none" strike="noStrike">
                <a:solidFill>
                  <a:srgbClr val="FFFFFF"/>
                </a:solidFill>
                <a:latin typeface="Questrial"/>
                <a:ea typeface="Questrial"/>
                <a:cs typeface="Questrial"/>
                <a:sym typeface="Questrial"/>
              </a:rPr>
              <a:t>Ejemplo</a:t>
            </a:r>
            <a:endParaRPr/>
          </a:p>
        </p:txBody>
      </p:sp>
      <p:sp>
        <p:nvSpPr>
          <p:cNvPr id="245" name="Google Shape;245;p24"/>
          <p:cNvSpPr txBox="1"/>
          <p:nvPr/>
        </p:nvSpPr>
        <p:spPr>
          <a:xfrm>
            <a:off x="1216014" y="5695774"/>
            <a:ext cx="8425904" cy="20726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Las lineas de puntos representan el árbol de análisis</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sintactico y no son parte del grafo de dependencias, por</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eso aparecen difuminadas, aunque es necesario apoyarse</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en el arbol de analisis para entender el flujo de los</a:t>
            </a:r>
            <a:endParaRPr/>
          </a:p>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atributos. </a:t>
            </a:r>
            <a:endParaRPr/>
          </a:p>
        </p:txBody>
      </p:sp>
      <p:sp>
        <p:nvSpPr>
          <p:cNvPr id="246" name="Google Shape;246;p24"/>
          <p:cNvSpPr txBox="1"/>
          <p:nvPr/>
        </p:nvSpPr>
        <p:spPr>
          <a:xfrm>
            <a:off x="1216014" y="7923504"/>
            <a:ext cx="10631156" cy="24917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En este caso en en el que solo hay un atributo y además es sintetizado, puesto que aparece a la derecha del simbolo gramatical, no seria necesario utilizar un grafo de dependencias. Es necesario cuando se mezclan los tipos de atributos, con el objeto de captar errores en el proceso de utilizacion de los atributos</a:t>
            </a:r>
            <a:endParaRPr/>
          </a:p>
          <a:p>
            <a:pPr indent="0" lvl="0" marL="0" marR="0" rtl="0" algn="l">
              <a:lnSpc>
                <a:spcPct val="139958"/>
              </a:lnSpc>
              <a:spcBef>
                <a:spcPts val="0"/>
              </a:spcBef>
              <a:spcAft>
                <a:spcPts val="0"/>
              </a:spcAft>
              <a:buNone/>
            </a:pPr>
            <a:r>
              <a:t/>
            </a:r>
            <a:endParaRPr b="0" i="0" sz="24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5"/>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0"/>
            </a:stretch>
          </a:blipFill>
          <a:ln>
            <a:noFill/>
          </a:ln>
        </p:spPr>
      </p:sp>
      <p:sp>
        <p:nvSpPr>
          <p:cNvPr id="252" name="Google Shape;252;p25"/>
          <p:cNvSpPr txBox="1"/>
          <p:nvPr/>
        </p:nvSpPr>
        <p:spPr>
          <a:xfrm>
            <a:off x="2895540" y="3362325"/>
            <a:ext cx="12496920" cy="1079127"/>
          </a:xfrm>
          <a:prstGeom prst="rect">
            <a:avLst/>
          </a:prstGeom>
          <a:noFill/>
          <a:ln>
            <a:noFill/>
          </a:ln>
        </p:spPr>
        <p:txBody>
          <a:bodyPr anchorCtr="0" anchor="t" bIns="0" lIns="0" spcFirstLastPara="1" rIns="0" wrap="square" tIns="0">
            <a:spAutoFit/>
          </a:bodyPr>
          <a:lstStyle/>
          <a:p>
            <a:pPr indent="0" lvl="0" marL="0" marR="0" rtl="0" algn="ctr">
              <a:lnSpc>
                <a:spcPct val="109000"/>
              </a:lnSpc>
              <a:spcBef>
                <a:spcPts val="0"/>
              </a:spcBef>
              <a:spcAft>
                <a:spcPts val="0"/>
              </a:spcAft>
              <a:buNone/>
            </a:pPr>
            <a:r>
              <a:rPr b="0" i="0" lang="en-US" sz="7700" u="none" cap="none" strike="noStrike">
                <a:solidFill>
                  <a:srgbClr val="FFFFFF"/>
                </a:solidFill>
                <a:latin typeface="Questrial"/>
                <a:ea typeface="Questrial"/>
                <a:cs typeface="Questrial"/>
                <a:sym typeface="Questrial"/>
              </a:rPr>
              <a:t>TABLA DE SÍMBOLOS</a:t>
            </a:r>
            <a:endParaRPr/>
          </a:p>
        </p:txBody>
      </p:sp>
      <p:sp>
        <p:nvSpPr>
          <p:cNvPr id="253" name="Google Shape;253;p25"/>
          <p:cNvSpPr txBox="1"/>
          <p:nvPr/>
        </p:nvSpPr>
        <p:spPr>
          <a:xfrm>
            <a:off x="4444995" y="4784440"/>
            <a:ext cx="9398009" cy="217498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495" u="none" cap="none" strike="noStrike">
                <a:solidFill>
                  <a:srgbClr val="FFFFFF"/>
                </a:solidFill>
                <a:latin typeface="Arial"/>
                <a:ea typeface="Arial"/>
                <a:cs typeface="Arial"/>
                <a:sym typeface="Arial"/>
              </a:rPr>
              <a:t>Es una estructura de datos mantenida por el compilador durante la compilación, que asocia a cada símbolo (identificador) información relevante: nombre (lexema), tipo de dato, ámbito o alcance, dirección de memoria asignada, etc.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59" name="Google Shape;259;p26"/>
          <p:cNvGrpSpPr/>
          <p:nvPr/>
        </p:nvGrpSpPr>
        <p:grpSpPr>
          <a:xfrm>
            <a:off x="2160189" y="4503220"/>
            <a:ext cx="426853" cy="426853"/>
            <a:chOff x="0" y="0"/>
            <a:chExt cx="812800" cy="812800"/>
          </a:xfrm>
        </p:grpSpPr>
        <p:sp>
          <p:nvSpPr>
            <p:cNvPr id="260" name="Google Shape;260;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40000"/>
              </a:srgbClr>
            </a:solidFill>
            <a:ln cap="sq" cmpd="sng" w="28575">
              <a:solidFill>
                <a:srgbClr val="6AD3F3">
                  <a:alpha val="4000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2" name="Google Shape;262;p26"/>
          <p:cNvSpPr txBox="1"/>
          <p:nvPr/>
        </p:nvSpPr>
        <p:spPr>
          <a:xfrm>
            <a:off x="2301968" y="990600"/>
            <a:ext cx="13684064" cy="1181100"/>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0" i="0" lang="en-US" sz="7500" u="none" cap="none" strike="noStrike">
                <a:solidFill>
                  <a:srgbClr val="FFFFFF"/>
                </a:solidFill>
                <a:latin typeface="Questrial"/>
                <a:ea typeface="Questrial"/>
                <a:cs typeface="Questrial"/>
                <a:sym typeface="Questrial"/>
              </a:rPr>
              <a:t>Tabla de Símbolos</a:t>
            </a:r>
            <a:endParaRPr/>
          </a:p>
        </p:txBody>
      </p:sp>
      <p:grpSp>
        <p:nvGrpSpPr>
          <p:cNvPr id="263" name="Google Shape;263;p26"/>
          <p:cNvGrpSpPr/>
          <p:nvPr/>
        </p:nvGrpSpPr>
        <p:grpSpPr>
          <a:xfrm>
            <a:off x="4049807" y="949334"/>
            <a:ext cx="10203275" cy="1157072"/>
            <a:chOff x="0" y="-38100"/>
            <a:chExt cx="2687282" cy="304743"/>
          </a:xfrm>
        </p:grpSpPr>
        <p:sp>
          <p:nvSpPr>
            <p:cNvPr id="264" name="Google Shape;264;p26"/>
            <p:cNvSpPr/>
            <p:nvPr/>
          </p:nvSpPr>
          <p:spPr>
            <a:xfrm>
              <a:off x="0" y="0"/>
              <a:ext cx="2687282" cy="266643"/>
            </a:xfrm>
            <a:custGeom>
              <a:rect b="b" l="l" r="r" t="t"/>
              <a:pathLst>
                <a:path extrusionOk="0" h="266643" w="2687282">
                  <a:moveTo>
                    <a:pt x="38697" y="0"/>
                  </a:moveTo>
                  <a:lnTo>
                    <a:pt x="2648585" y="0"/>
                  </a:lnTo>
                  <a:cubicBezTo>
                    <a:pt x="2669957" y="0"/>
                    <a:pt x="2687282" y="17325"/>
                    <a:pt x="2687282" y="38697"/>
                  </a:cubicBezTo>
                  <a:lnTo>
                    <a:pt x="2687282" y="227946"/>
                  </a:lnTo>
                  <a:cubicBezTo>
                    <a:pt x="2687282" y="249318"/>
                    <a:pt x="2669957" y="266643"/>
                    <a:pt x="2648585" y="266643"/>
                  </a:cubicBezTo>
                  <a:lnTo>
                    <a:pt x="38697" y="266643"/>
                  </a:lnTo>
                  <a:cubicBezTo>
                    <a:pt x="17325" y="266643"/>
                    <a:pt x="0" y="249318"/>
                    <a:pt x="0" y="227946"/>
                  </a:cubicBezTo>
                  <a:lnTo>
                    <a:pt x="0" y="38697"/>
                  </a:lnTo>
                  <a:cubicBezTo>
                    <a:pt x="0" y="17325"/>
                    <a:pt x="17325" y="0"/>
                    <a:pt x="38697" y="0"/>
                  </a:cubicBezTo>
                  <a:close/>
                </a:path>
              </a:pathLst>
            </a:custGeom>
            <a:solidFill>
              <a:srgbClr val="000000">
                <a:alpha val="0"/>
              </a:srgbClr>
            </a:solidFill>
            <a:ln cap="rnd" cmpd="sng" w="28575">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6"/>
            <p:cNvSpPr txBox="1"/>
            <p:nvPr/>
          </p:nvSpPr>
          <p:spPr>
            <a:xfrm>
              <a:off x="0" y="-38100"/>
              <a:ext cx="2687282" cy="30474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6" name="Google Shape;266;p26"/>
          <p:cNvSpPr txBox="1"/>
          <p:nvPr/>
        </p:nvSpPr>
        <p:spPr>
          <a:xfrm>
            <a:off x="1779763" y="2534395"/>
            <a:ext cx="14743364" cy="1460500"/>
          </a:xfrm>
          <a:prstGeom prst="rect">
            <a:avLst/>
          </a:prstGeom>
          <a:noFill/>
          <a:ln>
            <a:noFill/>
          </a:ln>
        </p:spPr>
        <p:txBody>
          <a:bodyPr anchorCtr="0" anchor="t" bIns="0" lIns="0" spcFirstLastPara="1" rIns="0" wrap="square" tIns="0">
            <a:spAutoFit/>
          </a:bodyPr>
          <a:lstStyle/>
          <a:p>
            <a:pPr indent="0" lvl="1" marL="0" marR="0" rtl="0" algn="ctr">
              <a:lnSpc>
                <a:spcPct val="158023"/>
              </a:lnSpc>
              <a:spcBef>
                <a:spcPts val="0"/>
              </a:spcBef>
              <a:spcAft>
                <a:spcPts val="0"/>
              </a:spcAft>
              <a:buNone/>
            </a:pPr>
            <a:r>
              <a:rPr b="0" i="0" lang="en-US" sz="2499" u="none" cap="none" strike="noStrike">
                <a:solidFill>
                  <a:srgbClr val="FFFFFF"/>
                </a:solidFill>
                <a:latin typeface="Arial"/>
                <a:ea typeface="Arial"/>
                <a:cs typeface="Arial"/>
                <a:sym typeface="Arial"/>
              </a:rPr>
              <a:t>Las fases de análisis llenan la tabla con nuevos símbolos y tipos, mientras que las fases de síntesis (optimización, generación de código) consultan la tabla para producir código máquina correcto</a:t>
            </a:r>
            <a:endParaRPr/>
          </a:p>
        </p:txBody>
      </p:sp>
      <p:sp>
        <p:nvSpPr>
          <p:cNvPr id="267" name="Google Shape;267;p26"/>
          <p:cNvSpPr txBox="1"/>
          <p:nvPr/>
        </p:nvSpPr>
        <p:spPr>
          <a:xfrm>
            <a:off x="2714475" y="4452840"/>
            <a:ext cx="7356753" cy="527613"/>
          </a:xfrm>
          <a:prstGeom prst="rect">
            <a:avLst/>
          </a:prstGeom>
          <a:noFill/>
          <a:ln>
            <a:noFill/>
          </a:ln>
        </p:spPr>
        <p:txBody>
          <a:bodyPr anchorCtr="0" anchor="t" bIns="0" lIns="0" spcFirstLastPara="1" rIns="0" wrap="square" tIns="0">
            <a:spAutoFit/>
          </a:bodyPr>
          <a:lstStyle/>
          <a:p>
            <a:pPr indent="0" lvl="0" marL="0" marR="0" rtl="0" algn="l">
              <a:lnSpc>
                <a:spcPct val="116977"/>
              </a:lnSpc>
              <a:spcBef>
                <a:spcPts val="0"/>
              </a:spcBef>
              <a:spcAft>
                <a:spcPts val="0"/>
              </a:spcAft>
              <a:buNone/>
            </a:pPr>
            <a:r>
              <a:rPr b="0" i="0" lang="en-US" sz="3481" u="none" cap="none" strike="noStrike">
                <a:solidFill>
                  <a:srgbClr val="FFFFFF"/>
                </a:solidFill>
                <a:latin typeface="Questrial"/>
                <a:ea typeface="Questrial"/>
                <a:cs typeface="Questrial"/>
                <a:sym typeface="Questrial"/>
              </a:rPr>
              <a:t>Información típica almacenada</a:t>
            </a:r>
            <a:endParaRPr/>
          </a:p>
        </p:txBody>
      </p:sp>
      <p:sp>
        <p:nvSpPr>
          <p:cNvPr id="268" name="Google Shape;268;p26"/>
          <p:cNvSpPr txBox="1"/>
          <p:nvPr/>
        </p:nvSpPr>
        <p:spPr>
          <a:xfrm>
            <a:off x="2160189" y="5096734"/>
            <a:ext cx="6983811" cy="2463800"/>
          </a:xfrm>
          <a:prstGeom prst="rect">
            <a:avLst/>
          </a:prstGeom>
          <a:noFill/>
          <a:ln>
            <a:noFill/>
          </a:ln>
        </p:spPr>
        <p:txBody>
          <a:bodyPr anchorCtr="0" anchor="t" bIns="0" lIns="0" spcFirstLastPara="1" rIns="0" wrap="square" tIns="0">
            <a:spAutoFit/>
          </a:bodyPr>
          <a:lstStyle/>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Nombre del identificador, tipo de dato (ej. int, float, char)</a:t>
            </a:r>
            <a:endParaRPr/>
          </a:p>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Ámbito (global o nivel de anidamiento donde fue declarado)</a:t>
            </a:r>
            <a:endParaRPr/>
          </a:p>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Dirección de memoria o desplazamiento, y dependiendo del caso, otros atributos semánticos</a:t>
            </a:r>
            <a:endParaRPr/>
          </a:p>
        </p:txBody>
      </p:sp>
      <p:sp>
        <p:nvSpPr>
          <p:cNvPr id="269" name="Google Shape;269;p26"/>
          <p:cNvSpPr txBox="1"/>
          <p:nvPr/>
        </p:nvSpPr>
        <p:spPr>
          <a:xfrm>
            <a:off x="9539316" y="5096734"/>
            <a:ext cx="6983811" cy="21113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En compiladores de lenguajes con varios bloques o funciones, a menudo se maneja una pila de tablas de símbolos: una tabla para el ámbito global y tablas separadas para cada función o bloque, entrando y saliendo de ellas según el alcance de las declaraciones.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75" name="Google Shape;275;p27"/>
          <p:cNvSpPr/>
          <p:nvPr/>
        </p:nvSpPr>
        <p:spPr>
          <a:xfrm>
            <a:off x="1216014" y="1201308"/>
            <a:ext cx="843811" cy="797785"/>
          </a:xfrm>
          <a:custGeom>
            <a:rect b="b" l="l" r="r" t="t"/>
            <a:pathLst>
              <a:path extrusionOk="0" h="797785" w="843811">
                <a:moveTo>
                  <a:pt x="0" y="0"/>
                </a:moveTo>
                <a:lnTo>
                  <a:pt x="843811" y="0"/>
                </a:lnTo>
                <a:lnTo>
                  <a:pt x="843811" y="797784"/>
                </a:lnTo>
                <a:lnTo>
                  <a:pt x="0" y="797784"/>
                </a:lnTo>
                <a:lnTo>
                  <a:pt x="0" y="0"/>
                </a:lnTo>
                <a:close/>
              </a:path>
            </a:pathLst>
          </a:custGeom>
          <a:blipFill rotWithShape="1">
            <a:blip r:embed="rId4">
              <a:alphaModFix/>
            </a:blip>
            <a:stretch>
              <a:fillRect b="0" l="0" r="0" t="0"/>
            </a:stretch>
          </a:blipFill>
          <a:ln>
            <a:noFill/>
          </a:ln>
        </p:spPr>
      </p:sp>
      <p:sp>
        <p:nvSpPr>
          <p:cNvPr id="276" name="Google Shape;276;p27"/>
          <p:cNvSpPr/>
          <p:nvPr/>
        </p:nvSpPr>
        <p:spPr>
          <a:xfrm>
            <a:off x="3028226" y="2550552"/>
            <a:ext cx="12280184" cy="4463865"/>
          </a:xfrm>
          <a:custGeom>
            <a:rect b="b" l="l" r="r" t="t"/>
            <a:pathLst>
              <a:path extrusionOk="0" h="4463865" w="12280184">
                <a:moveTo>
                  <a:pt x="0" y="0"/>
                </a:moveTo>
                <a:lnTo>
                  <a:pt x="12280183" y="0"/>
                </a:lnTo>
                <a:lnTo>
                  <a:pt x="12280183" y="4463865"/>
                </a:lnTo>
                <a:lnTo>
                  <a:pt x="0" y="4463865"/>
                </a:lnTo>
                <a:lnTo>
                  <a:pt x="0" y="0"/>
                </a:lnTo>
                <a:close/>
              </a:path>
            </a:pathLst>
          </a:custGeom>
          <a:blipFill rotWithShape="1">
            <a:blip r:embed="rId5">
              <a:alphaModFix/>
            </a:blip>
            <a:stretch>
              <a:fillRect b="0" l="0" r="0" t="0"/>
            </a:stretch>
          </a:blipFill>
          <a:ln>
            <a:noFill/>
          </a:ln>
        </p:spPr>
      </p:sp>
      <p:sp>
        <p:nvSpPr>
          <p:cNvPr id="277" name="Google Shape;277;p27"/>
          <p:cNvSpPr txBox="1"/>
          <p:nvPr/>
        </p:nvSpPr>
        <p:spPr>
          <a:xfrm>
            <a:off x="2298669" y="1171575"/>
            <a:ext cx="6665955" cy="830454"/>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0" i="0" lang="en-US" sz="6400" u="none" cap="none" strike="noStrike">
                <a:solidFill>
                  <a:srgbClr val="FFFFFF"/>
                </a:solidFill>
                <a:latin typeface="Questrial"/>
                <a:ea typeface="Questrial"/>
                <a:cs typeface="Questrial"/>
                <a:sym typeface="Questrial"/>
              </a:rPr>
              <a:t>Ejemplo</a:t>
            </a:r>
            <a:endParaRPr/>
          </a:p>
        </p:txBody>
      </p:sp>
      <p:sp>
        <p:nvSpPr>
          <p:cNvPr id="278" name="Google Shape;278;p27"/>
          <p:cNvSpPr txBox="1"/>
          <p:nvPr/>
        </p:nvSpPr>
        <p:spPr>
          <a:xfrm>
            <a:off x="3751319" y="7231142"/>
            <a:ext cx="10833997" cy="3962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Se crea el ámbito anidado (bloque de función)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84" name="Google Shape;284;p28"/>
          <p:cNvSpPr/>
          <p:nvPr/>
        </p:nvSpPr>
        <p:spPr>
          <a:xfrm>
            <a:off x="1216014" y="1201308"/>
            <a:ext cx="843811" cy="797785"/>
          </a:xfrm>
          <a:custGeom>
            <a:rect b="b" l="l" r="r" t="t"/>
            <a:pathLst>
              <a:path extrusionOk="0" h="797785" w="843811">
                <a:moveTo>
                  <a:pt x="0" y="0"/>
                </a:moveTo>
                <a:lnTo>
                  <a:pt x="843811" y="0"/>
                </a:lnTo>
                <a:lnTo>
                  <a:pt x="843811" y="797784"/>
                </a:lnTo>
                <a:lnTo>
                  <a:pt x="0" y="797784"/>
                </a:lnTo>
                <a:lnTo>
                  <a:pt x="0" y="0"/>
                </a:lnTo>
                <a:close/>
              </a:path>
            </a:pathLst>
          </a:custGeom>
          <a:blipFill rotWithShape="1">
            <a:blip r:embed="rId4">
              <a:alphaModFix/>
            </a:blip>
            <a:stretch>
              <a:fillRect b="0" l="0" r="0" t="0"/>
            </a:stretch>
          </a:blipFill>
          <a:ln>
            <a:noFill/>
          </a:ln>
        </p:spPr>
      </p:sp>
      <p:sp>
        <p:nvSpPr>
          <p:cNvPr id="285" name="Google Shape;285;p28"/>
          <p:cNvSpPr/>
          <p:nvPr/>
        </p:nvSpPr>
        <p:spPr>
          <a:xfrm>
            <a:off x="3404646" y="2653660"/>
            <a:ext cx="11478707" cy="4390762"/>
          </a:xfrm>
          <a:custGeom>
            <a:rect b="b" l="l" r="r" t="t"/>
            <a:pathLst>
              <a:path extrusionOk="0" h="4390762" w="11478707">
                <a:moveTo>
                  <a:pt x="0" y="0"/>
                </a:moveTo>
                <a:lnTo>
                  <a:pt x="11478708" y="0"/>
                </a:lnTo>
                <a:lnTo>
                  <a:pt x="11478708" y="4390762"/>
                </a:lnTo>
                <a:lnTo>
                  <a:pt x="0" y="4390762"/>
                </a:lnTo>
                <a:lnTo>
                  <a:pt x="0" y="0"/>
                </a:lnTo>
                <a:close/>
              </a:path>
            </a:pathLst>
          </a:custGeom>
          <a:blipFill rotWithShape="1">
            <a:blip r:embed="rId5">
              <a:alphaModFix/>
            </a:blip>
            <a:stretch>
              <a:fillRect b="0" l="0" r="0" t="0"/>
            </a:stretch>
          </a:blipFill>
          <a:ln>
            <a:noFill/>
          </a:ln>
        </p:spPr>
      </p:sp>
      <p:sp>
        <p:nvSpPr>
          <p:cNvPr id="286" name="Google Shape;286;p28"/>
          <p:cNvSpPr txBox="1"/>
          <p:nvPr/>
        </p:nvSpPr>
        <p:spPr>
          <a:xfrm>
            <a:off x="2298669" y="1171575"/>
            <a:ext cx="6665955" cy="830454"/>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0" i="0" lang="en-US" sz="6400" u="none" cap="none" strike="noStrike">
                <a:solidFill>
                  <a:srgbClr val="FFFFFF"/>
                </a:solidFill>
                <a:latin typeface="Questrial"/>
                <a:ea typeface="Questrial"/>
                <a:cs typeface="Questrial"/>
                <a:sym typeface="Questrial"/>
              </a:rPr>
              <a:t>Ejemplo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92" name="Google Shape;292;p29"/>
          <p:cNvSpPr/>
          <p:nvPr/>
        </p:nvSpPr>
        <p:spPr>
          <a:xfrm>
            <a:off x="1216014" y="1201308"/>
            <a:ext cx="843811" cy="797785"/>
          </a:xfrm>
          <a:custGeom>
            <a:rect b="b" l="l" r="r" t="t"/>
            <a:pathLst>
              <a:path extrusionOk="0" h="797785" w="843811">
                <a:moveTo>
                  <a:pt x="0" y="0"/>
                </a:moveTo>
                <a:lnTo>
                  <a:pt x="843811" y="0"/>
                </a:lnTo>
                <a:lnTo>
                  <a:pt x="843811" y="797784"/>
                </a:lnTo>
                <a:lnTo>
                  <a:pt x="0" y="797784"/>
                </a:lnTo>
                <a:lnTo>
                  <a:pt x="0" y="0"/>
                </a:lnTo>
                <a:close/>
              </a:path>
            </a:pathLst>
          </a:custGeom>
          <a:blipFill rotWithShape="1">
            <a:blip r:embed="rId4">
              <a:alphaModFix/>
            </a:blip>
            <a:stretch>
              <a:fillRect b="0" l="0" r="0" t="0"/>
            </a:stretch>
          </a:blipFill>
          <a:ln>
            <a:noFill/>
          </a:ln>
        </p:spPr>
      </p:sp>
      <p:sp>
        <p:nvSpPr>
          <p:cNvPr id="293" name="Google Shape;293;p29"/>
          <p:cNvSpPr/>
          <p:nvPr/>
        </p:nvSpPr>
        <p:spPr>
          <a:xfrm>
            <a:off x="752379" y="2431617"/>
            <a:ext cx="8783133" cy="7673351"/>
          </a:xfrm>
          <a:custGeom>
            <a:rect b="b" l="l" r="r" t="t"/>
            <a:pathLst>
              <a:path extrusionOk="0" h="7673351" w="8783133">
                <a:moveTo>
                  <a:pt x="0" y="0"/>
                </a:moveTo>
                <a:lnTo>
                  <a:pt x="8783133" y="0"/>
                </a:lnTo>
                <a:lnTo>
                  <a:pt x="8783133" y="7673351"/>
                </a:lnTo>
                <a:lnTo>
                  <a:pt x="0" y="7673351"/>
                </a:lnTo>
                <a:lnTo>
                  <a:pt x="0" y="0"/>
                </a:lnTo>
                <a:close/>
              </a:path>
            </a:pathLst>
          </a:custGeom>
          <a:blipFill rotWithShape="1">
            <a:blip r:embed="rId5">
              <a:alphaModFix/>
            </a:blip>
            <a:stretch>
              <a:fillRect b="0" l="0" r="0" t="0"/>
            </a:stretch>
          </a:blipFill>
          <a:ln>
            <a:noFill/>
          </a:ln>
        </p:spPr>
      </p:sp>
      <p:sp>
        <p:nvSpPr>
          <p:cNvPr id="294" name="Google Shape;294;p29"/>
          <p:cNvSpPr/>
          <p:nvPr/>
        </p:nvSpPr>
        <p:spPr>
          <a:xfrm>
            <a:off x="9821928" y="2431617"/>
            <a:ext cx="6364438" cy="7673351"/>
          </a:xfrm>
          <a:custGeom>
            <a:rect b="b" l="l" r="r" t="t"/>
            <a:pathLst>
              <a:path extrusionOk="0" h="7673351" w="6364438">
                <a:moveTo>
                  <a:pt x="0" y="0"/>
                </a:moveTo>
                <a:lnTo>
                  <a:pt x="6364438" y="0"/>
                </a:lnTo>
                <a:lnTo>
                  <a:pt x="6364438" y="7673351"/>
                </a:lnTo>
                <a:lnTo>
                  <a:pt x="0" y="7673351"/>
                </a:lnTo>
                <a:lnTo>
                  <a:pt x="0" y="0"/>
                </a:lnTo>
                <a:close/>
              </a:path>
            </a:pathLst>
          </a:custGeom>
          <a:blipFill rotWithShape="1">
            <a:blip r:embed="rId6">
              <a:alphaModFix/>
            </a:blip>
            <a:stretch>
              <a:fillRect b="0" l="0" r="0" t="0"/>
            </a:stretch>
          </a:blipFill>
          <a:ln>
            <a:noFill/>
          </a:ln>
        </p:spPr>
      </p:sp>
      <p:sp>
        <p:nvSpPr>
          <p:cNvPr id="295" name="Google Shape;295;p29"/>
          <p:cNvSpPr txBox="1"/>
          <p:nvPr/>
        </p:nvSpPr>
        <p:spPr>
          <a:xfrm>
            <a:off x="2298669" y="1171575"/>
            <a:ext cx="6665955" cy="830454"/>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0" i="0" lang="en-US" sz="6400" u="none" cap="none" strike="noStrike">
                <a:solidFill>
                  <a:srgbClr val="FFFFFF"/>
                </a:solidFill>
                <a:latin typeface="Questrial"/>
                <a:ea typeface="Questrial"/>
                <a:cs typeface="Questrial"/>
                <a:sym typeface="Questrial"/>
              </a:rPr>
              <a:t>Ejemplo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0"/>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0" r="0" t="0"/>
            </a:stretch>
          </a:blipFill>
          <a:ln>
            <a:noFill/>
          </a:ln>
        </p:spPr>
      </p:sp>
      <p:sp>
        <p:nvSpPr>
          <p:cNvPr id="301" name="Google Shape;301;p30"/>
          <p:cNvSpPr txBox="1"/>
          <p:nvPr/>
        </p:nvSpPr>
        <p:spPr>
          <a:xfrm>
            <a:off x="2895540" y="2581609"/>
            <a:ext cx="12496920" cy="2136402"/>
          </a:xfrm>
          <a:prstGeom prst="rect">
            <a:avLst/>
          </a:prstGeom>
          <a:noFill/>
          <a:ln>
            <a:noFill/>
          </a:ln>
        </p:spPr>
        <p:txBody>
          <a:bodyPr anchorCtr="0" anchor="t" bIns="0" lIns="0" spcFirstLastPara="1" rIns="0" wrap="square" tIns="0">
            <a:spAutoFit/>
          </a:bodyPr>
          <a:lstStyle/>
          <a:p>
            <a:pPr indent="0" lvl="0" marL="0" marR="0" rtl="0" algn="ctr">
              <a:lnSpc>
                <a:spcPct val="109000"/>
              </a:lnSpc>
              <a:spcBef>
                <a:spcPts val="0"/>
              </a:spcBef>
              <a:spcAft>
                <a:spcPts val="0"/>
              </a:spcAft>
              <a:buNone/>
            </a:pPr>
            <a:r>
              <a:rPr b="0" i="0" lang="en-US" sz="7700" u="none" cap="none" strike="noStrike">
                <a:solidFill>
                  <a:srgbClr val="FFFFFF"/>
                </a:solidFill>
                <a:latin typeface="Questrial"/>
                <a:ea typeface="Questrial"/>
                <a:cs typeface="Questrial"/>
                <a:sym typeface="Questrial"/>
              </a:rPr>
              <a:t>SISTEMA Y VERIFICACIÓN DE TIPOS</a:t>
            </a:r>
            <a:endParaRPr/>
          </a:p>
        </p:txBody>
      </p:sp>
      <p:sp>
        <p:nvSpPr>
          <p:cNvPr id="302" name="Google Shape;302;p30"/>
          <p:cNvSpPr txBox="1"/>
          <p:nvPr/>
        </p:nvSpPr>
        <p:spPr>
          <a:xfrm>
            <a:off x="4444995" y="5095875"/>
            <a:ext cx="9398009" cy="305128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495" u="none" cap="none" strike="noStrike">
                <a:solidFill>
                  <a:srgbClr val="FFFFFF"/>
                </a:solidFill>
                <a:latin typeface="Arial"/>
                <a:ea typeface="Arial"/>
                <a:cs typeface="Arial"/>
                <a:sym typeface="Arial"/>
              </a:rPr>
              <a:t>Un </a:t>
            </a:r>
            <a:r>
              <a:rPr b="1" i="0" lang="en-US" sz="2495" u="none" cap="none" strike="noStrike">
                <a:solidFill>
                  <a:srgbClr val="FFFFFF"/>
                </a:solidFill>
                <a:latin typeface="Arial"/>
                <a:ea typeface="Arial"/>
                <a:cs typeface="Arial"/>
                <a:sym typeface="Arial"/>
              </a:rPr>
              <a:t>sistema de tipos</a:t>
            </a:r>
            <a:r>
              <a:rPr b="0" i="0" lang="en-US" sz="2495" u="none" cap="none" strike="noStrike">
                <a:solidFill>
                  <a:srgbClr val="FFFFFF"/>
                </a:solidFill>
                <a:latin typeface="Arial"/>
                <a:ea typeface="Arial"/>
                <a:cs typeface="Arial"/>
                <a:sym typeface="Arial"/>
              </a:rPr>
              <a:t> define los tipos de datos de un lenguaje y las reglas de cómo se pueden usar e interactuar esos tipos.</a:t>
            </a:r>
            <a:endParaRPr/>
          </a:p>
          <a:p>
            <a:pPr indent="0" lvl="0" marL="0" marR="0" rtl="0" algn="l">
              <a:lnSpc>
                <a:spcPct val="140000"/>
              </a:lnSpc>
              <a:spcBef>
                <a:spcPts val="0"/>
              </a:spcBef>
              <a:spcAft>
                <a:spcPts val="0"/>
              </a:spcAft>
              <a:buNone/>
            </a:pPr>
            <a:r>
              <a:rPr b="0" i="0" lang="en-US" sz="2495" u="none" cap="none" strike="noStrike">
                <a:solidFill>
                  <a:srgbClr val="FFFFFF"/>
                </a:solidFill>
                <a:latin typeface="Arial"/>
                <a:ea typeface="Arial"/>
                <a:cs typeface="Arial"/>
                <a:sym typeface="Arial"/>
              </a:rPr>
              <a:t>La </a:t>
            </a:r>
            <a:r>
              <a:rPr b="1" i="0" lang="en-US" sz="2495" u="none" cap="none" strike="noStrike">
                <a:solidFill>
                  <a:srgbClr val="FFFFFF"/>
                </a:solidFill>
                <a:latin typeface="Arial"/>
                <a:ea typeface="Arial"/>
                <a:cs typeface="Arial"/>
                <a:sym typeface="Arial"/>
              </a:rPr>
              <a:t>verificación de tipos</a:t>
            </a:r>
            <a:r>
              <a:rPr b="0" i="0" lang="en-US" sz="2495" u="none" cap="none" strike="noStrike">
                <a:solidFill>
                  <a:srgbClr val="FFFFFF"/>
                </a:solidFill>
                <a:latin typeface="Arial"/>
                <a:ea typeface="Arial"/>
                <a:cs typeface="Arial"/>
                <a:sym typeface="Arial"/>
              </a:rPr>
              <a:t> (type checking) es el proceso de comprobar que cada operación reciba operandos del tipo apropiado según las reglas del lenguaje.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308" name="Google Shape;308;p31"/>
          <p:cNvGrpSpPr/>
          <p:nvPr/>
        </p:nvGrpSpPr>
        <p:grpSpPr>
          <a:xfrm>
            <a:off x="2160189" y="4503220"/>
            <a:ext cx="426853" cy="426853"/>
            <a:chOff x="0" y="0"/>
            <a:chExt cx="812800" cy="812800"/>
          </a:xfrm>
        </p:grpSpPr>
        <p:sp>
          <p:nvSpPr>
            <p:cNvPr id="309" name="Google Shape;309;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40000"/>
              </a:srgbClr>
            </a:solidFill>
            <a:ln cap="sq" cmpd="sng" w="28575">
              <a:solidFill>
                <a:srgbClr val="6AD3F3">
                  <a:alpha val="4000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1" name="Google Shape;311;p31"/>
          <p:cNvSpPr txBox="1"/>
          <p:nvPr/>
        </p:nvSpPr>
        <p:spPr>
          <a:xfrm>
            <a:off x="2301968" y="1544700"/>
            <a:ext cx="13684064" cy="1181100"/>
          </a:xfrm>
          <a:prstGeom prst="rect">
            <a:avLst/>
          </a:prstGeom>
          <a:noFill/>
          <a:ln>
            <a:noFill/>
          </a:ln>
        </p:spPr>
        <p:txBody>
          <a:bodyPr anchorCtr="0" anchor="t" bIns="0" lIns="0" spcFirstLastPara="1" rIns="0" wrap="square" tIns="0">
            <a:spAutoFit/>
          </a:bodyPr>
          <a:lstStyle/>
          <a:p>
            <a:pPr indent="0" lvl="0" marL="0" marR="0" rtl="0" algn="ctr">
              <a:lnSpc>
                <a:spcPct val="123000"/>
              </a:lnSpc>
              <a:spcBef>
                <a:spcPts val="0"/>
              </a:spcBef>
              <a:spcAft>
                <a:spcPts val="0"/>
              </a:spcAft>
              <a:buNone/>
            </a:pPr>
            <a:r>
              <a:rPr b="0" i="0" lang="en-US" sz="7500" u="none" cap="none" strike="noStrike">
                <a:solidFill>
                  <a:srgbClr val="FFFFFF"/>
                </a:solidFill>
                <a:latin typeface="Questrial"/>
                <a:ea typeface="Questrial"/>
                <a:cs typeface="Questrial"/>
                <a:sym typeface="Questrial"/>
              </a:rPr>
              <a:t>Sistema de tipos</a:t>
            </a:r>
            <a:endParaRPr/>
          </a:p>
        </p:txBody>
      </p:sp>
      <p:grpSp>
        <p:nvGrpSpPr>
          <p:cNvPr id="312" name="Google Shape;312;p31"/>
          <p:cNvGrpSpPr/>
          <p:nvPr/>
        </p:nvGrpSpPr>
        <p:grpSpPr>
          <a:xfrm>
            <a:off x="4049807" y="1503434"/>
            <a:ext cx="10203275" cy="1157072"/>
            <a:chOff x="0" y="-38100"/>
            <a:chExt cx="2687282" cy="304743"/>
          </a:xfrm>
        </p:grpSpPr>
        <p:sp>
          <p:nvSpPr>
            <p:cNvPr id="313" name="Google Shape;313;p31"/>
            <p:cNvSpPr/>
            <p:nvPr/>
          </p:nvSpPr>
          <p:spPr>
            <a:xfrm>
              <a:off x="0" y="0"/>
              <a:ext cx="2687282" cy="266643"/>
            </a:xfrm>
            <a:custGeom>
              <a:rect b="b" l="l" r="r" t="t"/>
              <a:pathLst>
                <a:path extrusionOk="0" h="266643" w="2687282">
                  <a:moveTo>
                    <a:pt x="38697" y="0"/>
                  </a:moveTo>
                  <a:lnTo>
                    <a:pt x="2648585" y="0"/>
                  </a:lnTo>
                  <a:cubicBezTo>
                    <a:pt x="2669957" y="0"/>
                    <a:pt x="2687282" y="17325"/>
                    <a:pt x="2687282" y="38697"/>
                  </a:cubicBezTo>
                  <a:lnTo>
                    <a:pt x="2687282" y="227946"/>
                  </a:lnTo>
                  <a:cubicBezTo>
                    <a:pt x="2687282" y="249318"/>
                    <a:pt x="2669957" y="266643"/>
                    <a:pt x="2648585" y="266643"/>
                  </a:cubicBezTo>
                  <a:lnTo>
                    <a:pt x="38697" y="266643"/>
                  </a:lnTo>
                  <a:cubicBezTo>
                    <a:pt x="17325" y="266643"/>
                    <a:pt x="0" y="249318"/>
                    <a:pt x="0" y="227946"/>
                  </a:cubicBezTo>
                  <a:lnTo>
                    <a:pt x="0" y="38697"/>
                  </a:lnTo>
                  <a:cubicBezTo>
                    <a:pt x="0" y="17325"/>
                    <a:pt x="17325" y="0"/>
                    <a:pt x="38697" y="0"/>
                  </a:cubicBezTo>
                  <a:close/>
                </a:path>
              </a:pathLst>
            </a:custGeom>
            <a:solidFill>
              <a:srgbClr val="000000">
                <a:alpha val="0"/>
              </a:srgbClr>
            </a:solidFill>
            <a:ln cap="rnd" cmpd="sng" w="28575">
              <a:solidFill>
                <a:srgbClr val="6AD3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0" y="-38100"/>
              <a:ext cx="2687282" cy="30474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5" name="Google Shape;315;p31"/>
          <p:cNvSpPr txBox="1"/>
          <p:nvPr/>
        </p:nvSpPr>
        <p:spPr>
          <a:xfrm>
            <a:off x="3301066" y="2830415"/>
            <a:ext cx="11700757" cy="1460500"/>
          </a:xfrm>
          <a:prstGeom prst="rect">
            <a:avLst/>
          </a:prstGeom>
          <a:noFill/>
          <a:ln>
            <a:noFill/>
          </a:ln>
        </p:spPr>
        <p:txBody>
          <a:bodyPr anchorCtr="0" anchor="t" bIns="0" lIns="0" spcFirstLastPara="1" rIns="0" wrap="square" tIns="0">
            <a:spAutoFit/>
          </a:bodyPr>
          <a:lstStyle/>
          <a:p>
            <a:pPr indent="0" lvl="1" marL="0" marR="0" rtl="0" algn="ctr">
              <a:lnSpc>
                <a:spcPct val="158023"/>
              </a:lnSpc>
              <a:spcBef>
                <a:spcPts val="0"/>
              </a:spcBef>
              <a:spcAft>
                <a:spcPts val="0"/>
              </a:spcAft>
              <a:buNone/>
            </a:pPr>
            <a:r>
              <a:rPr b="0" i="0" lang="en-US" sz="2499" u="none" cap="none" strike="noStrike">
                <a:solidFill>
                  <a:srgbClr val="FFFFFF"/>
                </a:solidFill>
                <a:latin typeface="Arial"/>
                <a:ea typeface="Arial"/>
                <a:cs typeface="Arial"/>
                <a:sym typeface="Arial"/>
              </a:rPr>
              <a:t>En términos prácticos, el sistema de tipos ayuda a detectar errores de programación asegurando que las operaciones se apliquen a operandos compatibles.</a:t>
            </a:r>
            <a:endParaRPr/>
          </a:p>
        </p:txBody>
      </p:sp>
      <p:sp>
        <p:nvSpPr>
          <p:cNvPr id="316" name="Google Shape;316;p31"/>
          <p:cNvSpPr txBox="1"/>
          <p:nvPr/>
        </p:nvSpPr>
        <p:spPr>
          <a:xfrm>
            <a:off x="2714475" y="4452840"/>
            <a:ext cx="4934639" cy="527613"/>
          </a:xfrm>
          <a:prstGeom prst="rect">
            <a:avLst/>
          </a:prstGeom>
          <a:noFill/>
          <a:ln>
            <a:noFill/>
          </a:ln>
        </p:spPr>
        <p:txBody>
          <a:bodyPr anchorCtr="0" anchor="t" bIns="0" lIns="0" spcFirstLastPara="1" rIns="0" wrap="square" tIns="0">
            <a:spAutoFit/>
          </a:bodyPr>
          <a:lstStyle/>
          <a:p>
            <a:pPr indent="0" lvl="0" marL="0" marR="0" rtl="0" algn="l">
              <a:lnSpc>
                <a:spcPct val="116977"/>
              </a:lnSpc>
              <a:spcBef>
                <a:spcPts val="0"/>
              </a:spcBef>
              <a:spcAft>
                <a:spcPts val="0"/>
              </a:spcAft>
              <a:buNone/>
            </a:pPr>
            <a:r>
              <a:rPr b="0" i="0" lang="en-US" sz="3481" u="none" cap="none" strike="noStrike">
                <a:solidFill>
                  <a:srgbClr val="FFFFFF"/>
                </a:solidFill>
                <a:latin typeface="Questrial"/>
                <a:ea typeface="Questrial"/>
                <a:cs typeface="Questrial"/>
                <a:sym typeface="Questrial"/>
              </a:rPr>
              <a:t>Tipos fuertes vs débiles</a:t>
            </a:r>
            <a:endParaRPr/>
          </a:p>
        </p:txBody>
      </p:sp>
      <p:sp>
        <p:nvSpPr>
          <p:cNvPr id="317" name="Google Shape;317;p31"/>
          <p:cNvSpPr txBox="1"/>
          <p:nvPr/>
        </p:nvSpPr>
        <p:spPr>
          <a:xfrm>
            <a:off x="2160189" y="5096734"/>
            <a:ext cx="13825843" cy="105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Los lenguajes pueden considerarse fuertemente tipados si prohíben estrictamente las operaciones entre tipos incompatibles (requiriendo conversiones explícitas), o débilmente tipados si permiten ciertas mezclas haciendo conversiones implícitas.</a:t>
            </a:r>
            <a:endParaRPr/>
          </a:p>
        </p:txBody>
      </p:sp>
      <p:grpSp>
        <p:nvGrpSpPr>
          <p:cNvPr id="318" name="Google Shape;318;p31"/>
          <p:cNvGrpSpPr/>
          <p:nvPr/>
        </p:nvGrpSpPr>
        <p:grpSpPr>
          <a:xfrm>
            <a:off x="2160189" y="6584450"/>
            <a:ext cx="426853" cy="426853"/>
            <a:chOff x="0" y="0"/>
            <a:chExt cx="812800" cy="812800"/>
          </a:xfrm>
        </p:grpSpPr>
        <p:sp>
          <p:nvSpPr>
            <p:cNvPr id="319" name="Google Shape;319;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40000"/>
              </a:srgbClr>
            </a:solidFill>
            <a:ln cap="sq" cmpd="sng" w="28575">
              <a:solidFill>
                <a:srgbClr val="6AD3F3">
                  <a:alpha val="4000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1" name="Google Shape;321;p31"/>
          <p:cNvSpPr txBox="1"/>
          <p:nvPr/>
        </p:nvSpPr>
        <p:spPr>
          <a:xfrm>
            <a:off x="2714475" y="6534070"/>
            <a:ext cx="4934639" cy="527613"/>
          </a:xfrm>
          <a:prstGeom prst="rect">
            <a:avLst/>
          </a:prstGeom>
          <a:noFill/>
          <a:ln>
            <a:noFill/>
          </a:ln>
        </p:spPr>
        <p:txBody>
          <a:bodyPr anchorCtr="0" anchor="t" bIns="0" lIns="0" spcFirstLastPara="1" rIns="0" wrap="square" tIns="0">
            <a:spAutoFit/>
          </a:bodyPr>
          <a:lstStyle/>
          <a:p>
            <a:pPr indent="0" lvl="0" marL="0" marR="0" rtl="0" algn="l">
              <a:lnSpc>
                <a:spcPct val="116977"/>
              </a:lnSpc>
              <a:spcBef>
                <a:spcPts val="0"/>
              </a:spcBef>
              <a:spcAft>
                <a:spcPts val="0"/>
              </a:spcAft>
              <a:buNone/>
            </a:pPr>
            <a:r>
              <a:rPr b="0" i="0" lang="en-US" sz="3481" u="none" cap="none" strike="noStrike">
                <a:solidFill>
                  <a:srgbClr val="FFFFFF"/>
                </a:solidFill>
                <a:latin typeface="Questrial"/>
                <a:ea typeface="Questrial"/>
                <a:cs typeface="Questrial"/>
                <a:sym typeface="Questrial"/>
              </a:rPr>
              <a:t>Ejemplo</a:t>
            </a:r>
            <a:endParaRPr/>
          </a:p>
        </p:txBody>
      </p:sp>
      <p:sp>
        <p:nvSpPr>
          <p:cNvPr id="322" name="Google Shape;322;p31"/>
          <p:cNvSpPr txBox="1"/>
          <p:nvPr/>
        </p:nvSpPr>
        <p:spPr>
          <a:xfrm>
            <a:off x="2160189" y="7177964"/>
            <a:ext cx="13825843" cy="1406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en C# (tipado fuerte) la expresión "1" + 1 produce un error de compilación (“Cannot implicitly convert type 'string' to 'int'”), obligando a convertir explícitamente la cadena "1" a número entero antes de sumar. En cambio, en un lenguaje más débil como Perl, la misma expresión "1" + 1 es válida y resultaría en 2, ya que Perl convierte la cadena "1" en 1 automáticamente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28" name="Google Shape;328;p32"/>
          <p:cNvSpPr/>
          <p:nvPr/>
        </p:nvSpPr>
        <p:spPr>
          <a:xfrm>
            <a:off x="1216014" y="1201308"/>
            <a:ext cx="843811" cy="797785"/>
          </a:xfrm>
          <a:custGeom>
            <a:rect b="b" l="l" r="r" t="t"/>
            <a:pathLst>
              <a:path extrusionOk="0" h="797785" w="843811">
                <a:moveTo>
                  <a:pt x="0" y="0"/>
                </a:moveTo>
                <a:lnTo>
                  <a:pt x="843811" y="0"/>
                </a:lnTo>
                <a:lnTo>
                  <a:pt x="843811" y="797784"/>
                </a:lnTo>
                <a:lnTo>
                  <a:pt x="0" y="797784"/>
                </a:lnTo>
                <a:lnTo>
                  <a:pt x="0" y="0"/>
                </a:lnTo>
                <a:close/>
              </a:path>
            </a:pathLst>
          </a:custGeom>
          <a:blipFill rotWithShape="1">
            <a:blip r:embed="rId4">
              <a:alphaModFix/>
            </a:blip>
            <a:stretch>
              <a:fillRect b="0" l="0" r="0" t="0"/>
            </a:stretch>
          </a:blipFill>
          <a:ln>
            <a:noFill/>
          </a:ln>
        </p:spPr>
      </p:sp>
      <p:sp>
        <p:nvSpPr>
          <p:cNvPr id="329" name="Google Shape;329;p32"/>
          <p:cNvSpPr/>
          <p:nvPr/>
        </p:nvSpPr>
        <p:spPr>
          <a:xfrm>
            <a:off x="1216014" y="2411484"/>
            <a:ext cx="5348461" cy="6996959"/>
          </a:xfrm>
          <a:custGeom>
            <a:rect b="b" l="l" r="r" t="t"/>
            <a:pathLst>
              <a:path extrusionOk="0" h="6996959" w="5348461">
                <a:moveTo>
                  <a:pt x="0" y="0"/>
                </a:moveTo>
                <a:lnTo>
                  <a:pt x="5348461" y="0"/>
                </a:lnTo>
                <a:lnTo>
                  <a:pt x="5348461" y="6996959"/>
                </a:lnTo>
                <a:lnTo>
                  <a:pt x="0" y="6996959"/>
                </a:lnTo>
                <a:lnTo>
                  <a:pt x="0" y="0"/>
                </a:lnTo>
                <a:close/>
              </a:path>
            </a:pathLst>
          </a:custGeom>
          <a:blipFill rotWithShape="1">
            <a:blip r:embed="rId5">
              <a:alphaModFix/>
            </a:blip>
            <a:stretch>
              <a:fillRect b="0" l="0" r="0" t="0"/>
            </a:stretch>
          </a:blipFill>
          <a:ln>
            <a:noFill/>
          </a:ln>
        </p:spPr>
      </p:sp>
      <p:sp>
        <p:nvSpPr>
          <p:cNvPr id="330" name="Google Shape;330;p32"/>
          <p:cNvSpPr/>
          <p:nvPr/>
        </p:nvSpPr>
        <p:spPr>
          <a:xfrm>
            <a:off x="7275875" y="412057"/>
            <a:ext cx="9332291" cy="8996386"/>
          </a:xfrm>
          <a:custGeom>
            <a:rect b="b" l="l" r="r" t="t"/>
            <a:pathLst>
              <a:path extrusionOk="0" h="8996386" w="9332291">
                <a:moveTo>
                  <a:pt x="0" y="0"/>
                </a:moveTo>
                <a:lnTo>
                  <a:pt x="9332291" y="0"/>
                </a:lnTo>
                <a:lnTo>
                  <a:pt x="9332291" y="8996386"/>
                </a:lnTo>
                <a:lnTo>
                  <a:pt x="0" y="8996386"/>
                </a:lnTo>
                <a:lnTo>
                  <a:pt x="0" y="0"/>
                </a:lnTo>
                <a:close/>
              </a:path>
            </a:pathLst>
          </a:custGeom>
          <a:blipFill rotWithShape="1">
            <a:blip r:embed="rId6">
              <a:alphaModFix/>
            </a:blip>
            <a:stretch>
              <a:fillRect b="0" l="0" r="0" t="0"/>
            </a:stretch>
          </a:blipFill>
          <a:ln>
            <a:noFill/>
          </a:ln>
        </p:spPr>
      </p:sp>
      <p:sp>
        <p:nvSpPr>
          <p:cNvPr id="331" name="Google Shape;331;p32"/>
          <p:cNvSpPr txBox="1"/>
          <p:nvPr/>
        </p:nvSpPr>
        <p:spPr>
          <a:xfrm>
            <a:off x="2298669" y="1171575"/>
            <a:ext cx="6665955" cy="830454"/>
          </a:xfrm>
          <a:prstGeom prst="rect">
            <a:avLst/>
          </a:prstGeom>
          <a:noFill/>
          <a:ln>
            <a:noFill/>
          </a:ln>
        </p:spPr>
        <p:txBody>
          <a:bodyPr anchorCtr="0" anchor="t" bIns="0" lIns="0" spcFirstLastPara="1" rIns="0" wrap="square" tIns="0">
            <a:spAutoFit/>
          </a:bodyPr>
          <a:lstStyle/>
          <a:p>
            <a:pPr indent="0" lvl="0" marL="0" marR="0" rtl="0" algn="l">
              <a:lnSpc>
                <a:spcPct val="94000"/>
              </a:lnSpc>
              <a:spcBef>
                <a:spcPts val="0"/>
              </a:spcBef>
              <a:spcAft>
                <a:spcPts val="0"/>
              </a:spcAft>
              <a:buNone/>
            </a:pPr>
            <a:r>
              <a:rPr b="0" i="0" lang="en-US" sz="6400" u="none" cap="none" strike="noStrike">
                <a:solidFill>
                  <a:srgbClr val="FFFFFF"/>
                </a:solidFill>
                <a:latin typeface="Questrial"/>
                <a:ea typeface="Questrial"/>
                <a:cs typeface="Questrial"/>
                <a:sym typeface="Questrial"/>
              </a:rPr>
              <a:t>Ejemplo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37" name="Google Shape;337;p33"/>
          <p:cNvSpPr txBox="1"/>
          <p:nvPr/>
        </p:nvSpPr>
        <p:spPr>
          <a:xfrm>
            <a:off x="3427509" y="5104919"/>
            <a:ext cx="12129722" cy="449580"/>
          </a:xfrm>
          <a:prstGeom prst="rect">
            <a:avLst/>
          </a:prstGeom>
          <a:noFill/>
          <a:ln>
            <a:noFill/>
          </a:ln>
        </p:spPr>
        <p:txBody>
          <a:bodyPr anchorCtr="0" anchor="t" bIns="0" lIns="0" spcFirstLastPara="1" rIns="0" wrap="square" tIns="0">
            <a:spAutoFit/>
          </a:bodyPr>
          <a:lstStyle/>
          <a:p>
            <a:pPr indent="0" lvl="0" marL="0" marR="0" rtl="0" algn="ctr">
              <a:lnSpc>
                <a:spcPct val="116966"/>
              </a:lnSpc>
              <a:spcBef>
                <a:spcPts val="0"/>
              </a:spcBef>
              <a:spcAft>
                <a:spcPts val="0"/>
              </a:spcAft>
              <a:buNone/>
            </a:pPr>
            <a:r>
              <a:rPr b="0" i="0" lang="en-US" sz="3000" u="none" cap="none" strike="noStrike">
                <a:solidFill>
                  <a:srgbClr val="FFFFFF"/>
                </a:solidFill>
                <a:latin typeface="Arial"/>
                <a:ea typeface="Arial"/>
                <a:cs typeface="Arial"/>
                <a:sym typeface="Arial"/>
              </a:rPr>
              <a:t>¿Dudas?</a:t>
            </a:r>
            <a:endParaRPr/>
          </a:p>
        </p:txBody>
      </p:sp>
      <p:sp>
        <p:nvSpPr>
          <p:cNvPr id="338" name="Google Shape;338;p33"/>
          <p:cNvSpPr txBox="1"/>
          <p:nvPr/>
        </p:nvSpPr>
        <p:spPr>
          <a:xfrm>
            <a:off x="4153506" y="3777883"/>
            <a:ext cx="9980987" cy="1065036"/>
          </a:xfrm>
          <a:prstGeom prst="rect">
            <a:avLst/>
          </a:prstGeom>
          <a:noFill/>
          <a:ln>
            <a:noFill/>
          </a:ln>
        </p:spPr>
        <p:txBody>
          <a:bodyPr anchorCtr="0" anchor="t" bIns="0" lIns="0" spcFirstLastPara="1" rIns="0" wrap="square" tIns="0">
            <a:spAutoFit/>
          </a:bodyPr>
          <a:lstStyle/>
          <a:p>
            <a:pPr indent="0" lvl="0" marL="0" marR="0" rtl="0" algn="ctr">
              <a:lnSpc>
                <a:spcPct val="117012"/>
              </a:lnSpc>
              <a:spcBef>
                <a:spcPts val="0"/>
              </a:spcBef>
              <a:spcAft>
                <a:spcPts val="0"/>
              </a:spcAft>
              <a:buNone/>
            </a:pPr>
            <a:r>
              <a:rPr b="0" i="0" lang="en-US" sz="7036" u="none" cap="none" strike="noStrike">
                <a:solidFill>
                  <a:srgbClr val="FFFFFF"/>
                </a:solidFill>
                <a:latin typeface="Questrial"/>
                <a:ea typeface="Questrial"/>
                <a:cs typeface="Questrial"/>
                <a:sym typeface="Questrial"/>
              </a:rPr>
              <a:t>¡Gracias por su atención!</a:t>
            </a:r>
            <a:endParaRPr/>
          </a:p>
        </p:txBody>
      </p:sp>
      <p:sp>
        <p:nvSpPr>
          <p:cNvPr id="339" name="Google Shape;339;p33"/>
          <p:cNvSpPr/>
          <p:nvPr/>
        </p:nvSpPr>
        <p:spPr>
          <a:xfrm>
            <a:off x="15530732" y="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