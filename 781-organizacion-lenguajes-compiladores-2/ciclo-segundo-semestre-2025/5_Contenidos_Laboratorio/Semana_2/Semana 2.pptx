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10287000" cx="18288000"/>
  <p:notesSz cx="6858000" cy="9144000"/>
  <p:embeddedFontLst>
    <p:embeddedFont>
      <p:font typeface="Lobster"/>
      <p:regular r:id="rId26"/>
    </p:embeddedFont>
    <p:embeddedFont>
      <p:font typeface="Pacifico"/>
      <p:regular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6E27A3-7234-46A7-8F27-C9E6B6C328CB}">
  <a:tblStyle styleId="{EE6E27A3-7234-46A7-8F27-C9E6B6C328C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obster-regular.fntdata"/><Relationship Id="rId25" Type="http://schemas.openxmlformats.org/officeDocument/2006/relationships/slide" Target="slides/slide19.xml"/><Relationship Id="rId28" Type="http://schemas.openxmlformats.org/officeDocument/2006/relationships/font" Target="fonts/OpenSans-regular.fntdata"/><Relationship Id="rId27" Type="http://schemas.openxmlformats.org/officeDocument/2006/relationships/font" Target="fonts/Pacific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ff8f2f4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6ff8f2f48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ff8f2f48c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6ff8f2f48c_0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3520" y="889920"/>
            <a:ext cx="17040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3520" y="2304720"/>
            <a:ext cx="17040000" cy="6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6945200" y="9326160"/>
            <a:ext cx="109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21.png"/><Relationship Id="rId6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p14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{EE6E27A3-7234-46A7-8F27-C9E6B6C328CB}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XX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XX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X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XX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XX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" name="Google Shape;90;p14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[</a:t>
            </a:r>
            <a:r>
              <a:rPr lang="en-US" sz="5000"/>
              <a:t>X</a:t>
            </a: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Rubén Alejandro Ralda Mejia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/>
          <p:nvPr/>
        </p:nvSpPr>
        <p:spPr>
          <a:xfrm>
            <a:off x="8588049" y="1768245"/>
            <a:ext cx="11404113" cy="11487660"/>
          </a:xfrm>
          <a:custGeom>
            <a:rect b="b" l="l" r="r" t="t"/>
            <a:pathLst>
              <a:path extrusionOk="0"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15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15"/>
          <p:cNvGrpSpPr/>
          <p:nvPr/>
        </p:nvGrpSpPr>
        <p:grpSpPr>
          <a:xfrm rot="1383774">
            <a:off x="8485994" y="522260"/>
            <a:ext cx="11226909" cy="14341591"/>
            <a:chOff x="0" y="0"/>
            <a:chExt cx="2956881" cy="3777209"/>
          </a:xfrm>
        </p:grpSpPr>
        <p:sp>
          <p:nvSpPr>
            <p:cNvPr id="99" name="Google Shape;99;p15"/>
            <p:cNvSpPr/>
            <p:nvPr/>
          </p:nvSpPr>
          <p:spPr>
            <a:xfrm>
              <a:off x="0" y="0"/>
              <a:ext cx="2956881" cy="3777209"/>
            </a:xfrm>
            <a:custGeom>
              <a:rect b="b" l="l" r="r" t="t"/>
              <a:pathLst>
                <a:path extrusionOk="0"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00" name="Google Shape;100;p15"/>
            <p:cNvSpPr txBox="1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15"/>
          <p:cNvSpPr txBox="1"/>
          <p:nvPr/>
        </p:nvSpPr>
        <p:spPr>
          <a:xfrm>
            <a:off x="2054469" y="2529413"/>
            <a:ext cx="15087900" cy="49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Interpretación de instrucciones básicas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1795032" y="930452"/>
            <a:ext cx="4330517" cy="647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054482" y="8596478"/>
            <a:ext cx="6970279" cy="427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Escuela de Ciencias y Sistemas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2054482" y="9064947"/>
            <a:ext cx="5466833" cy="427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2054482" y="9521109"/>
            <a:ext cx="7388893" cy="427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1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6"/>
          <p:cNvGrpSpPr/>
          <p:nvPr/>
        </p:nvGrpSpPr>
        <p:grpSpPr>
          <a:xfrm>
            <a:off x="176619" y="4520484"/>
            <a:ext cx="4613562" cy="845568"/>
            <a:chOff x="0" y="-76200"/>
            <a:chExt cx="1964221" cy="360000"/>
          </a:xfrm>
        </p:grpSpPr>
        <p:sp>
          <p:nvSpPr>
            <p:cNvPr id="111" name="Google Shape;111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16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16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16"/>
          <p:cNvGrpSpPr/>
          <p:nvPr/>
        </p:nvGrpSpPr>
        <p:grpSpPr>
          <a:xfrm>
            <a:off x="1866989" y="3013981"/>
            <a:ext cx="4115217" cy="1556494"/>
            <a:chOff x="0" y="-76200"/>
            <a:chExt cx="1083836" cy="409938"/>
          </a:xfrm>
        </p:grpSpPr>
        <p:sp>
          <p:nvSpPr>
            <p:cNvPr id="115" name="Google Shape;115;p16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16"/>
            <p:cNvSpPr txBox="1"/>
            <p:nvPr/>
          </p:nvSpPr>
          <p:spPr>
            <a:xfrm>
              <a:off x="0" y="-76200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16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6"/>
          <p:cNvSpPr txBox="1"/>
          <p:nvPr/>
        </p:nvSpPr>
        <p:spPr>
          <a:xfrm>
            <a:off x="651749" y="49090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20" name="Google Shape;120;p16"/>
          <p:cNvGrpSpPr/>
          <p:nvPr/>
        </p:nvGrpSpPr>
        <p:grpSpPr>
          <a:xfrm>
            <a:off x="11739805" y="2798631"/>
            <a:ext cx="5353682" cy="1701155"/>
            <a:chOff x="0" y="-114300"/>
            <a:chExt cx="1410014" cy="448038"/>
          </a:xfrm>
        </p:grpSpPr>
        <p:sp>
          <p:nvSpPr>
            <p:cNvPr id="121" name="Google Shape;121;p16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2" name="Google Shape;122;p16"/>
            <p:cNvSpPr txBox="1"/>
            <p:nvPr/>
          </p:nvSpPr>
          <p:spPr>
            <a:xfrm>
              <a:off x="0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16"/>
          <p:cNvGrpSpPr/>
          <p:nvPr/>
        </p:nvGrpSpPr>
        <p:grpSpPr>
          <a:xfrm>
            <a:off x="11739805" y="4598680"/>
            <a:ext cx="5353682" cy="1701155"/>
            <a:chOff x="0" y="-114300"/>
            <a:chExt cx="1410014" cy="448038"/>
          </a:xfrm>
        </p:grpSpPr>
        <p:sp>
          <p:nvSpPr>
            <p:cNvPr id="124" name="Google Shape;124;p16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5" name="Google Shape;125;p16"/>
            <p:cNvSpPr txBox="1"/>
            <p:nvPr/>
          </p:nvSpPr>
          <p:spPr>
            <a:xfrm>
              <a:off x="0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6" name="Google Shape;126;p16"/>
          <p:cNvGrpSpPr/>
          <p:nvPr/>
        </p:nvGrpSpPr>
        <p:grpSpPr>
          <a:xfrm>
            <a:off x="176619" y="5444302"/>
            <a:ext cx="4613562" cy="845568"/>
            <a:chOff x="0" y="-76200"/>
            <a:chExt cx="1964221" cy="360000"/>
          </a:xfrm>
        </p:grpSpPr>
        <p:sp>
          <p:nvSpPr>
            <p:cNvPr id="127" name="Google Shape;127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8" name="Google Shape;128;p16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176619" y="6425875"/>
            <a:ext cx="4613562" cy="845568"/>
            <a:chOff x="0" y="-76200"/>
            <a:chExt cx="1964221" cy="360000"/>
          </a:xfrm>
        </p:grpSpPr>
        <p:sp>
          <p:nvSpPr>
            <p:cNvPr id="130" name="Google Shape;130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1" name="Google Shape;131;p16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16"/>
          <p:cNvGrpSpPr/>
          <p:nvPr/>
        </p:nvGrpSpPr>
        <p:grpSpPr>
          <a:xfrm>
            <a:off x="176619" y="7349457"/>
            <a:ext cx="4613562" cy="845568"/>
            <a:chOff x="0" y="-76200"/>
            <a:chExt cx="1964221" cy="360000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4" name="Google Shape;134;p16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p16"/>
          <p:cNvGrpSpPr/>
          <p:nvPr/>
        </p:nvGrpSpPr>
        <p:grpSpPr>
          <a:xfrm>
            <a:off x="176619" y="8412915"/>
            <a:ext cx="4613562" cy="845568"/>
            <a:chOff x="0" y="-76200"/>
            <a:chExt cx="1964221" cy="360000"/>
          </a:xfrm>
        </p:grpSpPr>
        <p:sp>
          <p:nvSpPr>
            <p:cNvPr id="136" name="Google Shape;136;p16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7" name="Google Shape;137;p16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" name="Google Shape;138;p16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16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16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16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16"/>
          <p:cNvSpPr/>
          <p:nvPr/>
        </p:nvSpPr>
        <p:spPr>
          <a:xfrm>
            <a:off x="6488300" y="536587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16"/>
          <p:cNvSpPr txBox="1"/>
          <p:nvPr/>
        </p:nvSpPr>
        <p:spPr>
          <a:xfrm>
            <a:off x="7087316" y="6295138"/>
            <a:ext cx="3428400" cy="32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 todos los recordatorios como lo sean, cortos, entregas, horarios de calificación. Colocaras, link de video y link o codigo de quizziz si lo amerita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9" name="Google Shape;149;p17"/>
          <p:cNvGrpSpPr/>
          <p:nvPr/>
        </p:nvGrpSpPr>
        <p:grpSpPr>
          <a:xfrm>
            <a:off x="665383" y="5453302"/>
            <a:ext cx="7089518" cy="3309700"/>
            <a:chOff x="0" y="0"/>
            <a:chExt cx="1867198" cy="871690"/>
          </a:xfrm>
        </p:grpSpPr>
        <p:sp>
          <p:nvSpPr>
            <p:cNvPr id="150" name="Google Shape;150;p17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9929459" y="6783779"/>
            <a:ext cx="6583028" cy="1771650"/>
            <a:chOff x="0" y="0"/>
            <a:chExt cx="1733801" cy="466607"/>
          </a:xfrm>
        </p:grpSpPr>
        <p:sp>
          <p:nvSpPr>
            <p:cNvPr id="153" name="Google Shape;153;p17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0" y="19050"/>
              <a:ext cx="1733800" cy="44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" name="Google Shape;155;p17"/>
          <p:cNvGrpSpPr/>
          <p:nvPr/>
        </p:nvGrpSpPr>
        <p:grpSpPr>
          <a:xfrm>
            <a:off x="10284190" y="1525469"/>
            <a:ext cx="6583028" cy="4515361"/>
            <a:chOff x="0" y="0"/>
            <a:chExt cx="1733801" cy="1189231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" name="Google Shape;158;p17"/>
          <p:cNvGrpSpPr/>
          <p:nvPr/>
        </p:nvGrpSpPr>
        <p:grpSpPr>
          <a:xfrm>
            <a:off x="1324347" y="6198006"/>
            <a:ext cx="224656" cy="224656"/>
            <a:chOff x="0" y="0"/>
            <a:chExt cx="812800" cy="812800"/>
          </a:xfrm>
        </p:grpSpPr>
        <p:sp>
          <p:nvSpPr>
            <p:cNvPr id="159" name="Google Shape;159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" name="Google Shape;161;p17"/>
          <p:cNvGrpSpPr/>
          <p:nvPr/>
        </p:nvGrpSpPr>
        <p:grpSpPr>
          <a:xfrm>
            <a:off x="10900555" y="2205520"/>
            <a:ext cx="517587" cy="517587"/>
            <a:chOff x="0" y="0"/>
            <a:chExt cx="812800" cy="812800"/>
          </a:xfrm>
        </p:grpSpPr>
        <p:sp>
          <p:nvSpPr>
            <p:cNvPr id="162" name="Google Shape;162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7"/>
          <p:cNvSpPr/>
          <p:nvPr/>
        </p:nvSpPr>
        <p:spPr>
          <a:xfrm>
            <a:off x="10972007" y="2289958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2" y="0"/>
                </a:lnTo>
                <a:lnTo>
                  <a:pt x="374682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5" name="Google Shape;165;p17"/>
          <p:cNvGrpSpPr/>
          <p:nvPr/>
        </p:nvGrpSpPr>
        <p:grpSpPr>
          <a:xfrm>
            <a:off x="1349460" y="7128119"/>
            <a:ext cx="224656" cy="224656"/>
            <a:chOff x="0" y="0"/>
            <a:chExt cx="812800" cy="812800"/>
          </a:xfrm>
        </p:grpSpPr>
        <p:sp>
          <p:nvSpPr>
            <p:cNvPr id="166" name="Google Shape;166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" name="Google Shape;168;p17"/>
          <p:cNvGrpSpPr/>
          <p:nvPr/>
        </p:nvGrpSpPr>
        <p:grpSpPr>
          <a:xfrm rot="10800000">
            <a:off x="11048200" y="3954469"/>
            <a:ext cx="1243438" cy="1243438"/>
            <a:chOff x="0" y="0"/>
            <a:chExt cx="812800" cy="812800"/>
          </a:xfrm>
        </p:grpSpPr>
        <p:sp>
          <p:nvSpPr>
            <p:cNvPr id="169" name="Google Shape;169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</p:sp>
        <p:sp>
          <p:nvSpPr>
            <p:cNvPr id="170" name="Google Shape;170;p17"/>
            <p:cNvSpPr txBox="1"/>
            <p:nvPr/>
          </p:nvSpPr>
          <p:spPr>
            <a:xfrm>
              <a:off x="203200" y="19050"/>
              <a:ext cx="406400" cy="692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" name="Google Shape;171;p17"/>
          <p:cNvGrpSpPr/>
          <p:nvPr/>
        </p:nvGrpSpPr>
        <p:grpSpPr>
          <a:xfrm rot="10800000">
            <a:off x="14693100" y="3954469"/>
            <a:ext cx="1243438" cy="1243438"/>
            <a:chOff x="0" y="0"/>
            <a:chExt cx="812800" cy="812800"/>
          </a:xfrm>
        </p:grpSpPr>
        <p:sp>
          <p:nvSpPr>
            <p:cNvPr id="172" name="Google Shape;172;p1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</p:sp>
        <p:sp>
          <p:nvSpPr>
            <p:cNvPr id="173" name="Google Shape;173;p17"/>
            <p:cNvSpPr txBox="1"/>
            <p:nvPr/>
          </p:nvSpPr>
          <p:spPr>
            <a:xfrm>
              <a:off x="203200" y="19050"/>
              <a:ext cx="406400" cy="692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4" name="Google Shape;174;p17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812225" y="1866348"/>
            <a:ext cx="8589300" cy="20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dirigida por la sintaxis (DDS)</a:t>
            </a:r>
            <a:endParaRPr sz="900"/>
          </a:p>
        </p:txBody>
      </p:sp>
      <p:sp>
        <p:nvSpPr>
          <p:cNvPr id="176" name="Google Shape;176;p17"/>
          <p:cNvSpPr txBox="1"/>
          <p:nvPr/>
        </p:nvSpPr>
        <p:spPr>
          <a:xfrm>
            <a:off x="1709659" y="6130085"/>
            <a:ext cx="1229461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Reglas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0669701" y="7105325"/>
            <a:ext cx="6013500" cy="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Información de la notación DDS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709659" y="6539138"/>
            <a:ext cx="5708731" cy="31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asocian a una producción.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812225" y="4215084"/>
            <a:ext cx="6013469" cy="695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una gramática libre de contexto, junto con atributos y reglas. 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709659" y="7118594"/>
            <a:ext cx="1229461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1709659" y="7526351"/>
            <a:ext cx="5708731" cy="31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asocian con los símbolos gramaticales.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10671555" y="7600198"/>
            <a:ext cx="5189980" cy="614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Pueden ser más legibles, y</a:t>
            </a:r>
            <a:endParaRPr/>
          </a:p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por ende más útiles para las especificaciones.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10457926" y="3223050"/>
            <a:ext cx="24240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76" u="none" cap="none" strike="noStrike">
                <a:solidFill>
                  <a:srgbClr val="FF6D4D"/>
                </a:solidFill>
                <a:latin typeface="Arial"/>
                <a:ea typeface="Arial"/>
                <a:cs typeface="Arial"/>
                <a:sym typeface="Arial"/>
              </a:rPr>
              <a:t>S → S_1 + T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10941870" y="5367691"/>
            <a:ext cx="1705711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Producción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13342605" y="3221432"/>
            <a:ext cx="34008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76" u="none" cap="none" strike="noStrike">
                <a:solidFill>
                  <a:srgbClr val="FF6D4D"/>
                </a:solidFill>
                <a:latin typeface="Arial"/>
                <a:ea typeface="Arial"/>
                <a:cs typeface="Arial"/>
                <a:sym typeface="Arial"/>
              </a:rPr>
              <a:t>S.val =</a:t>
            </a:r>
            <a:r>
              <a:rPr b="0" i="0" lang="en-US" sz="2676" u="none" cap="none" strike="noStrike">
                <a:solidFill>
                  <a:srgbClr val="FF6D4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676" u="none" cap="none" strike="noStrike">
                <a:solidFill>
                  <a:srgbClr val="FF6D4D"/>
                </a:solidFill>
                <a:latin typeface="Arial"/>
                <a:ea typeface="Arial"/>
                <a:cs typeface="Arial"/>
                <a:sym typeface="Arial"/>
              </a:rPr>
              <a:t>S_1.val + T.val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4962156" y="5310432"/>
            <a:ext cx="1705711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Regla</a:t>
            </a: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14461977" y="2683300"/>
            <a:ext cx="13995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Atributos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3" name="Google Shape;193;p18"/>
          <p:cNvGrpSpPr/>
          <p:nvPr/>
        </p:nvGrpSpPr>
        <p:grpSpPr>
          <a:xfrm>
            <a:off x="1028700" y="2752454"/>
            <a:ext cx="7303106" cy="5966196"/>
            <a:chOff x="0" y="0"/>
            <a:chExt cx="1923452" cy="1571344"/>
          </a:xfrm>
        </p:grpSpPr>
        <p:sp>
          <p:nvSpPr>
            <p:cNvPr id="194" name="Google Shape;194;p18"/>
            <p:cNvSpPr/>
            <p:nvPr/>
          </p:nvSpPr>
          <p:spPr>
            <a:xfrm>
              <a:off x="0" y="0"/>
              <a:ext cx="1923452" cy="1571344"/>
            </a:xfrm>
            <a:custGeom>
              <a:rect b="b" l="l" r="r" t="t"/>
              <a:pathLst>
                <a:path extrusionOk="0" h="1571344" w="1923452">
                  <a:moveTo>
                    <a:pt x="40283" y="0"/>
                  </a:moveTo>
                  <a:lnTo>
                    <a:pt x="1883169" y="0"/>
                  </a:lnTo>
                  <a:cubicBezTo>
                    <a:pt x="1893852" y="0"/>
                    <a:pt x="1904099" y="4244"/>
                    <a:pt x="1911653" y="11799"/>
                  </a:cubicBezTo>
                  <a:cubicBezTo>
                    <a:pt x="1919208" y="19353"/>
                    <a:pt x="1923452" y="29599"/>
                    <a:pt x="1923452" y="40283"/>
                  </a:cubicBezTo>
                  <a:lnTo>
                    <a:pt x="1923452" y="1531061"/>
                  </a:lnTo>
                  <a:cubicBezTo>
                    <a:pt x="1923452" y="1541744"/>
                    <a:pt x="1919208" y="1551991"/>
                    <a:pt x="1911653" y="1559545"/>
                  </a:cubicBezTo>
                  <a:cubicBezTo>
                    <a:pt x="1904099" y="1567100"/>
                    <a:pt x="1893852" y="1571344"/>
                    <a:pt x="1883169" y="1571344"/>
                  </a:cubicBezTo>
                  <a:lnTo>
                    <a:pt x="40283" y="1571344"/>
                  </a:lnTo>
                  <a:cubicBezTo>
                    <a:pt x="29599" y="1571344"/>
                    <a:pt x="19353" y="1567100"/>
                    <a:pt x="11799" y="1559545"/>
                  </a:cubicBezTo>
                  <a:cubicBezTo>
                    <a:pt x="4244" y="1551991"/>
                    <a:pt x="0" y="1541744"/>
                    <a:pt x="0" y="1531061"/>
                  </a:cubicBezTo>
                  <a:lnTo>
                    <a:pt x="0" y="40283"/>
                  </a:lnTo>
                  <a:cubicBezTo>
                    <a:pt x="0" y="29599"/>
                    <a:pt x="4244" y="19353"/>
                    <a:pt x="11799" y="11799"/>
                  </a:cubicBezTo>
                  <a:cubicBezTo>
                    <a:pt x="19353" y="4244"/>
                    <a:pt x="29599" y="0"/>
                    <a:pt x="40283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8"/>
            <p:cNvSpPr txBox="1"/>
            <p:nvPr/>
          </p:nvSpPr>
          <p:spPr>
            <a:xfrm>
              <a:off x="0" y="19050"/>
              <a:ext cx="1923452" cy="15522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18"/>
          <p:cNvGrpSpPr/>
          <p:nvPr/>
        </p:nvGrpSpPr>
        <p:grpSpPr>
          <a:xfrm>
            <a:off x="8935030" y="2752454"/>
            <a:ext cx="7570867" cy="5966196"/>
            <a:chOff x="0" y="0"/>
            <a:chExt cx="1993973" cy="1571344"/>
          </a:xfrm>
        </p:grpSpPr>
        <p:sp>
          <p:nvSpPr>
            <p:cNvPr id="197" name="Google Shape;197;p18"/>
            <p:cNvSpPr/>
            <p:nvPr/>
          </p:nvSpPr>
          <p:spPr>
            <a:xfrm>
              <a:off x="0" y="0"/>
              <a:ext cx="1993973" cy="1571344"/>
            </a:xfrm>
            <a:custGeom>
              <a:rect b="b" l="l" r="r" t="t"/>
              <a:pathLst>
                <a:path extrusionOk="0" h="1571344" w="1993973">
                  <a:moveTo>
                    <a:pt x="38859" y="0"/>
                  </a:moveTo>
                  <a:lnTo>
                    <a:pt x="1955115" y="0"/>
                  </a:lnTo>
                  <a:cubicBezTo>
                    <a:pt x="1976575" y="0"/>
                    <a:pt x="1993973" y="17398"/>
                    <a:pt x="1993973" y="38859"/>
                  </a:cubicBezTo>
                  <a:lnTo>
                    <a:pt x="1993973" y="1532485"/>
                  </a:lnTo>
                  <a:cubicBezTo>
                    <a:pt x="1993973" y="1553946"/>
                    <a:pt x="1976575" y="1571344"/>
                    <a:pt x="1955115" y="1571344"/>
                  </a:cubicBezTo>
                  <a:lnTo>
                    <a:pt x="38859" y="1571344"/>
                  </a:lnTo>
                  <a:cubicBezTo>
                    <a:pt x="17398" y="1571344"/>
                    <a:pt x="0" y="1553946"/>
                    <a:pt x="0" y="1532485"/>
                  </a:cubicBezTo>
                  <a:lnTo>
                    <a:pt x="0" y="38859"/>
                  </a:lnTo>
                  <a:cubicBezTo>
                    <a:pt x="0" y="17398"/>
                    <a:pt x="17398" y="0"/>
                    <a:pt x="38859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8"/>
            <p:cNvSpPr txBox="1"/>
            <p:nvPr/>
          </p:nvSpPr>
          <p:spPr>
            <a:xfrm>
              <a:off x="0" y="19050"/>
              <a:ext cx="1993973" cy="15522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" name="Google Shape;199;p18"/>
          <p:cNvGrpSpPr/>
          <p:nvPr/>
        </p:nvGrpSpPr>
        <p:grpSpPr>
          <a:xfrm>
            <a:off x="1688682" y="3465947"/>
            <a:ext cx="224656" cy="224656"/>
            <a:chOff x="0" y="0"/>
            <a:chExt cx="812800" cy="812800"/>
          </a:xfrm>
        </p:grpSpPr>
        <p:sp>
          <p:nvSpPr>
            <p:cNvPr id="200" name="Google Shape;200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8"/>
          <p:cNvGrpSpPr/>
          <p:nvPr/>
        </p:nvGrpSpPr>
        <p:grpSpPr>
          <a:xfrm>
            <a:off x="9383559" y="3472889"/>
            <a:ext cx="210772" cy="210772"/>
            <a:chOff x="0" y="0"/>
            <a:chExt cx="812800" cy="812800"/>
          </a:xfrm>
        </p:grpSpPr>
        <p:sp>
          <p:nvSpPr>
            <p:cNvPr id="203" name="Google Shape;203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8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8"/>
          <p:cNvGrpSpPr/>
          <p:nvPr/>
        </p:nvGrpSpPr>
        <p:grpSpPr>
          <a:xfrm>
            <a:off x="1913360" y="7182646"/>
            <a:ext cx="224658" cy="224658"/>
            <a:chOff x="0" y="0"/>
            <a:chExt cx="812800" cy="812800"/>
          </a:xfrm>
        </p:grpSpPr>
        <p:sp>
          <p:nvSpPr>
            <p:cNvPr id="206" name="Google Shape;206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8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8"/>
          <p:cNvSpPr/>
          <p:nvPr/>
        </p:nvSpPr>
        <p:spPr>
          <a:xfrm>
            <a:off x="1688667" y="7680382"/>
            <a:ext cx="6358984" cy="710574"/>
          </a:xfrm>
          <a:custGeom>
            <a:rect b="b" l="l" r="r" t="t"/>
            <a:pathLst>
              <a:path extrusionOk="0" h="710574" w="6358984">
                <a:moveTo>
                  <a:pt x="0" y="0"/>
                </a:moveTo>
                <a:lnTo>
                  <a:pt x="6358984" y="0"/>
                </a:lnTo>
                <a:lnTo>
                  <a:pt x="6358984" y="710575"/>
                </a:lnTo>
                <a:lnTo>
                  <a:pt x="0" y="710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533" l="0" r="0" t="-4533"/>
            </a:stretch>
          </a:blipFill>
          <a:ln>
            <a:noFill/>
          </a:ln>
        </p:spPr>
      </p:sp>
      <p:sp>
        <p:nvSpPr>
          <p:cNvPr id="209" name="Google Shape;209;p18"/>
          <p:cNvSpPr txBox="1"/>
          <p:nvPr/>
        </p:nvSpPr>
        <p:spPr>
          <a:xfrm>
            <a:off x="1913338" y="1320423"/>
            <a:ext cx="8210853" cy="1119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Tipos de Atributos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2334234" y="7163596"/>
            <a:ext cx="1696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211" name="Google Shape;211;p18"/>
          <p:cNvSpPr txBox="1"/>
          <p:nvPr/>
        </p:nvSpPr>
        <p:spPr>
          <a:xfrm>
            <a:off x="9784822" y="3446900"/>
            <a:ext cx="34377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del libro</a:t>
            </a:r>
            <a:endParaRPr/>
          </a:p>
        </p:txBody>
      </p:sp>
      <p:sp>
        <p:nvSpPr>
          <p:cNvPr id="212" name="Google Shape;212;p18"/>
          <p:cNvSpPr txBox="1"/>
          <p:nvPr/>
        </p:nvSpPr>
        <p:spPr>
          <a:xfrm>
            <a:off x="2101741" y="3446897"/>
            <a:ext cx="4888113" cy="32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del libro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1413140" y="3757629"/>
            <a:ext cx="5984096" cy="2695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atributo sintetizado para un no terminal A en un nodo N de un árbol sintáctico se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define mediante una regla semántica asociada con la producción en N. Observe que la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producción debe tener a A como su encabezado. Un atributo sintetizado en el nodo N se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define sólo en términos de los valores de los atributos en el hijo de N, y en el mismo N.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1413140" y="2941055"/>
            <a:ext cx="2217304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Sintetizados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9383559" y="2941055"/>
            <a:ext cx="2217304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Heredados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9383559" y="3757629"/>
            <a:ext cx="6530100" cy="31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 atributo heredado para un no terminal B en el nodo N de un árbol de análisis sintáctico se define mediante una regla semántica asociada con la producción en el padre de N.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Observe que la producción debe tener a B como un símbolo en su cuerpo. Un atributo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heredado en el nodo N se define sólo en términos de los valores de los atributos en el</a:t>
            </a:r>
            <a:endParaRPr/>
          </a:p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padre de N, en el mismo N y en sus hermanos.</a:t>
            </a:r>
            <a:endParaRPr/>
          </a:p>
        </p:txBody>
      </p:sp>
      <p:grpSp>
        <p:nvGrpSpPr>
          <p:cNvPr id="217" name="Google Shape;217;p18"/>
          <p:cNvGrpSpPr/>
          <p:nvPr/>
        </p:nvGrpSpPr>
        <p:grpSpPr>
          <a:xfrm>
            <a:off x="9483305" y="7150271"/>
            <a:ext cx="224658" cy="224658"/>
            <a:chOff x="0" y="0"/>
            <a:chExt cx="812800" cy="812800"/>
          </a:xfrm>
        </p:grpSpPr>
        <p:sp>
          <p:nvSpPr>
            <p:cNvPr id="218" name="Google Shape;218;p1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8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18"/>
          <p:cNvSpPr txBox="1"/>
          <p:nvPr/>
        </p:nvSpPr>
        <p:spPr>
          <a:xfrm>
            <a:off x="9904179" y="7131221"/>
            <a:ext cx="16968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Explicación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9594331" y="7171189"/>
            <a:ext cx="6822282" cy="1295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Dado un término x ∗ y ∗ z, la raíz del</a:t>
            </a:r>
            <a:endParaRPr/>
          </a:p>
          <a:p>
            <a:pPr indent="0" lvl="0" marL="0" marR="0" rtl="0" algn="l">
              <a:lnSpc>
                <a:spcPct val="1399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subárbol para ∗ y ∗ z hereda a x. Entonces, la raíz del subárbol para ∗ z hereda el valor de x ∗ y,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27" name="Google Shape;227;p19"/>
          <p:cNvGrpSpPr/>
          <p:nvPr/>
        </p:nvGrpSpPr>
        <p:grpSpPr>
          <a:xfrm>
            <a:off x="1795032" y="3184151"/>
            <a:ext cx="13804957" cy="5369711"/>
            <a:chOff x="0" y="0"/>
            <a:chExt cx="3635873" cy="1414245"/>
          </a:xfrm>
        </p:grpSpPr>
        <p:sp>
          <p:nvSpPr>
            <p:cNvPr id="228" name="Google Shape;228;p19"/>
            <p:cNvSpPr/>
            <p:nvPr/>
          </p:nvSpPr>
          <p:spPr>
            <a:xfrm>
              <a:off x="0" y="0"/>
              <a:ext cx="3635873" cy="1414245"/>
            </a:xfrm>
            <a:custGeom>
              <a:rect b="b" l="l" r="r" t="t"/>
              <a:pathLst>
                <a:path extrusionOk="0" h="1414245" w="3635873">
                  <a:moveTo>
                    <a:pt x="21311" y="0"/>
                  </a:moveTo>
                  <a:lnTo>
                    <a:pt x="3614563" y="0"/>
                  </a:lnTo>
                  <a:cubicBezTo>
                    <a:pt x="3620215" y="0"/>
                    <a:pt x="3625635" y="2245"/>
                    <a:pt x="3629632" y="6242"/>
                  </a:cubicBezTo>
                  <a:cubicBezTo>
                    <a:pt x="3633628" y="10238"/>
                    <a:pt x="3635873" y="15659"/>
                    <a:pt x="3635873" y="21311"/>
                  </a:cubicBezTo>
                  <a:lnTo>
                    <a:pt x="3635873" y="1392934"/>
                  </a:lnTo>
                  <a:cubicBezTo>
                    <a:pt x="3635873" y="1404704"/>
                    <a:pt x="3626332" y="1414245"/>
                    <a:pt x="3614563" y="1414245"/>
                  </a:cubicBezTo>
                  <a:lnTo>
                    <a:pt x="21311" y="1414245"/>
                  </a:lnTo>
                  <a:cubicBezTo>
                    <a:pt x="9541" y="1414245"/>
                    <a:pt x="0" y="1404704"/>
                    <a:pt x="0" y="1392934"/>
                  </a:cubicBezTo>
                  <a:lnTo>
                    <a:pt x="0" y="21311"/>
                  </a:lnTo>
                  <a:cubicBezTo>
                    <a:pt x="0" y="9541"/>
                    <a:pt x="9541" y="0"/>
                    <a:pt x="21311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0" y="19050"/>
              <a:ext cx="3635873" cy="13951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0" name="Google Shape;230;p19"/>
          <p:cNvSpPr/>
          <p:nvPr/>
        </p:nvSpPr>
        <p:spPr>
          <a:xfrm>
            <a:off x="3360668" y="3604839"/>
            <a:ext cx="11110919" cy="4528337"/>
          </a:xfrm>
          <a:custGeom>
            <a:rect b="b" l="l" r="r" t="t"/>
            <a:pathLst>
              <a:path extrusionOk="0" h="4528337" w="11110919">
                <a:moveTo>
                  <a:pt x="0" y="0"/>
                </a:moveTo>
                <a:lnTo>
                  <a:pt x="11110919" y="0"/>
                </a:lnTo>
                <a:lnTo>
                  <a:pt x="11110919" y="4528336"/>
                </a:lnTo>
                <a:lnTo>
                  <a:pt x="0" y="45283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9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32" name="Google Shape;232;p19"/>
          <p:cNvSpPr txBox="1"/>
          <p:nvPr/>
        </p:nvSpPr>
        <p:spPr>
          <a:xfrm>
            <a:off x="3360668" y="533916"/>
            <a:ext cx="14191200" cy="20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 dirigida por la sintaxis con atributos sintetizados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8" name="Google Shape;238;p20"/>
          <p:cNvGrpSpPr/>
          <p:nvPr/>
        </p:nvGrpSpPr>
        <p:grpSpPr>
          <a:xfrm>
            <a:off x="9340969" y="1911326"/>
            <a:ext cx="8184931" cy="6771493"/>
            <a:chOff x="0" y="0"/>
            <a:chExt cx="2155702" cy="1783438"/>
          </a:xfrm>
        </p:grpSpPr>
        <p:sp>
          <p:nvSpPr>
            <p:cNvPr id="239" name="Google Shape;239;p20"/>
            <p:cNvSpPr/>
            <p:nvPr/>
          </p:nvSpPr>
          <p:spPr>
            <a:xfrm>
              <a:off x="0" y="0"/>
              <a:ext cx="2155702" cy="1783438"/>
            </a:xfrm>
            <a:custGeom>
              <a:rect b="b" l="l" r="r" t="t"/>
              <a:pathLst>
                <a:path extrusionOk="0" h="1783438" w="2155702">
                  <a:moveTo>
                    <a:pt x="35943" y="0"/>
                  </a:moveTo>
                  <a:lnTo>
                    <a:pt x="2119759" y="0"/>
                  </a:lnTo>
                  <a:cubicBezTo>
                    <a:pt x="2129292" y="0"/>
                    <a:pt x="2138434" y="3787"/>
                    <a:pt x="2145175" y="10528"/>
                  </a:cubicBezTo>
                  <a:cubicBezTo>
                    <a:pt x="2151915" y="17268"/>
                    <a:pt x="2155702" y="26411"/>
                    <a:pt x="2155702" y="35943"/>
                  </a:cubicBezTo>
                  <a:lnTo>
                    <a:pt x="2155702" y="1747495"/>
                  </a:lnTo>
                  <a:cubicBezTo>
                    <a:pt x="2155702" y="1767346"/>
                    <a:pt x="2139610" y="1783438"/>
                    <a:pt x="2119759" y="1783438"/>
                  </a:cubicBezTo>
                  <a:lnTo>
                    <a:pt x="35943" y="1783438"/>
                  </a:lnTo>
                  <a:cubicBezTo>
                    <a:pt x="16092" y="1783438"/>
                    <a:pt x="0" y="1767346"/>
                    <a:pt x="0" y="1747495"/>
                  </a:cubicBezTo>
                  <a:lnTo>
                    <a:pt x="0" y="35943"/>
                  </a:lnTo>
                  <a:cubicBezTo>
                    <a:pt x="0" y="16092"/>
                    <a:pt x="16092" y="0"/>
                    <a:pt x="35943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0"/>
            <p:cNvSpPr txBox="1"/>
            <p:nvPr/>
          </p:nvSpPr>
          <p:spPr>
            <a:xfrm>
              <a:off x="0" y="19050"/>
              <a:ext cx="2155702" cy="17643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1" name="Google Shape;241;p20"/>
          <p:cNvGrpSpPr/>
          <p:nvPr/>
        </p:nvGrpSpPr>
        <p:grpSpPr>
          <a:xfrm>
            <a:off x="9784519" y="2669880"/>
            <a:ext cx="216568" cy="216568"/>
            <a:chOff x="0" y="0"/>
            <a:chExt cx="812800" cy="812800"/>
          </a:xfrm>
        </p:grpSpPr>
        <p:sp>
          <p:nvSpPr>
            <p:cNvPr id="242" name="Google Shape;242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20"/>
          <p:cNvGrpSpPr/>
          <p:nvPr/>
        </p:nvGrpSpPr>
        <p:grpSpPr>
          <a:xfrm>
            <a:off x="1324347" y="4811103"/>
            <a:ext cx="7276407" cy="4377759"/>
            <a:chOff x="0" y="0"/>
            <a:chExt cx="1916420" cy="1152990"/>
          </a:xfrm>
        </p:grpSpPr>
        <p:sp>
          <p:nvSpPr>
            <p:cNvPr id="245" name="Google Shape;245;p20"/>
            <p:cNvSpPr/>
            <p:nvPr/>
          </p:nvSpPr>
          <p:spPr>
            <a:xfrm>
              <a:off x="0" y="0"/>
              <a:ext cx="1916420" cy="1152990"/>
            </a:xfrm>
            <a:custGeom>
              <a:rect b="b" l="l" r="r" t="t"/>
              <a:pathLst>
                <a:path extrusionOk="0" h="1152990" w="1916420">
                  <a:moveTo>
                    <a:pt x="40431" y="0"/>
                  </a:moveTo>
                  <a:lnTo>
                    <a:pt x="1875989" y="0"/>
                  </a:lnTo>
                  <a:cubicBezTo>
                    <a:pt x="1886712" y="0"/>
                    <a:pt x="1896996" y="4260"/>
                    <a:pt x="1904578" y="11842"/>
                  </a:cubicBezTo>
                  <a:cubicBezTo>
                    <a:pt x="1912160" y="19424"/>
                    <a:pt x="1916420" y="29708"/>
                    <a:pt x="1916420" y="40431"/>
                  </a:cubicBezTo>
                  <a:lnTo>
                    <a:pt x="1916420" y="1112559"/>
                  </a:lnTo>
                  <a:cubicBezTo>
                    <a:pt x="1916420" y="1134888"/>
                    <a:pt x="1898318" y="1152990"/>
                    <a:pt x="1875989" y="1152990"/>
                  </a:cubicBezTo>
                  <a:lnTo>
                    <a:pt x="40431" y="1152990"/>
                  </a:lnTo>
                  <a:cubicBezTo>
                    <a:pt x="29708" y="1152990"/>
                    <a:pt x="19424" y="1148730"/>
                    <a:pt x="11842" y="1141148"/>
                  </a:cubicBezTo>
                  <a:cubicBezTo>
                    <a:pt x="4260" y="1133566"/>
                    <a:pt x="0" y="1123282"/>
                    <a:pt x="0" y="1112559"/>
                  </a:cubicBezTo>
                  <a:lnTo>
                    <a:pt x="0" y="40431"/>
                  </a:lnTo>
                  <a:cubicBezTo>
                    <a:pt x="0" y="29708"/>
                    <a:pt x="4260" y="19424"/>
                    <a:pt x="11842" y="11842"/>
                  </a:cubicBezTo>
                  <a:cubicBezTo>
                    <a:pt x="19424" y="4260"/>
                    <a:pt x="29708" y="0"/>
                    <a:pt x="40431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 txBox="1"/>
            <p:nvPr/>
          </p:nvSpPr>
          <p:spPr>
            <a:xfrm>
              <a:off x="0" y="19050"/>
              <a:ext cx="1916420" cy="11339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20"/>
          <p:cNvGrpSpPr/>
          <p:nvPr/>
        </p:nvGrpSpPr>
        <p:grpSpPr>
          <a:xfrm>
            <a:off x="1781963" y="5031172"/>
            <a:ext cx="224656" cy="224656"/>
            <a:chOff x="0" y="0"/>
            <a:chExt cx="812800" cy="812800"/>
          </a:xfrm>
        </p:grpSpPr>
        <p:sp>
          <p:nvSpPr>
            <p:cNvPr id="248" name="Google Shape;248;p20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20"/>
          <p:cNvSpPr/>
          <p:nvPr/>
        </p:nvSpPr>
        <p:spPr>
          <a:xfrm>
            <a:off x="10277031" y="3236001"/>
            <a:ext cx="6653710" cy="4560039"/>
          </a:xfrm>
          <a:custGeom>
            <a:rect b="b" l="l" r="r" t="t"/>
            <a:pathLst>
              <a:path extrusionOk="0" h="4560039" w="6653710">
                <a:moveTo>
                  <a:pt x="0" y="0"/>
                </a:moveTo>
                <a:lnTo>
                  <a:pt x="6653711" y="0"/>
                </a:lnTo>
                <a:lnTo>
                  <a:pt x="6653711" y="4560039"/>
                </a:lnTo>
                <a:lnTo>
                  <a:pt x="0" y="45600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20"/>
          <p:cNvSpPr txBox="1"/>
          <p:nvPr/>
        </p:nvSpPr>
        <p:spPr>
          <a:xfrm>
            <a:off x="1894291" y="573381"/>
            <a:ext cx="9747716" cy="206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Árbol de análisis de sintaxis anotado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2377567" y="4931811"/>
            <a:ext cx="3270635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de AST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1894291" y="2673389"/>
            <a:ext cx="5739449" cy="1868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un árbol sintáctico, que muestra el (los) valor(es) de su(s) atributo(s) se le conoce como árbol</a:t>
            </a:r>
            <a:endParaRPr/>
          </a:p>
          <a:p>
            <a:pPr indent="0" lvl="0" marL="0" marR="0" rtl="0" algn="l">
              <a:lnSpc>
                <a:spcPct val="139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 análisis sintáctico anotado.</a:t>
            </a:r>
            <a:endParaRPr/>
          </a:p>
        </p:txBody>
      </p:sp>
      <p:sp>
        <p:nvSpPr>
          <p:cNvPr id="254" name="Google Shape;254;p20"/>
          <p:cNvSpPr txBox="1"/>
          <p:nvPr/>
        </p:nvSpPr>
        <p:spPr>
          <a:xfrm>
            <a:off x="10322963" y="2650830"/>
            <a:ext cx="3280924" cy="3274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AST anotado</a:t>
            </a:r>
            <a:endParaRPr/>
          </a:p>
        </p:txBody>
      </p:sp>
      <p:sp>
        <p:nvSpPr>
          <p:cNvPr id="255" name="Google Shape;255;p20"/>
          <p:cNvSpPr/>
          <p:nvPr/>
        </p:nvSpPr>
        <p:spPr>
          <a:xfrm>
            <a:off x="3358649" y="5745714"/>
            <a:ext cx="2289554" cy="2937105"/>
          </a:xfrm>
          <a:custGeom>
            <a:rect b="b" l="l" r="r" t="t"/>
            <a:pathLst>
              <a:path extrusionOk="0" h="2937105" w="2289554">
                <a:moveTo>
                  <a:pt x="0" y="0"/>
                </a:moveTo>
                <a:lnTo>
                  <a:pt x="2289554" y="0"/>
                </a:lnTo>
                <a:lnTo>
                  <a:pt x="2289554" y="2937104"/>
                </a:lnTo>
                <a:lnTo>
                  <a:pt x="0" y="29371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1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1" name="Google Shape;261;p21"/>
          <p:cNvGrpSpPr/>
          <p:nvPr/>
        </p:nvGrpSpPr>
        <p:grpSpPr>
          <a:xfrm>
            <a:off x="1198186" y="4167664"/>
            <a:ext cx="7089518" cy="3309700"/>
            <a:chOff x="0" y="0"/>
            <a:chExt cx="1867198" cy="871690"/>
          </a:xfrm>
        </p:grpSpPr>
        <p:sp>
          <p:nvSpPr>
            <p:cNvPr id="262" name="Google Shape;262;p21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1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4" name="Google Shape;264;p21"/>
          <p:cNvGrpSpPr/>
          <p:nvPr/>
        </p:nvGrpSpPr>
        <p:grpSpPr>
          <a:xfrm>
            <a:off x="9439465" y="7136779"/>
            <a:ext cx="6583028" cy="1771650"/>
            <a:chOff x="0" y="0"/>
            <a:chExt cx="1733801" cy="466607"/>
          </a:xfrm>
        </p:grpSpPr>
        <p:sp>
          <p:nvSpPr>
            <p:cNvPr id="265" name="Google Shape;265;p21"/>
            <p:cNvSpPr/>
            <p:nvPr/>
          </p:nvSpPr>
          <p:spPr>
            <a:xfrm>
              <a:off x="0" y="0"/>
              <a:ext cx="1733801" cy="466607"/>
            </a:xfrm>
            <a:custGeom>
              <a:rect b="b" l="l" r="r" t="t"/>
              <a:pathLst>
                <a:path extrusionOk="0" h="466607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421918"/>
                  </a:lnTo>
                  <a:cubicBezTo>
                    <a:pt x="1733801" y="433770"/>
                    <a:pt x="1729092" y="445137"/>
                    <a:pt x="1720711" y="453518"/>
                  </a:cubicBezTo>
                  <a:cubicBezTo>
                    <a:pt x="1712330" y="461899"/>
                    <a:pt x="1700963" y="466607"/>
                    <a:pt x="1689111" y="466607"/>
                  </a:cubicBezTo>
                  <a:lnTo>
                    <a:pt x="44690" y="466607"/>
                  </a:lnTo>
                  <a:cubicBezTo>
                    <a:pt x="32837" y="466607"/>
                    <a:pt x="21470" y="461899"/>
                    <a:pt x="13089" y="453518"/>
                  </a:cubicBezTo>
                  <a:cubicBezTo>
                    <a:pt x="4708" y="445137"/>
                    <a:pt x="0" y="433770"/>
                    <a:pt x="0" y="421918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1"/>
            <p:cNvSpPr txBox="1"/>
            <p:nvPr/>
          </p:nvSpPr>
          <p:spPr>
            <a:xfrm>
              <a:off x="0" y="19050"/>
              <a:ext cx="1733800" cy="4475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21"/>
          <p:cNvGrpSpPr/>
          <p:nvPr/>
        </p:nvGrpSpPr>
        <p:grpSpPr>
          <a:xfrm>
            <a:off x="10066879" y="1536400"/>
            <a:ext cx="6583028" cy="4515361"/>
            <a:chOff x="0" y="0"/>
            <a:chExt cx="1733801" cy="1189231"/>
          </a:xfrm>
        </p:grpSpPr>
        <p:sp>
          <p:nvSpPr>
            <p:cNvPr id="268" name="Google Shape;268;p21"/>
            <p:cNvSpPr/>
            <p:nvPr/>
          </p:nvSpPr>
          <p:spPr>
            <a:xfrm>
              <a:off x="0" y="0"/>
              <a:ext cx="1733801" cy="1189231"/>
            </a:xfrm>
            <a:custGeom>
              <a:rect b="b" l="l" r="r" t="t"/>
              <a:pathLst>
                <a:path extrusionOk="0" h="1189231" w="1733801">
                  <a:moveTo>
                    <a:pt x="44690" y="0"/>
                  </a:moveTo>
                  <a:lnTo>
                    <a:pt x="1689111" y="0"/>
                  </a:lnTo>
                  <a:cubicBezTo>
                    <a:pt x="1713792" y="0"/>
                    <a:pt x="1733801" y="20008"/>
                    <a:pt x="1733801" y="44690"/>
                  </a:cubicBezTo>
                  <a:lnTo>
                    <a:pt x="1733801" y="1144541"/>
                  </a:lnTo>
                  <a:cubicBezTo>
                    <a:pt x="1733801" y="1156394"/>
                    <a:pt x="1729092" y="1167761"/>
                    <a:pt x="1720711" y="1176141"/>
                  </a:cubicBezTo>
                  <a:cubicBezTo>
                    <a:pt x="1712330" y="1184522"/>
                    <a:pt x="1700963" y="1189231"/>
                    <a:pt x="1689111" y="1189231"/>
                  </a:cubicBezTo>
                  <a:lnTo>
                    <a:pt x="44690" y="1189231"/>
                  </a:lnTo>
                  <a:cubicBezTo>
                    <a:pt x="32837" y="1189231"/>
                    <a:pt x="21470" y="1184522"/>
                    <a:pt x="13089" y="1176141"/>
                  </a:cubicBezTo>
                  <a:cubicBezTo>
                    <a:pt x="4708" y="1167761"/>
                    <a:pt x="0" y="1156394"/>
                    <a:pt x="0" y="1144541"/>
                  </a:cubicBezTo>
                  <a:lnTo>
                    <a:pt x="0" y="44690"/>
                  </a:lnTo>
                  <a:cubicBezTo>
                    <a:pt x="0" y="32837"/>
                    <a:pt x="4708" y="21470"/>
                    <a:pt x="13089" y="13089"/>
                  </a:cubicBezTo>
                  <a:cubicBezTo>
                    <a:pt x="21470" y="4708"/>
                    <a:pt x="32837" y="0"/>
                    <a:pt x="44690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21"/>
            <p:cNvSpPr txBox="1"/>
            <p:nvPr/>
          </p:nvSpPr>
          <p:spPr>
            <a:xfrm>
              <a:off x="0" y="19050"/>
              <a:ext cx="1733800" cy="11701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21"/>
          <p:cNvGrpSpPr/>
          <p:nvPr/>
        </p:nvGrpSpPr>
        <p:grpSpPr>
          <a:xfrm>
            <a:off x="1795032" y="4654946"/>
            <a:ext cx="224656" cy="224656"/>
            <a:chOff x="0" y="0"/>
            <a:chExt cx="812800" cy="812800"/>
          </a:xfrm>
        </p:grpSpPr>
        <p:sp>
          <p:nvSpPr>
            <p:cNvPr id="271" name="Google Shape;271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1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21"/>
          <p:cNvGrpSpPr/>
          <p:nvPr/>
        </p:nvGrpSpPr>
        <p:grpSpPr>
          <a:xfrm>
            <a:off x="10807110" y="2106280"/>
            <a:ext cx="517587" cy="517587"/>
            <a:chOff x="0" y="0"/>
            <a:chExt cx="812800" cy="812800"/>
          </a:xfrm>
        </p:grpSpPr>
        <p:sp>
          <p:nvSpPr>
            <p:cNvPr id="274" name="Google Shape;274;p21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6" name="Google Shape;276;p21"/>
          <p:cNvSpPr/>
          <p:nvPr/>
        </p:nvSpPr>
        <p:spPr>
          <a:xfrm>
            <a:off x="10896395" y="2196194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2" y="0"/>
                </a:lnTo>
                <a:lnTo>
                  <a:pt x="374682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21"/>
          <p:cNvSpPr/>
          <p:nvPr/>
        </p:nvSpPr>
        <p:spPr>
          <a:xfrm>
            <a:off x="10697519" y="3586585"/>
            <a:ext cx="5478233" cy="1878573"/>
          </a:xfrm>
          <a:custGeom>
            <a:rect b="b" l="l" r="r" t="t"/>
            <a:pathLst>
              <a:path extrusionOk="0" h="1878573" w="5478233">
                <a:moveTo>
                  <a:pt x="0" y="0"/>
                </a:moveTo>
                <a:lnTo>
                  <a:pt x="5478232" y="0"/>
                </a:lnTo>
                <a:lnTo>
                  <a:pt x="5478232" y="1878573"/>
                </a:lnTo>
                <a:lnTo>
                  <a:pt x="0" y="18785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21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1795032" y="1507825"/>
            <a:ext cx="7089518" cy="20647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Gráficos de dependencias</a:t>
            </a:r>
            <a:endParaRPr/>
          </a:p>
        </p:txBody>
      </p:sp>
      <p:sp>
        <p:nvSpPr>
          <p:cNvPr id="280" name="Google Shape;280;p21"/>
          <p:cNvSpPr txBox="1"/>
          <p:nvPr/>
        </p:nvSpPr>
        <p:spPr>
          <a:xfrm>
            <a:off x="2324407" y="4645425"/>
            <a:ext cx="2046000" cy="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11665549" y="2177150"/>
            <a:ext cx="19599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9966109" y="7364869"/>
            <a:ext cx="3050649" cy="43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Información extra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2012489" y="5268187"/>
            <a:ext cx="5708731" cy="150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Describe el ﬂujo de información entre las instancias de atributos en un árbol de análisis sintáctico especíﬁco; una ﬂecha de una instancia de atributo a otra signiﬁca</a:t>
            </a:r>
            <a:endParaRPr/>
          </a:p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el valor de la primera se necesita para calcular la segunda.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10808975" y="2689664"/>
            <a:ext cx="5102560" cy="65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lineas punteadas el CST, las sólidas el anotado.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10205321" y="7828605"/>
            <a:ext cx="5189980" cy="90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importa el tipo de atributo, las flechas se dibujan en terminos de la secuencia para crear el valor del atributo.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2"/>
          <p:cNvSpPr/>
          <p:nvPr/>
        </p:nvSpPr>
        <p:spPr>
          <a:xfrm>
            <a:off x="1109689" y="777101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39" y="0"/>
                </a:lnTo>
                <a:lnTo>
                  <a:pt x="499539" y="503198"/>
                </a:lnTo>
                <a:lnTo>
                  <a:pt x="0" y="503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1" name="Google Shape;291;p22"/>
          <p:cNvGrpSpPr/>
          <p:nvPr/>
        </p:nvGrpSpPr>
        <p:grpSpPr>
          <a:xfrm>
            <a:off x="774536" y="3582685"/>
            <a:ext cx="7343518" cy="5368247"/>
            <a:chOff x="0" y="0"/>
            <a:chExt cx="1934095" cy="1413859"/>
          </a:xfrm>
        </p:grpSpPr>
        <p:sp>
          <p:nvSpPr>
            <p:cNvPr id="292" name="Google Shape;292;p22"/>
            <p:cNvSpPr/>
            <p:nvPr/>
          </p:nvSpPr>
          <p:spPr>
            <a:xfrm>
              <a:off x="0" y="0"/>
              <a:ext cx="1934095" cy="1413859"/>
            </a:xfrm>
            <a:custGeom>
              <a:rect b="b" l="l" r="r" t="t"/>
              <a:pathLst>
                <a:path extrusionOk="0" h="1413859" w="1934095">
                  <a:moveTo>
                    <a:pt x="40062" y="0"/>
                  </a:moveTo>
                  <a:lnTo>
                    <a:pt x="1894034" y="0"/>
                  </a:lnTo>
                  <a:cubicBezTo>
                    <a:pt x="1904659" y="0"/>
                    <a:pt x="1914849" y="4221"/>
                    <a:pt x="1922362" y="11734"/>
                  </a:cubicBezTo>
                  <a:cubicBezTo>
                    <a:pt x="1929875" y="19247"/>
                    <a:pt x="1934095" y="29437"/>
                    <a:pt x="1934095" y="40062"/>
                  </a:cubicBezTo>
                  <a:lnTo>
                    <a:pt x="1934095" y="1373798"/>
                  </a:lnTo>
                  <a:cubicBezTo>
                    <a:pt x="1934095" y="1384423"/>
                    <a:pt x="1929875" y="1394613"/>
                    <a:pt x="1922362" y="1402126"/>
                  </a:cubicBezTo>
                  <a:cubicBezTo>
                    <a:pt x="1914849" y="1409639"/>
                    <a:pt x="1904659" y="1413859"/>
                    <a:pt x="1894034" y="1413859"/>
                  </a:cubicBezTo>
                  <a:lnTo>
                    <a:pt x="40062" y="1413859"/>
                  </a:lnTo>
                  <a:cubicBezTo>
                    <a:pt x="29437" y="1413859"/>
                    <a:pt x="19247" y="1409639"/>
                    <a:pt x="11734" y="1402126"/>
                  </a:cubicBezTo>
                  <a:cubicBezTo>
                    <a:pt x="4221" y="1394613"/>
                    <a:pt x="0" y="1384423"/>
                    <a:pt x="0" y="1373798"/>
                  </a:cubicBezTo>
                  <a:lnTo>
                    <a:pt x="0" y="40062"/>
                  </a:lnTo>
                  <a:cubicBezTo>
                    <a:pt x="0" y="29437"/>
                    <a:pt x="4221" y="19247"/>
                    <a:pt x="11734" y="11734"/>
                  </a:cubicBezTo>
                  <a:cubicBezTo>
                    <a:pt x="19247" y="4221"/>
                    <a:pt x="29437" y="0"/>
                    <a:pt x="40062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2"/>
            <p:cNvSpPr txBox="1"/>
            <p:nvPr/>
          </p:nvSpPr>
          <p:spPr>
            <a:xfrm>
              <a:off x="0" y="19050"/>
              <a:ext cx="1934095" cy="13948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22"/>
          <p:cNvGrpSpPr/>
          <p:nvPr/>
        </p:nvGrpSpPr>
        <p:grpSpPr>
          <a:xfrm>
            <a:off x="8818879" y="3281060"/>
            <a:ext cx="8964274" cy="5403277"/>
            <a:chOff x="0" y="0"/>
            <a:chExt cx="2360961" cy="1423085"/>
          </a:xfrm>
        </p:grpSpPr>
        <p:sp>
          <p:nvSpPr>
            <p:cNvPr id="295" name="Google Shape;295;p22"/>
            <p:cNvSpPr/>
            <p:nvPr/>
          </p:nvSpPr>
          <p:spPr>
            <a:xfrm>
              <a:off x="0" y="0"/>
              <a:ext cx="2360961" cy="1423085"/>
            </a:xfrm>
            <a:custGeom>
              <a:rect b="b" l="l" r="r" t="t"/>
              <a:pathLst>
                <a:path extrusionOk="0" h="1423085" w="2360961">
                  <a:moveTo>
                    <a:pt x="32818" y="0"/>
                  </a:moveTo>
                  <a:lnTo>
                    <a:pt x="2328143" y="0"/>
                  </a:lnTo>
                  <a:cubicBezTo>
                    <a:pt x="2346268" y="0"/>
                    <a:pt x="2360961" y="14693"/>
                    <a:pt x="2360961" y="32818"/>
                  </a:cubicBezTo>
                  <a:lnTo>
                    <a:pt x="2360961" y="1390267"/>
                  </a:lnTo>
                  <a:cubicBezTo>
                    <a:pt x="2360961" y="1398971"/>
                    <a:pt x="2357503" y="1407319"/>
                    <a:pt x="2351349" y="1413473"/>
                  </a:cubicBezTo>
                  <a:cubicBezTo>
                    <a:pt x="2345194" y="1419628"/>
                    <a:pt x="2336847" y="1423085"/>
                    <a:pt x="2328143" y="1423085"/>
                  </a:cubicBezTo>
                  <a:lnTo>
                    <a:pt x="32818" y="1423085"/>
                  </a:lnTo>
                  <a:cubicBezTo>
                    <a:pt x="14693" y="1423085"/>
                    <a:pt x="0" y="1408392"/>
                    <a:pt x="0" y="1390267"/>
                  </a:cubicBezTo>
                  <a:lnTo>
                    <a:pt x="0" y="32818"/>
                  </a:lnTo>
                  <a:cubicBezTo>
                    <a:pt x="0" y="24114"/>
                    <a:pt x="3458" y="15767"/>
                    <a:pt x="9612" y="9612"/>
                  </a:cubicBezTo>
                  <a:cubicBezTo>
                    <a:pt x="15767" y="3458"/>
                    <a:pt x="24114" y="0"/>
                    <a:pt x="32818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2"/>
            <p:cNvSpPr txBox="1"/>
            <p:nvPr/>
          </p:nvSpPr>
          <p:spPr>
            <a:xfrm>
              <a:off x="0" y="19050"/>
              <a:ext cx="2360961" cy="14040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22"/>
          <p:cNvGrpSpPr/>
          <p:nvPr/>
        </p:nvGrpSpPr>
        <p:grpSpPr>
          <a:xfrm>
            <a:off x="1134802" y="4102611"/>
            <a:ext cx="224656" cy="224656"/>
            <a:chOff x="0" y="0"/>
            <a:chExt cx="812800" cy="812800"/>
          </a:xfrm>
        </p:grpSpPr>
        <p:sp>
          <p:nvSpPr>
            <p:cNvPr id="298" name="Google Shape;298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2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300;p22"/>
          <p:cNvGrpSpPr/>
          <p:nvPr/>
        </p:nvGrpSpPr>
        <p:grpSpPr>
          <a:xfrm>
            <a:off x="9478542" y="3773663"/>
            <a:ext cx="216568" cy="216568"/>
            <a:chOff x="0" y="0"/>
            <a:chExt cx="812800" cy="812800"/>
          </a:xfrm>
        </p:grpSpPr>
        <p:sp>
          <p:nvSpPr>
            <p:cNvPr id="301" name="Google Shape;301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2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22"/>
          <p:cNvGrpSpPr/>
          <p:nvPr/>
        </p:nvGrpSpPr>
        <p:grpSpPr>
          <a:xfrm>
            <a:off x="1134802" y="5747455"/>
            <a:ext cx="224656" cy="224656"/>
            <a:chOff x="0" y="0"/>
            <a:chExt cx="812800" cy="812800"/>
          </a:xfrm>
        </p:grpSpPr>
        <p:sp>
          <p:nvSpPr>
            <p:cNvPr id="304" name="Google Shape;304;p2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2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22"/>
          <p:cNvSpPr/>
          <p:nvPr/>
        </p:nvSpPr>
        <p:spPr>
          <a:xfrm>
            <a:off x="9125418" y="4366188"/>
            <a:ext cx="8312022" cy="3606345"/>
          </a:xfrm>
          <a:custGeom>
            <a:rect b="b" l="l" r="r" t="t"/>
            <a:pathLst>
              <a:path extrusionOk="0" h="3606345" w="8312022">
                <a:moveTo>
                  <a:pt x="0" y="0"/>
                </a:moveTo>
                <a:lnTo>
                  <a:pt x="8312022" y="0"/>
                </a:lnTo>
                <a:lnTo>
                  <a:pt x="8312022" y="3606345"/>
                </a:lnTo>
                <a:lnTo>
                  <a:pt x="0" y="36063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22"/>
          <p:cNvSpPr txBox="1"/>
          <p:nvPr/>
        </p:nvSpPr>
        <p:spPr>
          <a:xfrm>
            <a:off x="961046" y="1977415"/>
            <a:ext cx="12487018" cy="1119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1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Aplicaciones de las DDS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10054422" y="3737275"/>
            <a:ext cx="18942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1609228" y="4016886"/>
            <a:ext cx="5914768" cy="122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Construcción de árboles de análisis sintáctico pero se deben controlar los efectos adicionales.</a:t>
            </a:r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1609228" y="6181083"/>
            <a:ext cx="5799296" cy="2028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reglas semánticas que se ejecuten por sus efectos adicionales, como print(E.val), se tratarán como las deﬁniciones de los atributos falsos sintetizados, asociados con el encabezado de la producción.</a:t>
            </a:r>
            <a:endParaRPr/>
          </a:p>
        </p:txBody>
      </p:sp>
      <p:sp>
        <p:nvSpPr>
          <p:cNvPr id="311" name="Google Shape;311;p22"/>
          <p:cNvSpPr txBox="1"/>
          <p:nvPr/>
        </p:nvSpPr>
        <p:spPr>
          <a:xfrm>
            <a:off x="1609228" y="5679717"/>
            <a:ext cx="2912211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Falsos sintetizados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1822286" y="917833"/>
            <a:ext cx="504011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3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8" name="Google Shape;318;p23"/>
          <p:cNvGrpSpPr/>
          <p:nvPr/>
        </p:nvGrpSpPr>
        <p:grpSpPr>
          <a:xfrm>
            <a:off x="1416350" y="5936778"/>
            <a:ext cx="7041893" cy="2865200"/>
            <a:chOff x="0" y="0"/>
            <a:chExt cx="1854655" cy="754620"/>
          </a:xfrm>
        </p:grpSpPr>
        <p:sp>
          <p:nvSpPr>
            <p:cNvPr id="319" name="Google Shape;319;p23"/>
            <p:cNvSpPr/>
            <p:nvPr/>
          </p:nvSpPr>
          <p:spPr>
            <a:xfrm>
              <a:off x="0" y="0"/>
              <a:ext cx="1854655" cy="754620"/>
            </a:xfrm>
            <a:custGeom>
              <a:rect b="b" l="l" r="r" t="t"/>
              <a:pathLst>
                <a:path extrusionOk="0" h="754620" w="1854655">
                  <a:moveTo>
                    <a:pt x="41778" y="0"/>
                  </a:moveTo>
                  <a:lnTo>
                    <a:pt x="1812878" y="0"/>
                  </a:lnTo>
                  <a:cubicBezTo>
                    <a:pt x="1835951" y="0"/>
                    <a:pt x="1854655" y="18704"/>
                    <a:pt x="1854655" y="41778"/>
                  </a:cubicBezTo>
                  <a:lnTo>
                    <a:pt x="1854655" y="712843"/>
                  </a:lnTo>
                  <a:cubicBezTo>
                    <a:pt x="1854655" y="735916"/>
                    <a:pt x="1835951" y="754620"/>
                    <a:pt x="1812878" y="754620"/>
                  </a:cubicBezTo>
                  <a:lnTo>
                    <a:pt x="41778" y="754620"/>
                  </a:lnTo>
                  <a:cubicBezTo>
                    <a:pt x="18704" y="754620"/>
                    <a:pt x="0" y="735916"/>
                    <a:pt x="0" y="712843"/>
                  </a:cubicBezTo>
                  <a:lnTo>
                    <a:pt x="0" y="41778"/>
                  </a:lnTo>
                  <a:cubicBezTo>
                    <a:pt x="0" y="18704"/>
                    <a:pt x="18704" y="0"/>
                    <a:pt x="41778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3"/>
            <p:cNvSpPr txBox="1"/>
            <p:nvPr/>
          </p:nvSpPr>
          <p:spPr>
            <a:xfrm>
              <a:off x="0" y="19050"/>
              <a:ext cx="1854655" cy="7355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23"/>
          <p:cNvGrpSpPr/>
          <p:nvPr/>
        </p:nvGrpSpPr>
        <p:grpSpPr>
          <a:xfrm>
            <a:off x="10136526" y="4928078"/>
            <a:ext cx="7583149" cy="4883150"/>
            <a:chOff x="0" y="0"/>
            <a:chExt cx="1997208" cy="1286097"/>
          </a:xfrm>
        </p:grpSpPr>
        <p:sp>
          <p:nvSpPr>
            <p:cNvPr id="322" name="Google Shape;322;p23"/>
            <p:cNvSpPr/>
            <p:nvPr/>
          </p:nvSpPr>
          <p:spPr>
            <a:xfrm>
              <a:off x="0" y="0"/>
              <a:ext cx="1997208" cy="1286097"/>
            </a:xfrm>
            <a:custGeom>
              <a:rect b="b" l="l" r="r" t="t"/>
              <a:pathLst>
                <a:path extrusionOk="0" h="1286097" w="1997208">
                  <a:moveTo>
                    <a:pt x="38796" y="0"/>
                  </a:moveTo>
                  <a:lnTo>
                    <a:pt x="1958412" y="0"/>
                  </a:lnTo>
                  <a:cubicBezTo>
                    <a:pt x="1979838" y="0"/>
                    <a:pt x="1997208" y="17369"/>
                    <a:pt x="1997208" y="38796"/>
                  </a:cubicBezTo>
                  <a:lnTo>
                    <a:pt x="1997208" y="1247301"/>
                  </a:lnTo>
                  <a:cubicBezTo>
                    <a:pt x="1997208" y="1268728"/>
                    <a:pt x="1979838" y="1286097"/>
                    <a:pt x="1958412" y="1286097"/>
                  </a:cubicBezTo>
                  <a:lnTo>
                    <a:pt x="38796" y="1286097"/>
                  </a:lnTo>
                  <a:cubicBezTo>
                    <a:pt x="28506" y="1286097"/>
                    <a:pt x="18639" y="1282010"/>
                    <a:pt x="11363" y="1274734"/>
                  </a:cubicBezTo>
                  <a:cubicBezTo>
                    <a:pt x="4087" y="1267458"/>
                    <a:pt x="0" y="1257591"/>
                    <a:pt x="0" y="1247301"/>
                  </a:cubicBezTo>
                  <a:lnTo>
                    <a:pt x="0" y="38796"/>
                  </a:lnTo>
                  <a:cubicBezTo>
                    <a:pt x="0" y="17369"/>
                    <a:pt x="17369" y="0"/>
                    <a:pt x="38796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3"/>
            <p:cNvSpPr txBox="1"/>
            <p:nvPr/>
          </p:nvSpPr>
          <p:spPr>
            <a:xfrm>
              <a:off x="0" y="19050"/>
              <a:ext cx="1997208" cy="126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23"/>
          <p:cNvGrpSpPr/>
          <p:nvPr/>
        </p:nvGrpSpPr>
        <p:grpSpPr>
          <a:xfrm>
            <a:off x="10358776" y="524023"/>
            <a:ext cx="6789399" cy="3753361"/>
            <a:chOff x="0" y="0"/>
            <a:chExt cx="1788154" cy="988539"/>
          </a:xfrm>
        </p:grpSpPr>
        <p:sp>
          <p:nvSpPr>
            <p:cNvPr id="325" name="Google Shape;325;p23"/>
            <p:cNvSpPr/>
            <p:nvPr/>
          </p:nvSpPr>
          <p:spPr>
            <a:xfrm>
              <a:off x="0" y="0"/>
              <a:ext cx="1788154" cy="988539"/>
            </a:xfrm>
            <a:custGeom>
              <a:rect b="b" l="l" r="r" t="t"/>
              <a:pathLst>
                <a:path extrusionOk="0" h="988539" w="1788154">
                  <a:moveTo>
                    <a:pt x="43331" y="0"/>
                  </a:moveTo>
                  <a:lnTo>
                    <a:pt x="1744823" y="0"/>
                  </a:lnTo>
                  <a:cubicBezTo>
                    <a:pt x="1756315" y="0"/>
                    <a:pt x="1767337" y="4565"/>
                    <a:pt x="1775463" y="12691"/>
                  </a:cubicBezTo>
                  <a:cubicBezTo>
                    <a:pt x="1783589" y="20818"/>
                    <a:pt x="1788154" y="31839"/>
                    <a:pt x="1788154" y="43331"/>
                  </a:cubicBezTo>
                  <a:lnTo>
                    <a:pt x="1788154" y="945208"/>
                  </a:lnTo>
                  <a:cubicBezTo>
                    <a:pt x="1788154" y="956700"/>
                    <a:pt x="1783589" y="967722"/>
                    <a:pt x="1775463" y="975848"/>
                  </a:cubicBezTo>
                  <a:cubicBezTo>
                    <a:pt x="1767337" y="983974"/>
                    <a:pt x="1756315" y="988539"/>
                    <a:pt x="1744823" y="988539"/>
                  </a:cubicBezTo>
                  <a:lnTo>
                    <a:pt x="43331" y="988539"/>
                  </a:lnTo>
                  <a:cubicBezTo>
                    <a:pt x="19400" y="988539"/>
                    <a:pt x="0" y="969139"/>
                    <a:pt x="0" y="945208"/>
                  </a:cubicBezTo>
                  <a:lnTo>
                    <a:pt x="0" y="43331"/>
                  </a:lnTo>
                  <a:cubicBezTo>
                    <a:pt x="0" y="19400"/>
                    <a:pt x="19400" y="0"/>
                    <a:pt x="43331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3"/>
            <p:cNvSpPr txBox="1"/>
            <p:nvPr/>
          </p:nvSpPr>
          <p:spPr>
            <a:xfrm>
              <a:off x="0" y="19050"/>
              <a:ext cx="1788154" cy="9694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23"/>
          <p:cNvGrpSpPr/>
          <p:nvPr/>
        </p:nvGrpSpPr>
        <p:grpSpPr>
          <a:xfrm>
            <a:off x="1887035" y="6699728"/>
            <a:ext cx="224656" cy="224656"/>
            <a:chOff x="0" y="0"/>
            <a:chExt cx="812800" cy="812800"/>
          </a:xfrm>
        </p:grpSpPr>
        <p:sp>
          <p:nvSpPr>
            <p:cNvPr id="328" name="Google Shape;328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0" name="Google Shape;330;p23"/>
          <p:cNvGrpSpPr/>
          <p:nvPr/>
        </p:nvGrpSpPr>
        <p:grpSpPr>
          <a:xfrm>
            <a:off x="11099008" y="1093902"/>
            <a:ext cx="517587" cy="517587"/>
            <a:chOff x="0" y="0"/>
            <a:chExt cx="812800" cy="812800"/>
          </a:xfrm>
        </p:grpSpPr>
        <p:sp>
          <p:nvSpPr>
            <p:cNvPr id="331" name="Google Shape;331;p2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3" name="Google Shape;333;p23"/>
          <p:cNvSpPr/>
          <p:nvPr/>
        </p:nvSpPr>
        <p:spPr>
          <a:xfrm>
            <a:off x="11188293" y="1183816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2" y="0"/>
                </a:lnTo>
                <a:lnTo>
                  <a:pt x="374682" y="348711"/>
                </a:lnTo>
                <a:lnTo>
                  <a:pt x="0" y="3487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4" name="Google Shape;334;p23"/>
          <p:cNvSpPr/>
          <p:nvPr/>
        </p:nvSpPr>
        <p:spPr>
          <a:xfrm>
            <a:off x="10552024" y="6365403"/>
            <a:ext cx="6596151" cy="2992239"/>
          </a:xfrm>
          <a:custGeom>
            <a:rect b="b" l="l" r="r" t="t"/>
            <a:pathLst>
              <a:path extrusionOk="0" h="2992239" w="6596151">
                <a:moveTo>
                  <a:pt x="0" y="0"/>
                </a:moveTo>
                <a:lnTo>
                  <a:pt x="6596151" y="0"/>
                </a:lnTo>
                <a:lnTo>
                  <a:pt x="6596151" y="2992239"/>
                </a:lnTo>
                <a:lnTo>
                  <a:pt x="0" y="29922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5" name="Google Shape;335;p23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36" name="Google Shape;336;p23"/>
          <p:cNvSpPr txBox="1"/>
          <p:nvPr/>
        </p:nvSpPr>
        <p:spPr>
          <a:xfrm>
            <a:off x="1324350" y="1569000"/>
            <a:ext cx="8431500" cy="31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Esquemas de traducción orientado por la sintaxis</a:t>
            </a:r>
            <a:endParaRPr sz="1000"/>
          </a:p>
        </p:txBody>
      </p:sp>
      <p:sp>
        <p:nvSpPr>
          <p:cNvPr id="337" name="Google Shape;337;p23"/>
          <p:cNvSpPr txBox="1"/>
          <p:nvPr/>
        </p:nvSpPr>
        <p:spPr>
          <a:xfrm>
            <a:off x="2346401" y="6690203"/>
            <a:ext cx="4670094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Acciones semanticas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11957450" y="1164766"/>
            <a:ext cx="2129789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 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2346401" y="7166987"/>
            <a:ext cx="5708731" cy="1028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Fragmentos de programa incrustados. Aparecen en cualquier posición dentro del cuerpo de una producción.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11188293" y="1961767"/>
            <a:ext cx="5102560" cy="1917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Toda DDS se puede implementar por esta notación.</a:t>
            </a:r>
            <a:endParaRPr/>
          </a:p>
          <a:p>
            <a:pPr indent="-191750" lvl="1" marL="383500" marR="0" rtl="0" algn="l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Arial"/>
              <a:buChar char="•"/>
            </a:pPr>
            <a:r>
              <a:rPr b="0" i="0" lang="en-US" sz="17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Una acción en el cuerpo de una producción se ejecuta tan pronto como los símbolos gramaticales a la izquierda de la acción tengan coincidencias.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1416350" y="4627250"/>
            <a:ext cx="6013469" cy="8019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Son una notación complementaria para las</a:t>
            </a:r>
            <a:endParaRPr/>
          </a:p>
          <a:p>
            <a:pPr indent="0" lvl="0" marL="0" marR="0" rtl="0" algn="l">
              <a:lnSpc>
                <a:spcPct val="13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definiciones dirigidas a la sintaxis.</a:t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10688924" y="5221425"/>
            <a:ext cx="3050649" cy="43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</a:t>
            </a:r>
            <a:endParaRPr/>
          </a:p>
        </p:txBody>
      </p:sp>
      <p:sp>
        <p:nvSpPr>
          <p:cNvPr id="343" name="Google Shape;343;p23"/>
          <p:cNvSpPr txBox="1"/>
          <p:nvPr/>
        </p:nvSpPr>
        <p:spPr>
          <a:xfrm>
            <a:off x="10688924" y="5617405"/>
            <a:ext cx="5189980" cy="31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DDS anterior pero con acciones semánticas.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4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9" name="Google Shape;349;p24"/>
          <p:cNvGrpSpPr/>
          <p:nvPr/>
        </p:nvGrpSpPr>
        <p:grpSpPr>
          <a:xfrm>
            <a:off x="6010465" y="3968004"/>
            <a:ext cx="11801285" cy="5706593"/>
            <a:chOff x="0" y="0"/>
            <a:chExt cx="3108157" cy="1502971"/>
          </a:xfrm>
        </p:grpSpPr>
        <p:sp>
          <p:nvSpPr>
            <p:cNvPr id="350" name="Google Shape;350;p24"/>
            <p:cNvSpPr/>
            <p:nvPr/>
          </p:nvSpPr>
          <p:spPr>
            <a:xfrm>
              <a:off x="0" y="0"/>
              <a:ext cx="3108157" cy="1502971"/>
            </a:xfrm>
            <a:custGeom>
              <a:rect b="b" l="l" r="r" t="t"/>
              <a:pathLst>
                <a:path extrusionOk="0" h="1502971" w="3108157">
                  <a:moveTo>
                    <a:pt x="24929" y="0"/>
                  </a:moveTo>
                  <a:lnTo>
                    <a:pt x="3083228" y="0"/>
                  </a:lnTo>
                  <a:cubicBezTo>
                    <a:pt x="3089840" y="0"/>
                    <a:pt x="3096181" y="2626"/>
                    <a:pt x="3100856" y="7302"/>
                  </a:cubicBezTo>
                  <a:cubicBezTo>
                    <a:pt x="3105531" y="11977"/>
                    <a:pt x="3108157" y="18317"/>
                    <a:pt x="3108157" y="24929"/>
                  </a:cubicBezTo>
                  <a:lnTo>
                    <a:pt x="3108157" y="1478042"/>
                  </a:lnTo>
                  <a:cubicBezTo>
                    <a:pt x="3108157" y="1484654"/>
                    <a:pt x="3105531" y="1490994"/>
                    <a:pt x="3100856" y="1495669"/>
                  </a:cubicBezTo>
                  <a:cubicBezTo>
                    <a:pt x="3096181" y="1500345"/>
                    <a:pt x="3089840" y="1502971"/>
                    <a:pt x="3083228" y="1502971"/>
                  </a:cubicBezTo>
                  <a:lnTo>
                    <a:pt x="24929" y="1502971"/>
                  </a:lnTo>
                  <a:cubicBezTo>
                    <a:pt x="11161" y="1502971"/>
                    <a:pt x="0" y="1491810"/>
                    <a:pt x="0" y="1478042"/>
                  </a:cubicBezTo>
                  <a:lnTo>
                    <a:pt x="0" y="24929"/>
                  </a:lnTo>
                  <a:cubicBezTo>
                    <a:pt x="0" y="18317"/>
                    <a:pt x="2626" y="11977"/>
                    <a:pt x="7302" y="7302"/>
                  </a:cubicBezTo>
                  <a:cubicBezTo>
                    <a:pt x="11977" y="2626"/>
                    <a:pt x="18317" y="0"/>
                    <a:pt x="24929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4"/>
            <p:cNvSpPr txBox="1"/>
            <p:nvPr/>
          </p:nvSpPr>
          <p:spPr>
            <a:xfrm>
              <a:off x="0" y="19050"/>
              <a:ext cx="3108157" cy="14839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24"/>
          <p:cNvGrpSpPr/>
          <p:nvPr/>
        </p:nvGrpSpPr>
        <p:grpSpPr>
          <a:xfrm>
            <a:off x="6432413" y="641230"/>
            <a:ext cx="10932774" cy="2546861"/>
            <a:chOff x="0" y="0"/>
            <a:chExt cx="2879414" cy="670778"/>
          </a:xfrm>
        </p:grpSpPr>
        <p:sp>
          <p:nvSpPr>
            <p:cNvPr id="353" name="Google Shape;353;p24"/>
            <p:cNvSpPr/>
            <p:nvPr/>
          </p:nvSpPr>
          <p:spPr>
            <a:xfrm>
              <a:off x="0" y="0"/>
              <a:ext cx="2879414" cy="670778"/>
            </a:xfrm>
            <a:custGeom>
              <a:rect b="b" l="l" r="r" t="t"/>
              <a:pathLst>
                <a:path extrusionOk="0" h="670778" w="2879414">
                  <a:moveTo>
                    <a:pt x="26909" y="0"/>
                  </a:moveTo>
                  <a:lnTo>
                    <a:pt x="2852504" y="0"/>
                  </a:lnTo>
                  <a:cubicBezTo>
                    <a:pt x="2859641" y="0"/>
                    <a:pt x="2866485" y="2835"/>
                    <a:pt x="2871532" y="7882"/>
                  </a:cubicBezTo>
                  <a:cubicBezTo>
                    <a:pt x="2876578" y="12928"/>
                    <a:pt x="2879414" y="19772"/>
                    <a:pt x="2879414" y="26909"/>
                  </a:cubicBezTo>
                  <a:lnTo>
                    <a:pt x="2879414" y="643869"/>
                  </a:lnTo>
                  <a:cubicBezTo>
                    <a:pt x="2879414" y="658730"/>
                    <a:pt x="2867366" y="670778"/>
                    <a:pt x="2852504" y="670778"/>
                  </a:cubicBezTo>
                  <a:lnTo>
                    <a:pt x="26909" y="670778"/>
                  </a:lnTo>
                  <a:cubicBezTo>
                    <a:pt x="12048" y="670778"/>
                    <a:pt x="0" y="658730"/>
                    <a:pt x="0" y="643869"/>
                  </a:cubicBezTo>
                  <a:lnTo>
                    <a:pt x="0" y="26909"/>
                  </a:lnTo>
                  <a:cubicBezTo>
                    <a:pt x="0" y="12048"/>
                    <a:pt x="12048" y="0"/>
                    <a:pt x="26909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4"/>
            <p:cNvSpPr txBox="1"/>
            <p:nvPr/>
          </p:nvSpPr>
          <p:spPr>
            <a:xfrm>
              <a:off x="0" y="19050"/>
              <a:ext cx="2879414" cy="6517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5" name="Google Shape;355;p24"/>
          <p:cNvGrpSpPr/>
          <p:nvPr/>
        </p:nvGrpSpPr>
        <p:grpSpPr>
          <a:xfrm>
            <a:off x="6432413" y="4211314"/>
            <a:ext cx="224656" cy="224656"/>
            <a:chOff x="0" y="0"/>
            <a:chExt cx="812800" cy="812800"/>
          </a:xfrm>
        </p:grpSpPr>
        <p:sp>
          <p:nvSpPr>
            <p:cNvPr id="356" name="Google Shape;356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24"/>
          <p:cNvGrpSpPr/>
          <p:nvPr/>
        </p:nvGrpSpPr>
        <p:grpSpPr>
          <a:xfrm>
            <a:off x="6735693" y="864401"/>
            <a:ext cx="517587" cy="517587"/>
            <a:chOff x="0" y="0"/>
            <a:chExt cx="812800" cy="812800"/>
          </a:xfrm>
        </p:grpSpPr>
        <p:sp>
          <p:nvSpPr>
            <p:cNvPr id="359" name="Google Shape;359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1" name="Google Shape;361;p24"/>
          <p:cNvSpPr/>
          <p:nvPr/>
        </p:nvSpPr>
        <p:spPr>
          <a:xfrm>
            <a:off x="6824978" y="954315"/>
            <a:ext cx="374682" cy="348710"/>
          </a:xfrm>
          <a:custGeom>
            <a:rect b="b" l="l" r="r" t="t"/>
            <a:pathLst>
              <a:path extrusionOk="0" h="348710" w="374682">
                <a:moveTo>
                  <a:pt x="0" y="0"/>
                </a:moveTo>
                <a:lnTo>
                  <a:pt x="374682" y="0"/>
                </a:lnTo>
                <a:lnTo>
                  <a:pt x="374682" y="348710"/>
                </a:lnTo>
                <a:lnTo>
                  <a:pt x="0" y="348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24"/>
          <p:cNvSpPr/>
          <p:nvPr/>
        </p:nvSpPr>
        <p:spPr>
          <a:xfrm>
            <a:off x="6316977" y="4849999"/>
            <a:ext cx="11301259" cy="4577010"/>
          </a:xfrm>
          <a:custGeom>
            <a:rect b="b" l="l" r="r" t="t"/>
            <a:pathLst>
              <a:path extrusionOk="0" h="4577010" w="11301259">
                <a:moveTo>
                  <a:pt x="0" y="0"/>
                </a:moveTo>
                <a:lnTo>
                  <a:pt x="11301259" y="0"/>
                </a:lnTo>
                <a:lnTo>
                  <a:pt x="11301259" y="4577010"/>
                </a:lnTo>
                <a:lnTo>
                  <a:pt x="0" y="45770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24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64" name="Google Shape;364;p24"/>
          <p:cNvSpPr txBox="1"/>
          <p:nvPr/>
        </p:nvSpPr>
        <p:spPr>
          <a:xfrm>
            <a:off x="1028700" y="2209634"/>
            <a:ext cx="4488283" cy="47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DDS contra esquemas de traducción</a:t>
            </a:r>
            <a:endParaRPr/>
          </a:p>
        </p:txBody>
      </p:sp>
      <p:sp>
        <p:nvSpPr>
          <p:cNvPr id="365" name="Google Shape;365;p24"/>
          <p:cNvSpPr txBox="1"/>
          <p:nvPr/>
        </p:nvSpPr>
        <p:spPr>
          <a:xfrm>
            <a:off x="7472355" y="935265"/>
            <a:ext cx="3225164" cy="4043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Referencia del libro</a:t>
            </a:r>
            <a:endParaRPr/>
          </a:p>
        </p:txBody>
      </p:sp>
      <p:sp>
        <p:nvSpPr>
          <p:cNvPr id="366" name="Google Shape;366;p24"/>
          <p:cNvSpPr txBox="1"/>
          <p:nvPr/>
        </p:nvSpPr>
        <p:spPr>
          <a:xfrm>
            <a:off x="6905555" y="4095634"/>
            <a:ext cx="3050649" cy="436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Tabla comparativa</a:t>
            </a:r>
            <a:endParaRPr/>
          </a:p>
        </p:txBody>
      </p:sp>
      <p:sp>
        <p:nvSpPr>
          <p:cNvPr id="367" name="Google Shape;367;p24"/>
          <p:cNvSpPr txBox="1"/>
          <p:nvPr/>
        </p:nvSpPr>
        <p:spPr>
          <a:xfrm>
            <a:off x="6824978" y="1501308"/>
            <a:ext cx="10441715" cy="1397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Las gramáticas atribuidas no tienen efectos adicionales y permiten cualquier orden de evaluación consistente con el grafo de dependencias. Los esquemas de traducción imponen la evaluación de izquierda a derecha y permiten que las acciones semánticas contengan cualquier fragmento del programa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/>
          <p:nvPr/>
        </p:nvSpPr>
        <p:spPr>
          <a:xfrm>
            <a:off x="7699049" y="1244370"/>
            <a:ext cx="11404113" cy="11487660"/>
          </a:xfrm>
          <a:custGeom>
            <a:rect b="b" l="l" r="r" t="t"/>
            <a:pathLst>
              <a:path extrusionOk="0" h="11487660" w="11404113">
                <a:moveTo>
                  <a:pt x="0" y="0"/>
                </a:moveTo>
                <a:lnTo>
                  <a:pt x="11404113" y="0"/>
                </a:lnTo>
                <a:lnTo>
                  <a:pt x="11404113" y="11487660"/>
                </a:lnTo>
                <a:lnTo>
                  <a:pt x="0" y="11487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3" name="Google Shape;373;p25"/>
          <p:cNvSpPr/>
          <p:nvPr/>
        </p:nvSpPr>
        <p:spPr>
          <a:xfrm>
            <a:off x="733155" y="741172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39" y="0"/>
                </a:lnTo>
                <a:lnTo>
                  <a:pt x="499539" y="503198"/>
                </a:lnTo>
                <a:lnTo>
                  <a:pt x="0" y="503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4" name="Google Shape;374;p25"/>
          <p:cNvGrpSpPr/>
          <p:nvPr/>
        </p:nvGrpSpPr>
        <p:grpSpPr>
          <a:xfrm rot="1383774">
            <a:off x="7596994" y="-1615"/>
            <a:ext cx="11226909" cy="14341591"/>
            <a:chOff x="0" y="0"/>
            <a:chExt cx="2956881" cy="3777209"/>
          </a:xfrm>
        </p:grpSpPr>
        <p:sp>
          <p:nvSpPr>
            <p:cNvPr id="375" name="Google Shape;375;p25"/>
            <p:cNvSpPr/>
            <p:nvPr/>
          </p:nvSpPr>
          <p:spPr>
            <a:xfrm>
              <a:off x="0" y="0"/>
              <a:ext cx="2956881" cy="3777209"/>
            </a:xfrm>
            <a:custGeom>
              <a:rect b="b" l="l" r="r" t="t"/>
              <a:pathLst>
                <a:path extrusionOk="0" h="3777209" w="2956881">
                  <a:moveTo>
                    <a:pt x="0" y="0"/>
                  </a:moveTo>
                  <a:lnTo>
                    <a:pt x="2956881" y="0"/>
                  </a:lnTo>
                  <a:lnTo>
                    <a:pt x="2956881" y="3777209"/>
                  </a:lnTo>
                  <a:lnTo>
                    <a:pt x="0" y="3777209"/>
                  </a:lnTo>
                  <a:close/>
                </a:path>
              </a:pathLst>
            </a:custGeom>
            <a:gradFill>
              <a:gsLst>
                <a:gs pos="0">
                  <a:srgbClr val="141519"/>
                </a:gs>
                <a:gs pos="100000">
                  <a:srgbClr val="141519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76" name="Google Shape;376;p25"/>
            <p:cNvSpPr txBox="1"/>
            <p:nvPr/>
          </p:nvSpPr>
          <p:spPr>
            <a:xfrm>
              <a:off x="0" y="28575"/>
              <a:ext cx="2956881" cy="3748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7" name="Google Shape;377;p25"/>
          <p:cNvSpPr txBox="1"/>
          <p:nvPr/>
        </p:nvSpPr>
        <p:spPr>
          <a:xfrm>
            <a:off x="1232694" y="2896263"/>
            <a:ext cx="15087863" cy="3068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77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 las herramientas</a:t>
            </a:r>
            <a:endParaRPr/>
          </a:p>
        </p:txBody>
      </p:sp>
      <p:sp>
        <p:nvSpPr>
          <p:cNvPr id="378" name="Google Shape;378;p25"/>
          <p:cNvSpPr txBox="1"/>
          <p:nvPr/>
        </p:nvSpPr>
        <p:spPr>
          <a:xfrm>
            <a:off x="1541032" y="719175"/>
            <a:ext cx="4330517" cy="647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6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4" name="Google Shape;384;p26"/>
          <p:cNvSpPr/>
          <p:nvPr/>
        </p:nvSpPr>
        <p:spPr>
          <a:xfrm>
            <a:off x="3354933" y="4197216"/>
            <a:ext cx="11276017" cy="3231889"/>
          </a:xfrm>
          <a:custGeom>
            <a:rect b="b" l="l" r="r" t="t"/>
            <a:pathLst>
              <a:path extrusionOk="0" h="3231889" w="11276017">
                <a:moveTo>
                  <a:pt x="0" y="0"/>
                </a:moveTo>
                <a:lnTo>
                  <a:pt x="11276017" y="0"/>
                </a:lnTo>
                <a:lnTo>
                  <a:pt x="11276017" y="3231888"/>
                </a:lnTo>
                <a:lnTo>
                  <a:pt x="0" y="32318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5" name="Google Shape;385;p26"/>
          <p:cNvSpPr txBox="1"/>
          <p:nvPr/>
        </p:nvSpPr>
        <p:spPr>
          <a:xfrm>
            <a:off x="2311281" y="1735782"/>
            <a:ext cx="7384983" cy="1096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Flex</a:t>
            </a:r>
            <a:endParaRPr/>
          </a:p>
        </p:txBody>
      </p:sp>
      <p:sp>
        <p:nvSpPr>
          <p:cNvPr id="386" name="Google Shape;386;p26"/>
          <p:cNvSpPr txBox="1"/>
          <p:nvPr/>
        </p:nvSpPr>
        <p:spPr>
          <a:xfrm>
            <a:off x="2311281" y="2755676"/>
            <a:ext cx="6013469" cy="361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Como se usa flex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7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92" name="Google Shape;392;p27"/>
          <p:cNvGrpSpPr/>
          <p:nvPr/>
        </p:nvGrpSpPr>
        <p:grpSpPr>
          <a:xfrm>
            <a:off x="1207204" y="5711156"/>
            <a:ext cx="7089518" cy="3309700"/>
            <a:chOff x="0" y="0"/>
            <a:chExt cx="1867198" cy="871690"/>
          </a:xfrm>
        </p:grpSpPr>
        <p:sp>
          <p:nvSpPr>
            <p:cNvPr id="393" name="Google Shape;393;p27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7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p27"/>
          <p:cNvGrpSpPr/>
          <p:nvPr/>
        </p:nvGrpSpPr>
        <p:grpSpPr>
          <a:xfrm>
            <a:off x="10787623" y="845799"/>
            <a:ext cx="224656" cy="224656"/>
            <a:chOff x="0" y="0"/>
            <a:chExt cx="812800" cy="812800"/>
          </a:xfrm>
        </p:grpSpPr>
        <p:sp>
          <p:nvSpPr>
            <p:cNvPr id="396" name="Google Shape;396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p27"/>
          <p:cNvGrpSpPr/>
          <p:nvPr/>
        </p:nvGrpSpPr>
        <p:grpSpPr>
          <a:xfrm>
            <a:off x="10787623" y="3967283"/>
            <a:ext cx="224656" cy="224656"/>
            <a:chOff x="0" y="0"/>
            <a:chExt cx="812800" cy="812800"/>
          </a:xfrm>
        </p:grpSpPr>
        <p:sp>
          <p:nvSpPr>
            <p:cNvPr id="399" name="Google Shape;399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27"/>
          <p:cNvGrpSpPr/>
          <p:nvPr/>
        </p:nvGrpSpPr>
        <p:grpSpPr>
          <a:xfrm>
            <a:off x="11012280" y="6430048"/>
            <a:ext cx="224656" cy="224656"/>
            <a:chOff x="0" y="0"/>
            <a:chExt cx="812800" cy="812800"/>
          </a:xfrm>
        </p:grpSpPr>
        <p:sp>
          <p:nvSpPr>
            <p:cNvPr id="402" name="Google Shape;402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4" name="Google Shape;404;p27"/>
          <p:cNvSpPr/>
          <p:nvPr/>
        </p:nvSpPr>
        <p:spPr>
          <a:xfrm>
            <a:off x="2615955" y="6198604"/>
            <a:ext cx="4272017" cy="2188749"/>
          </a:xfrm>
          <a:custGeom>
            <a:rect b="b" l="l" r="r" t="t"/>
            <a:pathLst>
              <a:path extrusionOk="0" h="2188749" w="4272017">
                <a:moveTo>
                  <a:pt x="0" y="0"/>
                </a:moveTo>
                <a:lnTo>
                  <a:pt x="4272017" y="0"/>
                </a:lnTo>
                <a:lnTo>
                  <a:pt x="4272017" y="2188749"/>
                </a:lnTo>
                <a:lnTo>
                  <a:pt x="0" y="21887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27"/>
          <p:cNvSpPr/>
          <p:nvPr/>
        </p:nvSpPr>
        <p:spPr>
          <a:xfrm>
            <a:off x="11425351" y="3074707"/>
            <a:ext cx="1990004" cy="598498"/>
          </a:xfrm>
          <a:custGeom>
            <a:rect b="b" l="l" r="r" t="t"/>
            <a:pathLst>
              <a:path extrusionOk="0" h="598498" w="1990004">
                <a:moveTo>
                  <a:pt x="0" y="0"/>
                </a:moveTo>
                <a:lnTo>
                  <a:pt x="1990004" y="0"/>
                </a:lnTo>
                <a:lnTo>
                  <a:pt x="1990004" y="598498"/>
                </a:lnTo>
                <a:lnTo>
                  <a:pt x="0" y="5984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6" name="Google Shape;406;p27"/>
          <p:cNvSpPr/>
          <p:nvPr/>
        </p:nvSpPr>
        <p:spPr>
          <a:xfrm>
            <a:off x="10918544" y="5561036"/>
            <a:ext cx="4953803" cy="356114"/>
          </a:xfrm>
          <a:custGeom>
            <a:rect b="b" l="l" r="r" t="t"/>
            <a:pathLst>
              <a:path extrusionOk="0" h="356114" w="4953803">
                <a:moveTo>
                  <a:pt x="0" y="0"/>
                </a:moveTo>
                <a:lnTo>
                  <a:pt x="4953804" y="0"/>
                </a:lnTo>
                <a:lnTo>
                  <a:pt x="4953804" y="356115"/>
                </a:lnTo>
                <a:lnTo>
                  <a:pt x="0" y="356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5536" l="0" r="0" t="-5536"/>
            </a:stretch>
          </a:blipFill>
          <a:ln>
            <a:noFill/>
          </a:ln>
        </p:spPr>
      </p:sp>
      <p:sp>
        <p:nvSpPr>
          <p:cNvPr id="407" name="Google Shape;407;p27"/>
          <p:cNvSpPr txBox="1"/>
          <p:nvPr/>
        </p:nvSpPr>
        <p:spPr>
          <a:xfrm>
            <a:off x="1074575" y="1947275"/>
            <a:ext cx="8165400" cy="22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Formato del fichero de entrada</a:t>
            </a:r>
            <a:endParaRPr/>
          </a:p>
        </p:txBody>
      </p:sp>
      <p:sp>
        <p:nvSpPr>
          <p:cNvPr id="408" name="Google Shape;408;p27"/>
          <p:cNvSpPr txBox="1"/>
          <p:nvPr/>
        </p:nvSpPr>
        <p:spPr>
          <a:xfrm>
            <a:off x="11200683" y="836274"/>
            <a:ext cx="3208328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Sección definiciones</a:t>
            </a:r>
            <a:endParaRPr/>
          </a:p>
        </p:txBody>
      </p:sp>
      <p:sp>
        <p:nvSpPr>
          <p:cNvPr id="409" name="Google Shape;409;p27"/>
          <p:cNvSpPr txBox="1"/>
          <p:nvPr/>
        </p:nvSpPr>
        <p:spPr>
          <a:xfrm>
            <a:off x="11200683" y="1282323"/>
            <a:ext cx="5708731" cy="90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contiene declaraciones de de niciones de nombres sencillas para simplicar la especicacion del escaner, y declaraciones de condiciones de arranque.</a:t>
            </a:r>
            <a:endParaRPr/>
          </a:p>
        </p:txBody>
      </p:sp>
      <p:sp>
        <p:nvSpPr>
          <p:cNvPr id="410" name="Google Shape;410;p27"/>
          <p:cNvSpPr txBox="1"/>
          <p:nvPr/>
        </p:nvSpPr>
        <p:spPr>
          <a:xfrm>
            <a:off x="11200683" y="3957758"/>
            <a:ext cx="2860894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Sección reglas</a:t>
            </a:r>
            <a:endParaRPr/>
          </a:p>
        </p:txBody>
      </p:sp>
      <p:sp>
        <p:nvSpPr>
          <p:cNvPr id="411" name="Google Shape;411;p27"/>
          <p:cNvSpPr txBox="1"/>
          <p:nvPr/>
        </p:nvSpPr>
        <p:spPr>
          <a:xfrm>
            <a:off x="10848447" y="4338727"/>
            <a:ext cx="5708731" cy="614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Contiene una serie de reglas  puede ser cualquier sentencia en C, de la forma:</a:t>
            </a:r>
            <a:endParaRPr/>
          </a:p>
        </p:txBody>
      </p:sp>
      <p:sp>
        <p:nvSpPr>
          <p:cNvPr id="412" name="Google Shape;412;p27"/>
          <p:cNvSpPr txBox="1"/>
          <p:nvPr/>
        </p:nvSpPr>
        <p:spPr>
          <a:xfrm>
            <a:off x="11425339" y="6420523"/>
            <a:ext cx="4447009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Sección código de usuario</a:t>
            </a:r>
            <a:endParaRPr/>
          </a:p>
        </p:txBody>
      </p:sp>
      <p:sp>
        <p:nvSpPr>
          <p:cNvPr id="413" name="Google Shape;413;p27"/>
          <p:cNvSpPr txBox="1"/>
          <p:nvPr/>
        </p:nvSpPr>
        <p:spPr>
          <a:xfrm>
            <a:off x="11073103" y="6801491"/>
            <a:ext cx="5708731" cy="1500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Simplemente se copia a lex.yy.c literalmente. Esta seccion se utiliza para rutinas de complemento que llaman al escaner o son llamadas por este. La presencia de esta seccion es opcional; Si se omite, el segundo %% en el chero de entrada se podra omitir tambien.</a:t>
            </a:r>
            <a:endParaRPr/>
          </a:p>
        </p:txBody>
      </p:sp>
      <p:sp>
        <p:nvSpPr>
          <p:cNvPr id="414" name="Google Shape;414;p27"/>
          <p:cNvSpPr txBox="1"/>
          <p:nvPr/>
        </p:nvSpPr>
        <p:spPr>
          <a:xfrm>
            <a:off x="1028700" y="4223208"/>
            <a:ext cx="7089518" cy="1118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El fichero de entrada de flex esta compuesto de tres secciones, separadas por una linea donde aparece unicamente un %% en esta</a:t>
            </a:r>
            <a:endParaRPr/>
          </a:p>
        </p:txBody>
      </p:sp>
      <p:sp>
        <p:nvSpPr>
          <p:cNvPr id="415" name="Google Shape;415;p27"/>
          <p:cNvSpPr txBox="1"/>
          <p:nvPr/>
        </p:nvSpPr>
        <p:spPr>
          <a:xfrm>
            <a:off x="11200670" y="2287500"/>
            <a:ext cx="2666700" cy="2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nombre definicion</a:t>
            </a:r>
            <a:endParaRPr/>
          </a:p>
        </p:txBody>
      </p:sp>
      <p:sp>
        <p:nvSpPr>
          <p:cNvPr id="416" name="Google Shape;416;p27"/>
          <p:cNvSpPr txBox="1"/>
          <p:nvPr/>
        </p:nvSpPr>
        <p:spPr>
          <a:xfrm>
            <a:off x="10867040" y="5162924"/>
            <a:ext cx="4685743" cy="302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patron                                                       accion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8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2" name="Google Shape;422;p28"/>
          <p:cNvSpPr/>
          <p:nvPr/>
        </p:nvSpPr>
        <p:spPr>
          <a:xfrm>
            <a:off x="3236037" y="3715102"/>
            <a:ext cx="12463807" cy="4430107"/>
          </a:xfrm>
          <a:custGeom>
            <a:rect b="b" l="l" r="r" t="t"/>
            <a:pathLst>
              <a:path extrusionOk="0" h="4430107" w="12463807">
                <a:moveTo>
                  <a:pt x="0" y="0"/>
                </a:moveTo>
                <a:lnTo>
                  <a:pt x="12463807" y="0"/>
                </a:lnTo>
                <a:lnTo>
                  <a:pt x="12463807" y="4430107"/>
                </a:lnTo>
                <a:lnTo>
                  <a:pt x="0" y="44301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p28"/>
          <p:cNvSpPr txBox="1"/>
          <p:nvPr/>
        </p:nvSpPr>
        <p:spPr>
          <a:xfrm>
            <a:off x="2311281" y="1735782"/>
            <a:ext cx="7384983" cy="1096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Bison</a:t>
            </a:r>
            <a:endParaRPr/>
          </a:p>
        </p:txBody>
      </p:sp>
      <p:sp>
        <p:nvSpPr>
          <p:cNvPr id="424" name="Google Shape;424;p28"/>
          <p:cNvSpPr txBox="1"/>
          <p:nvPr/>
        </p:nvSpPr>
        <p:spPr>
          <a:xfrm>
            <a:off x="2311281" y="2755676"/>
            <a:ext cx="6013469" cy="361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Flujo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9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30" name="Google Shape;430;p29"/>
          <p:cNvGrpSpPr/>
          <p:nvPr/>
        </p:nvGrpSpPr>
        <p:grpSpPr>
          <a:xfrm>
            <a:off x="1207204" y="5711156"/>
            <a:ext cx="7089518" cy="3309700"/>
            <a:chOff x="0" y="0"/>
            <a:chExt cx="1867198" cy="871690"/>
          </a:xfrm>
        </p:grpSpPr>
        <p:sp>
          <p:nvSpPr>
            <p:cNvPr id="431" name="Google Shape;431;p29"/>
            <p:cNvSpPr/>
            <p:nvPr/>
          </p:nvSpPr>
          <p:spPr>
            <a:xfrm>
              <a:off x="0" y="0"/>
              <a:ext cx="1867198" cy="871690"/>
            </a:xfrm>
            <a:custGeom>
              <a:rect b="b" l="l" r="r" t="t"/>
              <a:pathLst>
                <a:path extrusionOk="0" h="871690" w="1867198">
                  <a:moveTo>
                    <a:pt x="41497" y="0"/>
                  </a:moveTo>
                  <a:lnTo>
                    <a:pt x="1825701" y="0"/>
                  </a:lnTo>
                  <a:cubicBezTo>
                    <a:pt x="1836707" y="0"/>
                    <a:pt x="1847262" y="4372"/>
                    <a:pt x="1855044" y="12154"/>
                  </a:cubicBezTo>
                  <a:cubicBezTo>
                    <a:pt x="1862826" y="19936"/>
                    <a:pt x="1867198" y="30491"/>
                    <a:pt x="1867198" y="41497"/>
                  </a:cubicBezTo>
                  <a:lnTo>
                    <a:pt x="1867198" y="830194"/>
                  </a:lnTo>
                  <a:cubicBezTo>
                    <a:pt x="1867198" y="853112"/>
                    <a:pt x="1848620" y="871690"/>
                    <a:pt x="1825701" y="871690"/>
                  </a:cubicBezTo>
                  <a:lnTo>
                    <a:pt x="41497" y="871690"/>
                  </a:lnTo>
                  <a:cubicBezTo>
                    <a:pt x="30491" y="871690"/>
                    <a:pt x="19936" y="867318"/>
                    <a:pt x="12154" y="859536"/>
                  </a:cubicBezTo>
                  <a:cubicBezTo>
                    <a:pt x="4372" y="851754"/>
                    <a:pt x="0" y="841199"/>
                    <a:pt x="0" y="830194"/>
                  </a:cubicBezTo>
                  <a:lnTo>
                    <a:pt x="0" y="41497"/>
                  </a:lnTo>
                  <a:cubicBezTo>
                    <a:pt x="0" y="30491"/>
                    <a:pt x="4372" y="19936"/>
                    <a:pt x="12154" y="12154"/>
                  </a:cubicBezTo>
                  <a:cubicBezTo>
                    <a:pt x="19936" y="4372"/>
                    <a:pt x="30491" y="0"/>
                    <a:pt x="41497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9"/>
            <p:cNvSpPr txBox="1"/>
            <p:nvPr/>
          </p:nvSpPr>
          <p:spPr>
            <a:xfrm>
              <a:off x="0" y="19050"/>
              <a:ext cx="1867198" cy="852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" name="Google Shape;433;p29"/>
          <p:cNvGrpSpPr/>
          <p:nvPr/>
        </p:nvGrpSpPr>
        <p:grpSpPr>
          <a:xfrm>
            <a:off x="9424459" y="798366"/>
            <a:ext cx="224656" cy="224656"/>
            <a:chOff x="0" y="0"/>
            <a:chExt cx="812800" cy="812800"/>
          </a:xfrm>
        </p:grpSpPr>
        <p:sp>
          <p:nvSpPr>
            <p:cNvPr id="434" name="Google Shape;434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9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6" name="Google Shape;436;p29"/>
          <p:cNvGrpSpPr/>
          <p:nvPr/>
        </p:nvGrpSpPr>
        <p:grpSpPr>
          <a:xfrm>
            <a:off x="9536788" y="3512705"/>
            <a:ext cx="224656" cy="224656"/>
            <a:chOff x="0" y="0"/>
            <a:chExt cx="812800" cy="812800"/>
          </a:xfrm>
        </p:grpSpPr>
        <p:sp>
          <p:nvSpPr>
            <p:cNvPr id="437" name="Google Shape;437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9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9" name="Google Shape;439;p29"/>
          <p:cNvGrpSpPr/>
          <p:nvPr/>
        </p:nvGrpSpPr>
        <p:grpSpPr>
          <a:xfrm>
            <a:off x="9424459" y="7901646"/>
            <a:ext cx="224656" cy="224656"/>
            <a:chOff x="0" y="0"/>
            <a:chExt cx="812800" cy="812800"/>
          </a:xfrm>
        </p:grpSpPr>
        <p:sp>
          <p:nvSpPr>
            <p:cNvPr id="440" name="Google Shape;440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9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" name="Google Shape;442;p29"/>
          <p:cNvSpPr/>
          <p:nvPr/>
        </p:nvSpPr>
        <p:spPr>
          <a:xfrm>
            <a:off x="3060748" y="5801806"/>
            <a:ext cx="3248585" cy="3456494"/>
          </a:xfrm>
          <a:custGeom>
            <a:rect b="b" l="l" r="r" t="t"/>
            <a:pathLst>
              <a:path extrusionOk="0" h="3456494" w="3248585">
                <a:moveTo>
                  <a:pt x="0" y="0"/>
                </a:moveTo>
                <a:lnTo>
                  <a:pt x="3248585" y="0"/>
                </a:lnTo>
                <a:lnTo>
                  <a:pt x="3248585" y="3456494"/>
                </a:lnTo>
                <a:lnTo>
                  <a:pt x="0" y="3456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3" name="Google Shape;443;p29"/>
          <p:cNvGrpSpPr/>
          <p:nvPr/>
        </p:nvGrpSpPr>
        <p:grpSpPr>
          <a:xfrm>
            <a:off x="9482650" y="5878626"/>
            <a:ext cx="224656" cy="224656"/>
            <a:chOff x="0" y="0"/>
            <a:chExt cx="812800" cy="812800"/>
          </a:xfrm>
        </p:grpSpPr>
        <p:sp>
          <p:nvSpPr>
            <p:cNvPr id="444" name="Google Shape;444;p2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DD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9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p29"/>
          <p:cNvSpPr/>
          <p:nvPr/>
        </p:nvSpPr>
        <p:spPr>
          <a:xfrm>
            <a:off x="11348256" y="2358096"/>
            <a:ext cx="2579213" cy="1002209"/>
          </a:xfrm>
          <a:custGeom>
            <a:rect b="b" l="l" r="r" t="t"/>
            <a:pathLst>
              <a:path extrusionOk="0" h="1002209" w="2579213">
                <a:moveTo>
                  <a:pt x="0" y="0"/>
                </a:moveTo>
                <a:lnTo>
                  <a:pt x="2579213" y="0"/>
                </a:lnTo>
                <a:lnTo>
                  <a:pt x="2579213" y="1002209"/>
                </a:lnTo>
                <a:lnTo>
                  <a:pt x="0" y="10022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7" name="Google Shape;447;p29"/>
          <p:cNvSpPr/>
          <p:nvPr/>
        </p:nvSpPr>
        <p:spPr>
          <a:xfrm>
            <a:off x="10190683" y="6777696"/>
            <a:ext cx="2738657" cy="898622"/>
          </a:xfrm>
          <a:custGeom>
            <a:rect b="b" l="l" r="r" t="t"/>
            <a:pathLst>
              <a:path extrusionOk="0" h="898622" w="2738657">
                <a:moveTo>
                  <a:pt x="0" y="0"/>
                </a:moveTo>
                <a:lnTo>
                  <a:pt x="2738657" y="0"/>
                </a:lnTo>
                <a:lnTo>
                  <a:pt x="2738657" y="898622"/>
                </a:lnTo>
                <a:lnTo>
                  <a:pt x="0" y="8986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8" name="Google Shape;448;p29"/>
          <p:cNvSpPr txBox="1"/>
          <p:nvPr/>
        </p:nvSpPr>
        <p:spPr>
          <a:xfrm>
            <a:off x="1074575" y="1947275"/>
            <a:ext cx="8181300" cy="22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Formato del fichero de entrada</a:t>
            </a:r>
            <a:endParaRPr/>
          </a:p>
        </p:txBody>
      </p:sp>
      <p:sp>
        <p:nvSpPr>
          <p:cNvPr id="449" name="Google Shape;449;p29"/>
          <p:cNvSpPr txBox="1"/>
          <p:nvPr/>
        </p:nvSpPr>
        <p:spPr>
          <a:xfrm>
            <a:off x="9837519" y="788841"/>
            <a:ext cx="4089950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Sección declaraciones en C</a:t>
            </a:r>
            <a:endParaRPr/>
          </a:p>
        </p:txBody>
      </p:sp>
      <p:sp>
        <p:nvSpPr>
          <p:cNvPr id="450" name="Google Shape;450;p29"/>
          <p:cNvSpPr txBox="1"/>
          <p:nvPr/>
        </p:nvSpPr>
        <p:spPr>
          <a:xfrm>
            <a:off x="9482650" y="1282323"/>
            <a:ext cx="7426763" cy="1205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Podrían definir tipos y variables utilizadas en las acciones. Puede también usar comandos del preprocesador para definir macros que se utilicen ahí, y utilizar #include para incluir archivos de cabecera que realicen cualquiera de estas cosas. </a:t>
            </a:r>
            <a:endParaRPr/>
          </a:p>
        </p:txBody>
      </p:sp>
      <p:sp>
        <p:nvSpPr>
          <p:cNvPr id="451" name="Google Shape;451;p29"/>
          <p:cNvSpPr txBox="1"/>
          <p:nvPr/>
        </p:nvSpPr>
        <p:spPr>
          <a:xfrm>
            <a:off x="9949847" y="3503180"/>
            <a:ext cx="4782377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Sección declaraciones de bison</a:t>
            </a:r>
            <a:endParaRPr/>
          </a:p>
        </p:txBody>
      </p:sp>
      <p:sp>
        <p:nvSpPr>
          <p:cNvPr id="452" name="Google Shape;452;p29"/>
          <p:cNvSpPr txBox="1"/>
          <p:nvPr/>
        </p:nvSpPr>
        <p:spPr>
          <a:xfrm>
            <a:off x="9536788" y="3940003"/>
            <a:ext cx="7132719" cy="909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Declaran los nombres de los símbolos terminales y no terminales, y también podrían describir la precedencia de operadores y los tipos de datos de los valores semánticos de varios símbolos.</a:t>
            </a:r>
            <a:endParaRPr/>
          </a:p>
        </p:txBody>
      </p:sp>
      <p:sp>
        <p:nvSpPr>
          <p:cNvPr id="453" name="Google Shape;453;p29"/>
          <p:cNvSpPr txBox="1"/>
          <p:nvPr/>
        </p:nvSpPr>
        <p:spPr>
          <a:xfrm>
            <a:off x="9837519" y="7892121"/>
            <a:ext cx="4447009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Sección código C adicional</a:t>
            </a:r>
            <a:endParaRPr/>
          </a:p>
        </p:txBody>
      </p:sp>
      <p:sp>
        <p:nvSpPr>
          <p:cNvPr id="454" name="Google Shape;454;p29"/>
          <p:cNvSpPr txBox="1"/>
          <p:nvPr/>
        </p:nvSpPr>
        <p:spPr>
          <a:xfrm>
            <a:off x="9485283" y="8273090"/>
            <a:ext cx="5708731" cy="31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Puede contener cualquier código C que desee utilizar.</a:t>
            </a:r>
            <a:endParaRPr/>
          </a:p>
        </p:txBody>
      </p:sp>
      <p:sp>
        <p:nvSpPr>
          <p:cNvPr id="455" name="Google Shape;455;p29"/>
          <p:cNvSpPr txBox="1"/>
          <p:nvPr/>
        </p:nvSpPr>
        <p:spPr>
          <a:xfrm>
            <a:off x="1028700" y="4223208"/>
            <a:ext cx="7089518" cy="1118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El fichero de entrada de bison esta compuesto de tres secciones, separadas por una linea donde aparece unicamente un %% en esta</a:t>
            </a:r>
            <a:endParaRPr/>
          </a:p>
        </p:txBody>
      </p:sp>
      <p:sp>
        <p:nvSpPr>
          <p:cNvPr id="456" name="Google Shape;456;p29"/>
          <p:cNvSpPr txBox="1"/>
          <p:nvPr/>
        </p:nvSpPr>
        <p:spPr>
          <a:xfrm>
            <a:off x="9895710" y="5869101"/>
            <a:ext cx="4782377" cy="3506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Reglas gramaticales</a:t>
            </a:r>
            <a:endParaRPr/>
          </a:p>
        </p:txBody>
      </p:sp>
      <p:sp>
        <p:nvSpPr>
          <p:cNvPr id="457" name="Google Shape;457;p29"/>
          <p:cNvSpPr txBox="1"/>
          <p:nvPr/>
        </p:nvSpPr>
        <p:spPr>
          <a:xfrm>
            <a:off x="9482650" y="6305924"/>
            <a:ext cx="7132719" cy="319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Definen cómo construir cada símbolo no terminal a partir de sus partes.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0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63" name="Google Shape;463;p30"/>
          <p:cNvGrpSpPr/>
          <p:nvPr/>
        </p:nvGrpSpPr>
        <p:grpSpPr>
          <a:xfrm>
            <a:off x="2251580" y="2236121"/>
            <a:ext cx="12387688" cy="5331370"/>
            <a:chOff x="0" y="0"/>
            <a:chExt cx="3262601" cy="1404147"/>
          </a:xfrm>
        </p:grpSpPr>
        <p:sp>
          <p:nvSpPr>
            <p:cNvPr id="464" name="Google Shape;464;p30"/>
            <p:cNvSpPr/>
            <p:nvPr/>
          </p:nvSpPr>
          <p:spPr>
            <a:xfrm>
              <a:off x="0" y="0"/>
              <a:ext cx="3262601" cy="1404147"/>
            </a:xfrm>
            <a:custGeom>
              <a:rect b="b" l="l" r="r" t="t"/>
              <a:pathLst>
                <a:path extrusionOk="0" h="1404147" w="3262601">
                  <a:moveTo>
                    <a:pt x="31873" y="0"/>
                  </a:moveTo>
                  <a:lnTo>
                    <a:pt x="3230727" y="0"/>
                  </a:lnTo>
                  <a:cubicBezTo>
                    <a:pt x="3239181" y="0"/>
                    <a:pt x="3247288" y="3358"/>
                    <a:pt x="3253265" y="9336"/>
                  </a:cubicBezTo>
                  <a:cubicBezTo>
                    <a:pt x="3259243" y="15313"/>
                    <a:pt x="3262601" y="23420"/>
                    <a:pt x="3262601" y="31873"/>
                  </a:cubicBezTo>
                  <a:lnTo>
                    <a:pt x="3262601" y="1372273"/>
                  </a:lnTo>
                  <a:cubicBezTo>
                    <a:pt x="3262601" y="1389877"/>
                    <a:pt x="3248331" y="1404147"/>
                    <a:pt x="3230727" y="1404147"/>
                  </a:cubicBezTo>
                  <a:lnTo>
                    <a:pt x="31873" y="1404147"/>
                  </a:lnTo>
                  <a:cubicBezTo>
                    <a:pt x="23420" y="1404147"/>
                    <a:pt x="15313" y="1400789"/>
                    <a:pt x="9336" y="1394811"/>
                  </a:cubicBezTo>
                  <a:cubicBezTo>
                    <a:pt x="3358" y="1388834"/>
                    <a:pt x="0" y="1380727"/>
                    <a:pt x="0" y="1372273"/>
                  </a:cubicBezTo>
                  <a:lnTo>
                    <a:pt x="0" y="31873"/>
                  </a:lnTo>
                  <a:cubicBezTo>
                    <a:pt x="0" y="23420"/>
                    <a:pt x="3358" y="15313"/>
                    <a:pt x="9336" y="9336"/>
                  </a:cubicBezTo>
                  <a:cubicBezTo>
                    <a:pt x="15313" y="3358"/>
                    <a:pt x="23420" y="0"/>
                    <a:pt x="31873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0"/>
            <p:cNvSpPr txBox="1"/>
            <p:nvPr/>
          </p:nvSpPr>
          <p:spPr>
            <a:xfrm>
              <a:off x="0" y="19050"/>
              <a:ext cx="3262601" cy="13850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6" name="Google Shape;466;p30"/>
          <p:cNvGrpSpPr/>
          <p:nvPr/>
        </p:nvGrpSpPr>
        <p:grpSpPr>
          <a:xfrm rot="-4011154">
            <a:off x="13539775" y="1196864"/>
            <a:ext cx="17403374" cy="18180272"/>
            <a:chOff x="0" y="0"/>
            <a:chExt cx="4583605" cy="4788220"/>
          </a:xfrm>
        </p:grpSpPr>
        <p:sp>
          <p:nvSpPr>
            <p:cNvPr id="467" name="Google Shape;467;p30"/>
            <p:cNvSpPr/>
            <p:nvPr/>
          </p:nvSpPr>
          <p:spPr>
            <a:xfrm>
              <a:off x="0" y="0"/>
              <a:ext cx="4583605" cy="4788220"/>
            </a:xfrm>
            <a:custGeom>
              <a:rect b="b" l="l" r="r" t="t"/>
              <a:pathLst>
                <a:path extrusionOk="0" h="4788220" w="4583605">
                  <a:moveTo>
                    <a:pt x="0" y="0"/>
                  </a:moveTo>
                  <a:lnTo>
                    <a:pt x="4583605" y="0"/>
                  </a:lnTo>
                  <a:lnTo>
                    <a:pt x="4583605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468" name="Google Shape;468;p30"/>
            <p:cNvSpPr txBox="1"/>
            <p:nvPr/>
          </p:nvSpPr>
          <p:spPr>
            <a:xfrm>
              <a:off x="0" y="19050"/>
              <a:ext cx="4583605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9" name="Google Shape;469;p30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470" name="Google Shape;470;p30"/>
          <p:cNvSpPr txBox="1"/>
          <p:nvPr/>
        </p:nvSpPr>
        <p:spPr>
          <a:xfrm>
            <a:off x="5664503" y="3183866"/>
            <a:ext cx="5817198" cy="89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69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Ejemplo práctico</a:t>
            </a:r>
            <a:endParaRPr/>
          </a:p>
        </p:txBody>
      </p:sp>
      <p:sp>
        <p:nvSpPr>
          <p:cNvPr id="471" name="Google Shape;471;p30"/>
          <p:cNvSpPr txBox="1"/>
          <p:nvPr/>
        </p:nvSpPr>
        <p:spPr>
          <a:xfrm>
            <a:off x="5755138" y="4514695"/>
            <a:ext cx="58173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*. Creación de una calculadora básica.</a:t>
            </a:r>
            <a:endParaRPr/>
          </a:p>
          <a:p>
            <a:pPr indent="0" lvl="0" marL="0" marR="0" rtl="0" algn="l">
              <a:lnSpc>
                <a:spcPct val="159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*. Construcción de un árbol de análisis sintáctico.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7" name="Google Shape;477;p31"/>
          <p:cNvGrpSpPr/>
          <p:nvPr/>
        </p:nvGrpSpPr>
        <p:grpSpPr>
          <a:xfrm>
            <a:off x="2054482" y="4424481"/>
            <a:ext cx="3707086" cy="2794649"/>
            <a:chOff x="0" y="0"/>
            <a:chExt cx="976352" cy="736039"/>
          </a:xfrm>
        </p:grpSpPr>
        <p:sp>
          <p:nvSpPr>
            <p:cNvPr id="478" name="Google Shape;478;p31"/>
            <p:cNvSpPr/>
            <p:nvPr/>
          </p:nvSpPr>
          <p:spPr>
            <a:xfrm>
              <a:off x="0" y="0"/>
              <a:ext cx="976352" cy="736039"/>
            </a:xfrm>
            <a:custGeom>
              <a:rect b="b" l="l" r="r" t="t"/>
              <a:pathLst>
                <a:path extrusionOk="0" h="736039" w="976352">
                  <a:moveTo>
                    <a:pt x="73094" y="0"/>
                  </a:moveTo>
                  <a:lnTo>
                    <a:pt x="903258" y="0"/>
                  </a:lnTo>
                  <a:cubicBezTo>
                    <a:pt x="943627" y="0"/>
                    <a:pt x="976352" y="32725"/>
                    <a:pt x="976352" y="73094"/>
                  </a:cubicBezTo>
                  <a:lnTo>
                    <a:pt x="976352" y="662945"/>
                  </a:lnTo>
                  <a:cubicBezTo>
                    <a:pt x="976352" y="682331"/>
                    <a:pt x="968651" y="700922"/>
                    <a:pt x="954943" y="714630"/>
                  </a:cubicBezTo>
                  <a:cubicBezTo>
                    <a:pt x="941235" y="728338"/>
                    <a:pt x="922643" y="736039"/>
                    <a:pt x="903258" y="736039"/>
                  </a:cubicBezTo>
                  <a:lnTo>
                    <a:pt x="73094" y="736039"/>
                  </a:lnTo>
                  <a:cubicBezTo>
                    <a:pt x="32725" y="736039"/>
                    <a:pt x="0" y="703314"/>
                    <a:pt x="0" y="662945"/>
                  </a:cubicBezTo>
                  <a:lnTo>
                    <a:pt x="0" y="73094"/>
                  </a:lnTo>
                  <a:cubicBezTo>
                    <a:pt x="0" y="32725"/>
                    <a:pt x="32725" y="0"/>
                    <a:pt x="73094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1"/>
            <p:cNvSpPr txBox="1"/>
            <p:nvPr/>
          </p:nvSpPr>
          <p:spPr>
            <a:xfrm>
              <a:off x="0" y="19050"/>
              <a:ext cx="976352" cy="7169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0" name="Google Shape;480;p31"/>
          <p:cNvGrpSpPr/>
          <p:nvPr/>
        </p:nvGrpSpPr>
        <p:grpSpPr>
          <a:xfrm>
            <a:off x="2054482" y="2262850"/>
            <a:ext cx="13884881" cy="1811493"/>
            <a:chOff x="0" y="0"/>
            <a:chExt cx="3656923" cy="477101"/>
          </a:xfrm>
        </p:grpSpPr>
        <p:sp>
          <p:nvSpPr>
            <p:cNvPr id="481" name="Google Shape;481;p31"/>
            <p:cNvSpPr/>
            <p:nvPr/>
          </p:nvSpPr>
          <p:spPr>
            <a:xfrm>
              <a:off x="0" y="0"/>
              <a:ext cx="3656923" cy="477101"/>
            </a:xfrm>
            <a:custGeom>
              <a:rect b="b" l="l" r="r" t="t"/>
              <a:pathLst>
                <a:path extrusionOk="0" h="477101" w="3656923">
                  <a:moveTo>
                    <a:pt x="19515" y="0"/>
                  </a:moveTo>
                  <a:lnTo>
                    <a:pt x="3637408" y="0"/>
                  </a:lnTo>
                  <a:cubicBezTo>
                    <a:pt x="3642584" y="0"/>
                    <a:pt x="3647548" y="2056"/>
                    <a:pt x="3651207" y="5716"/>
                  </a:cubicBezTo>
                  <a:cubicBezTo>
                    <a:pt x="3654867" y="9376"/>
                    <a:pt x="3656923" y="14339"/>
                    <a:pt x="3656923" y="19515"/>
                  </a:cubicBezTo>
                  <a:lnTo>
                    <a:pt x="3656923" y="457586"/>
                  </a:lnTo>
                  <a:cubicBezTo>
                    <a:pt x="3656923" y="462761"/>
                    <a:pt x="3654867" y="467725"/>
                    <a:pt x="3651207" y="471385"/>
                  </a:cubicBezTo>
                  <a:cubicBezTo>
                    <a:pt x="3647548" y="475045"/>
                    <a:pt x="3642584" y="477101"/>
                    <a:pt x="3637408" y="477101"/>
                  </a:cubicBezTo>
                  <a:lnTo>
                    <a:pt x="19515" y="477101"/>
                  </a:lnTo>
                  <a:cubicBezTo>
                    <a:pt x="14339" y="477101"/>
                    <a:pt x="9376" y="475045"/>
                    <a:pt x="5716" y="471385"/>
                  </a:cubicBezTo>
                  <a:cubicBezTo>
                    <a:pt x="2056" y="467725"/>
                    <a:pt x="0" y="462761"/>
                    <a:pt x="0" y="457586"/>
                  </a:cubicBezTo>
                  <a:lnTo>
                    <a:pt x="0" y="19515"/>
                  </a:lnTo>
                  <a:cubicBezTo>
                    <a:pt x="0" y="14339"/>
                    <a:pt x="2056" y="9376"/>
                    <a:pt x="5716" y="5716"/>
                  </a:cubicBezTo>
                  <a:cubicBezTo>
                    <a:pt x="9376" y="2056"/>
                    <a:pt x="14339" y="0"/>
                    <a:pt x="19515" y="0"/>
                  </a:cubicBezTo>
                  <a:close/>
                </a:path>
              </a:pathLst>
            </a:custGeom>
            <a:gradFill>
              <a:gsLst>
                <a:gs pos="0">
                  <a:srgbClr val="0C4A5B"/>
                </a:gs>
                <a:gs pos="100000">
                  <a:srgbClr val="27DDDF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1"/>
            <p:cNvSpPr txBox="1"/>
            <p:nvPr/>
          </p:nvSpPr>
          <p:spPr>
            <a:xfrm>
              <a:off x="0" y="19050"/>
              <a:ext cx="3656923" cy="4580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3" name="Google Shape;483;p31"/>
          <p:cNvGrpSpPr/>
          <p:nvPr/>
        </p:nvGrpSpPr>
        <p:grpSpPr>
          <a:xfrm>
            <a:off x="6520573" y="4424481"/>
            <a:ext cx="9418789" cy="721344"/>
            <a:chOff x="0" y="0"/>
            <a:chExt cx="2480669" cy="189984"/>
          </a:xfrm>
        </p:grpSpPr>
        <p:sp>
          <p:nvSpPr>
            <p:cNvPr id="484" name="Google Shape;484;p31"/>
            <p:cNvSpPr/>
            <p:nvPr/>
          </p:nvSpPr>
          <p:spPr>
            <a:xfrm>
              <a:off x="0" y="0"/>
              <a:ext cx="2480669" cy="189984"/>
            </a:xfrm>
            <a:custGeom>
              <a:rect b="b" l="l" r="r" t="t"/>
              <a:pathLst>
                <a:path extrusionOk="0" h="189984" w="2480669">
                  <a:moveTo>
                    <a:pt x="28769" y="0"/>
                  </a:moveTo>
                  <a:lnTo>
                    <a:pt x="2451900" y="0"/>
                  </a:lnTo>
                  <a:cubicBezTo>
                    <a:pt x="2459530" y="0"/>
                    <a:pt x="2466847" y="3031"/>
                    <a:pt x="2472243" y="8426"/>
                  </a:cubicBezTo>
                  <a:cubicBezTo>
                    <a:pt x="2477638" y="13821"/>
                    <a:pt x="2480669" y="21139"/>
                    <a:pt x="2480669" y="28769"/>
                  </a:cubicBezTo>
                  <a:lnTo>
                    <a:pt x="2480669" y="161215"/>
                  </a:lnTo>
                  <a:cubicBezTo>
                    <a:pt x="2480669" y="168845"/>
                    <a:pt x="2477638" y="176162"/>
                    <a:pt x="2472243" y="181557"/>
                  </a:cubicBezTo>
                  <a:cubicBezTo>
                    <a:pt x="2466847" y="186953"/>
                    <a:pt x="2459530" y="189984"/>
                    <a:pt x="2451900" y="189984"/>
                  </a:cubicBezTo>
                  <a:lnTo>
                    <a:pt x="28769" y="189984"/>
                  </a:lnTo>
                  <a:cubicBezTo>
                    <a:pt x="21139" y="189984"/>
                    <a:pt x="13821" y="186953"/>
                    <a:pt x="8426" y="181557"/>
                  </a:cubicBezTo>
                  <a:cubicBezTo>
                    <a:pt x="3031" y="176162"/>
                    <a:pt x="0" y="168845"/>
                    <a:pt x="0" y="161215"/>
                  </a:cubicBezTo>
                  <a:lnTo>
                    <a:pt x="0" y="28769"/>
                  </a:lnTo>
                  <a:cubicBezTo>
                    <a:pt x="0" y="21139"/>
                    <a:pt x="3031" y="13821"/>
                    <a:pt x="8426" y="8426"/>
                  </a:cubicBezTo>
                  <a:cubicBezTo>
                    <a:pt x="13821" y="3031"/>
                    <a:pt x="21139" y="0"/>
                    <a:pt x="28769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1"/>
            <p:cNvSpPr txBox="1"/>
            <p:nvPr/>
          </p:nvSpPr>
          <p:spPr>
            <a:xfrm>
              <a:off x="0" y="19050"/>
              <a:ext cx="2480669" cy="170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6" name="Google Shape;486;p31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487" name="Google Shape;487;p31"/>
          <p:cNvSpPr txBox="1"/>
          <p:nvPr/>
        </p:nvSpPr>
        <p:spPr>
          <a:xfrm>
            <a:off x="2583650" y="2401421"/>
            <a:ext cx="12183601" cy="15880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Práctica: Gramáticas y árboles de derivación</a:t>
            </a:r>
            <a:endParaRPr/>
          </a:p>
        </p:txBody>
      </p:sp>
      <p:sp>
        <p:nvSpPr>
          <p:cNvPr id="488" name="Google Shape;488;p31"/>
          <p:cNvSpPr txBox="1"/>
          <p:nvPr/>
        </p:nvSpPr>
        <p:spPr>
          <a:xfrm>
            <a:off x="2320173" y="4714507"/>
            <a:ext cx="2104383" cy="431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3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Competencia</a:t>
            </a:r>
            <a:endParaRPr/>
          </a:p>
        </p:txBody>
      </p:sp>
      <p:sp>
        <p:nvSpPr>
          <p:cNvPr id="489" name="Google Shape;489;p31"/>
          <p:cNvSpPr txBox="1"/>
          <p:nvPr/>
        </p:nvSpPr>
        <p:spPr>
          <a:xfrm>
            <a:off x="2320173" y="5275407"/>
            <a:ext cx="3158096" cy="1205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estudiante definirá gramáticas libres de contexto y construirá sus árboles de derivación de forma clara y precisa.</a:t>
            </a:r>
            <a:endParaRPr/>
          </a:p>
        </p:txBody>
      </p:sp>
      <p:sp>
        <p:nvSpPr>
          <p:cNvPr id="490" name="Google Shape;490;p31"/>
          <p:cNvSpPr txBox="1"/>
          <p:nvPr/>
        </p:nvSpPr>
        <p:spPr>
          <a:xfrm>
            <a:off x="6784051" y="4583515"/>
            <a:ext cx="5668591" cy="394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Instrucciones</a:t>
            </a:r>
            <a:endParaRPr/>
          </a:p>
        </p:txBody>
      </p:sp>
      <p:grpSp>
        <p:nvGrpSpPr>
          <p:cNvPr id="491" name="Google Shape;491;p31"/>
          <p:cNvGrpSpPr/>
          <p:nvPr/>
        </p:nvGrpSpPr>
        <p:grpSpPr>
          <a:xfrm>
            <a:off x="6520573" y="5498251"/>
            <a:ext cx="9418789" cy="3296220"/>
            <a:chOff x="0" y="0"/>
            <a:chExt cx="2480669" cy="868140"/>
          </a:xfrm>
        </p:grpSpPr>
        <p:sp>
          <p:nvSpPr>
            <p:cNvPr id="492" name="Google Shape;492;p31"/>
            <p:cNvSpPr/>
            <p:nvPr/>
          </p:nvSpPr>
          <p:spPr>
            <a:xfrm>
              <a:off x="0" y="0"/>
              <a:ext cx="2480669" cy="868140"/>
            </a:xfrm>
            <a:custGeom>
              <a:rect b="b" l="l" r="r" t="t"/>
              <a:pathLst>
                <a:path extrusionOk="0" h="868140" w="2480669">
                  <a:moveTo>
                    <a:pt x="28769" y="0"/>
                  </a:moveTo>
                  <a:lnTo>
                    <a:pt x="2451900" y="0"/>
                  </a:lnTo>
                  <a:cubicBezTo>
                    <a:pt x="2459530" y="0"/>
                    <a:pt x="2466847" y="3031"/>
                    <a:pt x="2472243" y="8426"/>
                  </a:cubicBezTo>
                  <a:cubicBezTo>
                    <a:pt x="2477638" y="13821"/>
                    <a:pt x="2480669" y="21139"/>
                    <a:pt x="2480669" y="28769"/>
                  </a:cubicBezTo>
                  <a:lnTo>
                    <a:pt x="2480669" y="839371"/>
                  </a:lnTo>
                  <a:cubicBezTo>
                    <a:pt x="2480669" y="847001"/>
                    <a:pt x="2477638" y="854319"/>
                    <a:pt x="2472243" y="859714"/>
                  </a:cubicBezTo>
                  <a:cubicBezTo>
                    <a:pt x="2466847" y="865109"/>
                    <a:pt x="2459530" y="868140"/>
                    <a:pt x="2451900" y="868140"/>
                  </a:cubicBezTo>
                  <a:lnTo>
                    <a:pt x="28769" y="868140"/>
                  </a:lnTo>
                  <a:cubicBezTo>
                    <a:pt x="21139" y="868140"/>
                    <a:pt x="13821" y="865109"/>
                    <a:pt x="8426" y="859714"/>
                  </a:cubicBezTo>
                  <a:cubicBezTo>
                    <a:pt x="3031" y="854319"/>
                    <a:pt x="0" y="847001"/>
                    <a:pt x="0" y="839371"/>
                  </a:cubicBezTo>
                  <a:lnTo>
                    <a:pt x="0" y="28769"/>
                  </a:lnTo>
                  <a:cubicBezTo>
                    <a:pt x="0" y="21139"/>
                    <a:pt x="3031" y="13821"/>
                    <a:pt x="8426" y="8426"/>
                  </a:cubicBezTo>
                  <a:cubicBezTo>
                    <a:pt x="13821" y="3031"/>
                    <a:pt x="21139" y="0"/>
                    <a:pt x="28769" y="0"/>
                  </a:cubicBezTo>
                  <a:close/>
                </a:path>
              </a:pathLst>
            </a:custGeom>
            <a:solidFill>
              <a:srgbClr val="2021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1"/>
            <p:cNvSpPr txBox="1"/>
            <p:nvPr/>
          </p:nvSpPr>
          <p:spPr>
            <a:xfrm>
              <a:off x="0" y="19050"/>
              <a:ext cx="2480669" cy="849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4" name="Google Shape;494;p31"/>
          <p:cNvSpPr txBox="1"/>
          <p:nvPr/>
        </p:nvSpPr>
        <p:spPr>
          <a:xfrm>
            <a:off x="7781038" y="6619535"/>
            <a:ext cx="8847891" cy="3949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Terminar la gramática para los operadores * y /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519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/>
          <p:nvPr/>
        </p:nvSpPr>
        <p:spPr>
          <a:xfrm>
            <a:off x="1074577" y="845799"/>
            <a:ext cx="499539" cy="503199"/>
          </a:xfrm>
          <a:custGeom>
            <a:rect b="b" l="l" r="r" t="t"/>
            <a:pathLst>
              <a:path extrusionOk="0" h="503199" w="499539">
                <a:moveTo>
                  <a:pt x="0" y="0"/>
                </a:moveTo>
                <a:lnTo>
                  <a:pt x="499540" y="0"/>
                </a:lnTo>
                <a:lnTo>
                  <a:pt x="499540" y="503199"/>
                </a:lnTo>
                <a:lnTo>
                  <a:pt x="0" y="503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00" name="Google Shape;500;p32"/>
          <p:cNvGrpSpPr/>
          <p:nvPr/>
        </p:nvGrpSpPr>
        <p:grpSpPr>
          <a:xfrm rot="374770">
            <a:off x="-1666180" y="6478089"/>
            <a:ext cx="20251759" cy="18180272"/>
            <a:chOff x="0" y="0"/>
            <a:chExt cx="5333797" cy="4788220"/>
          </a:xfrm>
        </p:grpSpPr>
        <p:sp>
          <p:nvSpPr>
            <p:cNvPr id="501" name="Google Shape;501;p32"/>
            <p:cNvSpPr/>
            <p:nvPr/>
          </p:nvSpPr>
          <p:spPr>
            <a:xfrm>
              <a:off x="0" y="0"/>
              <a:ext cx="5333797" cy="4788220"/>
            </a:xfrm>
            <a:custGeom>
              <a:rect b="b" l="l" r="r" t="t"/>
              <a:pathLst>
                <a:path extrusionOk="0" h="4788220" w="5333797">
                  <a:moveTo>
                    <a:pt x="0" y="0"/>
                  </a:moveTo>
                  <a:lnTo>
                    <a:pt x="5333797" y="0"/>
                  </a:lnTo>
                  <a:lnTo>
                    <a:pt x="5333797" y="4788220"/>
                  </a:lnTo>
                  <a:lnTo>
                    <a:pt x="0" y="4788220"/>
                  </a:lnTo>
                  <a:close/>
                </a:path>
              </a:pathLst>
            </a:custGeom>
            <a:gradFill>
              <a:gsLst>
                <a:gs pos="0">
                  <a:srgbClr val="27DDDF">
                    <a:alpha val="0"/>
                  </a:srgbClr>
                </a:gs>
                <a:gs pos="100000">
                  <a:srgbClr val="27DDDF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502" name="Google Shape;502;p32"/>
            <p:cNvSpPr txBox="1"/>
            <p:nvPr/>
          </p:nvSpPr>
          <p:spPr>
            <a:xfrm>
              <a:off x="0" y="19050"/>
              <a:ext cx="5333797" cy="4769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3" name="Google Shape;503;p32"/>
          <p:cNvGrpSpPr/>
          <p:nvPr/>
        </p:nvGrpSpPr>
        <p:grpSpPr>
          <a:xfrm>
            <a:off x="2266343" y="8553082"/>
            <a:ext cx="13735267" cy="705218"/>
            <a:chOff x="0" y="0"/>
            <a:chExt cx="3583040" cy="183966"/>
          </a:xfrm>
        </p:grpSpPr>
        <p:sp>
          <p:nvSpPr>
            <p:cNvPr id="504" name="Google Shape;504;p32"/>
            <p:cNvSpPr/>
            <p:nvPr/>
          </p:nvSpPr>
          <p:spPr>
            <a:xfrm>
              <a:off x="0" y="0"/>
              <a:ext cx="3583039" cy="183966"/>
            </a:xfrm>
            <a:custGeom>
              <a:rect b="b" l="l" r="r" t="t"/>
              <a:pathLst>
                <a:path extrusionOk="0" h="183966" w="3583039">
                  <a:moveTo>
                    <a:pt x="11837" y="0"/>
                  </a:moveTo>
                  <a:lnTo>
                    <a:pt x="3571203" y="0"/>
                  </a:lnTo>
                  <a:cubicBezTo>
                    <a:pt x="3574342" y="0"/>
                    <a:pt x="3577353" y="1247"/>
                    <a:pt x="3579573" y="3467"/>
                  </a:cubicBezTo>
                  <a:cubicBezTo>
                    <a:pt x="3581792" y="5687"/>
                    <a:pt x="3583039" y="8697"/>
                    <a:pt x="3583039" y="11837"/>
                  </a:cubicBezTo>
                  <a:lnTo>
                    <a:pt x="3583039" y="172129"/>
                  </a:lnTo>
                  <a:cubicBezTo>
                    <a:pt x="3583039" y="175269"/>
                    <a:pt x="3581792" y="178279"/>
                    <a:pt x="3579573" y="180499"/>
                  </a:cubicBezTo>
                  <a:cubicBezTo>
                    <a:pt x="3577353" y="182719"/>
                    <a:pt x="3574342" y="183966"/>
                    <a:pt x="3571203" y="183966"/>
                  </a:cubicBezTo>
                  <a:lnTo>
                    <a:pt x="11837" y="183966"/>
                  </a:lnTo>
                  <a:cubicBezTo>
                    <a:pt x="8697" y="183966"/>
                    <a:pt x="5687" y="182719"/>
                    <a:pt x="3467" y="180499"/>
                  </a:cubicBezTo>
                  <a:cubicBezTo>
                    <a:pt x="1247" y="178279"/>
                    <a:pt x="0" y="175269"/>
                    <a:pt x="0" y="172129"/>
                  </a:cubicBezTo>
                  <a:lnTo>
                    <a:pt x="0" y="11837"/>
                  </a:lnTo>
                  <a:cubicBezTo>
                    <a:pt x="0" y="8697"/>
                    <a:pt x="1247" y="5687"/>
                    <a:pt x="3467" y="3467"/>
                  </a:cubicBezTo>
                  <a:cubicBezTo>
                    <a:pt x="5687" y="1247"/>
                    <a:pt x="8697" y="0"/>
                    <a:pt x="118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2"/>
            <p:cNvSpPr txBox="1"/>
            <p:nvPr/>
          </p:nvSpPr>
          <p:spPr>
            <a:xfrm>
              <a:off x="0" y="19050"/>
              <a:ext cx="3583040" cy="1649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77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p32"/>
          <p:cNvSpPr txBox="1"/>
          <p:nvPr/>
        </p:nvSpPr>
        <p:spPr>
          <a:xfrm>
            <a:off x="1795032" y="930452"/>
            <a:ext cx="1302079" cy="362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507" name="Google Shape;507;p32"/>
          <p:cNvSpPr txBox="1"/>
          <p:nvPr/>
        </p:nvSpPr>
        <p:spPr>
          <a:xfrm>
            <a:off x="2080871" y="2411882"/>
            <a:ext cx="14126257" cy="35968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3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¡Gracias por su atención!</a:t>
            </a:r>
            <a:endParaRPr/>
          </a:p>
        </p:txBody>
      </p:sp>
      <p:sp>
        <p:nvSpPr>
          <p:cNvPr id="508" name="Google Shape;508;p32"/>
          <p:cNvSpPr txBox="1"/>
          <p:nvPr/>
        </p:nvSpPr>
        <p:spPr>
          <a:xfrm>
            <a:off x="2080871" y="6688163"/>
            <a:ext cx="14126257" cy="9759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7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  <p:sp>
        <p:nvSpPr>
          <p:cNvPr id="509" name="Google Shape;509;p32"/>
          <p:cNvSpPr txBox="1"/>
          <p:nvPr/>
        </p:nvSpPr>
        <p:spPr>
          <a:xfrm>
            <a:off x="2411098" y="8556695"/>
            <a:ext cx="13465804" cy="650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  <p:sp>
        <p:nvSpPr>
          <p:cNvPr id="510" name="Google Shape;510;p32"/>
          <p:cNvSpPr/>
          <p:nvPr/>
        </p:nvSpPr>
        <p:spPr>
          <a:xfrm>
            <a:off x="16426204" y="0"/>
            <a:ext cx="1861796" cy="2546280"/>
          </a:xfrm>
          <a:custGeom>
            <a:rect b="b" l="l" r="r" t="t"/>
            <a:pathLst>
              <a:path extrusionOk="0" h="2546280" w="1861796">
                <a:moveTo>
                  <a:pt x="0" y="0"/>
                </a:moveTo>
                <a:lnTo>
                  <a:pt x="1861796" y="0"/>
                </a:lnTo>
                <a:lnTo>
                  <a:pt x="1861796" y="2546280"/>
                </a:lnTo>
                <a:lnTo>
                  <a:pt x="0" y="25462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