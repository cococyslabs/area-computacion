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5143500" cx="9144000"/>
  <p:notesSz cx="6858000" cy="9144000"/>
  <p:embeddedFontLst>
    <p:embeddedFont>
      <p:font typeface="Lato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AC1052D-7E77-4BC9-BAF3-11380543AB04}">
  <a:tblStyle styleId="{4AC1052D-7E77-4BC9-BAF3-11380543AB04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2C704850-4A55-4EAB-B7A3-EE9327551612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regular.fntdata"/><Relationship Id="rId11" Type="http://schemas.openxmlformats.org/officeDocument/2006/relationships/slide" Target="slides/slide5.xml"/><Relationship Id="rId22" Type="http://schemas.openxmlformats.org/officeDocument/2006/relationships/font" Target="fonts/Lato-italic.fntdata"/><Relationship Id="rId10" Type="http://schemas.openxmlformats.org/officeDocument/2006/relationships/slide" Target="slides/slide4.xml"/><Relationship Id="rId21" Type="http://schemas.openxmlformats.org/officeDocument/2006/relationships/font" Target="fonts/Lato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23" Type="http://schemas.openxmlformats.org/officeDocument/2006/relationships/font" Target="fonts/Lato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459d1c82b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459d1c82b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b459d1c82b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b459d1c82b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b459d1c82b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b459d1c82b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b459d1c82b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b459d1c82b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922549c6de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922549c6de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922549c6de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922549c6de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922549c6de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922549c6de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922549c6de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922549c6de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934104d707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934104d707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934104d707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934104d707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934104d707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934104d707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934104d707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934104d707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934104d707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934104d707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525" y="4618425"/>
            <a:ext cx="9144000" cy="5316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Font typeface="Lato"/>
              <a:buNone/>
              <a:defRPr b="1" sz="42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Lato"/>
              <a:buNone/>
              <a:defRPr sz="23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2"/>
          <p:cNvSpPr/>
          <p:nvPr/>
        </p:nvSpPr>
        <p:spPr>
          <a:xfrm rot="5400000">
            <a:off x="-530850" y="-675350"/>
            <a:ext cx="2752800" cy="1067700"/>
          </a:xfrm>
          <a:prstGeom prst="chevron">
            <a:avLst>
              <a:gd fmla="val 50000" name="adj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" name="Google Shape;14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015825" y="99800"/>
            <a:ext cx="2005325" cy="531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 title="Usac_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247" y="99800"/>
            <a:ext cx="792600" cy="792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/>
          <p:nvPr/>
        </p:nvSpPr>
        <p:spPr>
          <a:xfrm>
            <a:off x="525" y="4618425"/>
            <a:ext cx="9144000" cy="5316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Lato"/>
              <a:buNone/>
              <a:defRPr b="1" sz="42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  <p:pic>
        <p:nvPicPr>
          <p:cNvPr id="21" name="Google Shape;21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015825" y="99800"/>
            <a:ext cx="2005325" cy="531475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3"/>
          <p:cNvSpPr/>
          <p:nvPr/>
        </p:nvSpPr>
        <p:spPr>
          <a:xfrm rot="5400000">
            <a:off x="-530850" y="-675350"/>
            <a:ext cx="2752800" cy="1067700"/>
          </a:xfrm>
          <a:prstGeom prst="chevron">
            <a:avLst>
              <a:gd fmla="val 50000" name="adj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" name="Google Shape;23;p3" title="Usac_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247" y="99800"/>
            <a:ext cx="792600" cy="79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/>
          <p:nvPr/>
        </p:nvSpPr>
        <p:spPr>
          <a:xfrm>
            <a:off x="525" y="4618425"/>
            <a:ext cx="9144000" cy="5316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4"/>
          <p:cNvSpPr/>
          <p:nvPr/>
        </p:nvSpPr>
        <p:spPr>
          <a:xfrm>
            <a:off x="0" y="445025"/>
            <a:ext cx="8832300" cy="635100"/>
          </a:xfrm>
          <a:prstGeom prst="homePlate">
            <a:avLst>
              <a:gd fmla="val 50000" name="adj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 txBox="1"/>
          <p:nvPr>
            <p:ph type="title"/>
          </p:nvPr>
        </p:nvSpPr>
        <p:spPr>
          <a:xfrm>
            <a:off x="311700" y="445025"/>
            <a:ext cx="816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Font typeface="Lato"/>
              <a:buChar char="●"/>
              <a:defRPr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○"/>
              <a:defRPr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■"/>
              <a:defRPr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  <a:defRPr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○"/>
              <a:defRPr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■"/>
              <a:defRPr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  <a:defRPr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○"/>
              <a:defRPr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■"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/>
          <p:nvPr/>
        </p:nvSpPr>
        <p:spPr>
          <a:xfrm>
            <a:off x="525" y="4618425"/>
            <a:ext cx="9144000" cy="5316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  <a:defRPr sz="1400">
                <a:latin typeface="Lato"/>
                <a:ea typeface="Lato"/>
                <a:cs typeface="Lato"/>
                <a:sym typeface="Lato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○"/>
              <a:defRPr sz="1200">
                <a:latin typeface="Lato"/>
                <a:ea typeface="Lato"/>
                <a:cs typeface="Lato"/>
                <a:sym typeface="Lato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■"/>
              <a:defRPr sz="1200">
                <a:latin typeface="Lato"/>
                <a:ea typeface="Lato"/>
                <a:cs typeface="Lato"/>
                <a:sym typeface="Lato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●"/>
              <a:defRPr sz="1200">
                <a:latin typeface="Lato"/>
                <a:ea typeface="Lato"/>
                <a:cs typeface="Lato"/>
                <a:sym typeface="Lato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○"/>
              <a:defRPr sz="1200">
                <a:latin typeface="Lato"/>
                <a:ea typeface="Lato"/>
                <a:cs typeface="Lato"/>
                <a:sym typeface="Lato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■"/>
              <a:defRPr sz="1200">
                <a:latin typeface="Lato"/>
                <a:ea typeface="Lato"/>
                <a:cs typeface="Lato"/>
                <a:sym typeface="Lato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●"/>
              <a:defRPr sz="1200">
                <a:latin typeface="Lato"/>
                <a:ea typeface="Lato"/>
                <a:cs typeface="Lato"/>
                <a:sym typeface="Lato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○"/>
              <a:defRPr sz="1200">
                <a:latin typeface="Lato"/>
                <a:ea typeface="Lato"/>
                <a:cs typeface="Lato"/>
                <a:sym typeface="Lato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■"/>
              <a:defRPr sz="12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3" name="Google Shape;3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  <a:defRPr sz="1400">
                <a:latin typeface="Lato"/>
                <a:ea typeface="Lato"/>
                <a:cs typeface="Lato"/>
                <a:sym typeface="Lato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○"/>
              <a:defRPr sz="1200">
                <a:latin typeface="Lato"/>
                <a:ea typeface="Lato"/>
                <a:cs typeface="Lato"/>
                <a:sym typeface="Lato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■"/>
              <a:defRPr sz="1200">
                <a:latin typeface="Lato"/>
                <a:ea typeface="Lato"/>
                <a:cs typeface="Lato"/>
                <a:sym typeface="Lato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●"/>
              <a:defRPr sz="1200">
                <a:latin typeface="Lato"/>
                <a:ea typeface="Lato"/>
                <a:cs typeface="Lato"/>
                <a:sym typeface="Lato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○"/>
              <a:defRPr sz="1200">
                <a:latin typeface="Lato"/>
                <a:ea typeface="Lato"/>
                <a:cs typeface="Lato"/>
                <a:sym typeface="Lato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■"/>
              <a:defRPr sz="1200">
                <a:latin typeface="Lato"/>
                <a:ea typeface="Lato"/>
                <a:cs typeface="Lato"/>
                <a:sym typeface="Lato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●"/>
              <a:defRPr sz="1200">
                <a:latin typeface="Lato"/>
                <a:ea typeface="Lato"/>
                <a:cs typeface="Lato"/>
                <a:sym typeface="Lato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○"/>
              <a:defRPr sz="1200">
                <a:latin typeface="Lato"/>
                <a:ea typeface="Lato"/>
                <a:cs typeface="Lato"/>
                <a:sym typeface="Lato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■"/>
              <a:defRPr sz="12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  <p:sp>
        <p:nvSpPr>
          <p:cNvPr id="35" name="Google Shape;35;p5"/>
          <p:cNvSpPr/>
          <p:nvPr/>
        </p:nvSpPr>
        <p:spPr>
          <a:xfrm>
            <a:off x="0" y="445025"/>
            <a:ext cx="8832300" cy="635100"/>
          </a:xfrm>
          <a:prstGeom prst="homePlate">
            <a:avLst>
              <a:gd fmla="val 50000" name="adj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5"/>
          <p:cNvSpPr txBox="1"/>
          <p:nvPr>
            <p:ph type="title"/>
          </p:nvPr>
        </p:nvSpPr>
        <p:spPr>
          <a:xfrm>
            <a:off x="311700" y="445025"/>
            <a:ext cx="816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  <p:sp>
        <p:nvSpPr>
          <p:cNvPr id="39" name="Google Shape;39;p6"/>
          <p:cNvSpPr/>
          <p:nvPr/>
        </p:nvSpPr>
        <p:spPr>
          <a:xfrm>
            <a:off x="0" y="445025"/>
            <a:ext cx="8832300" cy="635100"/>
          </a:xfrm>
          <a:prstGeom prst="homePlate">
            <a:avLst>
              <a:gd fmla="val 50000" name="adj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6"/>
          <p:cNvSpPr txBox="1"/>
          <p:nvPr>
            <p:ph type="title"/>
          </p:nvPr>
        </p:nvSpPr>
        <p:spPr>
          <a:xfrm>
            <a:off x="311700" y="445025"/>
            <a:ext cx="816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Lato"/>
              <a:buNone/>
              <a:defRPr b="1" sz="24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3" name="Google Shape;43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●"/>
              <a:defRPr sz="1200">
                <a:latin typeface="Lato"/>
                <a:ea typeface="Lato"/>
                <a:cs typeface="Lato"/>
                <a:sym typeface="Lato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○"/>
              <a:defRPr sz="1200">
                <a:latin typeface="Lato"/>
                <a:ea typeface="Lato"/>
                <a:cs typeface="Lato"/>
                <a:sym typeface="Lato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■"/>
              <a:defRPr sz="1200">
                <a:latin typeface="Lato"/>
                <a:ea typeface="Lato"/>
                <a:cs typeface="Lato"/>
                <a:sym typeface="Lato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●"/>
              <a:defRPr sz="1200">
                <a:latin typeface="Lato"/>
                <a:ea typeface="Lato"/>
                <a:cs typeface="Lato"/>
                <a:sym typeface="Lato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○"/>
              <a:defRPr sz="1200">
                <a:latin typeface="Lato"/>
                <a:ea typeface="Lato"/>
                <a:cs typeface="Lato"/>
                <a:sym typeface="Lato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■"/>
              <a:defRPr sz="1200">
                <a:latin typeface="Lato"/>
                <a:ea typeface="Lato"/>
                <a:cs typeface="Lato"/>
                <a:sym typeface="Lato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●"/>
              <a:defRPr sz="1200">
                <a:latin typeface="Lato"/>
                <a:ea typeface="Lato"/>
                <a:cs typeface="Lato"/>
                <a:sym typeface="Lato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○"/>
              <a:defRPr sz="1200">
                <a:latin typeface="Lato"/>
                <a:ea typeface="Lato"/>
                <a:cs typeface="Lato"/>
                <a:sym typeface="Lato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■"/>
              <a:defRPr sz="12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44" name="Google Shape;44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USAC">
  <p:cSld name="MAIN_POIN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Font typeface="Lato"/>
              <a:buNone/>
              <a:defRPr b="1" sz="48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7" name="Google Shape;47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Font typeface="Lato"/>
              <a:buNone/>
              <a:defRPr b="1" sz="42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1" name="Google Shape;51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Lato"/>
              <a:buNone/>
              <a:defRPr sz="21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2" name="Google Shape;52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ato"/>
              <a:buChar char="●"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○"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■"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●"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○"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■"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●"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○"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■"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  <p:sp>
        <p:nvSpPr>
          <p:cNvPr id="56" name="Google Shape;56;p10"/>
          <p:cNvSpPr/>
          <p:nvPr/>
        </p:nvSpPr>
        <p:spPr>
          <a:xfrm>
            <a:off x="771300" y="4101875"/>
            <a:ext cx="7601400" cy="789300"/>
          </a:xfrm>
          <a:prstGeom prst="ellipseRibbon2">
            <a:avLst>
              <a:gd fmla="val 25000" name="adj1"/>
              <a:gd fmla="val 91057" name="adj2"/>
              <a:gd fmla="val 13560" name="adj3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7" name="Google Shape;57;p10"/>
          <p:cNvSpPr txBox="1"/>
          <p:nvPr/>
        </p:nvSpPr>
        <p:spPr>
          <a:xfrm>
            <a:off x="1727625" y="4148100"/>
            <a:ext cx="56457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Font typeface="Lato"/>
              <a:buNone/>
              <a:defRPr b="1" sz="120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Font typeface="Lato"/>
              <a:buNone/>
              <a:defRPr b="1" sz="12000"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Font typeface="Lato"/>
              <a:buNone/>
              <a:defRPr b="1" sz="12000"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Font typeface="Lato"/>
              <a:buNone/>
              <a:defRPr b="1" sz="12000"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Font typeface="Lato"/>
              <a:buNone/>
              <a:defRPr b="1" sz="12000"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Font typeface="Lato"/>
              <a:buNone/>
              <a:defRPr b="1" sz="12000"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Font typeface="Lato"/>
              <a:buNone/>
              <a:defRPr b="1" sz="12000"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Font typeface="Lato"/>
              <a:buNone/>
              <a:defRPr b="1" sz="12000"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Font typeface="Lato"/>
              <a:buNone/>
              <a:defRPr b="1" sz="12000"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60" name="Google Shape;60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Font typeface="Lato"/>
              <a:buChar char="●"/>
              <a:defRPr>
                <a:latin typeface="Lato"/>
                <a:ea typeface="Lato"/>
                <a:cs typeface="Lato"/>
                <a:sym typeface="Lato"/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○"/>
              <a:defRPr>
                <a:latin typeface="Lato"/>
                <a:ea typeface="Lato"/>
                <a:cs typeface="Lato"/>
                <a:sym typeface="Lato"/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■"/>
              <a:defRPr>
                <a:latin typeface="Lato"/>
                <a:ea typeface="Lato"/>
                <a:cs typeface="Lato"/>
                <a:sym typeface="Lato"/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  <a:defRPr>
                <a:latin typeface="Lato"/>
                <a:ea typeface="Lato"/>
                <a:cs typeface="Lato"/>
                <a:sym typeface="Lato"/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○"/>
              <a:defRPr>
                <a:latin typeface="Lato"/>
                <a:ea typeface="Lato"/>
                <a:cs typeface="Lato"/>
                <a:sym typeface="Lato"/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■"/>
              <a:defRPr>
                <a:latin typeface="Lato"/>
                <a:ea typeface="Lato"/>
                <a:cs typeface="Lato"/>
                <a:sym typeface="Lato"/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  <a:defRPr>
                <a:latin typeface="Lato"/>
                <a:ea typeface="Lato"/>
                <a:cs typeface="Lato"/>
                <a:sym typeface="Lato"/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○"/>
              <a:defRPr>
                <a:latin typeface="Lato"/>
                <a:ea typeface="Lato"/>
                <a:cs typeface="Lato"/>
                <a:sym typeface="Lato"/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■"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61" name="Google Shape;61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 spd="med">
    <p:fade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drive.google.com/file/d/1_y9I_auqpicGh7QwBXffskyl2siXiIh6/view?usp=sharing" TargetMode="External"/><Relationship Id="rId4" Type="http://schemas.openxmlformats.org/officeDocument/2006/relationships/hyperlink" Target="https://github.com/antlr/antlr4/blob/master/doc/actions.md" TargetMode="External"/><Relationship Id="rId5" Type="http://schemas.openxmlformats.org/officeDocument/2006/relationships/hyperlink" Target="https://refactoring.guru/es/design-patterns/visitor/php/example#example-1" TargetMode="External"/><Relationship Id="rId6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3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0" y="1"/>
            <a:ext cx="912700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3"/>
          <p:cNvSpPr/>
          <p:nvPr/>
        </p:nvSpPr>
        <p:spPr>
          <a:xfrm>
            <a:off x="1322625" y="2124250"/>
            <a:ext cx="5304900" cy="11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650" lIns="108650" spcFirstLastPara="1" rIns="108650" wrap="square" tIns="1086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419" sz="297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Organización de Lenguajes y Compiladores 2 </a:t>
            </a:r>
            <a:r>
              <a:rPr lang="es-419" sz="2971"/>
              <a:t>Sección A</a:t>
            </a:r>
            <a:endParaRPr b="0" i="0" sz="297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3"/>
          <p:cNvSpPr/>
          <p:nvPr/>
        </p:nvSpPr>
        <p:spPr>
          <a:xfrm>
            <a:off x="1623217" y="3118127"/>
            <a:ext cx="4956600" cy="5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650" lIns="108650" spcFirstLastPara="1" rIns="108650" wrap="square" tIns="1086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377"/>
              <a:t>Diego Felipe Cali Morales</a:t>
            </a:r>
            <a:endParaRPr b="0" i="0" sz="237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71" name="Google Shape;71;p13"/>
          <p:cNvGraphicFramePr/>
          <p:nvPr/>
        </p:nvGraphicFramePr>
        <p:xfrm>
          <a:off x="4932745" y="1021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{4AC1052D-7E77-4BC9-BAF3-11380543AB04}</a:tableStyleId>
              </a:tblPr>
              <a:tblGrid>
                <a:gridCol w="1643350"/>
                <a:gridCol w="2351375"/>
              </a:tblGrid>
              <a:tr h="379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Día, Fecha:</a:t>
                      </a:r>
                      <a:endParaRPr b="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50" marB="91450" marR="182150" marL="18215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419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Martes, </a:t>
                      </a:r>
                      <a:r>
                        <a:rPr lang="es-419"/>
                        <a:t>03</a:t>
                      </a:r>
                      <a:r>
                        <a:rPr b="0" lang="es-419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</a:t>
                      </a:r>
                      <a:r>
                        <a:rPr lang="es-419"/>
                        <a:t>02</a:t>
                      </a:r>
                      <a:r>
                        <a:rPr b="0" lang="es-419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/202</a:t>
                      </a:r>
                      <a:r>
                        <a:rPr lang="es-419"/>
                        <a:t>6</a:t>
                      </a:r>
                      <a:endParaRPr b="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50" marB="91450" marR="182150" marL="18215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6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Hora de inicio:</a:t>
                      </a:r>
                      <a:endParaRPr b="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50" marB="91450" marR="182150" marL="18215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17:00 hrs</a:t>
                      </a:r>
                      <a:endParaRPr b="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50" marB="91450" marR="182150" marL="18215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Interpretaci</a:t>
            </a:r>
            <a:r>
              <a:rPr lang="es-419"/>
              <a:t>ón de instrucciones básicas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➔"/>
            </a:pPr>
            <a:r>
              <a:rPr lang="es-419"/>
              <a:t>Definición dirigida por la </a:t>
            </a:r>
            <a:r>
              <a:rPr lang="es-419"/>
              <a:t>sintaxis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➔"/>
            </a:pPr>
            <a:r>
              <a:rPr lang="es-419"/>
              <a:t>Tipos de atributos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➔"/>
            </a:pPr>
            <a:r>
              <a:rPr lang="es-419"/>
              <a:t>Esquemas de traducción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➔"/>
            </a:pPr>
            <a:r>
              <a:rPr lang="es-419"/>
              <a:t>Esquemas de traducción en ANTLRv4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➔"/>
            </a:pPr>
            <a:r>
              <a:rPr lang="es-419"/>
              <a:t>¿Porque visitor y no dds?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➔"/>
            </a:pPr>
            <a:r>
              <a:rPr lang="es-419"/>
              <a:t>Ejemplo de visitor en ANTLRv4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Recordatorios:</a:t>
            </a:r>
            <a:endParaRPr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➔"/>
            </a:pPr>
            <a:r>
              <a:rPr b="1" lang="es-419"/>
              <a:t>Foro de esta semana</a:t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➔"/>
            </a:pPr>
            <a:r>
              <a:rPr b="1" lang="es-419"/>
              <a:t>Proyecto 1</a:t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➔"/>
            </a:pPr>
            <a:r>
              <a:rPr b="1" lang="es-419"/>
              <a:t>Tarea 1</a:t>
            </a:r>
            <a:endParaRPr b="1"/>
          </a:p>
        </p:txBody>
      </p:sp>
      <p:sp>
        <p:nvSpPr>
          <p:cNvPr id="82" name="Google Shape;82;p15"/>
          <p:cNvSpPr txBox="1"/>
          <p:nvPr>
            <p:ph idx="2" type="body"/>
          </p:nvPr>
        </p:nvSpPr>
        <p:spPr>
          <a:xfrm>
            <a:off x="4832400" y="1152475"/>
            <a:ext cx="3999900" cy="161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Recursos:</a:t>
            </a:r>
            <a:endParaRPr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➔"/>
            </a:pPr>
            <a:r>
              <a:rPr lang="es-419" u="sng">
                <a:solidFill>
                  <a:schemeClr val="hlink"/>
                </a:solidFill>
                <a:hlinkClick r:id="rId3"/>
              </a:rPr>
              <a:t>Video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➔"/>
            </a:pPr>
            <a:r>
              <a:rPr lang="es-419" u="sng">
                <a:solidFill>
                  <a:schemeClr val="hlink"/>
                </a:solidFill>
                <a:hlinkClick r:id="rId4"/>
              </a:rPr>
              <a:t>Acciones Semáticas en ANTLRv4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➔"/>
            </a:pPr>
            <a:r>
              <a:rPr lang="es-419" u="sng">
                <a:solidFill>
                  <a:schemeClr val="hlink"/>
                </a:solidFill>
                <a:hlinkClick r:id="rId5"/>
              </a:rPr>
              <a:t>Visitor</a:t>
            </a:r>
            <a:endParaRPr/>
          </a:p>
        </p:txBody>
      </p:sp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445025"/>
            <a:ext cx="816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Agenda</a:t>
            </a:r>
            <a:endParaRPr/>
          </a:p>
        </p:txBody>
      </p:sp>
      <p:sp>
        <p:nvSpPr>
          <p:cNvPr id="84" name="Google Shape;84;p15"/>
          <p:cNvSpPr/>
          <p:nvPr/>
        </p:nvSpPr>
        <p:spPr>
          <a:xfrm>
            <a:off x="3818104" y="1152485"/>
            <a:ext cx="753892" cy="872928"/>
          </a:xfrm>
          <a:custGeom>
            <a:rect b="b" l="l" r="r" t="t"/>
            <a:pathLst>
              <a:path extrusionOk="0" h="872928" w="753892">
                <a:moveTo>
                  <a:pt x="0" y="0"/>
                </a:moveTo>
                <a:lnTo>
                  <a:pt x="753892" y="0"/>
                </a:lnTo>
                <a:lnTo>
                  <a:pt x="753892" y="872927"/>
                </a:lnTo>
                <a:lnTo>
                  <a:pt x="0" y="8729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5" name="Google Shape;85;p15"/>
          <p:cNvSpPr txBox="1"/>
          <p:nvPr/>
        </p:nvSpPr>
        <p:spPr>
          <a:xfrm>
            <a:off x="4832400" y="2911975"/>
            <a:ext cx="3999900" cy="16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6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Valor:</a:t>
            </a:r>
            <a:endParaRPr sz="16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i="1" lang="es-419" sz="16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Responsabilidad profesional</a:t>
            </a:r>
            <a:endParaRPr i="1" sz="16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i="1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Es una gramática libre de contexto, junto con atributos y reglas.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b="1" lang="es-419"/>
              <a:t>Reglas: </a:t>
            </a:r>
            <a:r>
              <a:rPr lang="es-419"/>
              <a:t>Se </a:t>
            </a:r>
            <a:r>
              <a:rPr lang="es-419"/>
              <a:t>asocian</a:t>
            </a:r>
            <a:r>
              <a:rPr lang="es-419"/>
              <a:t> a una producción.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s-419"/>
              <a:t>Atributos: </a:t>
            </a:r>
            <a:r>
              <a:rPr lang="es-419"/>
              <a:t>Se asocian con símbolos </a:t>
            </a:r>
            <a:r>
              <a:rPr lang="es-419"/>
              <a:t>gramaticales</a:t>
            </a:r>
            <a:r>
              <a:rPr lang="es-419"/>
              <a:t>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i="1" lang="es-419"/>
              <a:t>Su notación…</a:t>
            </a:r>
            <a:endParaRPr i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i="1" lang="es-419"/>
              <a:t>Puede ser más legible, y por ende más útil para las especificaciones.</a:t>
            </a:r>
            <a:endParaRPr i="1"/>
          </a:p>
        </p:txBody>
      </p:sp>
      <p:sp>
        <p:nvSpPr>
          <p:cNvPr id="91" name="Google Shape;91;p16"/>
          <p:cNvSpPr txBox="1"/>
          <p:nvPr>
            <p:ph type="title"/>
          </p:nvPr>
        </p:nvSpPr>
        <p:spPr>
          <a:xfrm>
            <a:off x="311700" y="445025"/>
            <a:ext cx="816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s-419"/>
              <a:t>Definición dirigida por la sintaxis (DDS)</a:t>
            </a:r>
            <a:endParaRPr/>
          </a:p>
        </p:txBody>
      </p:sp>
      <p:graphicFrame>
        <p:nvGraphicFramePr>
          <p:cNvPr id="92" name="Google Shape;92;p16"/>
          <p:cNvGraphicFramePr/>
          <p:nvPr/>
        </p:nvGraphicFramePr>
        <p:xfrm>
          <a:off x="4767900" y="2108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{2C704850-4A55-4EAB-B7A3-EE9327551612}</a:tableStyleId>
              </a:tblPr>
              <a:tblGrid>
                <a:gridCol w="1999950"/>
                <a:gridCol w="1999950"/>
              </a:tblGrid>
              <a:tr h="348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>
                          <a:latin typeface="Lato"/>
                          <a:ea typeface="Lato"/>
                          <a:cs typeface="Lato"/>
                          <a:sym typeface="Lato"/>
                        </a:rPr>
                        <a:t>Producci</a:t>
                      </a:r>
                      <a:r>
                        <a:rPr b="1" lang="es-419">
                          <a:latin typeface="Lato"/>
                          <a:ea typeface="Lato"/>
                          <a:cs typeface="Lato"/>
                          <a:sym typeface="Lato"/>
                        </a:rPr>
                        <a:t>ón</a:t>
                      </a:r>
                      <a:endParaRPr b="1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>
                          <a:latin typeface="Lato"/>
                          <a:ea typeface="Lato"/>
                          <a:cs typeface="Lato"/>
                          <a:sym typeface="Lato"/>
                        </a:rPr>
                        <a:t>Regla</a:t>
                      </a:r>
                      <a:endParaRPr b="1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</a:tr>
              <a:tr h="530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latin typeface="Lato"/>
                          <a:ea typeface="Lato"/>
                          <a:cs typeface="Lato"/>
                          <a:sym typeface="Lato"/>
                        </a:rPr>
                        <a:t>S -&gt; S1 + T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latin typeface="Lato"/>
                          <a:ea typeface="Lato"/>
                          <a:cs typeface="Lato"/>
                          <a:sym typeface="Lato"/>
                        </a:rPr>
                        <a:t>S.val = S1.val + T.val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/>
              <a:t>Sintetizados:</a:t>
            </a:r>
            <a:endParaRPr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/>
              <a:t>Este se calcula de abajo hacia arriba en el árbol sintáctico: su valor en un nodo se define por una regla semántica asociada a la producción de ese nodo y depende únicamente de los atributos de sus hijos y del propio nodo, no de su padre ni de nodos externos.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/>
              <a:t>Heredados:</a:t>
            </a:r>
            <a:endParaRPr b="1"/>
          </a:p>
          <a:p>
            <a:pPr indent="0" lvl="0" marL="0" rtl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rPr lang="es-419"/>
              <a:t>Este se calcula de arriba hacia abajo en el árbol sintáctico: su valor en un nodo se define por una regla semántica asociada a la producción del nodo padre y depende de los atributos del padre, del propio nodo y de sus hermanos, no de los hijos.</a:t>
            </a:r>
            <a:endParaRPr/>
          </a:p>
        </p:txBody>
      </p:sp>
      <p:sp>
        <p:nvSpPr>
          <p:cNvPr id="99" name="Google Shape;99;p17"/>
          <p:cNvSpPr txBox="1"/>
          <p:nvPr>
            <p:ph type="title"/>
          </p:nvPr>
        </p:nvSpPr>
        <p:spPr>
          <a:xfrm>
            <a:off x="311700" y="445025"/>
            <a:ext cx="816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Tipos de Atributos	</a:t>
            </a:r>
            <a:endParaRPr/>
          </a:p>
        </p:txBody>
      </p:sp>
      <p:sp>
        <p:nvSpPr>
          <p:cNvPr id="100" name="Google Shape;100;p17"/>
          <p:cNvSpPr/>
          <p:nvPr/>
        </p:nvSpPr>
        <p:spPr>
          <a:xfrm>
            <a:off x="411900" y="3901525"/>
            <a:ext cx="3799493" cy="387263"/>
          </a:xfrm>
          <a:custGeom>
            <a:rect b="b" l="l" r="r" t="t"/>
            <a:pathLst>
              <a:path extrusionOk="0" h="710574" w="6358984">
                <a:moveTo>
                  <a:pt x="0" y="0"/>
                </a:moveTo>
                <a:lnTo>
                  <a:pt x="6358984" y="0"/>
                </a:lnTo>
                <a:lnTo>
                  <a:pt x="6358984" y="710575"/>
                </a:lnTo>
                <a:lnTo>
                  <a:pt x="0" y="7105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4539" l="0" r="0" t="-4530"/>
            </a:stretch>
          </a:blipFill>
          <a:ln>
            <a:noFill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8"/>
          <p:cNvSpPr txBox="1"/>
          <p:nvPr/>
        </p:nvSpPr>
        <p:spPr>
          <a:xfrm>
            <a:off x="1814400" y="4160900"/>
            <a:ext cx="5578800" cy="5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Ejemplos visuales</a:t>
            </a: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06" name="Google Shape;10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07138" y="152400"/>
            <a:ext cx="5329713" cy="385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9"/>
          <p:cNvSpPr txBox="1"/>
          <p:nvPr>
            <p:ph type="title"/>
          </p:nvPr>
        </p:nvSpPr>
        <p:spPr>
          <a:xfrm>
            <a:off x="311700" y="445025"/>
            <a:ext cx="816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Esquemas de traducción orientado por la sintaxis</a:t>
            </a:r>
            <a:endParaRPr/>
          </a:p>
        </p:txBody>
      </p:sp>
      <p:sp>
        <p:nvSpPr>
          <p:cNvPr id="112" name="Google Shape;112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Son una notación complementaria para las definiciones dirigidas a la sintaxis.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-419"/>
              <a:t>Características: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Toda DDS se puede implementar por esta notación.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Una acción en el cuerpo de una producción se ejecuta tan pronto como los símbolos gramaticales a la izquierda de la acción tengan coincidencias.</a:t>
            </a:r>
            <a:endParaRPr/>
          </a:p>
        </p:txBody>
      </p:sp>
      <p:sp>
        <p:nvSpPr>
          <p:cNvPr id="113" name="Google Shape;113;p19"/>
          <p:cNvSpPr/>
          <p:nvPr/>
        </p:nvSpPr>
        <p:spPr>
          <a:xfrm>
            <a:off x="2281225" y="3099100"/>
            <a:ext cx="4221537" cy="1466197"/>
          </a:xfrm>
          <a:custGeom>
            <a:rect b="b" l="l" r="r" t="t"/>
            <a:pathLst>
              <a:path extrusionOk="0" h="2992239" w="6596151">
                <a:moveTo>
                  <a:pt x="0" y="0"/>
                </a:moveTo>
                <a:lnTo>
                  <a:pt x="6596151" y="0"/>
                </a:lnTo>
                <a:lnTo>
                  <a:pt x="6596151" y="2992239"/>
                </a:lnTo>
                <a:lnTo>
                  <a:pt x="0" y="299223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0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En ANTLRv4, los esquemas de traducción se implementan mediante acciones semánticas incrustadas directamente en las producciones de la gramática.</a:t>
            </a:r>
            <a:endParaRPr/>
          </a:p>
          <a:p>
            <a:pPr indent="0" lvl="0" marL="0" rtl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rPr lang="es-419"/>
              <a:t>Estas acciones son fragmentos de código escritos en el lenguaje destino y se ejecutan en el momento exacto en que el reconocedor alcanza su posición dentro de la regla, lo que permite controlar explícitamente el orden de la traducción.</a:t>
            </a:r>
            <a:endParaRPr/>
          </a:p>
        </p:txBody>
      </p:sp>
      <p:sp>
        <p:nvSpPr>
          <p:cNvPr id="119" name="Google Shape;119;p20"/>
          <p:cNvSpPr txBox="1"/>
          <p:nvPr>
            <p:ph type="title"/>
          </p:nvPr>
        </p:nvSpPr>
        <p:spPr>
          <a:xfrm>
            <a:off x="311700" y="445025"/>
            <a:ext cx="816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Esquemas de traducción en ANTLRv4</a:t>
            </a:r>
            <a:endParaRPr/>
          </a:p>
        </p:txBody>
      </p:sp>
      <p:pic>
        <p:nvPicPr>
          <p:cNvPr id="120" name="Google Shape;12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4400" y="1355625"/>
            <a:ext cx="4267199" cy="24322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Atributos, reglas y tokens</a:t>
            </a:r>
            <a:endParaRPr/>
          </a:p>
        </p:txBody>
      </p:sp>
      <p:sp>
        <p:nvSpPr>
          <p:cNvPr id="126" name="Google Shape;126;p2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s-419" sz="1400"/>
              <a:t>Las reglas pueden declarar atributos sintetizados usando </a:t>
            </a:r>
            <a:r>
              <a:rPr b="1" lang="es-419" sz="1400"/>
              <a:t>returns</a:t>
            </a:r>
            <a:r>
              <a:rPr lang="es-419" sz="1400"/>
              <a:t>, y estos atributos se calculan combinando los valores producidos por reglas hijas, como en el conteo de paréntesis o en la generación de código para expresiones aritméticas. 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s-419" sz="1400"/>
              <a:t>El acceso a estos atributos se realiza mediante referencias como $a.count o $e.code, siempre que no exista ambigüedad y que las referencias estén correctamente etiquetadas en casos de recursión.</a:t>
            </a:r>
            <a:endParaRPr/>
          </a:p>
        </p:txBody>
      </p:sp>
      <p:pic>
        <p:nvPicPr>
          <p:cNvPr id="127" name="Google Shape;12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79525" y="721910"/>
            <a:ext cx="5482674" cy="3699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Ejemplo con ANTLRv4</a:t>
            </a:r>
            <a:endParaRPr/>
          </a:p>
        </p:txBody>
      </p:sp>
      <p:sp>
        <p:nvSpPr>
          <p:cNvPr id="133" name="Google Shape;133;p2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Apliquemos un esquema de traducción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¿Por qué usaremos un patrón visitor y no DDS?</a:t>
            </a:r>
            <a:endParaRPr/>
          </a:p>
        </p:txBody>
      </p:sp>
      <p:sp>
        <p:nvSpPr>
          <p:cNvPr id="139" name="Google Shape;139;p2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Decisión de diseño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4"/>
          <p:cNvSpPr txBox="1"/>
          <p:nvPr>
            <p:ph type="title"/>
          </p:nvPr>
        </p:nvSpPr>
        <p:spPr>
          <a:xfrm>
            <a:off x="311700" y="445025"/>
            <a:ext cx="816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Introducción a Visitor</a:t>
            </a:r>
            <a:endParaRPr/>
          </a:p>
        </p:txBody>
      </p:sp>
      <p:sp>
        <p:nvSpPr>
          <p:cNvPr id="145" name="Google Shape;145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6" name="Google Shape;14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6" y="1152475"/>
            <a:ext cx="3904467" cy="3416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16175" y="1643425"/>
            <a:ext cx="4869000" cy="243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Ejemplo visitor con ANTLRv4</a:t>
            </a:r>
            <a:endParaRPr/>
          </a:p>
        </p:txBody>
      </p:sp>
      <p:sp>
        <p:nvSpPr>
          <p:cNvPr id="153" name="Google Shape;153;p2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Veamos cómo mejoramos el código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