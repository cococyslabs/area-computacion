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Lobster"/>
      <p:regular r:id="rId24"/>
    </p:embeddedFont>
    <p:embeddedFont>
      <p:font typeface="Pacifico"/>
      <p:regular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69BFDA-9655-4A76-AC7E-88412CE81E48}">
  <a:tblStyle styleId="{D669BFDA-9655-4A76-AC7E-88412CE81E4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obster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Pacifico-regular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f8f2f4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ff8f2f48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ff8f2f48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6ff8f2f48c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3419546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934195461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refactoring.guru/es/design-patterns/visitor" TargetMode="External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{D669BFDA-9655-4A76-AC7E-88412CE81E48}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03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02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[</a:t>
            </a:r>
            <a:r>
              <a:rPr lang="en-US" sz="5000"/>
              <a:t>B</a:t>
            </a: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Rubén Alejandro Ralda Mejia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8588049" y="1768245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5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15"/>
          <p:cNvGrpSpPr/>
          <p:nvPr/>
        </p:nvGrpSpPr>
        <p:grpSpPr>
          <a:xfrm rot="1383774">
            <a:off x="8485994" y="522260"/>
            <a:ext cx="11226909" cy="14341591"/>
            <a:chOff x="0" y="0"/>
            <a:chExt cx="2956881" cy="3777209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2956881" cy="3777209"/>
            </a:xfrm>
            <a:custGeom>
              <a:rect b="b" l="l" r="r" t="t"/>
              <a:pathLst>
                <a:path extrusionOk="0"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0" name="Google Shape;100;p15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5"/>
          <p:cNvSpPr txBox="1"/>
          <p:nvPr/>
        </p:nvSpPr>
        <p:spPr>
          <a:xfrm>
            <a:off x="2054469" y="2529413"/>
            <a:ext cx="15087900" cy="49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Interpretación de instrucciones básicas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795032" y="930452"/>
            <a:ext cx="4330517" cy="647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054482" y="8596478"/>
            <a:ext cx="6970279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Ciencias y Sistemas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054482" y="9064947"/>
            <a:ext cx="5466833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054482" y="9521109"/>
            <a:ext cx="7388893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6"/>
          <p:cNvGrpSpPr/>
          <p:nvPr/>
        </p:nvGrpSpPr>
        <p:grpSpPr>
          <a:xfrm>
            <a:off x="176619" y="4520484"/>
            <a:ext cx="4613562" cy="845568"/>
            <a:chOff x="0" y="-76200"/>
            <a:chExt cx="1964221" cy="3600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DDS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6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16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16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6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6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11739805" y="2798631"/>
            <a:ext cx="5353682" cy="1701155"/>
            <a:chOff x="0" y="-114300"/>
            <a:chExt cx="1410014" cy="448038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2" name="Google Shape;122;p16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12037555" y="2798630"/>
            <a:ext cx="5353682" cy="1701155"/>
            <a:chOff x="0" y="-114300"/>
            <a:chExt cx="1410014" cy="448038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5" name="Google Shape;125;p16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3300" u="sng">
                  <a:solidFill>
                    <a:schemeClr val="hlink"/>
                  </a:solidFill>
                  <a:hlinkClick r:id="rId5"/>
                </a:rPr>
                <a:t>Visitor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1405644" y="5473177"/>
            <a:ext cx="4811287" cy="845568"/>
            <a:chOff x="-84181" y="-76200"/>
            <a:chExt cx="2048402" cy="3600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8" name="Google Shape;128;p16"/>
            <p:cNvSpPr txBox="1"/>
            <p:nvPr/>
          </p:nvSpPr>
          <p:spPr>
            <a:xfrm>
              <a:off x="-84181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Atributos sintetizados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16"/>
          <p:cNvSpPr txBox="1"/>
          <p:nvPr/>
        </p:nvSpPr>
        <p:spPr>
          <a:xfrm>
            <a:off x="1638882" y="6503875"/>
            <a:ext cx="43449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/>
              <a:t>Gráficos de dependencias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6"/>
          <p:cNvGrpSpPr/>
          <p:nvPr/>
        </p:nvGrpSpPr>
        <p:grpSpPr>
          <a:xfrm>
            <a:off x="176619" y="8412915"/>
            <a:ext cx="4613562" cy="845568"/>
            <a:chOff x="0" y="-76200"/>
            <a:chExt cx="1964221" cy="360000"/>
          </a:xfrm>
        </p:grpSpPr>
        <p:sp>
          <p:nvSpPr>
            <p:cNvPr id="131" name="Google Shape;131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Ejemplo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6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6"/>
          <p:cNvGrpSpPr/>
          <p:nvPr/>
        </p:nvGrpSpPr>
        <p:grpSpPr>
          <a:xfrm>
            <a:off x="651744" y="7458469"/>
            <a:ext cx="5573835" cy="845568"/>
            <a:chOff x="0" y="-29788"/>
            <a:chExt cx="2373057" cy="360000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6" name="Google Shape;136;p16"/>
            <p:cNvSpPr txBox="1"/>
            <p:nvPr/>
          </p:nvSpPr>
          <p:spPr>
            <a:xfrm>
              <a:off x="523257" y="-2978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Esquemas de traducción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16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16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6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6"/>
          <p:cNvSpPr/>
          <p:nvPr/>
        </p:nvSpPr>
        <p:spPr>
          <a:xfrm>
            <a:off x="11802775" y="4962995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12401804" y="6751913"/>
            <a:ext cx="3428400" cy="17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Tene</a:t>
            </a: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os enunciado</a:t>
            </a:r>
            <a:endParaRPr sz="224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lang="en-US" sz="224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Primera tarea</a:t>
            </a:r>
            <a:endParaRPr sz="224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sz="224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sz="224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7" name="Google Shape;147;p17"/>
          <p:cNvGrpSpPr/>
          <p:nvPr/>
        </p:nvGrpSpPr>
        <p:grpSpPr>
          <a:xfrm>
            <a:off x="665383" y="5453302"/>
            <a:ext cx="7089518" cy="3309700"/>
            <a:chOff x="0" y="0"/>
            <a:chExt cx="1867198" cy="87169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17"/>
          <p:cNvGrpSpPr/>
          <p:nvPr/>
        </p:nvGrpSpPr>
        <p:grpSpPr>
          <a:xfrm>
            <a:off x="9929459" y="6783779"/>
            <a:ext cx="6583028" cy="1771650"/>
            <a:chOff x="0" y="0"/>
            <a:chExt cx="1733801" cy="466607"/>
          </a:xfrm>
        </p:grpSpPr>
        <p:sp>
          <p:nvSpPr>
            <p:cNvPr id="151" name="Google Shape;151;p17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10284190" y="1525469"/>
            <a:ext cx="6583028" cy="4515361"/>
            <a:chOff x="0" y="0"/>
            <a:chExt cx="1733801" cy="1189231"/>
          </a:xfrm>
        </p:grpSpPr>
        <p:sp>
          <p:nvSpPr>
            <p:cNvPr id="154" name="Google Shape;154;p17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1324347" y="6198006"/>
            <a:ext cx="224656" cy="224656"/>
            <a:chOff x="0" y="0"/>
            <a:chExt cx="812800" cy="812800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10900555" y="2205520"/>
            <a:ext cx="517587" cy="517587"/>
            <a:chOff x="0" y="0"/>
            <a:chExt cx="812800" cy="812800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7"/>
          <p:cNvSpPr/>
          <p:nvPr/>
        </p:nvSpPr>
        <p:spPr>
          <a:xfrm>
            <a:off x="10972007" y="2289958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17"/>
          <p:cNvGrpSpPr/>
          <p:nvPr/>
        </p:nvGrpSpPr>
        <p:grpSpPr>
          <a:xfrm>
            <a:off x="1349460" y="7128119"/>
            <a:ext cx="224656" cy="224656"/>
            <a:chOff x="0" y="0"/>
            <a:chExt cx="812800" cy="812800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 rot="10800000">
            <a:off x="11048200" y="3954469"/>
            <a:ext cx="1243438" cy="1243438"/>
            <a:chOff x="0" y="0"/>
            <a:chExt cx="812800" cy="812800"/>
          </a:xfrm>
        </p:grpSpPr>
        <p:sp>
          <p:nvSpPr>
            <p:cNvPr id="167" name="Google Shape;167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</p:sp>
        <p:sp>
          <p:nvSpPr>
            <p:cNvPr id="168" name="Google Shape;168;p17"/>
            <p:cNvSpPr txBox="1"/>
            <p:nvPr/>
          </p:nvSpPr>
          <p:spPr>
            <a:xfrm>
              <a:off x="203200" y="19050"/>
              <a:ext cx="406400" cy="692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7"/>
          <p:cNvGrpSpPr/>
          <p:nvPr/>
        </p:nvGrpSpPr>
        <p:grpSpPr>
          <a:xfrm rot="10800000">
            <a:off x="14693100" y="3954469"/>
            <a:ext cx="1243438" cy="1243438"/>
            <a:chOff x="0" y="0"/>
            <a:chExt cx="812800" cy="812800"/>
          </a:xfrm>
        </p:grpSpPr>
        <p:sp>
          <p:nvSpPr>
            <p:cNvPr id="170" name="Google Shape;170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</p:sp>
        <p:sp>
          <p:nvSpPr>
            <p:cNvPr id="171" name="Google Shape;171;p17"/>
            <p:cNvSpPr txBox="1"/>
            <p:nvPr/>
          </p:nvSpPr>
          <p:spPr>
            <a:xfrm>
              <a:off x="203200" y="19050"/>
              <a:ext cx="406400" cy="692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17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12225" y="1866348"/>
            <a:ext cx="85893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dirigida por la sintaxis (DDS)</a:t>
            </a:r>
            <a:endParaRPr sz="900"/>
          </a:p>
        </p:txBody>
      </p:sp>
      <p:sp>
        <p:nvSpPr>
          <p:cNvPr id="174" name="Google Shape;174;p17"/>
          <p:cNvSpPr txBox="1"/>
          <p:nvPr/>
        </p:nvSpPr>
        <p:spPr>
          <a:xfrm>
            <a:off x="1709659" y="6130085"/>
            <a:ext cx="122946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669701" y="7105325"/>
            <a:ext cx="60135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Información de la notación DDS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709659" y="6539138"/>
            <a:ext cx="5708731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asocian a una producción.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12225" y="4215084"/>
            <a:ext cx="6013469" cy="695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una gramática libre de contexto, junto con atributos y reglas. 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709659" y="7118594"/>
            <a:ext cx="122946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709659" y="7526351"/>
            <a:ext cx="5708731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asocian con los símbolos gramaticales.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0671555" y="7600198"/>
            <a:ext cx="5189980" cy="614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Pueden ser más legibles, y</a:t>
            </a:r>
            <a:endParaRPr/>
          </a:p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ende más útiles para las especificaciones.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457926" y="3223050"/>
            <a:ext cx="2424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S → S_1 + T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941870" y="5367691"/>
            <a:ext cx="170571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3342605" y="3221432"/>
            <a:ext cx="34008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S.val =</a:t>
            </a: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S_1.val + T.val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4962156" y="5310432"/>
            <a:ext cx="170571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4461977" y="2683300"/>
            <a:ext cx="1399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18"/>
          <p:cNvGrpSpPr/>
          <p:nvPr/>
        </p:nvGrpSpPr>
        <p:grpSpPr>
          <a:xfrm>
            <a:off x="1028700" y="2752454"/>
            <a:ext cx="7303106" cy="5966196"/>
            <a:chOff x="0" y="0"/>
            <a:chExt cx="1923452" cy="1571344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1923452" cy="1571344"/>
            </a:xfrm>
            <a:custGeom>
              <a:rect b="b" l="l" r="r" t="t"/>
              <a:pathLst>
                <a:path extrusionOk="0" h="1571344" w="1923452">
                  <a:moveTo>
                    <a:pt x="40283" y="0"/>
                  </a:moveTo>
                  <a:lnTo>
                    <a:pt x="1883169" y="0"/>
                  </a:lnTo>
                  <a:cubicBezTo>
                    <a:pt x="1893852" y="0"/>
                    <a:pt x="1904099" y="4244"/>
                    <a:pt x="1911653" y="11799"/>
                  </a:cubicBezTo>
                  <a:cubicBezTo>
                    <a:pt x="1919208" y="19353"/>
                    <a:pt x="1923452" y="29599"/>
                    <a:pt x="1923452" y="40283"/>
                  </a:cubicBezTo>
                  <a:lnTo>
                    <a:pt x="1923452" y="1531061"/>
                  </a:lnTo>
                  <a:cubicBezTo>
                    <a:pt x="1923452" y="1541744"/>
                    <a:pt x="1919208" y="1551991"/>
                    <a:pt x="1911653" y="1559545"/>
                  </a:cubicBezTo>
                  <a:cubicBezTo>
                    <a:pt x="1904099" y="1567100"/>
                    <a:pt x="1893852" y="1571344"/>
                    <a:pt x="1883169" y="1571344"/>
                  </a:cubicBezTo>
                  <a:lnTo>
                    <a:pt x="40283" y="1571344"/>
                  </a:lnTo>
                  <a:cubicBezTo>
                    <a:pt x="29599" y="1571344"/>
                    <a:pt x="19353" y="1567100"/>
                    <a:pt x="11799" y="1559545"/>
                  </a:cubicBezTo>
                  <a:cubicBezTo>
                    <a:pt x="4244" y="1551991"/>
                    <a:pt x="0" y="1541744"/>
                    <a:pt x="0" y="1531061"/>
                  </a:cubicBezTo>
                  <a:lnTo>
                    <a:pt x="0" y="40283"/>
                  </a:lnTo>
                  <a:cubicBezTo>
                    <a:pt x="0" y="29599"/>
                    <a:pt x="4244" y="19353"/>
                    <a:pt x="11799" y="11799"/>
                  </a:cubicBezTo>
                  <a:cubicBezTo>
                    <a:pt x="19353" y="4244"/>
                    <a:pt x="29599" y="0"/>
                    <a:pt x="4028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0" y="19050"/>
              <a:ext cx="1923452" cy="1552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8935030" y="2752454"/>
            <a:ext cx="7570867" cy="5966196"/>
            <a:chOff x="0" y="0"/>
            <a:chExt cx="1993973" cy="1571344"/>
          </a:xfrm>
        </p:grpSpPr>
        <p:sp>
          <p:nvSpPr>
            <p:cNvPr id="195" name="Google Shape;195;p18"/>
            <p:cNvSpPr/>
            <p:nvPr/>
          </p:nvSpPr>
          <p:spPr>
            <a:xfrm>
              <a:off x="0" y="0"/>
              <a:ext cx="1993973" cy="1571344"/>
            </a:xfrm>
            <a:custGeom>
              <a:rect b="b" l="l" r="r" t="t"/>
              <a:pathLst>
                <a:path extrusionOk="0" h="1571344" w="1993973">
                  <a:moveTo>
                    <a:pt x="38859" y="0"/>
                  </a:moveTo>
                  <a:lnTo>
                    <a:pt x="1955115" y="0"/>
                  </a:lnTo>
                  <a:cubicBezTo>
                    <a:pt x="1976575" y="0"/>
                    <a:pt x="1993973" y="17398"/>
                    <a:pt x="1993973" y="38859"/>
                  </a:cubicBezTo>
                  <a:lnTo>
                    <a:pt x="1993973" y="1532485"/>
                  </a:lnTo>
                  <a:cubicBezTo>
                    <a:pt x="1993973" y="1553946"/>
                    <a:pt x="1976575" y="1571344"/>
                    <a:pt x="1955115" y="1571344"/>
                  </a:cubicBezTo>
                  <a:lnTo>
                    <a:pt x="38859" y="1571344"/>
                  </a:lnTo>
                  <a:cubicBezTo>
                    <a:pt x="17398" y="1571344"/>
                    <a:pt x="0" y="1553946"/>
                    <a:pt x="0" y="1532485"/>
                  </a:cubicBezTo>
                  <a:lnTo>
                    <a:pt x="0" y="38859"/>
                  </a:lnTo>
                  <a:cubicBezTo>
                    <a:pt x="0" y="17398"/>
                    <a:pt x="17398" y="0"/>
                    <a:pt x="3885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0" y="19050"/>
              <a:ext cx="1993973" cy="1552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1688682" y="3465947"/>
            <a:ext cx="224656" cy="224656"/>
            <a:chOff x="0" y="0"/>
            <a:chExt cx="812800" cy="8128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18"/>
          <p:cNvGrpSpPr/>
          <p:nvPr/>
        </p:nvGrpSpPr>
        <p:grpSpPr>
          <a:xfrm>
            <a:off x="9383559" y="3472889"/>
            <a:ext cx="210772" cy="210772"/>
            <a:chOff x="0" y="0"/>
            <a:chExt cx="812800" cy="812800"/>
          </a:xfrm>
        </p:grpSpPr>
        <p:sp>
          <p:nvSpPr>
            <p:cNvPr id="201" name="Google Shape;201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8"/>
          <p:cNvGrpSpPr/>
          <p:nvPr/>
        </p:nvGrpSpPr>
        <p:grpSpPr>
          <a:xfrm>
            <a:off x="1913360" y="7182646"/>
            <a:ext cx="224658" cy="224658"/>
            <a:chOff x="0" y="0"/>
            <a:chExt cx="812800" cy="812800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8"/>
          <p:cNvSpPr/>
          <p:nvPr/>
        </p:nvSpPr>
        <p:spPr>
          <a:xfrm>
            <a:off x="1688667" y="7680382"/>
            <a:ext cx="6358984" cy="710574"/>
          </a:xfrm>
          <a:custGeom>
            <a:rect b="b" l="l" r="r" t="t"/>
            <a:pathLst>
              <a:path extrusionOk="0" h="710574" w="6358984">
                <a:moveTo>
                  <a:pt x="0" y="0"/>
                </a:moveTo>
                <a:lnTo>
                  <a:pt x="6358984" y="0"/>
                </a:lnTo>
                <a:lnTo>
                  <a:pt x="6358984" y="710575"/>
                </a:lnTo>
                <a:lnTo>
                  <a:pt x="0" y="710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533" l="0" r="0" t="-4533"/>
            </a:stretch>
          </a:blipFill>
          <a:ln>
            <a:noFill/>
          </a:ln>
        </p:spPr>
      </p:sp>
      <p:sp>
        <p:nvSpPr>
          <p:cNvPr id="207" name="Google Shape;207;p18"/>
          <p:cNvSpPr txBox="1"/>
          <p:nvPr/>
        </p:nvSpPr>
        <p:spPr>
          <a:xfrm>
            <a:off x="1913338" y="1320423"/>
            <a:ext cx="8210853" cy="111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Atributos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2334234" y="7163596"/>
            <a:ext cx="1696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9784822" y="3446900"/>
            <a:ext cx="3437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del libro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2101741" y="3446897"/>
            <a:ext cx="4888113" cy="32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del libro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1413140" y="3757629"/>
            <a:ext cx="5984096" cy="269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atributo sintetizado para un no terminal A en un nodo N de un árbol sintáctico se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 mediante una regla semántica asociada con la producción en N. Observe que la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producción debe tener a A como su encabezado. Un atributo sintetizado en el nodo N se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 sólo en términos de los valores de los atributos en el hijo de N, y en el mismo N.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1413140" y="2941055"/>
            <a:ext cx="221730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Sintetizados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383559" y="2941055"/>
            <a:ext cx="221730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Heredados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9383559" y="3757629"/>
            <a:ext cx="65301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atributo heredado para un no terminal B en el nodo N de un árbol de análisis sintáctico se define mediante una regla semántica asociada con la producción en el padre de N.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Observe que la producción debe tener a B como un símbolo en su cuerpo. Un atributo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heredado en el nodo N se define sólo en términos de los valores de los atributos en el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padre de N, en el mismo N y en sus hermanos.</a:t>
            </a:r>
            <a:endParaRPr/>
          </a:p>
        </p:txBody>
      </p:sp>
      <p:grpSp>
        <p:nvGrpSpPr>
          <p:cNvPr id="215" name="Google Shape;215;p18"/>
          <p:cNvGrpSpPr/>
          <p:nvPr/>
        </p:nvGrpSpPr>
        <p:grpSpPr>
          <a:xfrm>
            <a:off x="9483305" y="7150271"/>
            <a:ext cx="224658" cy="224658"/>
            <a:chOff x="0" y="0"/>
            <a:chExt cx="812800" cy="812800"/>
          </a:xfrm>
        </p:grpSpPr>
        <p:sp>
          <p:nvSpPr>
            <p:cNvPr id="216" name="Google Shape;21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8"/>
          <p:cNvSpPr txBox="1"/>
          <p:nvPr/>
        </p:nvSpPr>
        <p:spPr>
          <a:xfrm>
            <a:off x="9904179" y="7131221"/>
            <a:ext cx="1696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Explicación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9594331" y="7171189"/>
            <a:ext cx="6822282" cy="129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Dado un término x ∗ y ∗ z, la raíz del</a:t>
            </a:r>
            <a:endParaRPr/>
          </a:p>
          <a:p>
            <a:pPr indent="0" lvl="0" marL="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subárbol para ∗ y ∗ z hereda a x. Entonces, la raíz del subárbol para ∗ z hereda el valor de x ∗ y,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5" name="Google Shape;225;p19"/>
          <p:cNvGrpSpPr/>
          <p:nvPr/>
        </p:nvGrpSpPr>
        <p:grpSpPr>
          <a:xfrm>
            <a:off x="1795032" y="3184151"/>
            <a:ext cx="13804957" cy="5369711"/>
            <a:chOff x="0" y="0"/>
            <a:chExt cx="3635873" cy="1414245"/>
          </a:xfrm>
        </p:grpSpPr>
        <p:sp>
          <p:nvSpPr>
            <p:cNvPr id="226" name="Google Shape;226;p19"/>
            <p:cNvSpPr/>
            <p:nvPr/>
          </p:nvSpPr>
          <p:spPr>
            <a:xfrm>
              <a:off x="0" y="0"/>
              <a:ext cx="3635873" cy="1414245"/>
            </a:xfrm>
            <a:custGeom>
              <a:rect b="b" l="l" r="r" t="t"/>
              <a:pathLst>
                <a:path extrusionOk="0" h="1414245" w="3635873">
                  <a:moveTo>
                    <a:pt x="21311" y="0"/>
                  </a:moveTo>
                  <a:lnTo>
                    <a:pt x="3614563" y="0"/>
                  </a:lnTo>
                  <a:cubicBezTo>
                    <a:pt x="3620215" y="0"/>
                    <a:pt x="3625635" y="2245"/>
                    <a:pt x="3629632" y="6242"/>
                  </a:cubicBezTo>
                  <a:cubicBezTo>
                    <a:pt x="3633628" y="10238"/>
                    <a:pt x="3635873" y="15659"/>
                    <a:pt x="3635873" y="21311"/>
                  </a:cubicBezTo>
                  <a:lnTo>
                    <a:pt x="3635873" y="1392934"/>
                  </a:lnTo>
                  <a:cubicBezTo>
                    <a:pt x="3635873" y="1404704"/>
                    <a:pt x="3626332" y="1414245"/>
                    <a:pt x="3614563" y="1414245"/>
                  </a:cubicBezTo>
                  <a:lnTo>
                    <a:pt x="21311" y="1414245"/>
                  </a:lnTo>
                  <a:cubicBezTo>
                    <a:pt x="9541" y="1414245"/>
                    <a:pt x="0" y="1404704"/>
                    <a:pt x="0" y="1392934"/>
                  </a:cubicBezTo>
                  <a:lnTo>
                    <a:pt x="0" y="21311"/>
                  </a:lnTo>
                  <a:cubicBezTo>
                    <a:pt x="0" y="9541"/>
                    <a:pt x="9541" y="0"/>
                    <a:pt x="2131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 txBox="1"/>
            <p:nvPr/>
          </p:nvSpPr>
          <p:spPr>
            <a:xfrm>
              <a:off x="0" y="19050"/>
              <a:ext cx="3635873" cy="1395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9"/>
          <p:cNvSpPr/>
          <p:nvPr/>
        </p:nvSpPr>
        <p:spPr>
          <a:xfrm>
            <a:off x="3360668" y="3604839"/>
            <a:ext cx="11110919" cy="4528337"/>
          </a:xfrm>
          <a:custGeom>
            <a:rect b="b" l="l" r="r" t="t"/>
            <a:pathLst>
              <a:path extrusionOk="0" h="4528337" w="11110919">
                <a:moveTo>
                  <a:pt x="0" y="0"/>
                </a:moveTo>
                <a:lnTo>
                  <a:pt x="11110919" y="0"/>
                </a:lnTo>
                <a:lnTo>
                  <a:pt x="11110919" y="4528336"/>
                </a:lnTo>
                <a:lnTo>
                  <a:pt x="0" y="4528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9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3360668" y="533916"/>
            <a:ext cx="141912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dirigida por la sintaxis con atributos sintetizados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6" name="Google Shape;236;p20"/>
          <p:cNvGrpSpPr/>
          <p:nvPr/>
        </p:nvGrpSpPr>
        <p:grpSpPr>
          <a:xfrm>
            <a:off x="9340969" y="1911326"/>
            <a:ext cx="8184931" cy="6771493"/>
            <a:chOff x="0" y="0"/>
            <a:chExt cx="2155702" cy="1783438"/>
          </a:xfrm>
        </p:grpSpPr>
        <p:sp>
          <p:nvSpPr>
            <p:cNvPr id="237" name="Google Shape;237;p20"/>
            <p:cNvSpPr/>
            <p:nvPr/>
          </p:nvSpPr>
          <p:spPr>
            <a:xfrm>
              <a:off x="0" y="0"/>
              <a:ext cx="2155702" cy="1783438"/>
            </a:xfrm>
            <a:custGeom>
              <a:rect b="b" l="l" r="r" t="t"/>
              <a:pathLst>
                <a:path extrusionOk="0" h="1783438" w="2155702">
                  <a:moveTo>
                    <a:pt x="35943" y="0"/>
                  </a:moveTo>
                  <a:lnTo>
                    <a:pt x="2119759" y="0"/>
                  </a:lnTo>
                  <a:cubicBezTo>
                    <a:pt x="2129292" y="0"/>
                    <a:pt x="2138434" y="3787"/>
                    <a:pt x="2145175" y="10528"/>
                  </a:cubicBezTo>
                  <a:cubicBezTo>
                    <a:pt x="2151915" y="17268"/>
                    <a:pt x="2155702" y="26411"/>
                    <a:pt x="2155702" y="35943"/>
                  </a:cubicBezTo>
                  <a:lnTo>
                    <a:pt x="2155702" y="1747495"/>
                  </a:lnTo>
                  <a:cubicBezTo>
                    <a:pt x="2155702" y="1767346"/>
                    <a:pt x="2139610" y="1783438"/>
                    <a:pt x="2119759" y="1783438"/>
                  </a:cubicBezTo>
                  <a:lnTo>
                    <a:pt x="35943" y="1783438"/>
                  </a:lnTo>
                  <a:cubicBezTo>
                    <a:pt x="16092" y="1783438"/>
                    <a:pt x="0" y="1767346"/>
                    <a:pt x="0" y="1747495"/>
                  </a:cubicBezTo>
                  <a:lnTo>
                    <a:pt x="0" y="35943"/>
                  </a:lnTo>
                  <a:cubicBezTo>
                    <a:pt x="0" y="16092"/>
                    <a:pt x="16092" y="0"/>
                    <a:pt x="3594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0" y="19050"/>
              <a:ext cx="2155702" cy="1764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>
            <a:off x="9784519" y="2669880"/>
            <a:ext cx="216568" cy="216568"/>
            <a:chOff x="0" y="0"/>
            <a:chExt cx="812800" cy="812800"/>
          </a:xfrm>
        </p:grpSpPr>
        <p:sp>
          <p:nvSpPr>
            <p:cNvPr id="240" name="Google Shape;240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1324347" y="4811103"/>
            <a:ext cx="7276407" cy="4377759"/>
            <a:chOff x="0" y="0"/>
            <a:chExt cx="1916420" cy="1152990"/>
          </a:xfrm>
        </p:grpSpPr>
        <p:sp>
          <p:nvSpPr>
            <p:cNvPr id="243" name="Google Shape;243;p20"/>
            <p:cNvSpPr/>
            <p:nvPr/>
          </p:nvSpPr>
          <p:spPr>
            <a:xfrm>
              <a:off x="0" y="0"/>
              <a:ext cx="1916420" cy="1152990"/>
            </a:xfrm>
            <a:custGeom>
              <a:rect b="b" l="l" r="r" t="t"/>
              <a:pathLst>
                <a:path extrusionOk="0" h="1152990" w="1916420">
                  <a:moveTo>
                    <a:pt x="40431" y="0"/>
                  </a:moveTo>
                  <a:lnTo>
                    <a:pt x="1875989" y="0"/>
                  </a:lnTo>
                  <a:cubicBezTo>
                    <a:pt x="1886712" y="0"/>
                    <a:pt x="1896996" y="4260"/>
                    <a:pt x="1904578" y="11842"/>
                  </a:cubicBezTo>
                  <a:cubicBezTo>
                    <a:pt x="1912160" y="19424"/>
                    <a:pt x="1916420" y="29708"/>
                    <a:pt x="1916420" y="40431"/>
                  </a:cubicBezTo>
                  <a:lnTo>
                    <a:pt x="1916420" y="1112559"/>
                  </a:lnTo>
                  <a:cubicBezTo>
                    <a:pt x="1916420" y="1134888"/>
                    <a:pt x="1898318" y="1152990"/>
                    <a:pt x="1875989" y="1152990"/>
                  </a:cubicBezTo>
                  <a:lnTo>
                    <a:pt x="40431" y="1152990"/>
                  </a:lnTo>
                  <a:cubicBezTo>
                    <a:pt x="29708" y="1152990"/>
                    <a:pt x="19424" y="1148730"/>
                    <a:pt x="11842" y="1141148"/>
                  </a:cubicBezTo>
                  <a:cubicBezTo>
                    <a:pt x="4260" y="1133566"/>
                    <a:pt x="0" y="1123282"/>
                    <a:pt x="0" y="1112559"/>
                  </a:cubicBezTo>
                  <a:lnTo>
                    <a:pt x="0" y="40431"/>
                  </a:lnTo>
                  <a:cubicBezTo>
                    <a:pt x="0" y="29708"/>
                    <a:pt x="4260" y="19424"/>
                    <a:pt x="11842" y="11842"/>
                  </a:cubicBezTo>
                  <a:cubicBezTo>
                    <a:pt x="19424" y="4260"/>
                    <a:pt x="29708" y="0"/>
                    <a:pt x="4043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0" y="19050"/>
              <a:ext cx="1916420" cy="1133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20"/>
          <p:cNvGrpSpPr/>
          <p:nvPr/>
        </p:nvGrpSpPr>
        <p:grpSpPr>
          <a:xfrm>
            <a:off x="1781963" y="5031172"/>
            <a:ext cx="224656" cy="224656"/>
            <a:chOff x="0" y="0"/>
            <a:chExt cx="812800" cy="812800"/>
          </a:xfrm>
        </p:grpSpPr>
        <p:sp>
          <p:nvSpPr>
            <p:cNvPr id="246" name="Google Shape;246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20"/>
          <p:cNvSpPr/>
          <p:nvPr/>
        </p:nvSpPr>
        <p:spPr>
          <a:xfrm>
            <a:off x="10277031" y="3236001"/>
            <a:ext cx="6653710" cy="4560039"/>
          </a:xfrm>
          <a:custGeom>
            <a:rect b="b" l="l" r="r" t="t"/>
            <a:pathLst>
              <a:path extrusionOk="0" h="4560039" w="6653710">
                <a:moveTo>
                  <a:pt x="0" y="0"/>
                </a:moveTo>
                <a:lnTo>
                  <a:pt x="6653711" y="0"/>
                </a:lnTo>
                <a:lnTo>
                  <a:pt x="6653711" y="4560039"/>
                </a:lnTo>
                <a:lnTo>
                  <a:pt x="0" y="45600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20"/>
          <p:cNvSpPr txBox="1"/>
          <p:nvPr/>
        </p:nvSpPr>
        <p:spPr>
          <a:xfrm>
            <a:off x="1894291" y="573381"/>
            <a:ext cx="9747716" cy="206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Árbol de análisis de sintaxis anotado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2377567" y="4931811"/>
            <a:ext cx="3270635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de AST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1894291" y="2673389"/>
            <a:ext cx="5739449" cy="1868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un árbol sintáctico, que muestra el (los) valor(es) de su(s) atributo(s) se le conoce como árbol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análisis sintáctico anotado.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10322963" y="2650830"/>
            <a:ext cx="3280924" cy="32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AST anotado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3358649" y="5745714"/>
            <a:ext cx="2289554" cy="2937105"/>
          </a:xfrm>
          <a:custGeom>
            <a:rect b="b" l="l" r="r" t="t"/>
            <a:pathLst>
              <a:path extrusionOk="0" h="2937105" w="2289554">
                <a:moveTo>
                  <a:pt x="0" y="0"/>
                </a:moveTo>
                <a:lnTo>
                  <a:pt x="2289554" y="0"/>
                </a:lnTo>
                <a:lnTo>
                  <a:pt x="2289554" y="2937104"/>
                </a:lnTo>
                <a:lnTo>
                  <a:pt x="0" y="2937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9" name="Google Shape;259;p21"/>
          <p:cNvGrpSpPr/>
          <p:nvPr/>
        </p:nvGrpSpPr>
        <p:grpSpPr>
          <a:xfrm>
            <a:off x="1198186" y="4167664"/>
            <a:ext cx="7089518" cy="3309700"/>
            <a:chOff x="0" y="0"/>
            <a:chExt cx="1867198" cy="871690"/>
          </a:xfrm>
        </p:grpSpPr>
        <p:sp>
          <p:nvSpPr>
            <p:cNvPr id="260" name="Google Shape;260;p21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1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21"/>
          <p:cNvGrpSpPr/>
          <p:nvPr/>
        </p:nvGrpSpPr>
        <p:grpSpPr>
          <a:xfrm>
            <a:off x="9439465" y="7136779"/>
            <a:ext cx="6583028" cy="1771650"/>
            <a:chOff x="0" y="0"/>
            <a:chExt cx="1733801" cy="466607"/>
          </a:xfrm>
        </p:grpSpPr>
        <p:sp>
          <p:nvSpPr>
            <p:cNvPr id="263" name="Google Shape;263;p21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21"/>
          <p:cNvGrpSpPr/>
          <p:nvPr/>
        </p:nvGrpSpPr>
        <p:grpSpPr>
          <a:xfrm>
            <a:off x="10066879" y="1536400"/>
            <a:ext cx="6583028" cy="4515361"/>
            <a:chOff x="0" y="0"/>
            <a:chExt cx="1733801" cy="1189231"/>
          </a:xfrm>
        </p:grpSpPr>
        <p:sp>
          <p:nvSpPr>
            <p:cNvPr id="266" name="Google Shape;266;p21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1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1"/>
          <p:cNvGrpSpPr/>
          <p:nvPr/>
        </p:nvGrpSpPr>
        <p:grpSpPr>
          <a:xfrm>
            <a:off x="1795032" y="4654946"/>
            <a:ext cx="224656" cy="224656"/>
            <a:chOff x="0" y="0"/>
            <a:chExt cx="812800" cy="812800"/>
          </a:xfrm>
        </p:grpSpPr>
        <p:sp>
          <p:nvSpPr>
            <p:cNvPr id="269" name="Google Shape;269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21"/>
          <p:cNvGrpSpPr/>
          <p:nvPr/>
        </p:nvGrpSpPr>
        <p:grpSpPr>
          <a:xfrm>
            <a:off x="10807110" y="2106280"/>
            <a:ext cx="517587" cy="517587"/>
            <a:chOff x="0" y="0"/>
            <a:chExt cx="812800" cy="812800"/>
          </a:xfrm>
        </p:grpSpPr>
        <p:sp>
          <p:nvSpPr>
            <p:cNvPr id="272" name="Google Shape;272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21"/>
          <p:cNvSpPr/>
          <p:nvPr/>
        </p:nvSpPr>
        <p:spPr>
          <a:xfrm>
            <a:off x="10896395" y="2196194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21"/>
          <p:cNvSpPr/>
          <p:nvPr/>
        </p:nvSpPr>
        <p:spPr>
          <a:xfrm>
            <a:off x="10697519" y="3586585"/>
            <a:ext cx="5478233" cy="1878573"/>
          </a:xfrm>
          <a:custGeom>
            <a:rect b="b" l="l" r="r" t="t"/>
            <a:pathLst>
              <a:path extrusionOk="0" h="1878573" w="5478233">
                <a:moveTo>
                  <a:pt x="0" y="0"/>
                </a:moveTo>
                <a:lnTo>
                  <a:pt x="5478232" y="0"/>
                </a:lnTo>
                <a:lnTo>
                  <a:pt x="5478232" y="1878573"/>
                </a:lnTo>
                <a:lnTo>
                  <a:pt x="0" y="1878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21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795032" y="1507825"/>
            <a:ext cx="7089518" cy="206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Gráficos de dependencias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2324407" y="4645425"/>
            <a:ext cx="20460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11665549" y="2177150"/>
            <a:ext cx="1959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9966109" y="7364869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Información extra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2012489" y="5268187"/>
            <a:ext cx="5708731" cy="150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Describe el ﬂujo de información entre las instancias de atributos en un árbol de análisis sintáctico especíﬁco; una ﬂecha de una instancia de atributo a otra signiﬁca</a:t>
            </a:r>
            <a:endParaRPr/>
          </a:p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el valor de la primera se necesita para calcular la segunda.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10808975" y="2689664"/>
            <a:ext cx="5102560" cy="65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lineas punteadas el CST, las sólidas el anotado.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10205321" y="7828605"/>
            <a:ext cx="5189980" cy="9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importa el tipo de atributo, las flechas se dibujan en terminos de la secuencia para crear el valor del atributo.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/>
          <p:nvPr/>
        </p:nvSpPr>
        <p:spPr>
          <a:xfrm>
            <a:off x="1109689" y="777101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39" y="0"/>
                </a:lnTo>
                <a:lnTo>
                  <a:pt x="499539" y="503198"/>
                </a:lnTo>
                <a:lnTo>
                  <a:pt x="0" y="503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9" name="Google Shape;289;p22"/>
          <p:cNvGrpSpPr/>
          <p:nvPr/>
        </p:nvGrpSpPr>
        <p:grpSpPr>
          <a:xfrm>
            <a:off x="774536" y="3582685"/>
            <a:ext cx="7343518" cy="5368247"/>
            <a:chOff x="0" y="0"/>
            <a:chExt cx="1934095" cy="1413859"/>
          </a:xfrm>
        </p:grpSpPr>
        <p:sp>
          <p:nvSpPr>
            <p:cNvPr id="290" name="Google Shape;290;p22"/>
            <p:cNvSpPr/>
            <p:nvPr/>
          </p:nvSpPr>
          <p:spPr>
            <a:xfrm>
              <a:off x="0" y="0"/>
              <a:ext cx="1934095" cy="1413859"/>
            </a:xfrm>
            <a:custGeom>
              <a:rect b="b" l="l" r="r" t="t"/>
              <a:pathLst>
                <a:path extrusionOk="0" h="1413859" w="1934095">
                  <a:moveTo>
                    <a:pt x="40062" y="0"/>
                  </a:moveTo>
                  <a:lnTo>
                    <a:pt x="1894034" y="0"/>
                  </a:lnTo>
                  <a:cubicBezTo>
                    <a:pt x="1904659" y="0"/>
                    <a:pt x="1914849" y="4221"/>
                    <a:pt x="1922362" y="11734"/>
                  </a:cubicBezTo>
                  <a:cubicBezTo>
                    <a:pt x="1929875" y="19247"/>
                    <a:pt x="1934095" y="29437"/>
                    <a:pt x="1934095" y="40062"/>
                  </a:cubicBezTo>
                  <a:lnTo>
                    <a:pt x="1934095" y="1373798"/>
                  </a:lnTo>
                  <a:cubicBezTo>
                    <a:pt x="1934095" y="1384423"/>
                    <a:pt x="1929875" y="1394613"/>
                    <a:pt x="1922362" y="1402126"/>
                  </a:cubicBezTo>
                  <a:cubicBezTo>
                    <a:pt x="1914849" y="1409639"/>
                    <a:pt x="1904659" y="1413859"/>
                    <a:pt x="1894034" y="1413859"/>
                  </a:cubicBezTo>
                  <a:lnTo>
                    <a:pt x="40062" y="1413859"/>
                  </a:lnTo>
                  <a:cubicBezTo>
                    <a:pt x="29437" y="1413859"/>
                    <a:pt x="19247" y="1409639"/>
                    <a:pt x="11734" y="1402126"/>
                  </a:cubicBezTo>
                  <a:cubicBezTo>
                    <a:pt x="4221" y="1394613"/>
                    <a:pt x="0" y="1384423"/>
                    <a:pt x="0" y="1373798"/>
                  </a:cubicBezTo>
                  <a:lnTo>
                    <a:pt x="0" y="40062"/>
                  </a:lnTo>
                  <a:cubicBezTo>
                    <a:pt x="0" y="29437"/>
                    <a:pt x="4221" y="19247"/>
                    <a:pt x="11734" y="11734"/>
                  </a:cubicBezTo>
                  <a:cubicBezTo>
                    <a:pt x="19247" y="4221"/>
                    <a:pt x="29437" y="0"/>
                    <a:pt x="40062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 txBox="1"/>
            <p:nvPr/>
          </p:nvSpPr>
          <p:spPr>
            <a:xfrm>
              <a:off x="0" y="19050"/>
              <a:ext cx="1934095" cy="1394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22"/>
          <p:cNvGrpSpPr/>
          <p:nvPr/>
        </p:nvGrpSpPr>
        <p:grpSpPr>
          <a:xfrm>
            <a:off x="8818879" y="3281060"/>
            <a:ext cx="8964274" cy="5403277"/>
            <a:chOff x="0" y="0"/>
            <a:chExt cx="2360961" cy="1423085"/>
          </a:xfrm>
        </p:grpSpPr>
        <p:sp>
          <p:nvSpPr>
            <p:cNvPr id="293" name="Google Shape;293;p22"/>
            <p:cNvSpPr/>
            <p:nvPr/>
          </p:nvSpPr>
          <p:spPr>
            <a:xfrm>
              <a:off x="0" y="0"/>
              <a:ext cx="2360961" cy="1423085"/>
            </a:xfrm>
            <a:custGeom>
              <a:rect b="b" l="l" r="r" t="t"/>
              <a:pathLst>
                <a:path extrusionOk="0" h="1423085" w="2360961">
                  <a:moveTo>
                    <a:pt x="32818" y="0"/>
                  </a:moveTo>
                  <a:lnTo>
                    <a:pt x="2328143" y="0"/>
                  </a:lnTo>
                  <a:cubicBezTo>
                    <a:pt x="2346268" y="0"/>
                    <a:pt x="2360961" y="14693"/>
                    <a:pt x="2360961" y="32818"/>
                  </a:cubicBezTo>
                  <a:lnTo>
                    <a:pt x="2360961" y="1390267"/>
                  </a:lnTo>
                  <a:cubicBezTo>
                    <a:pt x="2360961" y="1398971"/>
                    <a:pt x="2357503" y="1407319"/>
                    <a:pt x="2351349" y="1413473"/>
                  </a:cubicBezTo>
                  <a:cubicBezTo>
                    <a:pt x="2345194" y="1419628"/>
                    <a:pt x="2336847" y="1423085"/>
                    <a:pt x="2328143" y="1423085"/>
                  </a:cubicBezTo>
                  <a:lnTo>
                    <a:pt x="32818" y="1423085"/>
                  </a:lnTo>
                  <a:cubicBezTo>
                    <a:pt x="14693" y="1423085"/>
                    <a:pt x="0" y="1408392"/>
                    <a:pt x="0" y="1390267"/>
                  </a:cubicBezTo>
                  <a:lnTo>
                    <a:pt x="0" y="32818"/>
                  </a:lnTo>
                  <a:cubicBezTo>
                    <a:pt x="0" y="24114"/>
                    <a:pt x="3458" y="15767"/>
                    <a:pt x="9612" y="9612"/>
                  </a:cubicBezTo>
                  <a:cubicBezTo>
                    <a:pt x="15767" y="3458"/>
                    <a:pt x="24114" y="0"/>
                    <a:pt x="32818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 txBox="1"/>
            <p:nvPr/>
          </p:nvSpPr>
          <p:spPr>
            <a:xfrm>
              <a:off x="0" y="19050"/>
              <a:ext cx="2360961" cy="140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22"/>
          <p:cNvGrpSpPr/>
          <p:nvPr/>
        </p:nvGrpSpPr>
        <p:grpSpPr>
          <a:xfrm>
            <a:off x="1134802" y="4102611"/>
            <a:ext cx="224656" cy="224656"/>
            <a:chOff x="0" y="0"/>
            <a:chExt cx="812800" cy="812800"/>
          </a:xfrm>
        </p:grpSpPr>
        <p:sp>
          <p:nvSpPr>
            <p:cNvPr id="296" name="Google Shape;296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22"/>
          <p:cNvGrpSpPr/>
          <p:nvPr/>
        </p:nvGrpSpPr>
        <p:grpSpPr>
          <a:xfrm>
            <a:off x="9478542" y="3773663"/>
            <a:ext cx="216568" cy="216568"/>
            <a:chOff x="0" y="0"/>
            <a:chExt cx="812800" cy="812800"/>
          </a:xfrm>
        </p:grpSpPr>
        <p:sp>
          <p:nvSpPr>
            <p:cNvPr id="299" name="Google Shape;299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22"/>
          <p:cNvGrpSpPr/>
          <p:nvPr/>
        </p:nvGrpSpPr>
        <p:grpSpPr>
          <a:xfrm>
            <a:off x="1134802" y="5747455"/>
            <a:ext cx="224656" cy="224656"/>
            <a:chOff x="0" y="0"/>
            <a:chExt cx="812800" cy="812800"/>
          </a:xfrm>
        </p:grpSpPr>
        <p:sp>
          <p:nvSpPr>
            <p:cNvPr id="302" name="Google Shape;302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22"/>
          <p:cNvSpPr/>
          <p:nvPr/>
        </p:nvSpPr>
        <p:spPr>
          <a:xfrm>
            <a:off x="9125418" y="4366188"/>
            <a:ext cx="8312022" cy="3606345"/>
          </a:xfrm>
          <a:custGeom>
            <a:rect b="b" l="l" r="r" t="t"/>
            <a:pathLst>
              <a:path extrusionOk="0" h="3606345" w="8312022">
                <a:moveTo>
                  <a:pt x="0" y="0"/>
                </a:moveTo>
                <a:lnTo>
                  <a:pt x="8312022" y="0"/>
                </a:lnTo>
                <a:lnTo>
                  <a:pt x="8312022" y="3606345"/>
                </a:lnTo>
                <a:lnTo>
                  <a:pt x="0" y="3606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22"/>
          <p:cNvSpPr txBox="1"/>
          <p:nvPr/>
        </p:nvSpPr>
        <p:spPr>
          <a:xfrm>
            <a:off x="961046" y="1977415"/>
            <a:ext cx="12487018" cy="111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Aplicaciones de las DDS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10054422" y="3737275"/>
            <a:ext cx="1894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1609228" y="4016886"/>
            <a:ext cx="5914768" cy="122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Construcción de árboles de análisis sintáctico pero se deben controlar los efectos adicionales.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1609228" y="6181083"/>
            <a:ext cx="5799296" cy="2028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reglas semánticas que se ejecuten por sus efectos adicionales, como print(E.val), se tratarán como las deﬁniciones de los atributos falsos sintetizados, asociados con el encabezado de la producción.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1609228" y="5679717"/>
            <a:ext cx="291221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Falsos sintetizados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1822286" y="917833"/>
            <a:ext cx="504011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6" name="Google Shape;316;p23"/>
          <p:cNvGrpSpPr/>
          <p:nvPr/>
        </p:nvGrpSpPr>
        <p:grpSpPr>
          <a:xfrm>
            <a:off x="1416350" y="5936778"/>
            <a:ext cx="7041893" cy="2865200"/>
            <a:chOff x="0" y="0"/>
            <a:chExt cx="1854655" cy="754620"/>
          </a:xfrm>
        </p:grpSpPr>
        <p:sp>
          <p:nvSpPr>
            <p:cNvPr id="317" name="Google Shape;317;p23"/>
            <p:cNvSpPr/>
            <p:nvPr/>
          </p:nvSpPr>
          <p:spPr>
            <a:xfrm>
              <a:off x="0" y="0"/>
              <a:ext cx="1854655" cy="754620"/>
            </a:xfrm>
            <a:custGeom>
              <a:rect b="b" l="l" r="r" t="t"/>
              <a:pathLst>
                <a:path extrusionOk="0" h="754620" w="1854655">
                  <a:moveTo>
                    <a:pt x="41778" y="0"/>
                  </a:moveTo>
                  <a:lnTo>
                    <a:pt x="1812878" y="0"/>
                  </a:lnTo>
                  <a:cubicBezTo>
                    <a:pt x="1835951" y="0"/>
                    <a:pt x="1854655" y="18704"/>
                    <a:pt x="1854655" y="41778"/>
                  </a:cubicBezTo>
                  <a:lnTo>
                    <a:pt x="1854655" y="712843"/>
                  </a:lnTo>
                  <a:cubicBezTo>
                    <a:pt x="1854655" y="735916"/>
                    <a:pt x="1835951" y="754620"/>
                    <a:pt x="1812878" y="754620"/>
                  </a:cubicBezTo>
                  <a:lnTo>
                    <a:pt x="41778" y="754620"/>
                  </a:lnTo>
                  <a:cubicBezTo>
                    <a:pt x="18704" y="754620"/>
                    <a:pt x="0" y="735916"/>
                    <a:pt x="0" y="712843"/>
                  </a:cubicBezTo>
                  <a:lnTo>
                    <a:pt x="0" y="41778"/>
                  </a:lnTo>
                  <a:cubicBezTo>
                    <a:pt x="0" y="18704"/>
                    <a:pt x="18704" y="0"/>
                    <a:pt x="41778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3"/>
            <p:cNvSpPr txBox="1"/>
            <p:nvPr/>
          </p:nvSpPr>
          <p:spPr>
            <a:xfrm>
              <a:off x="0" y="19050"/>
              <a:ext cx="1854655" cy="735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23"/>
          <p:cNvGrpSpPr/>
          <p:nvPr/>
        </p:nvGrpSpPr>
        <p:grpSpPr>
          <a:xfrm>
            <a:off x="10136526" y="4928078"/>
            <a:ext cx="7583149" cy="4883150"/>
            <a:chOff x="0" y="0"/>
            <a:chExt cx="1997208" cy="1286097"/>
          </a:xfrm>
        </p:grpSpPr>
        <p:sp>
          <p:nvSpPr>
            <p:cNvPr id="320" name="Google Shape;320;p23"/>
            <p:cNvSpPr/>
            <p:nvPr/>
          </p:nvSpPr>
          <p:spPr>
            <a:xfrm>
              <a:off x="0" y="0"/>
              <a:ext cx="1997208" cy="1286097"/>
            </a:xfrm>
            <a:custGeom>
              <a:rect b="b" l="l" r="r" t="t"/>
              <a:pathLst>
                <a:path extrusionOk="0" h="1286097" w="1997208">
                  <a:moveTo>
                    <a:pt x="38796" y="0"/>
                  </a:moveTo>
                  <a:lnTo>
                    <a:pt x="1958412" y="0"/>
                  </a:lnTo>
                  <a:cubicBezTo>
                    <a:pt x="1979838" y="0"/>
                    <a:pt x="1997208" y="17369"/>
                    <a:pt x="1997208" y="38796"/>
                  </a:cubicBezTo>
                  <a:lnTo>
                    <a:pt x="1997208" y="1247301"/>
                  </a:lnTo>
                  <a:cubicBezTo>
                    <a:pt x="1997208" y="1268728"/>
                    <a:pt x="1979838" y="1286097"/>
                    <a:pt x="1958412" y="1286097"/>
                  </a:cubicBezTo>
                  <a:lnTo>
                    <a:pt x="38796" y="1286097"/>
                  </a:lnTo>
                  <a:cubicBezTo>
                    <a:pt x="28506" y="1286097"/>
                    <a:pt x="18639" y="1282010"/>
                    <a:pt x="11363" y="1274734"/>
                  </a:cubicBezTo>
                  <a:cubicBezTo>
                    <a:pt x="4087" y="1267458"/>
                    <a:pt x="0" y="1257591"/>
                    <a:pt x="0" y="1247301"/>
                  </a:cubicBezTo>
                  <a:lnTo>
                    <a:pt x="0" y="38796"/>
                  </a:lnTo>
                  <a:cubicBezTo>
                    <a:pt x="0" y="17369"/>
                    <a:pt x="17369" y="0"/>
                    <a:pt x="38796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0" y="19050"/>
              <a:ext cx="1997208" cy="126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23"/>
          <p:cNvGrpSpPr/>
          <p:nvPr/>
        </p:nvGrpSpPr>
        <p:grpSpPr>
          <a:xfrm>
            <a:off x="10358776" y="524023"/>
            <a:ext cx="6789399" cy="3753361"/>
            <a:chOff x="0" y="0"/>
            <a:chExt cx="1788154" cy="988539"/>
          </a:xfrm>
        </p:grpSpPr>
        <p:sp>
          <p:nvSpPr>
            <p:cNvPr id="323" name="Google Shape;323;p23"/>
            <p:cNvSpPr/>
            <p:nvPr/>
          </p:nvSpPr>
          <p:spPr>
            <a:xfrm>
              <a:off x="0" y="0"/>
              <a:ext cx="1788154" cy="988539"/>
            </a:xfrm>
            <a:custGeom>
              <a:rect b="b" l="l" r="r" t="t"/>
              <a:pathLst>
                <a:path extrusionOk="0" h="988539" w="1788154">
                  <a:moveTo>
                    <a:pt x="43331" y="0"/>
                  </a:moveTo>
                  <a:lnTo>
                    <a:pt x="1744823" y="0"/>
                  </a:lnTo>
                  <a:cubicBezTo>
                    <a:pt x="1756315" y="0"/>
                    <a:pt x="1767337" y="4565"/>
                    <a:pt x="1775463" y="12691"/>
                  </a:cubicBezTo>
                  <a:cubicBezTo>
                    <a:pt x="1783589" y="20818"/>
                    <a:pt x="1788154" y="31839"/>
                    <a:pt x="1788154" y="43331"/>
                  </a:cubicBezTo>
                  <a:lnTo>
                    <a:pt x="1788154" y="945208"/>
                  </a:lnTo>
                  <a:cubicBezTo>
                    <a:pt x="1788154" y="956700"/>
                    <a:pt x="1783589" y="967722"/>
                    <a:pt x="1775463" y="975848"/>
                  </a:cubicBezTo>
                  <a:cubicBezTo>
                    <a:pt x="1767337" y="983974"/>
                    <a:pt x="1756315" y="988539"/>
                    <a:pt x="1744823" y="988539"/>
                  </a:cubicBezTo>
                  <a:lnTo>
                    <a:pt x="43331" y="988539"/>
                  </a:lnTo>
                  <a:cubicBezTo>
                    <a:pt x="19400" y="988539"/>
                    <a:pt x="0" y="969139"/>
                    <a:pt x="0" y="945208"/>
                  </a:cubicBezTo>
                  <a:lnTo>
                    <a:pt x="0" y="43331"/>
                  </a:lnTo>
                  <a:cubicBezTo>
                    <a:pt x="0" y="19400"/>
                    <a:pt x="19400" y="0"/>
                    <a:pt x="4333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0" y="19050"/>
              <a:ext cx="1788154" cy="969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23"/>
          <p:cNvGrpSpPr/>
          <p:nvPr/>
        </p:nvGrpSpPr>
        <p:grpSpPr>
          <a:xfrm>
            <a:off x="1887035" y="6699728"/>
            <a:ext cx="224656" cy="224656"/>
            <a:chOff x="0" y="0"/>
            <a:chExt cx="812800" cy="812800"/>
          </a:xfrm>
        </p:grpSpPr>
        <p:sp>
          <p:nvSpPr>
            <p:cNvPr id="326" name="Google Shape;326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23"/>
          <p:cNvGrpSpPr/>
          <p:nvPr/>
        </p:nvGrpSpPr>
        <p:grpSpPr>
          <a:xfrm>
            <a:off x="11099008" y="1093902"/>
            <a:ext cx="517587" cy="517587"/>
            <a:chOff x="0" y="0"/>
            <a:chExt cx="812800" cy="812800"/>
          </a:xfrm>
        </p:grpSpPr>
        <p:sp>
          <p:nvSpPr>
            <p:cNvPr id="329" name="Google Shape;329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3"/>
          <p:cNvSpPr/>
          <p:nvPr/>
        </p:nvSpPr>
        <p:spPr>
          <a:xfrm>
            <a:off x="11188293" y="1183816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1"/>
                </a:lnTo>
                <a:lnTo>
                  <a:pt x="0" y="348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23"/>
          <p:cNvSpPr/>
          <p:nvPr/>
        </p:nvSpPr>
        <p:spPr>
          <a:xfrm>
            <a:off x="10552024" y="6365403"/>
            <a:ext cx="6596151" cy="2992239"/>
          </a:xfrm>
          <a:custGeom>
            <a:rect b="b" l="l" r="r" t="t"/>
            <a:pathLst>
              <a:path extrusionOk="0" h="2992239" w="6596151">
                <a:moveTo>
                  <a:pt x="0" y="0"/>
                </a:moveTo>
                <a:lnTo>
                  <a:pt x="6596151" y="0"/>
                </a:lnTo>
                <a:lnTo>
                  <a:pt x="6596151" y="2992239"/>
                </a:lnTo>
                <a:lnTo>
                  <a:pt x="0" y="2992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23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1324350" y="1569000"/>
            <a:ext cx="8431500" cy="3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Esquemas de traducción orientado por la sintaxis</a:t>
            </a:r>
            <a:endParaRPr sz="1000"/>
          </a:p>
        </p:txBody>
      </p:sp>
      <p:sp>
        <p:nvSpPr>
          <p:cNvPr id="335" name="Google Shape;335;p23"/>
          <p:cNvSpPr txBox="1"/>
          <p:nvPr/>
        </p:nvSpPr>
        <p:spPr>
          <a:xfrm>
            <a:off x="2346401" y="6690203"/>
            <a:ext cx="4670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Acciones </a:t>
            </a:r>
            <a:r>
              <a:rPr b="1" lang="en-US" sz="2254">
                <a:solidFill>
                  <a:srgbClr val="FFFFFF"/>
                </a:solidFill>
              </a:rPr>
              <a:t>semánticas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11957450" y="1164766"/>
            <a:ext cx="2129789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2346401" y="7166987"/>
            <a:ext cx="5708731" cy="1028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Fragmentos de programa incrustados. Aparecen en cualquier posición dentro del cuerpo de una producción.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11188293" y="1961767"/>
            <a:ext cx="5102560" cy="1917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 DDS se puede implementar por esta notación.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acción en el cuerpo de una producción se ejecuta tan pronto como los símbolos gramaticales a la izquierda de la acción tengan coincidencias.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1416350" y="4627250"/>
            <a:ext cx="6013469" cy="801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 una notación complementaria para las</a:t>
            </a:r>
            <a:endParaRPr/>
          </a:p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definiciones dirigidas a la sintaxis.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10688924" y="5221425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10688924" y="5617405"/>
            <a:ext cx="5189980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DDS anterior pero con acciones semánticas.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7" name="Google Shape;347;p24"/>
          <p:cNvGrpSpPr/>
          <p:nvPr/>
        </p:nvGrpSpPr>
        <p:grpSpPr>
          <a:xfrm>
            <a:off x="6010465" y="3968004"/>
            <a:ext cx="11801285" cy="5706593"/>
            <a:chOff x="0" y="0"/>
            <a:chExt cx="3108157" cy="1502971"/>
          </a:xfrm>
        </p:grpSpPr>
        <p:sp>
          <p:nvSpPr>
            <p:cNvPr id="348" name="Google Shape;348;p24"/>
            <p:cNvSpPr/>
            <p:nvPr/>
          </p:nvSpPr>
          <p:spPr>
            <a:xfrm>
              <a:off x="0" y="0"/>
              <a:ext cx="3108157" cy="1502971"/>
            </a:xfrm>
            <a:custGeom>
              <a:rect b="b" l="l" r="r" t="t"/>
              <a:pathLst>
                <a:path extrusionOk="0" h="1502971" w="3108157">
                  <a:moveTo>
                    <a:pt x="24929" y="0"/>
                  </a:moveTo>
                  <a:lnTo>
                    <a:pt x="3083228" y="0"/>
                  </a:lnTo>
                  <a:cubicBezTo>
                    <a:pt x="3089840" y="0"/>
                    <a:pt x="3096181" y="2626"/>
                    <a:pt x="3100856" y="7302"/>
                  </a:cubicBezTo>
                  <a:cubicBezTo>
                    <a:pt x="3105531" y="11977"/>
                    <a:pt x="3108157" y="18317"/>
                    <a:pt x="3108157" y="24929"/>
                  </a:cubicBezTo>
                  <a:lnTo>
                    <a:pt x="3108157" y="1478042"/>
                  </a:lnTo>
                  <a:cubicBezTo>
                    <a:pt x="3108157" y="1484654"/>
                    <a:pt x="3105531" y="1490994"/>
                    <a:pt x="3100856" y="1495669"/>
                  </a:cubicBezTo>
                  <a:cubicBezTo>
                    <a:pt x="3096181" y="1500345"/>
                    <a:pt x="3089840" y="1502971"/>
                    <a:pt x="3083228" y="1502971"/>
                  </a:cubicBezTo>
                  <a:lnTo>
                    <a:pt x="24929" y="1502971"/>
                  </a:lnTo>
                  <a:cubicBezTo>
                    <a:pt x="11161" y="1502971"/>
                    <a:pt x="0" y="1491810"/>
                    <a:pt x="0" y="1478042"/>
                  </a:cubicBezTo>
                  <a:lnTo>
                    <a:pt x="0" y="24929"/>
                  </a:lnTo>
                  <a:cubicBezTo>
                    <a:pt x="0" y="18317"/>
                    <a:pt x="2626" y="11977"/>
                    <a:pt x="7302" y="7302"/>
                  </a:cubicBezTo>
                  <a:cubicBezTo>
                    <a:pt x="11977" y="2626"/>
                    <a:pt x="18317" y="0"/>
                    <a:pt x="24929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4"/>
            <p:cNvSpPr txBox="1"/>
            <p:nvPr/>
          </p:nvSpPr>
          <p:spPr>
            <a:xfrm>
              <a:off x="0" y="19050"/>
              <a:ext cx="3108157" cy="1483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4"/>
          <p:cNvGrpSpPr/>
          <p:nvPr/>
        </p:nvGrpSpPr>
        <p:grpSpPr>
          <a:xfrm>
            <a:off x="6432413" y="641230"/>
            <a:ext cx="10932774" cy="2546861"/>
            <a:chOff x="0" y="0"/>
            <a:chExt cx="2879414" cy="670778"/>
          </a:xfrm>
        </p:grpSpPr>
        <p:sp>
          <p:nvSpPr>
            <p:cNvPr id="351" name="Google Shape;351;p24"/>
            <p:cNvSpPr/>
            <p:nvPr/>
          </p:nvSpPr>
          <p:spPr>
            <a:xfrm>
              <a:off x="0" y="0"/>
              <a:ext cx="2879414" cy="670778"/>
            </a:xfrm>
            <a:custGeom>
              <a:rect b="b" l="l" r="r" t="t"/>
              <a:pathLst>
                <a:path extrusionOk="0" h="670778" w="2879414">
                  <a:moveTo>
                    <a:pt x="26909" y="0"/>
                  </a:moveTo>
                  <a:lnTo>
                    <a:pt x="2852504" y="0"/>
                  </a:lnTo>
                  <a:cubicBezTo>
                    <a:pt x="2859641" y="0"/>
                    <a:pt x="2866485" y="2835"/>
                    <a:pt x="2871532" y="7882"/>
                  </a:cubicBezTo>
                  <a:cubicBezTo>
                    <a:pt x="2876578" y="12928"/>
                    <a:pt x="2879414" y="19772"/>
                    <a:pt x="2879414" y="26909"/>
                  </a:cubicBezTo>
                  <a:lnTo>
                    <a:pt x="2879414" y="643869"/>
                  </a:lnTo>
                  <a:cubicBezTo>
                    <a:pt x="2879414" y="658730"/>
                    <a:pt x="2867366" y="670778"/>
                    <a:pt x="2852504" y="670778"/>
                  </a:cubicBezTo>
                  <a:lnTo>
                    <a:pt x="26909" y="670778"/>
                  </a:lnTo>
                  <a:cubicBezTo>
                    <a:pt x="12048" y="670778"/>
                    <a:pt x="0" y="658730"/>
                    <a:pt x="0" y="643869"/>
                  </a:cubicBezTo>
                  <a:lnTo>
                    <a:pt x="0" y="26909"/>
                  </a:lnTo>
                  <a:cubicBezTo>
                    <a:pt x="0" y="12048"/>
                    <a:pt x="12048" y="0"/>
                    <a:pt x="2690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 txBox="1"/>
            <p:nvPr/>
          </p:nvSpPr>
          <p:spPr>
            <a:xfrm>
              <a:off x="0" y="19050"/>
              <a:ext cx="2879414" cy="651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24"/>
          <p:cNvGrpSpPr/>
          <p:nvPr/>
        </p:nvGrpSpPr>
        <p:grpSpPr>
          <a:xfrm>
            <a:off x="6432413" y="4211314"/>
            <a:ext cx="224656" cy="224656"/>
            <a:chOff x="0" y="0"/>
            <a:chExt cx="812800" cy="812800"/>
          </a:xfrm>
        </p:grpSpPr>
        <p:sp>
          <p:nvSpPr>
            <p:cNvPr id="354" name="Google Shape;354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24"/>
          <p:cNvGrpSpPr/>
          <p:nvPr/>
        </p:nvGrpSpPr>
        <p:grpSpPr>
          <a:xfrm>
            <a:off x="6735693" y="864401"/>
            <a:ext cx="517587" cy="517587"/>
            <a:chOff x="0" y="0"/>
            <a:chExt cx="812800" cy="812800"/>
          </a:xfrm>
        </p:grpSpPr>
        <p:sp>
          <p:nvSpPr>
            <p:cNvPr id="357" name="Google Shape;357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24"/>
          <p:cNvSpPr/>
          <p:nvPr/>
        </p:nvSpPr>
        <p:spPr>
          <a:xfrm>
            <a:off x="6824978" y="954315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24"/>
          <p:cNvSpPr/>
          <p:nvPr/>
        </p:nvSpPr>
        <p:spPr>
          <a:xfrm>
            <a:off x="6316977" y="4849999"/>
            <a:ext cx="11301259" cy="4577010"/>
          </a:xfrm>
          <a:custGeom>
            <a:rect b="b" l="l" r="r" t="t"/>
            <a:pathLst>
              <a:path extrusionOk="0" h="4577010" w="11301259">
                <a:moveTo>
                  <a:pt x="0" y="0"/>
                </a:moveTo>
                <a:lnTo>
                  <a:pt x="11301259" y="0"/>
                </a:lnTo>
                <a:lnTo>
                  <a:pt x="11301259" y="4577010"/>
                </a:lnTo>
                <a:lnTo>
                  <a:pt x="0" y="4577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24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1028700" y="2209634"/>
            <a:ext cx="4488283" cy="47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DDS contra esquemas de traducción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7472355" y="935265"/>
            <a:ext cx="322516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 del libro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6905555" y="4095634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 comparativa</a:t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6824978" y="1501308"/>
            <a:ext cx="10441715" cy="1397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gramáticas atribuidas no tienen efectos adicionales y permiten cualquier orden de evaluación consistente con el grafo de dependencias. Los esquemas de traducción imponen la evaluación de izquierda a derecha y permiten que las acciones semánticas contengan cualquier fragmento del programa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/>
          <p:nvPr/>
        </p:nvSpPr>
        <p:spPr>
          <a:xfrm>
            <a:off x="7699049" y="1244370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1" name="Google Shape;371;p25"/>
          <p:cNvSpPr/>
          <p:nvPr/>
        </p:nvSpPr>
        <p:spPr>
          <a:xfrm>
            <a:off x="733155" y="741172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39" y="0"/>
                </a:lnTo>
                <a:lnTo>
                  <a:pt x="499539" y="503198"/>
                </a:lnTo>
                <a:lnTo>
                  <a:pt x="0" y="503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2" name="Google Shape;372;p25"/>
          <p:cNvGrpSpPr/>
          <p:nvPr/>
        </p:nvGrpSpPr>
        <p:grpSpPr>
          <a:xfrm rot="1383774">
            <a:off x="7596994" y="-1615"/>
            <a:ext cx="11226909" cy="14341591"/>
            <a:chOff x="0" y="0"/>
            <a:chExt cx="2956881" cy="3777209"/>
          </a:xfrm>
        </p:grpSpPr>
        <p:sp>
          <p:nvSpPr>
            <p:cNvPr id="373" name="Google Shape;373;p25"/>
            <p:cNvSpPr/>
            <p:nvPr/>
          </p:nvSpPr>
          <p:spPr>
            <a:xfrm>
              <a:off x="0" y="0"/>
              <a:ext cx="2956881" cy="3777209"/>
            </a:xfrm>
            <a:custGeom>
              <a:rect b="b" l="l" r="r" t="t"/>
              <a:pathLst>
                <a:path extrusionOk="0"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74" name="Google Shape;374;p25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25"/>
          <p:cNvSpPr txBox="1"/>
          <p:nvPr/>
        </p:nvSpPr>
        <p:spPr>
          <a:xfrm>
            <a:off x="1232694" y="2896263"/>
            <a:ext cx="15087863" cy="30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las herramientas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1541032" y="719175"/>
            <a:ext cx="4330517" cy="647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26"/>
          <p:cNvSpPr txBox="1"/>
          <p:nvPr/>
        </p:nvSpPr>
        <p:spPr>
          <a:xfrm>
            <a:off x="2311281" y="1735782"/>
            <a:ext cx="73851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66">
                <a:solidFill>
                  <a:srgbClr val="FFFFFF"/>
                </a:solidFill>
              </a:rPr>
              <a:t>Instalación</a:t>
            </a:r>
            <a:endParaRPr/>
          </a:p>
        </p:txBody>
      </p:sp>
      <p:pic>
        <p:nvPicPr>
          <p:cNvPr id="383" name="Google Shape;38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300" y="3169223"/>
            <a:ext cx="8973400" cy="53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7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9" name="Google Shape;389;p27"/>
          <p:cNvGrpSpPr/>
          <p:nvPr/>
        </p:nvGrpSpPr>
        <p:grpSpPr>
          <a:xfrm>
            <a:off x="5599217" y="5056106"/>
            <a:ext cx="7089572" cy="3309720"/>
            <a:chOff x="0" y="0"/>
            <a:chExt cx="1867200" cy="871690"/>
          </a:xfrm>
        </p:grpSpPr>
        <p:sp>
          <p:nvSpPr>
            <p:cNvPr id="390" name="Google Shape;390;p27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 txBox="1"/>
            <p:nvPr/>
          </p:nvSpPr>
          <p:spPr>
            <a:xfrm>
              <a:off x="0" y="19050"/>
              <a:ext cx="1867200" cy="8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2" name="Google Shape;392;p27"/>
          <p:cNvSpPr txBox="1"/>
          <p:nvPr/>
        </p:nvSpPr>
        <p:spPr>
          <a:xfrm>
            <a:off x="3114125" y="1991925"/>
            <a:ext cx="128151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66">
                <a:solidFill>
                  <a:srgbClr val="FFFFFF"/>
                </a:solidFill>
              </a:rPr>
              <a:t>¿Por qué el patrón visitor?</a:t>
            </a:r>
            <a:endParaRPr b="1" sz="7066">
              <a:solidFill>
                <a:srgbClr val="FFFFFF"/>
              </a:solidFill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5599200" y="3746808"/>
            <a:ext cx="70896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6">
                <a:solidFill>
                  <a:srgbClr val="FFFFFF"/>
                </a:solidFill>
              </a:rPr>
              <a:t>Tenemos la opción de trabajar con patrón visitor, patrón observador (listener) y el interprete. Pero por qué.</a:t>
            </a:r>
            <a:endParaRPr/>
          </a:p>
        </p:txBody>
      </p:sp>
      <p:pic>
        <p:nvPicPr>
          <p:cNvPr id="394" name="Google Shape;39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3625" y="5180967"/>
            <a:ext cx="2860800" cy="3188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0" name="Google Shape;400;p28"/>
          <p:cNvGrpSpPr/>
          <p:nvPr/>
        </p:nvGrpSpPr>
        <p:grpSpPr>
          <a:xfrm>
            <a:off x="2950118" y="2295671"/>
            <a:ext cx="12387770" cy="5331406"/>
            <a:chOff x="0" y="0"/>
            <a:chExt cx="3262601" cy="1404147"/>
          </a:xfrm>
        </p:grpSpPr>
        <p:sp>
          <p:nvSpPr>
            <p:cNvPr id="401" name="Google Shape;401;p28"/>
            <p:cNvSpPr/>
            <p:nvPr/>
          </p:nvSpPr>
          <p:spPr>
            <a:xfrm>
              <a:off x="0" y="0"/>
              <a:ext cx="3262601" cy="1404147"/>
            </a:xfrm>
            <a:custGeom>
              <a:rect b="b" l="l" r="r" t="t"/>
              <a:pathLst>
                <a:path extrusionOk="0" h="1404147" w="3262601">
                  <a:moveTo>
                    <a:pt x="31873" y="0"/>
                  </a:moveTo>
                  <a:lnTo>
                    <a:pt x="3230727" y="0"/>
                  </a:lnTo>
                  <a:cubicBezTo>
                    <a:pt x="3239181" y="0"/>
                    <a:pt x="3247288" y="3358"/>
                    <a:pt x="3253265" y="9336"/>
                  </a:cubicBezTo>
                  <a:cubicBezTo>
                    <a:pt x="3259243" y="15313"/>
                    <a:pt x="3262601" y="23420"/>
                    <a:pt x="3262601" y="31873"/>
                  </a:cubicBezTo>
                  <a:lnTo>
                    <a:pt x="3262601" y="1372273"/>
                  </a:lnTo>
                  <a:cubicBezTo>
                    <a:pt x="3262601" y="1389877"/>
                    <a:pt x="3248331" y="1404147"/>
                    <a:pt x="3230727" y="1404147"/>
                  </a:cubicBezTo>
                  <a:lnTo>
                    <a:pt x="31873" y="1404147"/>
                  </a:lnTo>
                  <a:cubicBezTo>
                    <a:pt x="23420" y="1404147"/>
                    <a:pt x="15313" y="1400789"/>
                    <a:pt x="9336" y="1394811"/>
                  </a:cubicBezTo>
                  <a:cubicBezTo>
                    <a:pt x="3358" y="1388834"/>
                    <a:pt x="0" y="1380727"/>
                    <a:pt x="0" y="1372273"/>
                  </a:cubicBezTo>
                  <a:lnTo>
                    <a:pt x="0" y="31873"/>
                  </a:lnTo>
                  <a:cubicBezTo>
                    <a:pt x="0" y="23420"/>
                    <a:pt x="3358" y="15313"/>
                    <a:pt x="9336" y="9336"/>
                  </a:cubicBezTo>
                  <a:cubicBezTo>
                    <a:pt x="15313" y="3358"/>
                    <a:pt x="23420" y="0"/>
                    <a:pt x="3187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8"/>
            <p:cNvSpPr txBox="1"/>
            <p:nvPr/>
          </p:nvSpPr>
          <p:spPr>
            <a:xfrm>
              <a:off x="0" y="19050"/>
              <a:ext cx="3262601" cy="1385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28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id="404" name="Google Shape;404;p28"/>
            <p:cNvSpPr/>
            <p:nvPr/>
          </p:nvSpPr>
          <p:spPr>
            <a:xfrm>
              <a:off x="0" y="0"/>
              <a:ext cx="4583605" cy="4788220"/>
            </a:xfrm>
            <a:custGeom>
              <a:rect b="b" l="l" r="r" t="t"/>
              <a:pathLst>
                <a:path extrusionOk="0"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05" name="Google Shape;405;p28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28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407" name="Google Shape;407;p28"/>
          <p:cNvSpPr txBox="1"/>
          <p:nvPr/>
        </p:nvSpPr>
        <p:spPr>
          <a:xfrm>
            <a:off x="5664500" y="3183875"/>
            <a:ext cx="71682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9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</a:t>
            </a:r>
            <a:r>
              <a:rPr b="1" lang="en-US" sz="5690">
                <a:solidFill>
                  <a:schemeClr val="lt1"/>
                </a:solidFill>
              </a:rPr>
              <a:t>práctico</a:t>
            </a:r>
            <a:endParaRPr/>
          </a:p>
        </p:txBody>
      </p:sp>
      <p:sp>
        <p:nvSpPr>
          <p:cNvPr id="408" name="Google Shape;408;p28"/>
          <p:cNvSpPr txBox="1"/>
          <p:nvPr/>
        </p:nvSpPr>
        <p:spPr>
          <a:xfrm>
            <a:off x="5536775" y="5284934"/>
            <a:ext cx="581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4" name="Google Shape;414;p29"/>
          <p:cNvGrpSpPr/>
          <p:nvPr/>
        </p:nvGrpSpPr>
        <p:grpSpPr>
          <a:xfrm>
            <a:off x="2054482" y="4424481"/>
            <a:ext cx="3707086" cy="2794649"/>
            <a:chOff x="0" y="0"/>
            <a:chExt cx="976352" cy="736039"/>
          </a:xfrm>
        </p:grpSpPr>
        <p:sp>
          <p:nvSpPr>
            <p:cNvPr id="415" name="Google Shape;415;p29"/>
            <p:cNvSpPr/>
            <p:nvPr/>
          </p:nvSpPr>
          <p:spPr>
            <a:xfrm>
              <a:off x="0" y="0"/>
              <a:ext cx="976352" cy="736039"/>
            </a:xfrm>
            <a:custGeom>
              <a:rect b="b" l="l" r="r" t="t"/>
              <a:pathLst>
                <a:path extrusionOk="0" h="736039" w="976352">
                  <a:moveTo>
                    <a:pt x="73094" y="0"/>
                  </a:moveTo>
                  <a:lnTo>
                    <a:pt x="903258" y="0"/>
                  </a:lnTo>
                  <a:cubicBezTo>
                    <a:pt x="943627" y="0"/>
                    <a:pt x="976352" y="32725"/>
                    <a:pt x="976352" y="73094"/>
                  </a:cubicBezTo>
                  <a:lnTo>
                    <a:pt x="976352" y="662945"/>
                  </a:lnTo>
                  <a:cubicBezTo>
                    <a:pt x="976352" y="682331"/>
                    <a:pt x="968651" y="700922"/>
                    <a:pt x="954943" y="714630"/>
                  </a:cubicBezTo>
                  <a:cubicBezTo>
                    <a:pt x="941235" y="728338"/>
                    <a:pt x="922643" y="736039"/>
                    <a:pt x="903258" y="736039"/>
                  </a:cubicBezTo>
                  <a:lnTo>
                    <a:pt x="73094" y="736039"/>
                  </a:lnTo>
                  <a:cubicBezTo>
                    <a:pt x="32725" y="736039"/>
                    <a:pt x="0" y="703314"/>
                    <a:pt x="0" y="662945"/>
                  </a:cubicBezTo>
                  <a:lnTo>
                    <a:pt x="0" y="73094"/>
                  </a:lnTo>
                  <a:cubicBezTo>
                    <a:pt x="0" y="32725"/>
                    <a:pt x="32725" y="0"/>
                    <a:pt x="73094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 txBox="1"/>
            <p:nvPr/>
          </p:nvSpPr>
          <p:spPr>
            <a:xfrm>
              <a:off x="0" y="19050"/>
              <a:ext cx="976352" cy="7169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9"/>
          <p:cNvGrpSpPr/>
          <p:nvPr/>
        </p:nvGrpSpPr>
        <p:grpSpPr>
          <a:xfrm>
            <a:off x="2054482" y="2262850"/>
            <a:ext cx="13884881" cy="1811493"/>
            <a:chOff x="0" y="0"/>
            <a:chExt cx="3656923" cy="477101"/>
          </a:xfrm>
        </p:grpSpPr>
        <p:sp>
          <p:nvSpPr>
            <p:cNvPr id="418" name="Google Shape;418;p29"/>
            <p:cNvSpPr/>
            <p:nvPr/>
          </p:nvSpPr>
          <p:spPr>
            <a:xfrm>
              <a:off x="0" y="0"/>
              <a:ext cx="3656923" cy="477101"/>
            </a:xfrm>
            <a:custGeom>
              <a:rect b="b" l="l" r="r" t="t"/>
              <a:pathLst>
                <a:path extrusionOk="0" h="477101" w="3656923">
                  <a:moveTo>
                    <a:pt x="19515" y="0"/>
                  </a:moveTo>
                  <a:lnTo>
                    <a:pt x="3637408" y="0"/>
                  </a:lnTo>
                  <a:cubicBezTo>
                    <a:pt x="3642584" y="0"/>
                    <a:pt x="3647548" y="2056"/>
                    <a:pt x="3651207" y="5716"/>
                  </a:cubicBezTo>
                  <a:cubicBezTo>
                    <a:pt x="3654867" y="9376"/>
                    <a:pt x="3656923" y="14339"/>
                    <a:pt x="3656923" y="19515"/>
                  </a:cubicBezTo>
                  <a:lnTo>
                    <a:pt x="3656923" y="457586"/>
                  </a:lnTo>
                  <a:cubicBezTo>
                    <a:pt x="3656923" y="462761"/>
                    <a:pt x="3654867" y="467725"/>
                    <a:pt x="3651207" y="471385"/>
                  </a:cubicBezTo>
                  <a:cubicBezTo>
                    <a:pt x="3647548" y="475045"/>
                    <a:pt x="3642584" y="477101"/>
                    <a:pt x="3637408" y="477101"/>
                  </a:cubicBezTo>
                  <a:lnTo>
                    <a:pt x="19515" y="477101"/>
                  </a:lnTo>
                  <a:cubicBezTo>
                    <a:pt x="14339" y="477101"/>
                    <a:pt x="9376" y="475045"/>
                    <a:pt x="5716" y="471385"/>
                  </a:cubicBezTo>
                  <a:cubicBezTo>
                    <a:pt x="2056" y="467725"/>
                    <a:pt x="0" y="462761"/>
                    <a:pt x="0" y="457586"/>
                  </a:cubicBezTo>
                  <a:lnTo>
                    <a:pt x="0" y="19515"/>
                  </a:lnTo>
                  <a:cubicBezTo>
                    <a:pt x="0" y="14339"/>
                    <a:pt x="2056" y="9376"/>
                    <a:pt x="5716" y="5716"/>
                  </a:cubicBezTo>
                  <a:cubicBezTo>
                    <a:pt x="9376" y="2056"/>
                    <a:pt x="14339" y="0"/>
                    <a:pt x="19515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9"/>
            <p:cNvSpPr txBox="1"/>
            <p:nvPr/>
          </p:nvSpPr>
          <p:spPr>
            <a:xfrm>
              <a:off x="0" y="19050"/>
              <a:ext cx="3656923" cy="458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29"/>
          <p:cNvGrpSpPr/>
          <p:nvPr/>
        </p:nvGrpSpPr>
        <p:grpSpPr>
          <a:xfrm>
            <a:off x="6520573" y="4424481"/>
            <a:ext cx="9418789" cy="721344"/>
            <a:chOff x="0" y="0"/>
            <a:chExt cx="2480669" cy="189984"/>
          </a:xfrm>
        </p:grpSpPr>
        <p:sp>
          <p:nvSpPr>
            <p:cNvPr id="421" name="Google Shape;421;p29"/>
            <p:cNvSpPr/>
            <p:nvPr/>
          </p:nvSpPr>
          <p:spPr>
            <a:xfrm>
              <a:off x="0" y="0"/>
              <a:ext cx="2480669" cy="189984"/>
            </a:xfrm>
            <a:custGeom>
              <a:rect b="b" l="l" r="r" t="t"/>
              <a:pathLst>
                <a:path extrusionOk="0" h="189984" w="2480669">
                  <a:moveTo>
                    <a:pt x="28769" y="0"/>
                  </a:moveTo>
                  <a:lnTo>
                    <a:pt x="2451900" y="0"/>
                  </a:lnTo>
                  <a:cubicBezTo>
                    <a:pt x="2459530" y="0"/>
                    <a:pt x="2466847" y="3031"/>
                    <a:pt x="2472243" y="8426"/>
                  </a:cubicBezTo>
                  <a:cubicBezTo>
                    <a:pt x="2477638" y="13821"/>
                    <a:pt x="2480669" y="21139"/>
                    <a:pt x="2480669" y="28769"/>
                  </a:cubicBezTo>
                  <a:lnTo>
                    <a:pt x="2480669" y="161215"/>
                  </a:lnTo>
                  <a:cubicBezTo>
                    <a:pt x="2480669" y="168845"/>
                    <a:pt x="2477638" y="176162"/>
                    <a:pt x="2472243" y="181557"/>
                  </a:cubicBezTo>
                  <a:cubicBezTo>
                    <a:pt x="2466847" y="186953"/>
                    <a:pt x="2459530" y="189984"/>
                    <a:pt x="2451900" y="189984"/>
                  </a:cubicBezTo>
                  <a:lnTo>
                    <a:pt x="28769" y="189984"/>
                  </a:lnTo>
                  <a:cubicBezTo>
                    <a:pt x="21139" y="189984"/>
                    <a:pt x="13821" y="186953"/>
                    <a:pt x="8426" y="181557"/>
                  </a:cubicBezTo>
                  <a:cubicBezTo>
                    <a:pt x="3031" y="176162"/>
                    <a:pt x="0" y="168845"/>
                    <a:pt x="0" y="161215"/>
                  </a:cubicBezTo>
                  <a:lnTo>
                    <a:pt x="0" y="28769"/>
                  </a:lnTo>
                  <a:cubicBezTo>
                    <a:pt x="0" y="21139"/>
                    <a:pt x="3031" y="13821"/>
                    <a:pt x="8426" y="8426"/>
                  </a:cubicBezTo>
                  <a:cubicBezTo>
                    <a:pt x="13821" y="3031"/>
                    <a:pt x="21139" y="0"/>
                    <a:pt x="2876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9"/>
            <p:cNvSpPr txBox="1"/>
            <p:nvPr/>
          </p:nvSpPr>
          <p:spPr>
            <a:xfrm>
              <a:off x="0" y="19050"/>
              <a:ext cx="2480669" cy="170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3" name="Google Shape;423;p29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2583650" y="2401421"/>
            <a:ext cx="12183600" cy="17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6">
                <a:solidFill>
                  <a:srgbClr val="FFFFFF"/>
                </a:solidFill>
              </a:rPr>
              <a:t>Tarea 1</a:t>
            </a:r>
            <a:r>
              <a:rPr b="1" i="0" lang="en-US" sz="54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Gramáticas y árboles de derivación</a:t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2320176" y="4714500"/>
            <a:ext cx="26670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</a:t>
            </a:r>
            <a:endParaRPr/>
          </a:p>
        </p:txBody>
      </p:sp>
      <p:sp>
        <p:nvSpPr>
          <p:cNvPr id="426" name="Google Shape;426;p29"/>
          <p:cNvSpPr txBox="1"/>
          <p:nvPr/>
        </p:nvSpPr>
        <p:spPr>
          <a:xfrm>
            <a:off x="2320173" y="5275407"/>
            <a:ext cx="3158100" cy="13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6">
                <a:solidFill>
                  <a:srgbClr val="FFFFFF"/>
                </a:solidFill>
              </a:rPr>
              <a:t>El </a:t>
            </a: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estudiante definirá gramáticas libres de contexto y construirá sus árboles de derivación de forma clara y precisa.</a:t>
            </a:r>
            <a:endParaRPr/>
          </a:p>
        </p:txBody>
      </p:sp>
      <p:sp>
        <p:nvSpPr>
          <p:cNvPr id="427" name="Google Shape;427;p29"/>
          <p:cNvSpPr txBox="1"/>
          <p:nvPr/>
        </p:nvSpPr>
        <p:spPr>
          <a:xfrm>
            <a:off x="6784051" y="4583515"/>
            <a:ext cx="5668591" cy="394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</p:txBody>
      </p:sp>
      <p:grpSp>
        <p:nvGrpSpPr>
          <p:cNvPr id="428" name="Google Shape;428;p29"/>
          <p:cNvGrpSpPr/>
          <p:nvPr/>
        </p:nvGrpSpPr>
        <p:grpSpPr>
          <a:xfrm>
            <a:off x="6520573" y="5498251"/>
            <a:ext cx="9418789" cy="3296220"/>
            <a:chOff x="0" y="0"/>
            <a:chExt cx="2480669" cy="868140"/>
          </a:xfrm>
        </p:grpSpPr>
        <p:sp>
          <p:nvSpPr>
            <p:cNvPr id="429" name="Google Shape;429;p29"/>
            <p:cNvSpPr/>
            <p:nvPr/>
          </p:nvSpPr>
          <p:spPr>
            <a:xfrm>
              <a:off x="0" y="0"/>
              <a:ext cx="2480669" cy="868140"/>
            </a:xfrm>
            <a:custGeom>
              <a:rect b="b" l="l" r="r" t="t"/>
              <a:pathLst>
                <a:path extrusionOk="0" h="868140" w="2480669">
                  <a:moveTo>
                    <a:pt x="28769" y="0"/>
                  </a:moveTo>
                  <a:lnTo>
                    <a:pt x="2451900" y="0"/>
                  </a:lnTo>
                  <a:cubicBezTo>
                    <a:pt x="2459530" y="0"/>
                    <a:pt x="2466847" y="3031"/>
                    <a:pt x="2472243" y="8426"/>
                  </a:cubicBezTo>
                  <a:cubicBezTo>
                    <a:pt x="2477638" y="13821"/>
                    <a:pt x="2480669" y="21139"/>
                    <a:pt x="2480669" y="28769"/>
                  </a:cubicBezTo>
                  <a:lnTo>
                    <a:pt x="2480669" y="839371"/>
                  </a:lnTo>
                  <a:cubicBezTo>
                    <a:pt x="2480669" y="847001"/>
                    <a:pt x="2477638" y="854319"/>
                    <a:pt x="2472243" y="859714"/>
                  </a:cubicBezTo>
                  <a:cubicBezTo>
                    <a:pt x="2466847" y="865109"/>
                    <a:pt x="2459530" y="868140"/>
                    <a:pt x="2451900" y="868140"/>
                  </a:cubicBezTo>
                  <a:lnTo>
                    <a:pt x="28769" y="868140"/>
                  </a:lnTo>
                  <a:cubicBezTo>
                    <a:pt x="21139" y="868140"/>
                    <a:pt x="13821" y="865109"/>
                    <a:pt x="8426" y="859714"/>
                  </a:cubicBezTo>
                  <a:cubicBezTo>
                    <a:pt x="3031" y="854319"/>
                    <a:pt x="0" y="847001"/>
                    <a:pt x="0" y="839371"/>
                  </a:cubicBezTo>
                  <a:lnTo>
                    <a:pt x="0" y="28769"/>
                  </a:lnTo>
                  <a:cubicBezTo>
                    <a:pt x="0" y="21139"/>
                    <a:pt x="3031" y="13821"/>
                    <a:pt x="8426" y="8426"/>
                  </a:cubicBezTo>
                  <a:cubicBezTo>
                    <a:pt x="13821" y="3031"/>
                    <a:pt x="21139" y="0"/>
                    <a:pt x="2876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9"/>
            <p:cNvSpPr txBox="1"/>
            <p:nvPr/>
          </p:nvSpPr>
          <p:spPr>
            <a:xfrm>
              <a:off x="0" y="19050"/>
              <a:ext cx="2480669" cy="849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29"/>
          <p:cNvSpPr txBox="1"/>
          <p:nvPr/>
        </p:nvSpPr>
        <p:spPr>
          <a:xfrm>
            <a:off x="7699260" y="5800750"/>
            <a:ext cx="7061400" cy="2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Terminar la gramática</a:t>
            </a:r>
            <a:r>
              <a:rPr b="1" lang="en-US" sz="2076">
                <a:solidFill>
                  <a:srgbClr val="FFFFFF"/>
                </a:solidFill>
              </a:rPr>
              <a:t> de la semana 1 agregando </a:t>
            </a:r>
            <a:r>
              <a:rPr b="1" i="0" lang="en-US" sz="2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operadores </a:t>
            </a:r>
            <a:r>
              <a:rPr b="1" lang="en-US" sz="2076">
                <a:solidFill>
                  <a:srgbClr val="FFFFFF"/>
                </a:solidFill>
              </a:rPr>
              <a:t>-</a:t>
            </a:r>
            <a:r>
              <a:rPr b="1" i="0" lang="en-US" sz="2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n-US" sz="2076">
                <a:solidFill>
                  <a:srgbClr val="FFFFFF"/>
                </a:solidFill>
              </a:rPr>
              <a:t>/</a:t>
            </a:r>
            <a:endParaRPr b="1" sz="2076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6">
                <a:solidFill>
                  <a:srgbClr val="FFFFFF"/>
                </a:solidFill>
              </a:rPr>
              <a:t>2. Implementar los métodos en el visitor</a:t>
            </a:r>
            <a:endParaRPr b="1" sz="2076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6">
                <a:solidFill>
                  <a:srgbClr val="FFFFFF"/>
                </a:solidFill>
              </a:rPr>
              <a:t>3. Subir un PDF con las capturas de la gramatica.g4, el intrepreter.php y la salida en consola con una operación comprobando el funcionamiento.</a:t>
            </a:r>
            <a:endParaRPr b="1" sz="207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0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7" name="Google Shape;437;p30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id="438" name="Google Shape;438;p30"/>
            <p:cNvSpPr/>
            <p:nvPr/>
          </p:nvSpPr>
          <p:spPr>
            <a:xfrm>
              <a:off x="0" y="0"/>
              <a:ext cx="5333797" cy="4788220"/>
            </a:xfrm>
            <a:custGeom>
              <a:rect b="b" l="l" r="r" t="t"/>
              <a:pathLst>
                <a:path extrusionOk="0"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39" name="Google Shape;439;p30"/>
            <p:cNvSpPr txBox="1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" name="Google Shape;440;p30"/>
          <p:cNvGrpSpPr/>
          <p:nvPr/>
        </p:nvGrpSpPr>
        <p:grpSpPr>
          <a:xfrm>
            <a:off x="2266343" y="8553082"/>
            <a:ext cx="13735267" cy="705218"/>
            <a:chOff x="0" y="0"/>
            <a:chExt cx="3583040" cy="183966"/>
          </a:xfrm>
        </p:grpSpPr>
        <p:sp>
          <p:nvSpPr>
            <p:cNvPr id="441" name="Google Shape;441;p30"/>
            <p:cNvSpPr/>
            <p:nvPr/>
          </p:nvSpPr>
          <p:spPr>
            <a:xfrm>
              <a:off x="0" y="0"/>
              <a:ext cx="3583039" cy="183966"/>
            </a:xfrm>
            <a:custGeom>
              <a:rect b="b" l="l" r="r" t="t"/>
              <a:pathLst>
                <a:path extrusionOk="0" h="183966" w="3583039">
                  <a:moveTo>
                    <a:pt x="11837" y="0"/>
                  </a:moveTo>
                  <a:lnTo>
                    <a:pt x="3571203" y="0"/>
                  </a:lnTo>
                  <a:cubicBezTo>
                    <a:pt x="3574342" y="0"/>
                    <a:pt x="3577353" y="1247"/>
                    <a:pt x="3579573" y="3467"/>
                  </a:cubicBezTo>
                  <a:cubicBezTo>
                    <a:pt x="3581792" y="5687"/>
                    <a:pt x="3583039" y="8697"/>
                    <a:pt x="3583039" y="11837"/>
                  </a:cubicBezTo>
                  <a:lnTo>
                    <a:pt x="3583039" y="172129"/>
                  </a:lnTo>
                  <a:cubicBezTo>
                    <a:pt x="3583039" y="175269"/>
                    <a:pt x="3581792" y="178279"/>
                    <a:pt x="3579573" y="180499"/>
                  </a:cubicBezTo>
                  <a:cubicBezTo>
                    <a:pt x="3577353" y="182719"/>
                    <a:pt x="3574342" y="183966"/>
                    <a:pt x="3571203" y="183966"/>
                  </a:cubicBezTo>
                  <a:lnTo>
                    <a:pt x="11837" y="183966"/>
                  </a:lnTo>
                  <a:cubicBezTo>
                    <a:pt x="8697" y="183966"/>
                    <a:pt x="5687" y="182719"/>
                    <a:pt x="3467" y="180499"/>
                  </a:cubicBezTo>
                  <a:cubicBezTo>
                    <a:pt x="1247" y="178279"/>
                    <a:pt x="0" y="175269"/>
                    <a:pt x="0" y="172129"/>
                  </a:cubicBezTo>
                  <a:lnTo>
                    <a:pt x="0" y="11837"/>
                  </a:lnTo>
                  <a:cubicBezTo>
                    <a:pt x="0" y="8697"/>
                    <a:pt x="1247" y="5687"/>
                    <a:pt x="3467" y="3467"/>
                  </a:cubicBezTo>
                  <a:cubicBezTo>
                    <a:pt x="5687" y="1247"/>
                    <a:pt x="8697" y="0"/>
                    <a:pt x="118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0"/>
            <p:cNvSpPr txBox="1"/>
            <p:nvPr/>
          </p:nvSpPr>
          <p:spPr>
            <a:xfrm>
              <a:off x="0" y="19050"/>
              <a:ext cx="3583040" cy="164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30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444" name="Google Shape;444;p30"/>
          <p:cNvSpPr txBox="1"/>
          <p:nvPr/>
        </p:nvSpPr>
        <p:spPr>
          <a:xfrm>
            <a:off x="2080871" y="2411882"/>
            <a:ext cx="14126257" cy="3596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2080871" y="6688163"/>
            <a:ext cx="14126257" cy="97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  <p:sp>
        <p:nvSpPr>
          <p:cNvPr id="446" name="Google Shape;446;p30"/>
          <p:cNvSpPr txBox="1"/>
          <p:nvPr/>
        </p:nvSpPr>
        <p:spPr>
          <a:xfrm>
            <a:off x="2411098" y="8556695"/>
            <a:ext cx="13465804" cy="650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16426204" y="0"/>
            <a:ext cx="1861796" cy="2546280"/>
          </a:xfrm>
          <a:custGeom>
            <a:rect b="b" l="l" r="r" t="t"/>
            <a:pathLst>
              <a:path extrusionOk="0" h="2546280" w="1861796">
                <a:moveTo>
                  <a:pt x="0" y="0"/>
                </a:moveTo>
                <a:lnTo>
                  <a:pt x="1861796" y="0"/>
                </a:lnTo>
                <a:lnTo>
                  <a:pt x="1861796" y="2546280"/>
                </a:lnTo>
                <a:lnTo>
                  <a:pt x="0" y="2546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