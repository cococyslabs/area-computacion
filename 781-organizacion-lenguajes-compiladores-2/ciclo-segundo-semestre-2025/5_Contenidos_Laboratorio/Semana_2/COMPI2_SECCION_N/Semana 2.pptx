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y="10287000" cx="18288000"/>
  <p:notesSz cx="6858000" cy="9144000"/>
  <p:embeddedFontLst>
    <p:embeddedFont>
      <p:font typeface="Lato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60703C1-9AE7-4DD4-B28C-6F3B703161C0}">
  <a:tblStyle styleId="{160703C1-9AE7-4DD4-B28C-6F3B703161C0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font" Target="fonts/Lato-bold.fntdata"/><Relationship Id="rId23" Type="http://schemas.openxmlformats.org/officeDocument/2006/relationships/font" Target="fonts/Lato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Lato-boldItalic.fntdata"/><Relationship Id="rId25" Type="http://schemas.openxmlformats.org/officeDocument/2006/relationships/font" Target="fonts/Lato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6ff8f2f48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g36ff8f2f48c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c2fb95289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g3c2fb952891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c348d0c389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g3c348d0c389_0_1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3c348d0c389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g3c348d0c389_0_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" type="tx">
  <p:cSld name="TITLE_AND_BODY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3"/>
          <p:cNvSpPr txBox="1"/>
          <p:nvPr>
            <p:ph type="title"/>
          </p:nvPr>
        </p:nvSpPr>
        <p:spPr>
          <a:xfrm>
            <a:off x="623520" y="889920"/>
            <a:ext cx="1704000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3"/>
          <p:cNvSpPr txBox="1"/>
          <p:nvPr>
            <p:ph idx="1" type="body"/>
          </p:nvPr>
        </p:nvSpPr>
        <p:spPr>
          <a:xfrm>
            <a:off x="623520" y="2304720"/>
            <a:ext cx="17040000" cy="683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457200" lvl="0" marL="4572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1pPr>
            <a:lvl2pPr indent="-4572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Char char="–"/>
              <a:defRPr/>
            </a:lvl2pPr>
            <a:lvl3pPr indent="-4572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3pPr>
            <a:lvl4pPr indent="-4572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Char char="–"/>
              <a:defRPr/>
            </a:lvl4pPr>
            <a:lvl5pPr indent="-4572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Char char="»"/>
              <a:defRPr/>
            </a:lvl5pPr>
            <a:lvl6pPr indent="-4572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6pPr>
            <a:lvl7pPr indent="-4572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7pPr>
            <a:lvl8pPr indent="-4572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8pPr>
            <a:lvl9pPr indent="-4572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9pPr>
          </a:lstStyle>
          <a:p/>
        </p:txBody>
      </p:sp>
      <p:sp>
        <p:nvSpPr>
          <p:cNvPr id="83" name="Google Shape;83;p13"/>
          <p:cNvSpPr txBox="1"/>
          <p:nvPr>
            <p:ph idx="12" type="sldNum"/>
          </p:nvPr>
        </p:nvSpPr>
        <p:spPr>
          <a:xfrm>
            <a:off x="16945200" y="9326160"/>
            <a:ext cx="1096800" cy="7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2000"/>
              <a:buFont typeface="Arial"/>
              <a:buNone/>
              <a:defRPr b="0" sz="2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2000"/>
              <a:buFont typeface="Arial"/>
              <a:buNone/>
              <a:defRPr b="0" sz="2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2000"/>
              <a:buFont typeface="Arial"/>
              <a:buNone/>
              <a:defRPr b="0" sz="2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2000"/>
              <a:buFont typeface="Arial"/>
              <a:buNone/>
              <a:defRPr b="0" sz="2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2000"/>
              <a:buFont typeface="Arial"/>
              <a:buNone/>
              <a:defRPr b="0" sz="2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2000"/>
              <a:buFont typeface="Arial"/>
              <a:buNone/>
              <a:defRPr b="0" sz="2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2000"/>
              <a:buFont typeface="Arial"/>
              <a:buNone/>
              <a:defRPr b="0" sz="2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2000"/>
              <a:buFont typeface="Arial"/>
              <a:buNone/>
              <a:defRPr b="0" sz="2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2000"/>
              <a:buFont typeface="Arial"/>
              <a:buNone/>
              <a:defRPr b="0" sz="2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2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Relationship Id="rId4" Type="http://schemas.openxmlformats.org/officeDocument/2006/relationships/image" Target="../media/image1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Relationship Id="rId4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Relationship Id="rId4" Type="http://schemas.openxmlformats.org/officeDocument/2006/relationships/image" Target="../media/image14.png"/><Relationship Id="rId5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Relationship Id="rId4" Type="http://schemas.openxmlformats.org/officeDocument/2006/relationships/image" Target="../media/image2.png"/><Relationship Id="rId5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Relationship Id="rId4" Type="http://schemas.openxmlformats.org/officeDocument/2006/relationships/image" Target="../media/image1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Relationship Id="rId4" Type="http://schemas.openxmlformats.org/officeDocument/2006/relationships/image" Target="../media/image2.png"/><Relationship Id="rId5" Type="http://schemas.openxmlformats.org/officeDocument/2006/relationships/image" Target="../media/image1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Relationship Id="rId4" Type="http://schemas.openxmlformats.org/officeDocument/2006/relationships/image" Target="../media/image2.png"/><Relationship Id="rId5" Type="http://schemas.openxmlformats.org/officeDocument/2006/relationships/image" Target="../media/image1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4"/>
          <p:cNvPicPr preferRelativeResize="0"/>
          <p:nvPr/>
        </p:nvPicPr>
        <p:blipFill rotWithShape="1">
          <a:blip r:embed="rId3">
            <a:alphaModFix amt="62000"/>
          </a:blip>
          <a:srcRect b="0" l="0" r="0" t="0"/>
          <a:stretch/>
        </p:blipFill>
        <p:spPr>
          <a:xfrm>
            <a:off x="16560" y="0"/>
            <a:ext cx="18253440" cy="10286639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89" name="Google Shape;89;p14"/>
          <p:cNvGraphicFramePr/>
          <p:nvPr/>
        </p:nvGraphicFramePr>
        <p:xfrm>
          <a:off x="10656720" y="1940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{160703C1-9AE7-4DD4-B28C-6F3B703161C0}</a:tableStyleId>
              </a:tblPr>
              <a:tblGrid>
                <a:gridCol w="3036250"/>
                <a:gridCol w="4344500"/>
              </a:tblGrid>
              <a:tr h="644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Día, Fecha:</a:t>
                      </a:r>
                      <a:endParaRPr b="0" sz="2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450" marB="91450" marR="182150" marL="18215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Martes, </a:t>
                      </a:r>
                      <a:r>
                        <a:rPr lang="en-US" sz="2800"/>
                        <a:t>03</a:t>
                      </a:r>
                      <a:r>
                        <a:rPr b="0" lang="en-US" sz="2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/</a:t>
                      </a:r>
                      <a:r>
                        <a:rPr lang="en-US" sz="2800"/>
                        <a:t>02</a:t>
                      </a:r>
                      <a:r>
                        <a:rPr b="0" lang="en-US" sz="2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/202</a:t>
                      </a:r>
                      <a:r>
                        <a:rPr lang="en-US" sz="2800"/>
                        <a:t>6</a:t>
                      </a:r>
                      <a:endParaRPr b="0" sz="2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450" marB="91450" marR="182150" marL="18215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2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Hora de inicio:</a:t>
                      </a:r>
                      <a:endParaRPr b="0" sz="2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450" marB="91450" marR="182150" marL="18215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17</a:t>
                      </a:r>
                      <a:r>
                        <a:rPr b="0" lang="en-US" sz="2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:</a:t>
                      </a:r>
                      <a:r>
                        <a:rPr lang="en-US" sz="2800"/>
                        <a:t>20</a:t>
                      </a:r>
                      <a:endParaRPr b="0" sz="2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450" marB="91450" marR="182150" marL="18215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90" name="Google Shape;90;p14"/>
          <p:cNvSpPr/>
          <p:nvPr/>
        </p:nvSpPr>
        <p:spPr>
          <a:xfrm>
            <a:off x="2880000" y="4516560"/>
            <a:ext cx="11956800" cy="18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Organización de Lenguajes y Compiladores 2 </a:t>
            </a:r>
            <a:r>
              <a:rPr lang="en-US" sz="5000"/>
              <a:t>N</a:t>
            </a:r>
            <a:endParaRPr b="0" i="0" sz="5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4"/>
          <p:cNvSpPr/>
          <p:nvPr/>
        </p:nvSpPr>
        <p:spPr>
          <a:xfrm>
            <a:off x="3557520" y="6189120"/>
            <a:ext cx="11172000" cy="9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/>
              <a:t>Omar Alejandro Vides Esteban</a:t>
            </a:r>
            <a:endParaRPr b="0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519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5"/>
          <p:cNvSpPr/>
          <p:nvPr/>
        </p:nvSpPr>
        <p:spPr>
          <a:xfrm>
            <a:off x="8588049" y="1768245"/>
            <a:ext cx="11404113" cy="11487660"/>
          </a:xfrm>
          <a:custGeom>
            <a:rect b="b" l="l" r="r" t="t"/>
            <a:pathLst>
              <a:path extrusionOk="0" h="11487660" w="11404113">
                <a:moveTo>
                  <a:pt x="0" y="0"/>
                </a:moveTo>
                <a:lnTo>
                  <a:pt x="11404113" y="0"/>
                </a:lnTo>
                <a:lnTo>
                  <a:pt x="11404113" y="11487660"/>
                </a:lnTo>
                <a:lnTo>
                  <a:pt x="0" y="1148766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60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7" name="Google Shape;97;p15"/>
          <p:cNvSpPr/>
          <p:nvPr/>
        </p:nvSpPr>
        <p:spPr>
          <a:xfrm>
            <a:off x="1074577" y="845799"/>
            <a:ext cx="499539" cy="503199"/>
          </a:xfrm>
          <a:custGeom>
            <a:rect b="b" l="l" r="r" t="t"/>
            <a:pathLst>
              <a:path extrusionOk="0" h="503199" w="499539">
                <a:moveTo>
                  <a:pt x="0" y="0"/>
                </a:moveTo>
                <a:lnTo>
                  <a:pt x="499540" y="0"/>
                </a:lnTo>
                <a:lnTo>
                  <a:pt x="499540" y="503199"/>
                </a:lnTo>
                <a:lnTo>
                  <a:pt x="0" y="50319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98" name="Google Shape;98;p15"/>
          <p:cNvGrpSpPr/>
          <p:nvPr/>
        </p:nvGrpSpPr>
        <p:grpSpPr>
          <a:xfrm rot="1383774">
            <a:off x="8485994" y="522260"/>
            <a:ext cx="11226909" cy="14341591"/>
            <a:chOff x="0" y="0"/>
            <a:chExt cx="2956881" cy="3777209"/>
          </a:xfrm>
        </p:grpSpPr>
        <p:sp>
          <p:nvSpPr>
            <p:cNvPr id="99" name="Google Shape;99;p15"/>
            <p:cNvSpPr/>
            <p:nvPr/>
          </p:nvSpPr>
          <p:spPr>
            <a:xfrm>
              <a:off x="0" y="0"/>
              <a:ext cx="2956881" cy="3777209"/>
            </a:xfrm>
            <a:custGeom>
              <a:rect b="b" l="l" r="r" t="t"/>
              <a:pathLst>
                <a:path extrusionOk="0" h="3777209" w="2956881">
                  <a:moveTo>
                    <a:pt x="0" y="0"/>
                  </a:moveTo>
                  <a:lnTo>
                    <a:pt x="2956881" y="0"/>
                  </a:lnTo>
                  <a:lnTo>
                    <a:pt x="2956881" y="3777209"/>
                  </a:lnTo>
                  <a:lnTo>
                    <a:pt x="0" y="3777209"/>
                  </a:lnTo>
                  <a:close/>
                </a:path>
              </a:pathLst>
            </a:custGeom>
            <a:gradFill>
              <a:gsLst>
                <a:gs pos="0">
                  <a:srgbClr val="141519"/>
                </a:gs>
                <a:gs pos="100000">
                  <a:srgbClr val="141519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</p:sp>
        <p:sp>
          <p:nvSpPr>
            <p:cNvPr id="100" name="Google Shape;100;p15"/>
            <p:cNvSpPr txBox="1"/>
            <p:nvPr/>
          </p:nvSpPr>
          <p:spPr>
            <a:xfrm>
              <a:off x="0" y="28575"/>
              <a:ext cx="2956881" cy="374863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5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1" name="Google Shape;101;p15"/>
          <p:cNvSpPr txBox="1"/>
          <p:nvPr/>
        </p:nvSpPr>
        <p:spPr>
          <a:xfrm>
            <a:off x="2054469" y="2529413"/>
            <a:ext cx="15087900" cy="49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8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177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Interpretación de instrucciones básicas</a:t>
            </a:r>
            <a:endParaRPr/>
          </a:p>
        </p:txBody>
      </p:sp>
      <p:sp>
        <p:nvSpPr>
          <p:cNvPr id="102" name="Google Shape;102;p15"/>
          <p:cNvSpPr txBox="1"/>
          <p:nvPr/>
        </p:nvSpPr>
        <p:spPr>
          <a:xfrm>
            <a:off x="1795032" y="930452"/>
            <a:ext cx="4330517" cy="6476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8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7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Organización de Lenguajes y Compiladores 2</a:t>
            </a:r>
            <a:endParaRPr/>
          </a:p>
        </p:txBody>
      </p:sp>
      <p:sp>
        <p:nvSpPr>
          <p:cNvPr id="103" name="Google Shape;103;p15"/>
          <p:cNvSpPr txBox="1"/>
          <p:nvPr/>
        </p:nvSpPr>
        <p:spPr>
          <a:xfrm>
            <a:off x="2054482" y="8596478"/>
            <a:ext cx="6970279" cy="4275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7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21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Escuela de Ciencias y Sistemas</a:t>
            </a:r>
            <a:endParaRPr/>
          </a:p>
        </p:txBody>
      </p:sp>
      <p:sp>
        <p:nvSpPr>
          <p:cNvPr id="104" name="Google Shape;104;p15"/>
          <p:cNvSpPr txBox="1"/>
          <p:nvPr/>
        </p:nvSpPr>
        <p:spPr>
          <a:xfrm>
            <a:off x="2054482" y="9064947"/>
            <a:ext cx="5466833" cy="4275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7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21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Facultad de Ingeniería</a:t>
            </a:r>
            <a:endParaRPr/>
          </a:p>
        </p:txBody>
      </p:sp>
      <p:sp>
        <p:nvSpPr>
          <p:cNvPr id="105" name="Google Shape;105;p15"/>
          <p:cNvSpPr txBox="1"/>
          <p:nvPr/>
        </p:nvSpPr>
        <p:spPr>
          <a:xfrm>
            <a:off x="2054482" y="9521109"/>
            <a:ext cx="7388893" cy="4275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7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21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Universidad de San Carlos de Guatemala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519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6"/>
          <p:cNvSpPr/>
          <p:nvPr/>
        </p:nvSpPr>
        <p:spPr>
          <a:xfrm>
            <a:off x="1074577" y="845799"/>
            <a:ext cx="499539" cy="503199"/>
          </a:xfrm>
          <a:custGeom>
            <a:rect b="b" l="l" r="r" t="t"/>
            <a:pathLst>
              <a:path extrusionOk="0" h="503199" w="499539">
                <a:moveTo>
                  <a:pt x="0" y="0"/>
                </a:moveTo>
                <a:lnTo>
                  <a:pt x="499540" y="0"/>
                </a:lnTo>
                <a:lnTo>
                  <a:pt x="499540" y="503199"/>
                </a:lnTo>
                <a:lnTo>
                  <a:pt x="0" y="50319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11" name="Google Shape;111;p16"/>
          <p:cNvGrpSpPr/>
          <p:nvPr/>
        </p:nvGrpSpPr>
        <p:grpSpPr>
          <a:xfrm>
            <a:off x="2054475" y="1970472"/>
            <a:ext cx="7089572" cy="7037153"/>
            <a:chOff x="0" y="0"/>
            <a:chExt cx="1867200" cy="871690"/>
          </a:xfrm>
        </p:grpSpPr>
        <p:sp>
          <p:nvSpPr>
            <p:cNvPr id="112" name="Google Shape;112;p16"/>
            <p:cNvSpPr/>
            <p:nvPr/>
          </p:nvSpPr>
          <p:spPr>
            <a:xfrm>
              <a:off x="0" y="0"/>
              <a:ext cx="1867198" cy="871690"/>
            </a:xfrm>
            <a:custGeom>
              <a:rect b="b" l="l" r="r" t="t"/>
              <a:pathLst>
                <a:path extrusionOk="0" h="871690" w="1867198">
                  <a:moveTo>
                    <a:pt x="41497" y="0"/>
                  </a:moveTo>
                  <a:lnTo>
                    <a:pt x="1825701" y="0"/>
                  </a:lnTo>
                  <a:cubicBezTo>
                    <a:pt x="1836707" y="0"/>
                    <a:pt x="1847262" y="4372"/>
                    <a:pt x="1855044" y="12154"/>
                  </a:cubicBezTo>
                  <a:cubicBezTo>
                    <a:pt x="1862826" y="19936"/>
                    <a:pt x="1867198" y="30491"/>
                    <a:pt x="1867198" y="41497"/>
                  </a:cubicBezTo>
                  <a:lnTo>
                    <a:pt x="1867198" y="830194"/>
                  </a:lnTo>
                  <a:cubicBezTo>
                    <a:pt x="1867198" y="853112"/>
                    <a:pt x="1848620" y="871690"/>
                    <a:pt x="1825701" y="871690"/>
                  </a:cubicBezTo>
                  <a:lnTo>
                    <a:pt x="41497" y="871690"/>
                  </a:lnTo>
                  <a:cubicBezTo>
                    <a:pt x="30491" y="871690"/>
                    <a:pt x="19936" y="867318"/>
                    <a:pt x="12154" y="859536"/>
                  </a:cubicBezTo>
                  <a:cubicBezTo>
                    <a:pt x="4372" y="851754"/>
                    <a:pt x="0" y="841199"/>
                    <a:pt x="0" y="830194"/>
                  </a:cubicBezTo>
                  <a:lnTo>
                    <a:pt x="0" y="41497"/>
                  </a:lnTo>
                  <a:cubicBezTo>
                    <a:pt x="0" y="30491"/>
                    <a:pt x="4372" y="19936"/>
                    <a:pt x="12154" y="12154"/>
                  </a:cubicBezTo>
                  <a:cubicBezTo>
                    <a:pt x="19936" y="4372"/>
                    <a:pt x="30491" y="0"/>
                    <a:pt x="41497" y="0"/>
                  </a:cubicBezTo>
                  <a:close/>
                </a:path>
              </a:pathLst>
            </a:custGeom>
            <a:solidFill>
              <a:srgbClr val="20212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6"/>
            <p:cNvSpPr txBox="1"/>
            <p:nvPr/>
          </p:nvSpPr>
          <p:spPr>
            <a:xfrm>
              <a:off x="0" y="19050"/>
              <a:ext cx="1867200" cy="85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77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4" name="Google Shape;114;p16"/>
          <p:cNvGrpSpPr/>
          <p:nvPr/>
        </p:nvGrpSpPr>
        <p:grpSpPr>
          <a:xfrm>
            <a:off x="9439465" y="7136779"/>
            <a:ext cx="6583069" cy="1771823"/>
            <a:chOff x="0" y="0"/>
            <a:chExt cx="1733801" cy="466650"/>
          </a:xfrm>
        </p:grpSpPr>
        <p:sp>
          <p:nvSpPr>
            <p:cNvPr id="115" name="Google Shape;115;p16"/>
            <p:cNvSpPr/>
            <p:nvPr/>
          </p:nvSpPr>
          <p:spPr>
            <a:xfrm>
              <a:off x="0" y="0"/>
              <a:ext cx="1733801" cy="466607"/>
            </a:xfrm>
            <a:custGeom>
              <a:rect b="b" l="l" r="r" t="t"/>
              <a:pathLst>
                <a:path extrusionOk="0" h="466607" w="1733801">
                  <a:moveTo>
                    <a:pt x="44690" y="0"/>
                  </a:moveTo>
                  <a:lnTo>
                    <a:pt x="1689111" y="0"/>
                  </a:lnTo>
                  <a:cubicBezTo>
                    <a:pt x="1713792" y="0"/>
                    <a:pt x="1733801" y="20008"/>
                    <a:pt x="1733801" y="44690"/>
                  </a:cubicBezTo>
                  <a:lnTo>
                    <a:pt x="1733801" y="421918"/>
                  </a:lnTo>
                  <a:cubicBezTo>
                    <a:pt x="1733801" y="433770"/>
                    <a:pt x="1729092" y="445137"/>
                    <a:pt x="1720711" y="453518"/>
                  </a:cubicBezTo>
                  <a:cubicBezTo>
                    <a:pt x="1712330" y="461899"/>
                    <a:pt x="1700963" y="466607"/>
                    <a:pt x="1689111" y="466607"/>
                  </a:cubicBezTo>
                  <a:lnTo>
                    <a:pt x="44690" y="466607"/>
                  </a:lnTo>
                  <a:cubicBezTo>
                    <a:pt x="32837" y="466607"/>
                    <a:pt x="21470" y="461899"/>
                    <a:pt x="13089" y="453518"/>
                  </a:cubicBezTo>
                  <a:cubicBezTo>
                    <a:pt x="4708" y="445137"/>
                    <a:pt x="0" y="433770"/>
                    <a:pt x="0" y="421918"/>
                  </a:cubicBezTo>
                  <a:lnTo>
                    <a:pt x="0" y="44690"/>
                  </a:lnTo>
                  <a:cubicBezTo>
                    <a:pt x="0" y="32837"/>
                    <a:pt x="4708" y="21470"/>
                    <a:pt x="13089" y="13089"/>
                  </a:cubicBezTo>
                  <a:cubicBezTo>
                    <a:pt x="21470" y="4708"/>
                    <a:pt x="32837" y="0"/>
                    <a:pt x="44690" y="0"/>
                  </a:cubicBezTo>
                  <a:close/>
                </a:path>
              </a:pathLst>
            </a:custGeom>
            <a:gradFill>
              <a:gsLst>
                <a:gs pos="0">
                  <a:srgbClr val="0C4A5B"/>
                </a:gs>
                <a:gs pos="100000">
                  <a:srgbClr val="27DDDF"/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6"/>
            <p:cNvSpPr txBox="1"/>
            <p:nvPr/>
          </p:nvSpPr>
          <p:spPr>
            <a:xfrm>
              <a:off x="0" y="19050"/>
              <a:ext cx="1733700" cy="447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77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7" name="Google Shape;117;p16"/>
          <p:cNvGrpSpPr/>
          <p:nvPr/>
        </p:nvGrpSpPr>
        <p:grpSpPr>
          <a:xfrm>
            <a:off x="9439465" y="2343150"/>
            <a:ext cx="6583069" cy="4515843"/>
            <a:chOff x="0" y="0"/>
            <a:chExt cx="1733801" cy="1189350"/>
          </a:xfrm>
        </p:grpSpPr>
        <p:sp>
          <p:nvSpPr>
            <p:cNvPr id="118" name="Google Shape;118;p16"/>
            <p:cNvSpPr/>
            <p:nvPr/>
          </p:nvSpPr>
          <p:spPr>
            <a:xfrm>
              <a:off x="0" y="0"/>
              <a:ext cx="1733801" cy="1189231"/>
            </a:xfrm>
            <a:custGeom>
              <a:rect b="b" l="l" r="r" t="t"/>
              <a:pathLst>
                <a:path extrusionOk="0" h="1189231" w="1733801">
                  <a:moveTo>
                    <a:pt x="44690" y="0"/>
                  </a:moveTo>
                  <a:lnTo>
                    <a:pt x="1689111" y="0"/>
                  </a:lnTo>
                  <a:cubicBezTo>
                    <a:pt x="1713792" y="0"/>
                    <a:pt x="1733801" y="20008"/>
                    <a:pt x="1733801" y="44690"/>
                  </a:cubicBezTo>
                  <a:lnTo>
                    <a:pt x="1733801" y="1144541"/>
                  </a:lnTo>
                  <a:cubicBezTo>
                    <a:pt x="1733801" y="1156394"/>
                    <a:pt x="1729092" y="1167761"/>
                    <a:pt x="1720711" y="1176141"/>
                  </a:cubicBezTo>
                  <a:cubicBezTo>
                    <a:pt x="1712330" y="1184522"/>
                    <a:pt x="1700963" y="1189231"/>
                    <a:pt x="1689111" y="1189231"/>
                  </a:cubicBezTo>
                  <a:lnTo>
                    <a:pt x="44690" y="1189231"/>
                  </a:lnTo>
                  <a:cubicBezTo>
                    <a:pt x="32837" y="1189231"/>
                    <a:pt x="21470" y="1184522"/>
                    <a:pt x="13089" y="1176141"/>
                  </a:cubicBezTo>
                  <a:cubicBezTo>
                    <a:pt x="4708" y="1167761"/>
                    <a:pt x="0" y="1156394"/>
                    <a:pt x="0" y="1144541"/>
                  </a:cubicBezTo>
                  <a:lnTo>
                    <a:pt x="0" y="44690"/>
                  </a:lnTo>
                  <a:cubicBezTo>
                    <a:pt x="0" y="32837"/>
                    <a:pt x="4708" y="21470"/>
                    <a:pt x="13089" y="13089"/>
                  </a:cubicBezTo>
                  <a:cubicBezTo>
                    <a:pt x="21470" y="4708"/>
                    <a:pt x="32837" y="0"/>
                    <a:pt x="44690" y="0"/>
                  </a:cubicBezTo>
                  <a:close/>
                </a:path>
              </a:pathLst>
            </a:custGeom>
            <a:solidFill>
              <a:srgbClr val="20212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6"/>
            <p:cNvSpPr txBox="1"/>
            <p:nvPr/>
          </p:nvSpPr>
          <p:spPr>
            <a:xfrm>
              <a:off x="0" y="19050"/>
              <a:ext cx="1733700" cy="1170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77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0" name="Google Shape;120;p16"/>
          <p:cNvSpPr txBox="1"/>
          <p:nvPr/>
        </p:nvSpPr>
        <p:spPr>
          <a:xfrm>
            <a:off x="1795032" y="930452"/>
            <a:ext cx="13020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8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7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1" lang="en-US" sz="2576">
                <a:solidFill>
                  <a:srgbClr val="FFFFFF"/>
                </a:solidFill>
              </a:rPr>
              <a:t>0</a:t>
            </a:r>
            <a:endParaRPr/>
          </a:p>
        </p:txBody>
      </p:sp>
      <p:sp>
        <p:nvSpPr>
          <p:cNvPr id="121" name="Google Shape;121;p16"/>
          <p:cNvSpPr txBox="1"/>
          <p:nvPr/>
        </p:nvSpPr>
        <p:spPr>
          <a:xfrm>
            <a:off x="2474657" y="545850"/>
            <a:ext cx="7089600" cy="110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4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166">
                <a:solidFill>
                  <a:srgbClr val="FFFFFF"/>
                </a:solidFill>
              </a:rPr>
              <a:t>Agenda</a:t>
            </a:r>
            <a:endParaRPr/>
          </a:p>
        </p:txBody>
      </p:sp>
      <p:sp>
        <p:nvSpPr>
          <p:cNvPr id="122" name="Google Shape;122;p16"/>
          <p:cNvSpPr txBox="1"/>
          <p:nvPr/>
        </p:nvSpPr>
        <p:spPr>
          <a:xfrm>
            <a:off x="2282175" y="2343150"/>
            <a:ext cx="6715200" cy="640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-4000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Lato"/>
              <a:buChar char="➔"/>
            </a:pPr>
            <a:r>
              <a:rPr lang="en-US" sz="27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Fases del Compilador</a:t>
            </a:r>
            <a:endParaRPr sz="27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-4000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Lato"/>
              <a:buChar char="➔"/>
            </a:pPr>
            <a:r>
              <a:rPr lang="en-US" sz="27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Precedencia de Operadores</a:t>
            </a:r>
            <a:endParaRPr sz="27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-4000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Lato"/>
              <a:buChar char="➔"/>
            </a:pPr>
            <a:r>
              <a:rPr lang="en-US" sz="27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Calculadora B</a:t>
            </a:r>
            <a:r>
              <a:rPr lang="en-US" sz="27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ásica</a:t>
            </a:r>
            <a:endParaRPr sz="27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-4000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Lato"/>
              <a:buChar char="➔"/>
            </a:pPr>
            <a:r>
              <a:rPr lang="en-US" sz="27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Acciones Semánticas</a:t>
            </a:r>
            <a:endParaRPr sz="27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-4000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Lato"/>
              <a:buChar char="➔"/>
            </a:pPr>
            <a:r>
              <a:rPr lang="en-US" sz="27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Lectura Proyecto</a:t>
            </a:r>
            <a:endParaRPr sz="27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-4000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Lato"/>
              <a:buChar char="➔"/>
            </a:pPr>
            <a:r>
              <a:rPr lang="en-US" sz="27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Ejemplo</a:t>
            </a:r>
            <a:endParaRPr sz="27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-4000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Lato"/>
              <a:buChar char="➔"/>
            </a:pPr>
            <a:r>
              <a:rPr lang="en-US" sz="27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Dudas</a:t>
            </a:r>
            <a:endParaRPr sz="27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7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3" name="Google Shape;123;p16"/>
          <p:cNvSpPr txBox="1"/>
          <p:nvPr/>
        </p:nvSpPr>
        <p:spPr>
          <a:xfrm>
            <a:off x="9663975" y="7389250"/>
            <a:ext cx="6259200" cy="139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Valor:</a:t>
            </a:r>
            <a:endParaRPr sz="32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i="1" lang="en-US" sz="32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Precisión Técnica</a:t>
            </a:r>
            <a:endParaRPr sz="3000">
              <a:solidFill>
                <a:srgbClr val="FFFFFF"/>
              </a:solidFill>
            </a:endParaRPr>
          </a:p>
        </p:txBody>
      </p:sp>
      <p:sp>
        <p:nvSpPr>
          <p:cNvPr id="124" name="Google Shape;124;p16"/>
          <p:cNvSpPr txBox="1"/>
          <p:nvPr/>
        </p:nvSpPr>
        <p:spPr>
          <a:xfrm>
            <a:off x="9739100" y="2768150"/>
            <a:ext cx="5983800" cy="335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Recordatorio:</a:t>
            </a:r>
            <a:endParaRPr sz="50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-5461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Lato"/>
              <a:buChar char="➔"/>
            </a:pPr>
            <a:r>
              <a:rPr lang="en-US" sz="50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Foros</a:t>
            </a:r>
            <a:endParaRPr sz="50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-546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Lato"/>
              <a:buChar char="➔"/>
            </a:pPr>
            <a:r>
              <a:rPr lang="en-US" sz="50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Proyecto 1</a:t>
            </a:r>
            <a:endParaRPr sz="50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-546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Lato"/>
              <a:buChar char="➔"/>
            </a:pPr>
            <a:r>
              <a:rPr lang="en-US" sz="50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Tarea 1</a:t>
            </a:r>
            <a:endParaRPr sz="50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519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7"/>
          <p:cNvSpPr/>
          <p:nvPr/>
        </p:nvSpPr>
        <p:spPr>
          <a:xfrm>
            <a:off x="1074577" y="845799"/>
            <a:ext cx="499539" cy="503199"/>
          </a:xfrm>
          <a:custGeom>
            <a:rect b="b" l="l" r="r" t="t"/>
            <a:pathLst>
              <a:path extrusionOk="0" h="503199" w="499539">
                <a:moveTo>
                  <a:pt x="0" y="0"/>
                </a:moveTo>
                <a:lnTo>
                  <a:pt x="499540" y="0"/>
                </a:lnTo>
                <a:lnTo>
                  <a:pt x="499540" y="503199"/>
                </a:lnTo>
                <a:lnTo>
                  <a:pt x="0" y="50319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30" name="Google Shape;130;p17"/>
          <p:cNvGrpSpPr/>
          <p:nvPr/>
        </p:nvGrpSpPr>
        <p:grpSpPr>
          <a:xfrm>
            <a:off x="665375" y="4430476"/>
            <a:ext cx="7089572" cy="4332561"/>
            <a:chOff x="0" y="0"/>
            <a:chExt cx="1867200" cy="871690"/>
          </a:xfrm>
        </p:grpSpPr>
        <p:sp>
          <p:nvSpPr>
            <p:cNvPr id="131" name="Google Shape;131;p17"/>
            <p:cNvSpPr/>
            <p:nvPr/>
          </p:nvSpPr>
          <p:spPr>
            <a:xfrm>
              <a:off x="0" y="0"/>
              <a:ext cx="1867198" cy="871690"/>
            </a:xfrm>
            <a:custGeom>
              <a:rect b="b" l="l" r="r" t="t"/>
              <a:pathLst>
                <a:path extrusionOk="0" h="871690" w="1867198">
                  <a:moveTo>
                    <a:pt x="41497" y="0"/>
                  </a:moveTo>
                  <a:lnTo>
                    <a:pt x="1825701" y="0"/>
                  </a:lnTo>
                  <a:cubicBezTo>
                    <a:pt x="1836707" y="0"/>
                    <a:pt x="1847262" y="4372"/>
                    <a:pt x="1855044" y="12154"/>
                  </a:cubicBezTo>
                  <a:cubicBezTo>
                    <a:pt x="1862826" y="19936"/>
                    <a:pt x="1867198" y="30491"/>
                    <a:pt x="1867198" y="41497"/>
                  </a:cubicBezTo>
                  <a:lnTo>
                    <a:pt x="1867198" y="830194"/>
                  </a:lnTo>
                  <a:cubicBezTo>
                    <a:pt x="1867198" y="853112"/>
                    <a:pt x="1848620" y="871690"/>
                    <a:pt x="1825701" y="871690"/>
                  </a:cubicBezTo>
                  <a:lnTo>
                    <a:pt x="41497" y="871690"/>
                  </a:lnTo>
                  <a:cubicBezTo>
                    <a:pt x="30491" y="871690"/>
                    <a:pt x="19936" y="867318"/>
                    <a:pt x="12154" y="859536"/>
                  </a:cubicBezTo>
                  <a:cubicBezTo>
                    <a:pt x="4372" y="851754"/>
                    <a:pt x="0" y="841199"/>
                    <a:pt x="0" y="830194"/>
                  </a:cubicBezTo>
                  <a:lnTo>
                    <a:pt x="0" y="41497"/>
                  </a:lnTo>
                  <a:cubicBezTo>
                    <a:pt x="0" y="30491"/>
                    <a:pt x="4372" y="19936"/>
                    <a:pt x="12154" y="12154"/>
                  </a:cubicBezTo>
                  <a:cubicBezTo>
                    <a:pt x="19936" y="4372"/>
                    <a:pt x="30491" y="0"/>
                    <a:pt x="41497" y="0"/>
                  </a:cubicBezTo>
                  <a:close/>
                </a:path>
              </a:pathLst>
            </a:custGeom>
            <a:solidFill>
              <a:srgbClr val="20212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" name="Google Shape;132;p17"/>
            <p:cNvSpPr txBox="1"/>
            <p:nvPr/>
          </p:nvSpPr>
          <p:spPr>
            <a:xfrm>
              <a:off x="0" y="19050"/>
              <a:ext cx="1867200" cy="85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77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3" name="Google Shape;133;p17"/>
          <p:cNvGrpSpPr/>
          <p:nvPr/>
        </p:nvGrpSpPr>
        <p:grpSpPr>
          <a:xfrm>
            <a:off x="9264400" y="6783775"/>
            <a:ext cx="8398359" cy="1771823"/>
            <a:chOff x="0" y="0"/>
            <a:chExt cx="1733801" cy="466650"/>
          </a:xfrm>
        </p:grpSpPr>
        <p:sp>
          <p:nvSpPr>
            <p:cNvPr id="134" name="Google Shape;134;p17"/>
            <p:cNvSpPr/>
            <p:nvPr/>
          </p:nvSpPr>
          <p:spPr>
            <a:xfrm>
              <a:off x="0" y="0"/>
              <a:ext cx="1733801" cy="466607"/>
            </a:xfrm>
            <a:custGeom>
              <a:rect b="b" l="l" r="r" t="t"/>
              <a:pathLst>
                <a:path extrusionOk="0" h="466607" w="1733801">
                  <a:moveTo>
                    <a:pt x="44690" y="0"/>
                  </a:moveTo>
                  <a:lnTo>
                    <a:pt x="1689111" y="0"/>
                  </a:lnTo>
                  <a:cubicBezTo>
                    <a:pt x="1713792" y="0"/>
                    <a:pt x="1733801" y="20008"/>
                    <a:pt x="1733801" y="44690"/>
                  </a:cubicBezTo>
                  <a:lnTo>
                    <a:pt x="1733801" y="421918"/>
                  </a:lnTo>
                  <a:cubicBezTo>
                    <a:pt x="1733801" y="433770"/>
                    <a:pt x="1729092" y="445137"/>
                    <a:pt x="1720711" y="453518"/>
                  </a:cubicBezTo>
                  <a:cubicBezTo>
                    <a:pt x="1712330" y="461899"/>
                    <a:pt x="1700963" y="466607"/>
                    <a:pt x="1689111" y="466607"/>
                  </a:cubicBezTo>
                  <a:lnTo>
                    <a:pt x="44690" y="466607"/>
                  </a:lnTo>
                  <a:cubicBezTo>
                    <a:pt x="32837" y="466607"/>
                    <a:pt x="21470" y="461899"/>
                    <a:pt x="13089" y="453518"/>
                  </a:cubicBezTo>
                  <a:cubicBezTo>
                    <a:pt x="4708" y="445137"/>
                    <a:pt x="0" y="433770"/>
                    <a:pt x="0" y="421918"/>
                  </a:cubicBezTo>
                  <a:lnTo>
                    <a:pt x="0" y="44690"/>
                  </a:lnTo>
                  <a:cubicBezTo>
                    <a:pt x="0" y="32837"/>
                    <a:pt x="4708" y="21470"/>
                    <a:pt x="13089" y="13089"/>
                  </a:cubicBezTo>
                  <a:cubicBezTo>
                    <a:pt x="21470" y="4708"/>
                    <a:pt x="32837" y="0"/>
                    <a:pt x="44690" y="0"/>
                  </a:cubicBezTo>
                  <a:close/>
                </a:path>
              </a:pathLst>
            </a:custGeom>
            <a:gradFill>
              <a:gsLst>
                <a:gs pos="0">
                  <a:srgbClr val="0C4A5B"/>
                </a:gs>
                <a:gs pos="100000">
                  <a:srgbClr val="27DDDF"/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" name="Google Shape;135;p17"/>
            <p:cNvSpPr txBox="1"/>
            <p:nvPr/>
          </p:nvSpPr>
          <p:spPr>
            <a:xfrm>
              <a:off x="0" y="19050"/>
              <a:ext cx="1733700" cy="447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77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6" name="Google Shape;136;p17"/>
          <p:cNvGrpSpPr/>
          <p:nvPr/>
        </p:nvGrpSpPr>
        <p:grpSpPr>
          <a:xfrm>
            <a:off x="9264399" y="845800"/>
            <a:ext cx="8398359" cy="5761092"/>
            <a:chOff x="0" y="0"/>
            <a:chExt cx="1733801" cy="1189350"/>
          </a:xfrm>
        </p:grpSpPr>
        <p:sp>
          <p:nvSpPr>
            <p:cNvPr id="137" name="Google Shape;137;p17"/>
            <p:cNvSpPr/>
            <p:nvPr/>
          </p:nvSpPr>
          <p:spPr>
            <a:xfrm>
              <a:off x="0" y="0"/>
              <a:ext cx="1733801" cy="1189231"/>
            </a:xfrm>
            <a:custGeom>
              <a:rect b="b" l="l" r="r" t="t"/>
              <a:pathLst>
                <a:path extrusionOk="0" h="1189231" w="1733801">
                  <a:moveTo>
                    <a:pt x="44690" y="0"/>
                  </a:moveTo>
                  <a:lnTo>
                    <a:pt x="1689111" y="0"/>
                  </a:lnTo>
                  <a:cubicBezTo>
                    <a:pt x="1713792" y="0"/>
                    <a:pt x="1733801" y="20008"/>
                    <a:pt x="1733801" y="44690"/>
                  </a:cubicBezTo>
                  <a:lnTo>
                    <a:pt x="1733801" y="1144541"/>
                  </a:lnTo>
                  <a:cubicBezTo>
                    <a:pt x="1733801" y="1156394"/>
                    <a:pt x="1729092" y="1167761"/>
                    <a:pt x="1720711" y="1176141"/>
                  </a:cubicBezTo>
                  <a:cubicBezTo>
                    <a:pt x="1712330" y="1184522"/>
                    <a:pt x="1700963" y="1189231"/>
                    <a:pt x="1689111" y="1189231"/>
                  </a:cubicBezTo>
                  <a:lnTo>
                    <a:pt x="44690" y="1189231"/>
                  </a:lnTo>
                  <a:cubicBezTo>
                    <a:pt x="32837" y="1189231"/>
                    <a:pt x="21470" y="1184522"/>
                    <a:pt x="13089" y="1176141"/>
                  </a:cubicBezTo>
                  <a:cubicBezTo>
                    <a:pt x="4708" y="1167761"/>
                    <a:pt x="0" y="1156394"/>
                    <a:pt x="0" y="1144541"/>
                  </a:cubicBezTo>
                  <a:lnTo>
                    <a:pt x="0" y="44690"/>
                  </a:lnTo>
                  <a:cubicBezTo>
                    <a:pt x="0" y="32837"/>
                    <a:pt x="4708" y="21470"/>
                    <a:pt x="13089" y="13089"/>
                  </a:cubicBezTo>
                  <a:cubicBezTo>
                    <a:pt x="21470" y="4708"/>
                    <a:pt x="32837" y="0"/>
                    <a:pt x="44690" y="0"/>
                  </a:cubicBezTo>
                  <a:close/>
                </a:path>
              </a:pathLst>
            </a:custGeom>
            <a:solidFill>
              <a:srgbClr val="202127"/>
            </a:solidFill>
            <a:ln>
              <a:noFill/>
            </a:ln>
          </p:spPr>
          <p:txBody>
            <a:bodyPr anchorCtr="0" anchor="ctr" bIns="116625" lIns="116625" spcFirstLastPara="1" rIns="116625" wrap="square" tIns="1166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7"/>
            <p:cNvSpPr txBox="1"/>
            <p:nvPr/>
          </p:nvSpPr>
          <p:spPr>
            <a:xfrm>
              <a:off x="0" y="19050"/>
              <a:ext cx="1733700" cy="1170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4800" lIns="64800" spcFirstLastPara="1" rIns="64800" wrap="square" tIns="64800">
              <a:noAutofit/>
            </a:bodyPr>
            <a:lstStyle/>
            <a:p>
              <a:pPr indent="0" lvl="0" marL="0" marR="0" rtl="0" algn="ctr">
                <a:lnSpc>
                  <a:spcPct val="77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296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9" name="Google Shape;139;p17"/>
          <p:cNvSpPr txBox="1"/>
          <p:nvPr/>
        </p:nvSpPr>
        <p:spPr>
          <a:xfrm>
            <a:off x="1795032" y="930452"/>
            <a:ext cx="13020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8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7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/>
          </a:p>
        </p:txBody>
      </p:sp>
      <p:sp>
        <p:nvSpPr>
          <p:cNvPr id="140" name="Google Shape;140;p17"/>
          <p:cNvSpPr txBox="1"/>
          <p:nvPr/>
        </p:nvSpPr>
        <p:spPr>
          <a:xfrm>
            <a:off x="812225" y="1866348"/>
            <a:ext cx="8589300" cy="20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4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666">
                <a:solidFill>
                  <a:srgbClr val="FFFFFF"/>
                </a:solidFill>
              </a:rPr>
              <a:t>Precedencia</a:t>
            </a:r>
            <a:r>
              <a:rPr b="1" lang="en-US" sz="6666">
                <a:solidFill>
                  <a:srgbClr val="FFFFFF"/>
                </a:solidFill>
              </a:rPr>
              <a:t> de Operadores</a:t>
            </a:r>
            <a:endParaRPr sz="900"/>
          </a:p>
        </p:txBody>
      </p:sp>
      <p:sp>
        <p:nvSpPr>
          <p:cNvPr id="141" name="Google Shape;141;p17"/>
          <p:cNvSpPr txBox="1"/>
          <p:nvPr/>
        </p:nvSpPr>
        <p:spPr>
          <a:xfrm>
            <a:off x="9848050" y="6891600"/>
            <a:ext cx="6831000" cy="4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3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54">
                <a:solidFill>
                  <a:srgbClr val="FFFFFF"/>
                </a:solidFill>
              </a:rPr>
              <a:t>Antlrv4 utiliza…</a:t>
            </a:r>
            <a:endParaRPr/>
          </a:p>
        </p:txBody>
      </p:sp>
      <p:sp>
        <p:nvSpPr>
          <p:cNvPr id="142" name="Google Shape;142;p17"/>
          <p:cNvSpPr txBox="1"/>
          <p:nvPr/>
        </p:nvSpPr>
        <p:spPr>
          <a:xfrm>
            <a:off x="812225" y="4215084"/>
            <a:ext cx="6013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17"/>
          <p:cNvSpPr txBox="1"/>
          <p:nvPr/>
        </p:nvSpPr>
        <p:spPr>
          <a:xfrm>
            <a:off x="9848050" y="7352775"/>
            <a:ext cx="7683300" cy="9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76">
                <a:solidFill>
                  <a:srgbClr val="FFFFFF"/>
                </a:solidFill>
              </a:rPr>
              <a:t>Precedencia en base al orden de </a:t>
            </a:r>
            <a:r>
              <a:rPr lang="en-US" sz="1676">
                <a:solidFill>
                  <a:srgbClr val="FFFFFF"/>
                </a:solidFill>
              </a:rPr>
              <a:t>declaración</a:t>
            </a:r>
            <a:r>
              <a:rPr lang="en-US" sz="1676">
                <a:solidFill>
                  <a:srgbClr val="FFFFFF"/>
                </a:solidFill>
              </a:rPr>
              <a:t> y </a:t>
            </a:r>
            <a:r>
              <a:rPr lang="en-US" sz="1676">
                <a:solidFill>
                  <a:srgbClr val="FFFFFF"/>
                </a:solidFill>
              </a:rPr>
              <a:t>gramáticas</a:t>
            </a:r>
            <a:r>
              <a:rPr lang="en-US" sz="1676">
                <a:solidFill>
                  <a:srgbClr val="FFFFFF"/>
                </a:solidFill>
              </a:rPr>
              <a:t> anidadas, es decir </a:t>
            </a:r>
            <a:r>
              <a:rPr lang="en-US" sz="1676">
                <a:solidFill>
                  <a:srgbClr val="FFFFFF"/>
                </a:solidFill>
              </a:rPr>
              <a:t>prioriza</a:t>
            </a:r>
            <a:r>
              <a:rPr lang="en-US" sz="1676">
                <a:solidFill>
                  <a:srgbClr val="FFFFFF"/>
                </a:solidFill>
              </a:rPr>
              <a:t> la primera regla que encuentre y para asegurar </a:t>
            </a:r>
            <a:r>
              <a:rPr lang="en-US" sz="1676">
                <a:solidFill>
                  <a:srgbClr val="FFFFFF"/>
                </a:solidFill>
              </a:rPr>
              <a:t>operadores</a:t>
            </a:r>
            <a:r>
              <a:rPr lang="en-US" sz="1676">
                <a:solidFill>
                  <a:srgbClr val="FFFFFF"/>
                </a:solidFill>
              </a:rPr>
              <a:t> del mismo nivel, es necesario declararlo en la misma expresion.</a:t>
            </a:r>
            <a:endParaRPr/>
          </a:p>
        </p:txBody>
      </p:sp>
      <p:pic>
        <p:nvPicPr>
          <p:cNvPr id="144" name="Google Shape;144;p17" title="Captura de pantalla_20260203_145926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768100" y="2049825"/>
            <a:ext cx="7390925" cy="3496122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7"/>
          <p:cNvSpPr txBox="1"/>
          <p:nvPr/>
        </p:nvSpPr>
        <p:spPr>
          <a:xfrm>
            <a:off x="812225" y="4804950"/>
            <a:ext cx="6663900" cy="233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La precedencia de operadores en programación se refiere a la reglas que establecen el orden en que se deben ejecutar las operaciones dentro de una expresión.</a:t>
            </a:r>
            <a:endParaRPr sz="2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En otras palabras, cuando tenemos una expresión que tiene múltiples operadores no todos tienen la misma prioridad. Si encontramos una expresión como</a:t>
            </a:r>
            <a:endParaRPr sz="2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519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8"/>
          <p:cNvSpPr/>
          <p:nvPr/>
        </p:nvSpPr>
        <p:spPr>
          <a:xfrm>
            <a:off x="1074577" y="845799"/>
            <a:ext cx="499539" cy="503199"/>
          </a:xfrm>
          <a:custGeom>
            <a:rect b="b" l="l" r="r" t="t"/>
            <a:pathLst>
              <a:path extrusionOk="0" h="503199" w="499539">
                <a:moveTo>
                  <a:pt x="0" y="0"/>
                </a:moveTo>
                <a:lnTo>
                  <a:pt x="499540" y="0"/>
                </a:lnTo>
                <a:lnTo>
                  <a:pt x="499540" y="503199"/>
                </a:lnTo>
                <a:lnTo>
                  <a:pt x="0" y="50319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51" name="Google Shape;151;p18"/>
          <p:cNvGrpSpPr/>
          <p:nvPr/>
        </p:nvGrpSpPr>
        <p:grpSpPr>
          <a:xfrm>
            <a:off x="665383" y="5453302"/>
            <a:ext cx="7089572" cy="3309720"/>
            <a:chOff x="0" y="0"/>
            <a:chExt cx="1867200" cy="871690"/>
          </a:xfrm>
        </p:grpSpPr>
        <p:sp>
          <p:nvSpPr>
            <p:cNvPr id="152" name="Google Shape;152;p18"/>
            <p:cNvSpPr/>
            <p:nvPr/>
          </p:nvSpPr>
          <p:spPr>
            <a:xfrm>
              <a:off x="0" y="0"/>
              <a:ext cx="1867198" cy="871690"/>
            </a:xfrm>
            <a:custGeom>
              <a:rect b="b" l="l" r="r" t="t"/>
              <a:pathLst>
                <a:path extrusionOk="0" h="871690" w="1867198">
                  <a:moveTo>
                    <a:pt x="41497" y="0"/>
                  </a:moveTo>
                  <a:lnTo>
                    <a:pt x="1825701" y="0"/>
                  </a:lnTo>
                  <a:cubicBezTo>
                    <a:pt x="1836707" y="0"/>
                    <a:pt x="1847262" y="4372"/>
                    <a:pt x="1855044" y="12154"/>
                  </a:cubicBezTo>
                  <a:cubicBezTo>
                    <a:pt x="1862826" y="19936"/>
                    <a:pt x="1867198" y="30491"/>
                    <a:pt x="1867198" y="41497"/>
                  </a:cubicBezTo>
                  <a:lnTo>
                    <a:pt x="1867198" y="830194"/>
                  </a:lnTo>
                  <a:cubicBezTo>
                    <a:pt x="1867198" y="853112"/>
                    <a:pt x="1848620" y="871690"/>
                    <a:pt x="1825701" y="871690"/>
                  </a:cubicBezTo>
                  <a:lnTo>
                    <a:pt x="41497" y="871690"/>
                  </a:lnTo>
                  <a:cubicBezTo>
                    <a:pt x="30491" y="871690"/>
                    <a:pt x="19936" y="867318"/>
                    <a:pt x="12154" y="859536"/>
                  </a:cubicBezTo>
                  <a:cubicBezTo>
                    <a:pt x="4372" y="851754"/>
                    <a:pt x="0" y="841199"/>
                    <a:pt x="0" y="830194"/>
                  </a:cubicBezTo>
                  <a:lnTo>
                    <a:pt x="0" y="41497"/>
                  </a:lnTo>
                  <a:cubicBezTo>
                    <a:pt x="0" y="30491"/>
                    <a:pt x="4372" y="19936"/>
                    <a:pt x="12154" y="12154"/>
                  </a:cubicBezTo>
                  <a:cubicBezTo>
                    <a:pt x="19936" y="4372"/>
                    <a:pt x="30491" y="0"/>
                    <a:pt x="41497" y="0"/>
                  </a:cubicBezTo>
                  <a:close/>
                </a:path>
              </a:pathLst>
            </a:custGeom>
            <a:solidFill>
              <a:srgbClr val="20212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" name="Google Shape;153;p18"/>
            <p:cNvSpPr txBox="1"/>
            <p:nvPr/>
          </p:nvSpPr>
          <p:spPr>
            <a:xfrm>
              <a:off x="0" y="19050"/>
              <a:ext cx="1867200" cy="85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77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4" name="Google Shape;154;p18"/>
          <p:cNvGrpSpPr/>
          <p:nvPr/>
        </p:nvGrpSpPr>
        <p:grpSpPr>
          <a:xfrm>
            <a:off x="9929459" y="6783779"/>
            <a:ext cx="6583069" cy="1771823"/>
            <a:chOff x="0" y="0"/>
            <a:chExt cx="1733801" cy="466650"/>
          </a:xfrm>
        </p:grpSpPr>
        <p:sp>
          <p:nvSpPr>
            <p:cNvPr id="155" name="Google Shape;155;p18"/>
            <p:cNvSpPr/>
            <p:nvPr/>
          </p:nvSpPr>
          <p:spPr>
            <a:xfrm>
              <a:off x="0" y="0"/>
              <a:ext cx="1733801" cy="466607"/>
            </a:xfrm>
            <a:custGeom>
              <a:rect b="b" l="l" r="r" t="t"/>
              <a:pathLst>
                <a:path extrusionOk="0" h="466607" w="1733801">
                  <a:moveTo>
                    <a:pt x="44690" y="0"/>
                  </a:moveTo>
                  <a:lnTo>
                    <a:pt x="1689111" y="0"/>
                  </a:lnTo>
                  <a:cubicBezTo>
                    <a:pt x="1713792" y="0"/>
                    <a:pt x="1733801" y="20008"/>
                    <a:pt x="1733801" y="44690"/>
                  </a:cubicBezTo>
                  <a:lnTo>
                    <a:pt x="1733801" y="421918"/>
                  </a:lnTo>
                  <a:cubicBezTo>
                    <a:pt x="1733801" y="433770"/>
                    <a:pt x="1729092" y="445137"/>
                    <a:pt x="1720711" y="453518"/>
                  </a:cubicBezTo>
                  <a:cubicBezTo>
                    <a:pt x="1712330" y="461899"/>
                    <a:pt x="1700963" y="466607"/>
                    <a:pt x="1689111" y="466607"/>
                  </a:cubicBezTo>
                  <a:lnTo>
                    <a:pt x="44690" y="466607"/>
                  </a:lnTo>
                  <a:cubicBezTo>
                    <a:pt x="32837" y="466607"/>
                    <a:pt x="21470" y="461899"/>
                    <a:pt x="13089" y="453518"/>
                  </a:cubicBezTo>
                  <a:cubicBezTo>
                    <a:pt x="4708" y="445137"/>
                    <a:pt x="0" y="433770"/>
                    <a:pt x="0" y="421918"/>
                  </a:cubicBezTo>
                  <a:lnTo>
                    <a:pt x="0" y="44690"/>
                  </a:lnTo>
                  <a:cubicBezTo>
                    <a:pt x="0" y="32837"/>
                    <a:pt x="4708" y="21470"/>
                    <a:pt x="13089" y="13089"/>
                  </a:cubicBezTo>
                  <a:cubicBezTo>
                    <a:pt x="21470" y="4708"/>
                    <a:pt x="32837" y="0"/>
                    <a:pt x="44690" y="0"/>
                  </a:cubicBezTo>
                  <a:close/>
                </a:path>
              </a:pathLst>
            </a:custGeom>
            <a:gradFill>
              <a:gsLst>
                <a:gs pos="0">
                  <a:srgbClr val="0C4A5B"/>
                </a:gs>
                <a:gs pos="100000">
                  <a:srgbClr val="27DDDF"/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" name="Google Shape;156;p18"/>
            <p:cNvSpPr txBox="1"/>
            <p:nvPr/>
          </p:nvSpPr>
          <p:spPr>
            <a:xfrm>
              <a:off x="0" y="19050"/>
              <a:ext cx="1733700" cy="447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77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7" name="Google Shape;157;p18"/>
          <p:cNvGrpSpPr/>
          <p:nvPr/>
        </p:nvGrpSpPr>
        <p:grpSpPr>
          <a:xfrm>
            <a:off x="10284190" y="1525469"/>
            <a:ext cx="6583069" cy="4515843"/>
            <a:chOff x="0" y="0"/>
            <a:chExt cx="1733801" cy="1189350"/>
          </a:xfrm>
        </p:grpSpPr>
        <p:sp>
          <p:nvSpPr>
            <p:cNvPr id="158" name="Google Shape;158;p18"/>
            <p:cNvSpPr/>
            <p:nvPr/>
          </p:nvSpPr>
          <p:spPr>
            <a:xfrm>
              <a:off x="0" y="0"/>
              <a:ext cx="1733801" cy="1189231"/>
            </a:xfrm>
            <a:custGeom>
              <a:rect b="b" l="l" r="r" t="t"/>
              <a:pathLst>
                <a:path extrusionOk="0" h="1189231" w="1733801">
                  <a:moveTo>
                    <a:pt x="44690" y="0"/>
                  </a:moveTo>
                  <a:lnTo>
                    <a:pt x="1689111" y="0"/>
                  </a:lnTo>
                  <a:cubicBezTo>
                    <a:pt x="1713792" y="0"/>
                    <a:pt x="1733801" y="20008"/>
                    <a:pt x="1733801" y="44690"/>
                  </a:cubicBezTo>
                  <a:lnTo>
                    <a:pt x="1733801" y="1144541"/>
                  </a:lnTo>
                  <a:cubicBezTo>
                    <a:pt x="1733801" y="1156394"/>
                    <a:pt x="1729092" y="1167761"/>
                    <a:pt x="1720711" y="1176141"/>
                  </a:cubicBezTo>
                  <a:cubicBezTo>
                    <a:pt x="1712330" y="1184522"/>
                    <a:pt x="1700963" y="1189231"/>
                    <a:pt x="1689111" y="1189231"/>
                  </a:cubicBezTo>
                  <a:lnTo>
                    <a:pt x="44690" y="1189231"/>
                  </a:lnTo>
                  <a:cubicBezTo>
                    <a:pt x="32837" y="1189231"/>
                    <a:pt x="21470" y="1184522"/>
                    <a:pt x="13089" y="1176141"/>
                  </a:cubicBezTo>
                  <a:cubicBezTo>
                    <a:pt x="4708" y="1167761"/>
                    <a:pt x="0" y="1156394"/>
                    <a:pt x="0" y="1144541"/>
                  </a:cubicBezTo>
                  <a:lnTo>
                    <a:pt x="0" y="44690"/>
                  </a:lnTo>
                  <a:cubicBezTo>
                    <a:pt x="0" y="32837"/>
                    <a:pt x="4708" y="21470"/>
                    <a:pt x="13089" y="13089"/>
                  </a:cubicBezTo>
                  <a:cubicBezTo>
                    <a:pt x="21470" y="4708"/>
                    <a:pt x="32837" y="0"/>
                    <a:pt x="44690" y="0"/>
                  </a:cubicBezTo>
                  <a:close/>
                </a:path>
              </a:pathLst>
            </a:custGeom>
            <a:solidFill>
              <a:srgbClr val="20212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" name="Google Shape;159;p18"/>
            <p:cNvSpPr txBox="1"/>
            <p:nvPr/>
          </p:nvSpPr>
          <p:spPr>
            <a:xfrm>
              <a:off x="0" y="19050"/>
              <a:ext cx="1733700" cy="1170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77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0" name="Google Shape;160;p18"/>
          <p:cNvGrpSpPr/>
          <p:nvPr/>
        </p:nvGrpSpPr>
        <p:grpSpPr>
          <a:xfrm>
            <a:off x="1324347" y="6198006"/>
            <a:ext cx="224658" cy="224658"/>
            <a:chOff x="0" y="0"/>
            <a:chExt cx="812800" cy="812800"/>
          </a:xfrm>
        </p:grpSpPr>
        <p:sp>
          <p:nvSpPr>
            <p:cNvPr id="161" name="Google Shape;161;p18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7DD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" name="Google Shape;162;p18"/>
            <p:cNvSpPr txBox="1"/>
            <p:nvPr/>
          </p:nvSpPr>
          <p:spPr>
            <a:xfrm>
              <a:off x="76200" y="95250"/>
              <a:ext cx="660300" cy="64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77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3" name="Google Shape;163;p18"/>
          <p:cNvGrpSpPr/>
          <p:nvPr/>
        </p:nvGrpSpPr>
        <p:grpSpPr>
          <a:xfrm>
            <a:off x="10900555" y="2205520"/>
            <a:ext cx="517591" cy="517591"/>
            <a:chOff x="0" y="0"/>
            <a:chExt cx="812800" cy="812800"/>
          </a:xfrm>
        </p:grpSpPr>
        <p:sp>
          <p:nvSpPr>
            <p:cNvPr id="164" name="Google Shape;164;p18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7DD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" name="Google Shape;165;p18"/>
            <p:cNvSpPr txBox="1"/>
            <p:nvPr/>
          </p:nvSpPr>
          <p:spPr>
            <a:xfrm>
              <a:off x="76200" y="95250"/>
              <a:ext cx="660300" cy="64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77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6" name="Google Shape;166;p18"/>
          <p:cNvSpPr/>
          <p:nvPr/>
        </p:nvSpPr>
        <p:spPr>
          <a:xfrm>
            <a:off x="10972007" y="2289958"/>
            <a:ext cx="374682" cy="348710"/>
          </a:xfrm>
          <a:custGeom>
            <a:rect b="b" l="l" r="r" t="t"/>
            <a:pathLst>
              <a:path extrusionOk="0" h="348710" w="374682">
                <a:moveTo>
                  <a:pt x="0" y="0"/>
                </a:moveTo>
                <a:lnTo>
                  <a:pt x="374682" y="0"/>
                </a:lnTo>
                <a:lnTo>
                  <a:pt x="374682" y="348710"/>
                </a:lnTo>
                <a:lnTo>
                  <a:pt x="0" y="3487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67" name="Google Shape;167;p18"/>
          <p:cNvGrpSpPr/>
          <p:nvPr/>
        </p:nvGrpSpPr>
        <p:grpSpPr>
          <a:xfrm>
            <a:off x="1349460" y="7128119"/>
            <a:ext cx="224658" cy="224658"/>
            <a:chOff x="0" y="0"/>
            <a:chExt cx="812800" cy="812800"/>
          </a:xfrm>
        </p:grpSpPr>
        <p:sp>
          <p:nvSpPr>
            <p:cNvPr id="168" name="Google Shape;168;p18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7DD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" name="Google Shape;169;p18"/>
            <p:cNvSpPr txBox="1"/>
            <p:nvPr/>
          </p:nvSpPr>
          <p:spPr>
            <a:xfrm>
              <a:off x="76200" y="95250"/>
              <a:ext cx="660300" cy="64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77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0" name="Google Shape;170;p18"/>
          <p:cNvGrpSpPr/>
          <p:nvPr/>
        </p:nvGrpSpPr>
        <p:grpSpPr>
          <a:xfrm rot="10800000">
            <a:off x="11048217" y="3954486"/>
            <a:ext cx="1243421" cy="1243421"/>
            <a:chOff x="0" y="0"/>
            <a:chExt cx="812800" cy="812800"/>
          </a:xfrm>
        </p:grpSpPr>
        <p:sp>
          <p:nvSpPr>
            <p:cNvPr id="171" name="Google Shape;171;p18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812800"/>
                  </a:moveTo>
                  <a:lnTo>
                    <a:pt x="0" y="406400"/>
                  </a:lnTo>
                  <a:lnTo>
                    <a:pt x="203200" y="40640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609600" y="406400"/>
                  </a:lnTo>
                  <a:lnTo>
                    <a:pt x="812800" y="406400"/>
                  </a:lnTo>
                  <a:lnTo>
                    <a:pt x="406400" y="812800"/>
                  </a:lnTo>
                  <a:close/>
                </a:path>
              </a:pathLst>
            </a:custGeom>
            <a:solidFill>
              <a:srgbClr val="27DDDF"/>
            </a:solidFill>
            <a:ln>
              <a:noFill/>
            </a:ln>
          </p:spPr>
        </p:sp>
        <p:sp>
          <p:nvSpPr>
            <p:cNvPr id="172" name="Google Shape;172;p18"/>
            <p:cNvSpPr txBox="1"/>
            <p:nvPr/>
          </p:nvSpPr>
          <p:spPr>
            <a:xfrm>
              <a:off x="203200" y="19050"/>
              <a:ext cx="406500" cy="69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77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3" name="Google Shape;173;p18"/>
          <p:cNvGrpSpPr/>
          <p:nvPr/>
        </p:nvGrpSpPr>
        <p:grpSpPr>
          <a:xfrm rot="10800000">
            <a:off x="14693117" y="3954486"/>
            <a:ext cx="1243421" cy="1243421"/>
            <a:chOff x="0" y="0"/>
            <a:chExt cx="812800" cy="812800"/>
          </a:xfrm>
        </p:grpSpPr>
        <p:sp>
          <p:nvSpPr>
            <p:cNvPr id="174" name="Google Shape;174;p18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812800"/>
                  </a:moveTo>
                  <a:lnTo>
                    <a:pt x="0" y="406400"/>
                  </a:lnTo>
                  <a:lnTo>
                    <a:pt x="203200" y="40640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609600" y="406400"/>
                  </a:lnTo>
                  <a:lnTo>
                    <a:pt x="812800" y="406400"/>
                  </a:lnTo>
                  <a:lnTo>
                    <a:pt x="406400" y="812800"/>
                  </a:lnTo>
                  <a:close/>
                </a:path>
              </a:pathLst>
            </a:custGeom>
            <a:solidFill>
              <a:srgbClr val="27DDDF"/>
            </a:solidFill>
            <a:ln>
              <a:noFill/>
            </a:ln>
          </p:spPr>
        </p:sp>
        <p:sp>
          <p:nvSpPr>
            <p:cNvPr id="175" name="Google Shape;175;p18"/>
            <p:cNvSpPr txBox="1"/>
            <p:nvPr/>
          </p:nvSpPr>
          <p:spPr>
            <a:xfrm>
              <a:off x="203200" y="19050"/>
              <a:ext cx="406500" cy="69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77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6" name="Google Shape;176;p18"/>
          <p:cNvSpPr txBox="1"/>
          <p:nvPr/>
        </p:nvSpPr>
        <p:spPr>
          <a:xfrm>
            <a:off x="1795032" y="930452"/>
            <a:ext cx="13020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8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7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/>
          </a:p>
        </p:txBody>
      </p:sp>
      <p:sp>
        <p:nvSpPr>
          <p:cNvPr id="177" name="Google Shape;177;p18"/>
          <p:cNvSpPr txBox="1"/>
          <p:nvPr/>
        </p:nvSpPr>
        <p:spPr>
          <a:xfrm>
            <a:off x="812225" y="1866348"/>
            <a:ext cx="8589300" cy="20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4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66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Definición dirigida por la sintaxis (DDS)</a:t>
            </a:r>
            <a:endParaRPr sz="900"/>
          </a:p>
        </p:txBody>
      </p:sp>
      <p:sp>
        <p:nvSpPr>
          <p:cNvPr id="178" name="Google Shape;178;p18"/>
          <p:cNvSpPr txBox="1"/>
          <p:nvPr/>
        </p:nvSpPr>
        <p:spPr>
          <a:xfrm>
            <a:off x="1709659" y="6130085"/>
            <a:ext cx="1229400" cy="3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39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4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Reglas</a:t>
            </a:r>
            <a:endParaRPr/>
          </a:p>
        </p:txBody>
      </p:sp>
      <p:sp>
        <p:nvSpPr>
          <p:cNvPr id="179" name="Google Shape;179;p18"/>
          <p:cNvSpPr txBox="1"/>
          <p:nvPr/>
        </p:nvSpPr>
        <p:spPr>
          <a:xfrm>
            <a:off x="10669701" y="7105325"/>
            <a:ext cx="6013500" cy="4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3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54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Información de la notación DDS</a:t>
            </a:r>
            <a:endParaRPr/>
          </a:p>
        </p:txBody>
      </p:sp>
      <p:sp>
        <p:nvSpPr>
          <p:cNvPr id="180" name="Google Shape;180;p18"/>
          <p:cNvSpPr txBox="1"/>
          <p:nvPr/>
        </p:nvSpPr>
        <p:spPr>
          <a:xfrm>
            <a:off x="1709659" y="6539138"/>
            <a:ext cx="5708700" cy="25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7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 asocian a una producción.</a:t>
            </a:r>
            <a:endParaRPr/>
          </a:p>
        </p:txBody>
      </p:sp>
      <p:sp>
        <p:nvSpPr>
          <p:cNvPr id="181" name="Google Shape;181;p18"/>
          <p:cNvSpPr txBox="1"/>
          <p:nvPr/>
        </p:nvSpPr>
        <p:spPr>
          <a:xfrm>
            <a:off x="812225" y="4215084"/>
            <a:ext cx="6013500" cy="6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7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Es una gramática libre de contexto, junto con atributos y reglas. </a:t>
            </a:r>
            <a:endParaRPr/>
          </a:p>
        </p:txBody>
      </p:sp>
      <p:sp>
        <p:nvSpPr>
          <p:cNvPr id="182" name="Google Shape;182;p18"/>
          <p:cNvSpPr txBox="1"/>
          <p:nvPr/>
        </p:nvSpPr>
        <p:spPr>
          <a:xfrm>
            <a:off x="1709659" y="7118594"/>
            <a:ext cx="1229400" cy="7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39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4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Atributos</a:t>
            </a:r>
            <a:endParaRPr/>
          </a:p>
        </p:txBody>
      </p:sp>
      <p:sp>
        <p:nvSpPr>
          <p:cNvPr id="183" name="Google Shape;183;p18"/>
          <p:cNvSpPr txBox="1"/>
          <p:nvPr/>
        </p:nvSpPr>
        <p:spPr>
          <a:xfrm>
            <a:off x="1709659" y="7526351"/>
            <a:ext cx="5708700" cy="25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7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 asocian con los símbolos gramaticales.</a:t>
            </a:r>
            <a:endParaRPr/>
          </a:p>
        </p:txBody>
      </p:sp>
      <p:sp>
        <p:nvSpPr>
          <p:cNvPr id="184" name="Google Shape;184;p18"/>
          <p:cNvSpPr txBox="1"/>
          <p:nvPr/>
        </p:nvSpPr>
        <p:spPr>
          <a:xfrm>
            <a:off x="10671555" y="7600198"/>
            <a:ext cx="5190000" cy="6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7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Pueden ser más legibles, y</a:t>
            </a:r>
            <a:endParaRPr/>
          </a:p>
          <a:p>
            <a:pPr indent="0" lvl="0" marL="0" marR="0" rtl="0" algn="l">
              <a:lnSpc>
                <a:spcPct val="1399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7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por ende más útiles para las especificaciones.</a:t>
            </a:r>
            <a:endParaRPr/>
          </a:p>
        </p:txBody>
      </p:sp>
      <p:sp>
        <p:nvSpPr>
          <p:cNvPr id="185" name="Google Shape;185;p18"/>
          <p:cNvSpPr txBox="1"/>
          <p:nvPr/>
        </p:nvSpPr>
        <p:spPr>
          <a:xfrm>
            <a:off x="10692257" y="3279626"/>
            <a:ext cx="1955400" cy="41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76" u="none" cap="none" strike="noStrike">
                <a:solidFill>
                  <a:srgbClr val="FF6D4D"/>
                </a:solidFill>
                <a:latin typeface="Arial"/>
                <a:ea typeface="Arial"/>
                <a:cs typeface="Arial"/>
                <a:sym typeface="Arial"/>
              </a:rPr>
              <a:t>S → S_1 + T</a:t>
            </a:r>
            <a:endParaRPr/>
          </a:p>
        </p:txBody>
      </p:sp>
      <p:sp>
        <p:nvSpPr>
          <p:cNvPr id="186" name="Google Shape;186;p18"/>
          <p:cNvSpPr txBox="1"/>
          <p:nvPr/>
        </p:nvSpPr>
        <p:spPr>
          <a:xfrm>
            <a:off x="10941870" y="5367691"/>
            <a:ext cx="1705800" cy="3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39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4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Producción</a:t>
            </a:r>
            <a:endParaRPr/>
          </a:p>
        </p:txBody>
      </p:sp>
      <p:sp>
        <p:nvSpPr>
          <p:cNvPr id="187" name="Google Shape;187;p18"/>
          <p:cNvSpPr txBox="1"/>
          <p:nvPr/>
        </p:nvSpPr>
        <p:spPr>
          <a:xfrm>
            <a:off x="13342605" y="3221432"/>
            <a:ext cx="3400800" cy="41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76" u="none" cap="none" strike="noStrike">
                <a:solidFill>
                  <a:srgbClr val="FF6D4D"/>
                </a:solidFill>
                <a:latin typeface="Arial"/>
                <a:ea typeface="Arial"/>
                <a:cs typeface="Arial"/>
                <a:sym typeface="Arial"/>
              </a:rPr>
              <a:t>S.val = S_1.val + T.val</a:t>
            </a:r>
            <a:endParaRPr/>
          </a:p>
        </p:txBody>
      </p:sp>
      <p:sp>
        <p:nvSpPr>
          <p:cNvPr id="188" name="Google Shape;188;p18"/>
          <p:cNvSpPr txBox="1"/>
          <p:nvPr/>
        </p:nvSpPr>
        <p:spPr>
          <a:xfrm>
            <a:off x="14962156" y="5310432"/>
            <a:ext cx="1705800" cy="3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39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4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Regla</a:t>
            </a:r>
            <a:endParaRPr/>
          </a:p>
        </p:txBody>
      </p:sp>
      <p:sp>
        <p:nvSpPr>
          <p:cNvPr id="189" name="Google Shape;189;p18"/>
          <p:cNvSpPr txBox="1"/>
          <p:nvPr/>
        </p:nvSpPr>
        <p:spPr>
          <a:xfrm>
            <a:off x="14461977" y="2683300"/>
            <a:ext cx="1399500" cy="3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39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4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Atributos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519"/>
        </a:solid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9"/>
          <p:cNvSpPr/>
          <p:nvPr/>
        </p:nvSpPr>
        <p:spPr>
          <a:xfrm>
            <a:off x="1074577" y="845799"/>
            <a:ext cx="499539" cy="503199"/>
          </a:xfrm>
          <a:custGeom>
            <a:rect b="b" l="l" r="r" t="t"/>
            <a:pathLst>
              <a:path extrusionOk="0" h="503199" w="499539">
                <a:moveTo>
                  <a:pt x="0" y="0"/>
                </a:moveTo>
                <a:lnTo>
                  <a:pt x="499540" y="0"/>
                </a:lnTo>
                <a:lnTo>
                  <a:pt x="499540" y="503199"/>
                </a:lnTo>
                <a:lnTo>
                  <a:pt x="0" y="50319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95" name="Google Shape;195;p19"/>
          <p:cNvGrpSpPr/>
          <p:nvPr/>
        </p:nvGrpSpPr>
        <p:grpSpPr>
          <a:xfrm>
            <a:off x="1028700" y="2752454"/>
            <a:ext cx="7303106" cy="5966196"/>
            <a:chOff x="0" y="0"/>
            <a:chExt cx="1923452" cy="1571344"/>
          </a:xfrm>
        </p:grpSpPr>
        <p:sp>
          <p:nvSpPr>
            <p:cNvPr id="196" name="Google Shape;196;p19"/>
            <p:cNvSpPr/>
            <p:nvPr/>
          </p:nvSpPr>
          <p:spPr>
            <a:xfrm>
              <a:off x="0" y="0"/>
              <a:ext cx="1923452" cy="1571344"/>
            </a:xfrm>
            <a:custGeom>
              <a:rect b="b" l="l" r="r" t="t"/>
              <a:pathLst>
                <a:path extrusionOk="0" h="1571344" w="1923452">
                  <a:moveTo>
                    <a:pt x="40283" y="0"/>
                  </a:moveTo>
                  <a:lnTo>
                    <a:pt x="1883169" y="0"/>
                  </a:lnTo>
                  <a:cubicBezTo>
                    <a:pt x="1893852" y="0"/>
                    <a:pt x="1904099" y="4244"/>
                    <a:pt x="1911653" y="11799"/>
                  </a:cubicBezTo>
                  <a:cubicBezTo>
                    <a:pt x="1919208" y="19353"/>
                    <a:pt x="1923452" y="29599"/>
                    <a:pt x="1923452" y="40283"/>
                  </a:cubicBezTo>
                  <a:lnTo>
                    <a:pt x="1923452" y="1531061"/>
                  </a:lnTo>
                  <a:cubicBezTo>
                    <a:pt x="1923452" y="1541744"/>
                    <a:pt x="1919208" y="1551991"/>
                    <a:pt x="1911653" y="1559545"/>
                  </a:cubicBezTo>
                  <a:cubicBezTo>
                    <a:pt x="1904099" y="1567100"/>
                    <a:pt x="1893852" y="1571344"/>
                    <a:pt x="1883169" y="1571344"/>
                  </a:cubicBezTo>
                  <a:lnTo>
                    <a:pt x="40283" y="1571344"/>
                  </a:lnTo>
                  <a:cubicBezTo>
                    <a:pt x="29599" y="1571344"/>
                    <a:pt x="19353" y="1567100"/>
                    <a:pt x="11799" y="1559545"/>
                  </a:cubicBezTo>
                  <a:cubicBezTo>
                    <a:pt x="4244" y="1551991"/>
                    <a:pt x="0" y="1541744"/>
                    <a:pt x="0" y="1531061"/>
                  </a:cubicBezTo>
                  <a:lnTo>
                    <a:pt x="0" y="40283"/>
                  </a:lnTo>
                  <a:cubicBezTo>
                    <a:pt x="0" y="29599"/>
                    <a:pt x="4244" y="19353"/>
                    <a:pt x="11799" y="11799"/>
                  </a:cubicBezTo>
                  <a:cubicBezTo>
                    <a:pt x="19353" y="4244"/>
                    <a:pt x="29599" y="0"/>
                    <a:pt x="40283" y="0"/>
                  </a:cubicBezTo>
                  <a:close/>
                </a:path>
              </a:pathLst>
            </a:custGeom>
            <a:solidFill>
              <a:srgbClr val="20212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" name="Google Shape;197;p19"/>
            <p:cNvSpPr txBox="1"/>
            <p:nvPr/>
          </p:nvSpPr>
          <p:spPr>
            <a:xfrm>
              <a:off x="0" y="19050"/>
              <a:ext cx="1923452" cy="155229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77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8" name="Google Shape;198;p19"/>
          <p:cNvGrpSpPr/>
          <p:nvPr/>
        </p:nvGrpSpPr>
        <p:grpSpPr>
          <a:xfrm>
            <a:off x="8935030" y="2752454"/>
            <a:ext cx="7570867" cy="5966196"/>
            <a:chOff x="0" y="0"/>
            <a:chExt cx="1993973" cy="1571344"/>
          </a:xfrm>
        </p:grpSpPr>
        <p:sp>
          <p:nvSpPr>
            <p:cNvPr id="199" name="Google Shape;199;p19"/>
            <p:cNvSpPr/>
            <p:nvPr/>
          </p:nvSpPr>
          <p:spPr>
            <a:xfrm>
              <a:off x="0" y="0"/>
              <a:ext cx="1993973" cy="1571344"/>
            </a:xfrm>
            <a:custGeom>
              <a:rect b="b" l="l" r="r" t="t"/>
              <a:pathLst>
                <a:path extrusionOk="0" h="1571344" w="1993973">
                  <a:moveTo>
                    <a:pt x="38859" y="0"/>
                  </a:moveTo>
                  <a:lnTo>
                    <a:pt x="1955115" y="0"/>
                  </a:lnTo>
                  <a:cubicBezTo>
                    <a:pt x="1976575" y="0"/>
                    <a:pt x="1993973" y="17398"/>
                    <a:pt x="1993973" y="38859"/>
                  </a:cubicBezTo>
                  <a:lnTo>
                    <a:pt x="1993973" y="1532485"/>
                  </a:lnTo>
                  <a:cubicBezTo>
                    <a:pt x="1993973" y="1553946"/>
                    <a:pt x="1976575" y="1571344"/>
                    <a:pt x="1955115" y="1571344"/>
                  </a:cubicBezTo>
                  <a:lnTo>
                    <a:pt x="38859" y="1571344"/>
                  </a:lnTo>
                  <a:cubicBezTo>
                    <a:pt x="17398" y="1571344"/>
                    <a:pt x="0" y="1553946"/>
                    <a:pt x="0" y="1532485"/>
                  </a:cubicBezTo>
                  <a:lnTo>
                    <a:pt x="0" y="38859"/>
                  </a:lnTo>
                  <a:cubicBezTo>
                    <a:pt x="0" y="17398"/>
                    <a:pt x="17398" y="0"/>
                    <a:pt x="38859" y="0"/>
                  </a:cubicBezTo>
                  <a:close/>
                </a:path>
              </a:pathLst>
            </a:custGeom>
            <a:solidFill>
              <a:srgbClr val="20212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" name="Google Shape;200;p19"/>
            <p:cNvSpPr txBox="1"/>
            <p:nvPr/>
          </p:nvSpPr>
          <p:spPr>
            <a:xfrm>
              <a:off x="0" y="19050"/>
              <a:ext cx="1993973" cy="155229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77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1" name="Google Shape;201;p19"/>
          <p:cNvGrpSpPr/>
          <p:nvPr/>
        </p:nvGrpSpPr>
        <p:grpSpPr>
          <a:xfrm>
            <a:off x="1688682" y="3465947"/>
            <a:ext cx="224656" cy="224656"/>
            <a:chOff x="0" y="0"/>
            <a:chExt cx="812800" cy="812800"/>
          </a:xfrm>
        </p:grpSpPr>
        <p:sp>
          <p:nvSpPr>
            <p:cNvPr id="202" name="Google Shape;202;p19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7DD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" name="Google Shape;203;p19"/>
            <p:cNvSpPr txBox="1"/>
            <p:nvPr/>
          </p:nvSpPr>
          <p:spPr>
            <a:xfrm>
              <a:off x="76200" y="95250"/>
              <a:ext cx="660400" cy="6413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77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4" name="Google Shape;204;p19"/>
          <p:cNvGrpSpPr/>
          <p:nvPr/>
        </p:nvGrpSpPr>
        <p:grpSpPr>
          <a:xfrm>
            <a:off x="9383559" y="3472889"/>
            <a:ext cx="210772" cy="210772"/>
            <a:chOff x="0" y="0"/>
            <a:chExt cx="812800" cy="812800"/>
          </a:xfrm>
        </p:grpSpPr>
        <p:sp>
          <p:nvSpPr>
            <p:cNvPr id="205" name="Google Shape;205;p19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7DD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" name="Google Shape;206;p19"/>
            <p:cNvSpPr txBox="1"/>
            <p:nvPr/>
          </p:nvSpPr>
          <p:spPr>
            <a:xfrm>
              <a:off x="76200" y="95250"/>
              <a:ext cx="660400" cy="6413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77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7" name="Google Shape;207;p19"/>
          <p:cNvGrpSpPr/>
          <p:nvPr/>
        </p:nvGrpSpPr>
        <p:grpSpPr>
          <a:xfrm>
            <a:off x="1913360" y="7182646"/>
            <a:ext cx="224658" cy="224658"/>
            <a:chOff x="0" y="0"/>
            <a:chExt cx="812800" cy="812800"/>
          </a:xfrm>
        </p:grpSpPr>
        <p:sp>
          <p:nvSpPr>
            <p:cNvPr id="208" name="Google Shape;208;p19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7DD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" name="Google Shape;209;p19"/>
            <p:cNvSpPr txBox="1"/>
            <p:nvPr/>
          </p:nvSpPr>
          <p:spPr>
            <a:xfrm>
              <a:off x="76200" y="95250"/>
              <a:ext cx="660400" cy="6413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77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0" name="Google Shape;210;p19"/>
          <p:cNvSpPr/>
          <p:nvPr/>
        </p:nvSpPr>
        <p:spPr>
          <a:xfrm>
            <a:off x="1688667" y="7680382"/>
            <a:ext cx="6358984" cy="710574"/>
          </a:xfrm>
          <a:custGeom>
            <a:rect b="b" l="l" r="r" t="t"/>
            <a:pathLst>
              <a:path extrusionOk="0" h="710574" w="6358984">
                <a:moveTo>
                  <a:pt x="0" y="0"/>
                </a:moveTo>
                <a:lnTo>
                  <a:pt x="6358984" y="0"/>
                </a:lnTo>
                <a:lnTo>
                  <a:pt x="6358984" y="710575"/>
                </a:lnTo>
                <a:lnTo>
                  <a:pt x="0" y="7105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4533" l="0" r="0" t="-4533"/>
            </a:stretch>
          </a:blipFill>
          <a:ln>
            <a:noFill/>
          </a:ln>
        </p:spPr>
      </p:sp>
      <p:sp>
        <p:nvSpPr>
          <p:cNvPr id="211" name="Google Shape;211;p19"/>
          <p:cNvSpPr txBox="1"/>
          <p:nvPr/>
        </p:nvSpPr>
        <p:spPr>
          <a:xfrm>
            <a:off x="1913338" y="1320423"/>
            <a:ext cx="8210853" cy="11194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4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16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Tipos de Atributos</a:t>
            </a:r>
            <a:endParaRPr/>
          </a:p>
        </p:txBody>
      </p:sp>
      <p:sp>
        <p:nvSpPr>
          <p:cNvPr id="212" name="Google Shape;212;p19"/>
          <p:cNvSpPr txBox="1"/>
          <p:nvPr/>
        </p:nvSpPr>
        <p:spPr>
          <a:xfrm>
            <a:off x="2334234" y="7163596"/>
            <a:ext cx="1696800" cy="31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39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54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Ejemplo</a:t>
            </a:r>
            <a:endParaRPr/>
          </a:p>
        </p:txBody>
      </p:sp>
      <p:sp>
        <p:nvSpPr>
          <p:cNvPr id="213" name="Google Shape;213;p19"/>
          <p:cNvSpPr txBox="1"/>
          <p:nvPr/>
        </p:nvSpPr>
        <p:spPr>
          <a:xfrm>
            <a:off x="9784822" y="3446900"/>
            <a:ext cx="3437700" cy="31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39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54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Definición del libro</a:t>
            </a:r>
            <a:endParaRPr/>
          </a:p>
        </p:txBody>
      </p:sp>
      <p:sp>
        <p:nvSpPr>
          <p:cNvPr id="214" name="Google Shape;214;p19"/>
          <p:cNvSpPr txBox="1"/>
          <p:nvPr/>
        </p:nvSpPr>
        <p:spPr>
          <a:xfrm>
            <a:off x="2101741" y="3446897"/>
            <a:ext cx="4888113" cy="3274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39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54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Definición del libro</a:t>
            </a:r>
            <a:endParaRPr/>
          </a:p>
        </p:txBody>
      </p:sp>
      <p:sp>
        <p:nvSpPr>
          <p:cNvPr id="215" name="Google Shape;215;p19"/>
          <p:cNvSpPr txBox="1"/>
          <p:nvPr/>
        </p:nvSpPr>
        <p:spPr>
          <a:xfrm>
            <a:off x="1413140" y="3757629"/>
            <a:ext cx="5984096" cy="26955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7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Un atributo sintetizado para un no terminal A en un nodo N de un árbol sintáctico se</a:t>
            </a:r>
            <a:endParaRPr/>
          </a:p>
          <a:p>
            <a:pPr indent="0" lvl="0" marL="0" marR="0" rtl="0" algn="l">
              <a:lnSpc>
                <a:spcPct val="13997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7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define mediante una regla semántica asociada con la producción en N. Observe que la</a:t>
            </a:r>
            <a:endParaRPr/>
          </a:p>
          <a:p>
            <a:pPr indent="0" lvl="0" marL="0" marR="0" rtl="0" algn="l">
              <a:lnSpc>
                <a:spcPct val="13997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7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producción debe tener a A como su encabezado. Un atributo sintetizado en el nodo N se</a:t>
            </a:r>
            <a:endParaRPr/>
          </a:p>
          <a:p>
            <a:pPr indent="0" lvl="0" marL="0" marR="0" rtl="0" algn="l">
              <a:lnSpc>
                <a:spcPct val="13997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7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define sólo en términos de los valores de los atributos en el hijo de N, y en el mismo N.</a:t>
            </a:r>
            <a:endParaRPr/>
          </a:p>
        </p:txBody>
      </p:sp>
      <p:sp>
        <p:nvSpPr>
          <p:cNvPr id="216" name="Google Shape;216;p19"/>
          <p:cNvSpPr txBox="1"/>
          <p:nvPr/>
        </p:nvSpPr>
        <p:spPr>
          <a:xfrm>
            <a:off x="1413140" y="2941055"/>
            <a:ext cx="2217304" cy="4043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39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4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Sintetizados</a:t>
            </a:r>
            <a:endParaRPr/>
          </a:p>
        </p:txBody>
      </p:sp>
      <p:sp>
        <p:nvSpPr>
          <p:cNvPr id="217" name="Google Shape;217;p19"/>
          <p:cNvSpPr txBox="1"/>
          <p:nvPr/>
        </p:nvSpPr>
        <p:spPr>
          <a:xfrm>
            <a:off x="9383559" y="2941055"/>
            <a:ext cx="2217304" cy="4043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39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4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Heredados</a:t>
            </a:r>
            <a:endParaRPr/>
          </a:p>
        </p:txBody>
      </p:sp>
      <p:sp>
        <p:nvSpPr>
          <p:cNvPr id="218" name="Google Shape;218;p19"/>
          <p:cNvSpPr txBox="1"/>
          <p:nvPr/>
        </p:nvSpPr>
        <p:spPr>
          <a:xfrm>
            <a:off x="9383559" y="3757629"/>
            <a:ext cx="6530100" cy="31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7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Un atributo heredado para un no terminal B en el nodo N de un árbol de análisis sintáctico se define mediante una regla semántica asociada con la producción en el padre de N.</a:t>
            </a:r>
            <a:endParaRPr/>
          </a:p>
          <a:p>
            <a:pPr indent="0" lvl="0" marL="0" marR="0" rtl="0" algn="l">
              <a:lnSpc>
                <a:spcPct val="13997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7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Observe que la producción debe tener a B como un símbolo en su cuerpo. Un atributo</a:t>
            </a:r>
            <a:endParaRPr/>
          </a:p>
          <a:p>
            <a:pPr indent="0" lvl="0" marL="0" marR="0" rtl="0" algn="l">
              <a:lnSpc>
                <a:spcPct val="13997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7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heredado en el nodo N se define sólo en términos de los valores de los atributos en el</a:t>
            </a:r>
            <a:endParaRPr/>
          </a:p>
          <a:p>
            <a:pPr indent="0" lvl="0" marL="0" marR="0" rtl="0" algn="l">
              <a:lnSpc>
                <a:spcPct val="13997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7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padre de N, en el mismo N y en sus hermanos.</a:t>
            </a:r>
            <a:endParaRPr/>
          </a:p>
        </p:txBody>
      </p:sp>
      <p:grpSp>
        <p:nvGrpSpPr>
          <p:cNvPr id="219" name="Google Shape;219;p19"/>
          <p:cNvGrpSpPr/>
          <p:nvPr/>
        </p:nvGrpSpPr>
        <p:grpSpPr>
          <a:xfrm>
            <a:off x="9483305" y="7150271"/>
            <a:ext cx="224658" cy="224658"/>
            <a:chOff x="0" y="0"/>
            <a:chExt cx="812800" cy="812800"/>
          </a:xfrm>
        </p:grpSpPr>
        <p:sp>
          <p:nvSpPr>
            <p:cNvPr id="220" name="Google Shape;220;p19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7DD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" name="Google Shape;221;p19"/>
            <p:cNvSpPr txBox="1"/>
            <p:nvPr/>
          </p:nvSpPr>
          <p:spPr>
            <a:xfrm>
              <a:off x="76200" y="95250"/>
              <a:ext cx="660400" cy="6413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77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2" name="Google Shape;222;p19"/>
          <p:cNvSpPr txBox="1"/>
          <p:nvPr/>
        </p:nvSpPr>
        <p:spPr>
          <a:xfrm>
            <a:off x="9904179" y="7131221"/>
            <a:ext cx="1696800" cy="31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39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54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Explicación</a:t>
            </a:r>
            <a:endParaRPr/>
          </a:p>
        </p:txBody>
      </p:sp>
      <p:sp>
        <p:nvSpPr>
          <p:cNvPr id="223" name="Google Shape;223;p19"/>
          <p:cNvSpPr txBox="1"/>
          <p:nvPr/>
        </p:nvSpPr>
        <p:spPr>
          <a:xfrm>
            <a:off x="9594331" y="7171189"/>
            <a:ext cx="6822282" cy="12954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8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99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7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Dado un término x ∗ y ∗ z, la raíz del</a:t>
            </a:r>
            <a:endParaRPr/>
          </a:p>
          <a:p>
            <a:pPr indent="0" lvl="0" marL="0" marR="0" rtl="0" algn="l">
              <a:lnSpc>
                <a:spcPct val="1399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7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subárbol para ∗ y ∗ z hereda a x. Entonces, la raíz del subárbol para ∗ z hereda el valor de x ∗ y,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519"/>
        </a:solidFill>
      </p:bgPr>
    </p:bg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0"/>
          <p:cNvSpPr/>
          <p:nvPr/>
        </p:nvSpPr>
        <p:spPr>
          <a:xfrm>
            <a:off x="1074577" y="845799"/>
            <a:ext cx="499539" cy="503199"/>
          </a:xfrm>
          <a:custGeom>
            <a:rect b="b" l="l" r="r" t="t"/>
            <a:pathLst>
              <a:path extrusionOk="0" h="503199" w="499539">
                <a:moveTo>
                  <a:pt x="0" y="0"/>
                </a:moveTo>
                <a:lnTo>
                  <a:pt x="499540" y="0"/>
                </a:lnTo>
                <a:lnTo>
                  <a:pt x="499540" y="503199"/>
                </a:lnTo>
                <a:lnTo>
                  <a:pt x="0" y="50319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29" name="Google Shape;229;p20"/>
          <p:cNvGrpSpPr/>
          <p:nvPr/>
        </p:nvGrpSpPr>
        <p:grpSpPr>
          <a:xfrm>
            <a:off x="1795032" y="3184151"/>
            <a:ext cx="13804957" cy="5369711"/>
            <a:chOff x="0" y="0"/>
            <a:chExt cx="3635873" cy="1414245"/>
          </a:xfrm>
        </p:grpSpPr>
        <p:sp>
          <p:nvSpPr>
            <p:cNvPr id="230" name="Google Shape;230;p20"/>
            <p:cNvSpPr/>
            <p:nvPr/>
          </p:nvSpPr>
          <p:spPr>
            <a:xfrm>
              <a:off x="0" y="0"/>
              <a:ext cx="3635873" cy="1414245"/>
            </a:xfrm>
            <a:custGeom>
              <a:rect b="b" l="l" r="r" t="t"/>
              <a:pathLst>
                <a:path extrusionOk="0" h="1414245" w="3635873">
                  <a:moveTo>
                    <a:pt x="21311" y="0"/>
                  </a:moveTo>
                  <a:lnTo>
                    <a:pt x="3614563" y="0"/>
                  </a:lnTo>
                  <a:cubicBezTo>
                    <a:pt x="3620215" y="0"/>
                    <a:pt x="3625635" y="2245"/>
                    <a:pt x="3629632" y="6242"/>
                  </a:cubicBezTo>
                  <a:cubicBezTo>
                    <a:pt x="3633628" y="10238"/>
                    <a:pt x="3635873" y="15659"/>
                    <a:pt x="3635873" y="21311"/>
                  </a:cubicBezTo>
                  <a:lnTo>
                    <a:pt x="3635873" y="1392934"/>
                  </a:lnTo>
                  <a:cubicBezTo>
                    <a:pt x="3635873" y="1404704"/>
                    <a:pt x="3626332" y="1414245"/>
                    <a:pt x="3614563" y="1414245"/>
                  </a:cubicBezTo>
                  <a:lnTo>
                    <a:pt x="21311" y="1414245"/>
                  </a:lnTo>
                  <a:cubicBezTo>
                    <a:pt x="9541" y="1414245"/>
                    <a:pt x="0" y="1404704"/>
                    <a:pt x="0" y="1392934"/>
                  </a:cubicBezTo>
                  <a:lnTo>
                    <a:pt x="0" y="21311"/>
                  </a:lnTo>
                  <a:cubicBezTo>
                    <a:pt x="0" y="9541"/>
                    <a:pt x="9541" y="0"/>
                    <a:pt x="21311" y="0"/>
                  </a:cubicBezTo>
                  <a:close/>
                </a:path>
              </a:pathLst>
            </a:custGeom>
            <a:solidFill>
              <a:srgbClr val="20212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" name="Google Shape;231;p20"/>
            <p:cNvSpPr txBox="1"/>
            <p:nvPr/>
          </p:nvSpPr>
          <p:spPr>
            <a:xfrm>
              <a:off x="0" y="19050"/>
              <a:ext cx="3635873" cy="139519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77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2" name="Google Shape;232;p20"/>
          <p:cNvSpPr/>
          <p:nvPr/>
        </p:nvSpPr>
        <p:spPr>
          <a:xfrm>
            <a:off x="3360668" y="3604839"/>
            <a:ext cx="11110919" cy="4528337"/>
          </a:xfrm>
          <a:custGeom>
            <a:rect b="b" l="l" r="r" t="t"/>
            <a:pathLst>
              <a:path extrusionOk="0" h="4528337" w="11110919">
                <a:moveTo>
                  <a:pt x="0" y="0"/>
                </a:moveTo>
                <a:lnTo>
                  <a:pt x="11110919" y="0"/>
                </a:lnTo>
                <a:lnTo>
                  <a:pt x="11110919" y="4528336"/>
                </a:lnTo>
                <a:lnTo>
                  <a:pt x="0" y="452833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3" name="Google Shape;233;p20"/>
          <p:cNvSpPr txBox="1"/>
          <p:nvPr/>
        </p:nvSpPr>
        <p:spPr>
          <a:xfrm>
            <a:off x="1795032" y="930452"/>
            <a:ext cx="1302079" cy="362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8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7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/>
          </a:p>
        </p:txBody>
      </p:sp>
      <p:sp>
        <p:nvSpPr>
          <p:cNvPr id="234" name="Google Shape;234;p20"/>
          <p:cNvSpPr txBox="1"/>
          <p:nvPr/>
        </p:nvSpPr>
        <p:spPr>
          <a:xfrm>
            <a:off x="3360668" y="533916"/>
            <a:ext cx="14191200" cy="20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4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56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Definición dirigida por la sintaxis con atributos sintetizados</a:t>
            </a:r>
            <a:endParaRPr sz="8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519"/>
        </a:solidFill>
      </p:bgPr>
    </p:bg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1"/>
          <p:cNvSpPr/>
          <p:nvPr/>
        </p:nvSpPr>
        <p:spPr>
          <a:xfrm>
            <a:off x="1074577" y="845799"/>
            <a:ext cx="499539" cy="503199"/>
          </a:xfrm>
          <a:custGeom>
            <a:rect b="b" l="l" r="r" t="t"/>
            <a:pathLst>
              <a:path extrusionOk="0" h="503199" w="499539">
                <a:moveTo>
                  <a:pt x="0" y="0"/>
                </a:moveTo>
                <a:lnTo>
                  <a:pt x="499540" y="0"/>
                </a:lnTo>
                <a:lnTo>
                  <a:pt x="499540" y="503199"/>
                </a:lnTo>
                <a:lnTo>
                  <a:pt x="0" y="50319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40" name="Google Shape;240;p21"/>
          <p:cNvGrpSpPr/>
          <p:nvPr/>
        </p:nvGrpSpPr>
        <p:grpSpPr>
          <a:xfrm>
            <a:off x="9340969" y="1911326"/>
            <a:ext cx="8184931" cy="6771493"/>
            <a:chOff x="0" y="0"/>
            <a:chExt cx="2155702" cy="1783438"/>
          </a:xfrm>
        </p:grpSpPr>
        <p:sp>
          <p:nvSpPr>
            <p:cNvPr id="241" name="Google Shape;241;p21"/>
            <p:cNvSpPr/>
            <p:nvPr/>
          </p:nvSpPr>
          <p:spPr>
            <a:xfrm>
              <a:off x="0" y="0"/>
              <a:ext cx="2155702" cy="1783438"/>
            </a:xfrm>
            <a:custGeom>
              <a:rect b="b" l="l" r="r" t="t"/>
              <a:pathLst>
                <a:path extrusionOk="0" h="1783438" w="2155702">
                  <a:moveTo>
                    <a:pt x="35943" y="0"/>
                  </a:moveTo>
                  <a:lnTo>
                    <a:pt x="2119759" y="0"/>
                  </a:lnTo>
                  <a:cubicBezTo>
                    <a:pt x="2129292" y="0"/>
                    <a:pt x="2138434" y="3787"/>
                    <a:pt x="2145175" y="10528"/>
                  </a:cubicBezTo>
                  <a:cubicBezTo>
                    <a:pt x="2151915" y="17268"/>
                    <a:pt x="2155702" y="26411"/>
                    <a:pt x="2155702" y="35943"/>
                  </a:cubicBezTo>
                  <a:lnTo>
                    <a:pt x="2155702" y="1747495"/>
                  </a:lnTo>
                  <a:cubicBezTo>
                    <a:pt x="2155702" y="1767346"/>
                    <a:pt x="2139610" y="1783438"/>
                    <a:pt x="2119759" y="1783438"/>
                  </a:cubicBezTo>
                  <a:lnTo>
                    <a:pt x="35943" y="1783438"/>
                  </a:lnTo>
                  <a:cubicBezTo>
                    <a:pt x="16092" y="1783438"/>
                    <a:pt x="0" y="1767346"/>
                    <a:pt x="0" y="1747495"/>
                  </a:cubicBezTo>
                  <a:lnTo>
                    <a:pt x="0" y="35943"/>
                  </a:lnTo>
                  <a:cubicBezTo>
                    <a:pt x="0" y="16092"/>
                    <a:pt x="16092" y="0"/>
                    <a:pt x="35943" y="0"/>
                  </a:cubicBezTo>
                  <a:close/>
                </a:path>
              </a:pathLst>
            </a:custGeom>
            <a:solidFill>
              <a:srgbClr val="20212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" name="Google Shape;242;p21"/>
            <p:cNvSpPr txBox="1"/>
            <p:nvPr/>
          </p:nvSpPr>
          <p:spPr>
            <a:xfrm>
              <a:off x="0" y="19050"/>
              <a:ext cx="2155702" cy="17643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77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43" name="Google Shape;243;p21"/>
          <p:cNvGrpSpPr/>
          <p:nvPr/>
        </p:nvGrpSpPr>
        <p:grpSpPr>
          <a:xfrm>
            <a:off x="9784519" y="2669880"/>
            <a:ext cx="216568" cy="216568"/>
            <a:chOff x="0" y="0"/>
            <a:chExt cx="812800" cy="812800"/>
          </a:xfrm>
        </p:grpSpPr>
        <p:sp>
          <p:nvSpPr>
            <p:cNvPr id="244" name="Google Shape;244;p21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7DD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" name="Google Shape;245;p21"/>
            <p:cNvSpPr txBox="1"/>
            <p:nvPr/>
          </p:nvSpPr>
          <p:spPr>
            <a:xfrm>
              <a:off x="76200" y="95250"/>
              <a:ext cx="660400" cy="6413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77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46" name="Google Shape;246;p21"/>
          <p:cNvGrpSpPr/>
          <p:nvPr/>
        </p:nvGrpSpPr>
        <p:grpSpPr>
          <a:xfrm>
            <a:off x="1324347" y="4811103"/>
            <a:ext cx="7276407" cy="4377759"/>
            <a:chOff x="0" y="0"/>
            <a:chExt cx="1916420" cy="1152990"/>
          </a:xfrm>
        </p:grpSpPr>
        <p:sp>
          <p:nvSpPr>
            <p:cNvPr id="247" name="Google Shape;247;p21"/>
            <p:cNvSpPr/>
            <p:nvPr/>
          </p:nvSpPr>
          <p:spPr>
            <a:xfrm>
              <a:off x="0" y="0"/>
              <a:ext cx="1916420" cy="1152990"/>
            </a:xfrm>
            <a:custGeom>
              <a:rect b="b" l="l" r="r" t="t"/>
              <a:pathLst>
                <a:path extrusionOk="0" h="1152990" w="1916420">
                  <a:moveTo>
                    <a:pt x="40431" y="0"/>
                  </a:moveTo>
                  <a:lnTo>
                    <a:pt x="1875989" y="0"/>
                  </a:lnTo>
                  <a:cubicBezTo>
                    <a:pt x="1886712" y="0"/>
                    <a:pt x="1896996" y="4260"/>
                    <a:pt x="1904578" y="11842"/>
                  </a:cubicBezTo>
                  <a:cubicBezTo>
                    <a:pt x="1912160" y="19424"/>
                    <a:pt x="1916420" y="29708"/>
                    <a:pt x="1916420" y="40431"/>
                  </a:cubicBezTo>
                  <a:lnTo>
                    <a:pt x="1916420" y="1112559"/>
                  </a:lnTo>
                  <a:cubicBezTo>
                    <a:pt x="1916420" y="1134888"/>
                    <a:pt x="1898318" y="1152990"/>
                    <a:pt x="1875989" y="1152990"/>
                  </a:cubicBezTo>
                  <a:lnTo>
                    <a:pt x="40431" y="1152990"/>
                  </a:lnTo>
                  <a:cubicBezTo>
                    <a:pt x="29708" y="1152990"/>
                    <a:pt x="19424" y="1148730"/>
                    <a:pt x="11842" y="1141148"/>
                  </a:cubicBezTo>
                  <a:cubicBezTo>
                    <a:pt x="4260" y="1133566"/>
                    <a:pt x="0" y="1123282"/>
                    <a:pt x="0" y="1112559"/>
                  </a:cubicBezTo>
                  <a:lnTo>
                    <a:pt x="0" y="40431"/>
                  </a:lnTo>
                  <a:cubicBezTo>
                    <a:pt x="0" y="29708"/>
                    <a:pt x="4260" y="19424"/>
                    <a:pt x="11842" y="11842"/>
                  </a:cubicBezTo>
                  <a:cubicBezTo>
                    <a:pt x="19424" y="4260"/>
                    <a:pt x="29708" y="0"/>
                    <a:pt x="40431" y="0"/>
                  </a:cubicBezTo>
                  <a:close/>
                </a:path>
              </a:pathLst>
            </a:custGeom>
            <a:solidFill>
              <a:srgbClr val="20212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" name="Google Shape;248;p21"/>
            <p:cNvSpPr txBox="1"/>
            <p:nvPr/>
          </p:nvSpPr>
          <p:spPr>
            <a:xfrm>
              <a:off x="0" y="19050"/>
              <a:ext cx="1916420" cy="11339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77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49" name="Google Shape;249;p21"/>
          <p:cNvGrpSpPr/>
          <p:nvPr/>
        </p:nvGrpSpPr>
        <p:grpSpPr>
          <a:xfrm>
            <a:off x="1781963" y="5031172"/>
            <a:ext cx="224656" cy="224656"/>
            <a:chOff x="0" y="0"/>
            <a:chExt cx="812800" cy="812800"/>
          </a:xfrm>
        </p:grpSpPr>
        <p:sp>
          <p:nvSpPr>
            <p:cNvPr id="250" name="Google Shape;250;p21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7DD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" name="Google Shape;251;p21"/>
            <p:cNvSpPr txBox="1"/>
            <p:nvPr/>
          </p:nvSpPr>
          <p:spPr>
            <a:xfrm>
              <a:off x="76200" y="95250"/>
              <a:ext cx="660400" cy="6413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77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52" name="Google Shape;252;p21"/>
          <p:cNvSpPr/>
          <p:nvPr/>
        </p:nvSpPr>
        <p:spPr>
          <a:xfrm>
            <a:off x="10277031" y="3236001"/>
            <a:ext cx="6653710" cy="4560039"/>
          </a:xfrm>
          <a:custGeom>
            <a:rect b="b" l="l" r="r" t="t"/>
            <a:pathLst>
              <a:path extrusionOk="0" h="4560039" w="6653710">
                <a:moveTo>
                  <a:pt x="0" y="0"/>
                </a:moveTo>
                <a:lnTo>
                  <a:pt x="6653711" y="0"/>
                </a:lnTo>
                <a:lnTo>
                  <a:pt x="6653711" y="4560039"/>
                </a:lnTo>
                <a:lnTo>
                  <a:pt x="0" y="456003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3" name="Google Shape;253;p21"/>
          <p:cNvSpPr txBox="1"/>
          <p:nvPr/>
        </p:nvSpPr>
        <p:spPr>
          <a:xfrm>
            <a:off x="1894291" y="573381"/>
            <a:ext cx="9747716" cy="20647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4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16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Árbol de análisis de sintaxis anotado</a:t>
            </a:r>
            <a:endParaRPr/>
          </a:p>
        </p:txBody>
      </p:sp>
      <p:sp>
        <p:nvSpPr>
          <p:cNvPr id="254" name="Google Shape;254;p21"/>
          <p:cNvSpPr txBox="1"/>
          <p:nvPr/>
        </p:nvSpPr>
        <p:spPr>
          <a:xfrm>
            <a:off x="2377567" y="4931811"/>
            <a:ext cx="3270635" cy="4043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39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4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Ejemplo de AST</a:t>
            </a:r>
            <a:endParaRPr/>
          </a:p>
        </p:txBody>
      </p:sp>
      <p:sp>
        <p:nvSpPr>
          <p:cNvPr id="255" name="Google Shape;255;p21"/>
          <p:cNvSpPr txBox="1"/>
          <p:nvPr/>
        </p:nvSpPr>
        <p:spPr>
          <a:xfrm>
            <a:off x="1894291" y="2673389"/>
            <a:ext cx="5739449" cy="18681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7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 un árbol sintáctico, que muestra el (los) valor(es) de su(s) atributo(s) se le conoce como árbol</a:t>
            </a:r>
            <a:endParaRPr/>
          </a:p>
          <a:p>
            <a:pPr indent="0" lvl="0" marL="0" marR="0" rtl="0" algn="l">
              <a:lnSpc>
                <a:spcPct val="139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7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 análisis sintáctico anotado.</a:t>
            </a:r>
            <a:endParaRPr/>
          </a:p>
        </p:txBody>
      </p:sp>
      <p:sp>
        <p:nvSpPr>
          <p:cNvPr id="256" name="Google Shape;256;p21"/>
          <p:cNvSpPr txBox="1"/>
          <p:nvPr/>
        </p:nvSpPr>
        <p:spPr>
          <a:xfrm>
            <a:off x="10322963" y="2650830"/>
            <a:ext cx="3280924" cy="3274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39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54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AST anotado</a:t>
            </a:r>
            <a:endParaRPr/>
          </a:p>
        </p:txBody>
      </p:sp>
      <p:sp>
        <p:nvSpPr>
          <p:cNvPr id="257" name="Google Shape;257;p21"/>
          <p:cNvSpPr/>
          <p:nvPr/>
        </p:nvSpPr>
        <p:spPr>
          <a:xfrm>
            <a:off x="3358649" y="5745714"/>
            <a:ext cx="2289554" cy="2937105"/>
          </a:xfrm>
          <a:custGeom>
            <a:rect b="b" l="l" r="r" t="t"/>
            <a:pathLst>
              <a:path extrusionOk="0" h="2937105" w="2289554">
                <a:moveTo>
                  <a:pt x="0" y="0"/>
                </a:moveTo>
                <a:lnTo>
                  <a:pt x="2289554" y="0"/>
                </a:lnTo>
                <a:lnTo>
                  <a:pt x="2289554" y="2937104"/>
                </a:lnTo>
                <a:lnTo>
                  <a:pt x="0" y="29371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519"/>
        </a:solidFill>
      </p:bgPr>
    </p:bg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22"/>
          <p:cNvSpPr/>
          <p:nvPr/>
        </p:nvSpPr>
        <p:spPr>
          <a:xfrm>
            <a:off x="1074577" y="845799"/>
            <a:ext cx="499539" cy="503199"/>
          </a:xfrm>
          <a:custGeom>
            <a:rect b="b" l="l" r="r" t="t"/>
            <a:pathLst>
              <a:path extrusionOk="0" h="503199" w="499539">
                <a:moveTo>
                  <a:pt x="0" y="0"/>
                </a:moveTo>
                <a:lnTo>
                  <a:pt x="499540" y="0"/>
                </a:lnTo>
                <a:lnTo>
                  <a:pt x="499540" y="503199"/>
                </a:lnTo>
                <a:lnTo>
                  <a:pt x="0" y="50319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63" name="Google Shape;263;p22"/>
          <p:cNvGrpSpPr/>
          <p:nvPr/>
        </p:nvGrpSpPr>
        <p:grpSpPr>
          <a:xfrm>
            <a:off x="1198186" y="4167664"/>
            <a:ext cx="7089518" cy="3309700"/>
            <a:chOff x="0" y="0"/>
            <a:chExt cx="1867198" cy="871690"/>
          </a:xfrm>
        </p:grpSpPr>
        <p:sp>
          <p:nvSpPr>
            <p:cNvPr id="264" name="Google Shape;264;p22"/>
            <p:cNvSpPr/>
            <p:nvPr/>
          </p:nvSpPr>
          <p:spPr>
            <a:xfrm>
              <a:off x="0" y="0"/>
              <a:ext cx="1867198" cy="871690"/>
            </a:xfrm>
            <a:custGeom>
              <a:rect b="b" l="l" r="r" t="t"/>
              <a:pathLst>
                <a:path extrusionOk="0" h="871690" w="1867198">
                  <a:moveTo>
                    <a:pt x="41497" y="0"/>
                  </a:moveTo>
                  <a:lnTo>
                    <a:pt x="1825701" y="0"/>
                  </a:lnTo>
                  <a:cubicBezTo>
                    <a:pt x="1836707" y="0"/>
                    <a:pt x="1847262" y="4372"/>
                    <a:pt x="1855044" y="12154"/>
                  </a:cubicBezTo>
                  <a:cubicBezTo>
                    <a:pt x="1862826" y="19936"/>
                    <a:pt x="1867198" y="30491"/>
                    <a:pt x="1867198" y="41497"/>
                  </a:cubicBezTo>
                  <a:lnTo>
                    <a:pt x="1867198" y="830194"/>
                  </a:lnTo>
                  <a:cubicBezTo>
                    <a:pt x="1867198" y="853112"/>
                    <a:pt x="1848620" y="871690"/>
                    <a:pt x="1825701" y="871690"/>
                  </a:cubicBezTo>
                  <a:lnTo>
                    <a:pt x="41497" y="871690"/>
                  </a:lnTo>
                  <a:cubicBezTo>
                    <a:pt x="30491" y="871690"/>
                    <a:pt x="19936" y="867318"/>
                    <a:pt x="12154" y="859536"/>
                  </a:cubicBezTo>
                  <a:cubicBezTo>
                    <a:pt x="4372" y="851754"/>
                    <a:pt x="0" y="841199"/>
                    <a:pt x="0" y="830194"/>
                  </a:cubicBezTo>
                  <a:lnTo>
                    <a:pt x="0" y="41497"/>
                  </a:lnTo>
                  <a:cubicBezTo>
                    <a:pt x="0" y="30491"/>
                    <a:pt x="4372" y="19936"/>
                    <a:pt x="12154" y="12154"/>
                  </a:cubicBezTo>
                  <a:cubicBezTo>
                    <a:pt x="19936" y="4372"/>
                    <a:pt x="30491" y="0"/>
                    <a:pt x="41497" y="0"/>
                  </a:cubicBezTo>
                  <a:close/>
                </a:path>
              </a:pathLst>
            </a:custGeom>
            <a:solidFill>
              <a:srgbClr val="20212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" name="Google Shape;265;p22"/>
            <p:cNvSpPr txBox="1"/>
            <p:nvPr/>
          </p:nvSpPr>
          <p:spPr>
            <a:xfrm>
              <a:off x="0" y="19050"/>
              <a:ext cx="1867198" cy="8526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77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66" name="Google Shape;266;p22"/>
          <p:cNvGrpSpPr/>
          <p:nvPr/>
        </p:nvGrpSpPr>
        <p:grpSpPr>
          <a:xfrm>
            <a:off x="9439465" y="7136779"/>
            <a:ext cx="6583028" cy="1771650"/>
            <a:chOff x="0" y="0"/>
            <a:chExt cx="1733801" cy="466607"/>
          </a:xfrm>
        </p:grpSpPr>
        <p:sp>
          <p:nvSpPr>
            <p:cNvPr id="267" name="Google Shape;267;p22"/>
            <p:cNvSpPr/>
            <p:nvPr/>
          </p:nvSpPr>
          <p:spPr>
            <a:xfrm>
              <a:off x="0" y="0"/>
              <a:ext cx="1733801" cy="466607"/>
            </a:xfrm>
            <a:custGeom>
              <a:rect b="b" l="l" r="r" t="t"/>
              <a:pathLst>
                <a:path extrusionOk="0" h="466607" w="1733801">
                  <a:moveTo>
                    <a:pt x="44690" y="0"/>
                  </a:moveTo>
                  <a:lnTo>
                    <a:pt x="1689111" y="0"/>
                  </a:lnTo>
                  <a:cubicBezTo>
                    <a:pt x="1713792" y="0"/>
                    <a:pt x="1733801" y="20008"/>
                    <a:pt x="1733801" y="44690"/>
                  </a:cubicBezTo>
                  <a:lnTo>
                    <a:pt x="1733801" y="421918"/>
                  </a:lnTo>
                  <a:cubicBezTo>
                    <a:pt x="1733801" y="433770"/>
                    <a:pt x="1729092" y="445137"/>
                    <a:pt x="1720711" y="453518"/>
                  </a:cubicBezTo>
                  <a:cubicBezTo>
                    <a:pt x="1712330" y="461899"/>
                    <a:pt x="1700963" y="466607"/>
                    <a:pt x="1689111" y="466607"/>
                  </a:cubicBezTo>
                  <a:lnTo>
                    <a:pt x="44690" y="466607"/>
                  </a:lnTo>
                  <a:cubicBezTo>
                    <a:pt x="32837" y="466607"/>
                    <a:pt x="21470" y="461899"/>
                    <a:pt x="13089" y="453518"/>
                  </a:cubicBezTo>
                  <a:cubicBezTo>
                    <a:pt x="4708" y="445137"/>
                    <a:pt x="0" y="433770"/>
                    <a:pt x="0" y="421918"/>
                  </a:cubicBezTo>
                  <a:lnTo>
                    <a:pt x="0" y="44690"/>
                  </a:lnTo>
                  <a:cubicBezTo>
                    <a:pt x="0" y="32837"/>
                    <a:pt x="4708" y="21470"/>
                    <a:pt x="13089" y="13089"/>
                  </a:cubicBezTo>
                  <a:cubicBezTo>
                    <a:pt x="21470" y="4708"/>
                    <a:pt x="32837" y="0"/>
                    <a:pt x="44690" y="0"/>
                  </a:cubicBezTo>
                  <a:close/>
                </a:path>
              </a:pathLst>
            </a:custGeom>
            <a:gradFill>
              <a:gsLst>
                <a:gs pos="0">
                  <a:srgbClr val="0C4A5B"/>
                </a:gs>
                <a:gs pos="100000">
                  <a:srgbClr val="27DDDF"/>
                </a:gs>
              </a:gsLst>
              <a:lin ang="27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" name="Google Shape;268;p22"/>
            <p:cNvSpPr txBox="1"/>
            <p:nvPr/>
          </p:nvSpPr>
          <p:spPr>
            <a:xfrm>
              <a:off x="0" y="19050"/>
              <a:ext cx="1733800" cy="44755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77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69" name="Google Shape;269;p22"/>
          <p:cNvGrpSpPr/>
          <p:nvPr/>
        </p:nvGrpSpPr>
        <p:grpSpPr>
          <a:xfrm>
            <a:off x="10066879" y="1536400"/>
            <a:ext cx="6583028" cy="4515361"/>
            <a:chOff x="0" y="0"/>
            <a:chExt cx="1733801" cy="1189231"/>
          </a:xfrm>
        </p:grpSpPr>
        <p:sp>
          <p:nvSpPr>
            <p:cNvPr id="270" name="Google Shape;270;p22"/>
            <p:cNvSpPr/>
            <p:nvPr/>
          </p:nvSpPr>
          <p:spPr>
            <a:xfrm>
              <a:off x="0" y="0"/>
              <a:ext cx="1733801" cy="1189231"/>
            </a:xfrm>
            <a:custGeom>
              <a:rect b="b" l="l" r="r" t="t"/>
              <a:pathLst>
                <a:path extrusionOk="0" h="1189231" w="1733801">
                  <a:moveTo>
                    <a:pt x="44690" y="0"/>
                  </a:moveTo>
                  <a:lnTo>
                    <a:pt x="1689111" y="0"/>
                  </a:lnTo>
                  <a:cubicBezTo>
                    <a:pt x="1713792" y="0"/>
                    <a:pt x="1733801" y="20008"/>
                    <a:pt x="1733801" y="44690"/>
                  </a:cubicBezTo>
                  <a:lnTo>
                    <a:pt x="1733801" y="1144541"/>
                  </a:lnTo>
                  <a:cubicBezTo>
                    <a:pt x="1733801" y="1156394"/>
                    <a:pt x="1729092" y="1167761"/>
                    <a:pt x="1720711" y="1176141"/>
                  </a:cubicBezTo>
                  <a:cubicBezTo>
                    <a:pt x="1712330" y="1184522"/>
                    <a:pt x="1700963" y="1189231"/>
                    <a:pt x="1689111" y="1189231"/>
                  </a:cubicBezTo>
                  <a:lnTo>
                    <a:pt x="44690" y="1189231"/>
                  </a:lnTo>
                  <a:cubicBezTo>
                    <a:pt x="32837" y="1189231"/>
                    <a:pt x="21470" y="1184522"/>
                    <a:pt x="13089" y="1176141"/>
                  </a:cubicBezTo>
                  <a:cubicBezTo>
                    <a:pt x="4708" y="1167761"/>
                    <a:pt x="0" y="1156394"/>
                    <a:pt x="0" y="1144541"/>
                  </a:cubicBezTo>
                  <a:lnTo>
                    <a:pt x="0" y="44690"/>
                  </a:lnTo>
                  <a:cubicBezTo>
                    <a:pt x="0" y="32837"/>
                    <a:pt x="4708" y="21470"/>
                    <a:pt x="13089" y="13089"/>
                  </a:cubicBezTo>
                  <a:cubicBezTo>
                    <a:pt x="21470" y="4708"/>
                    <a:pt x="32837" y="0"/>
                    <a:pt x="44690" y="0"/>
                  </a:cubicBezTo>
                  <a:close/>
                </a:path>
              </a:pathLst>
            </a:custGeom>
            <a:solidFill>
              <a:srgbClr val="20212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" name="Google Shape;271;p22"/>
            <p:cNvSpPr txBox="1"/>
            <p:nvPr/>
          </p:nvSpPr>
          <p:spPr>
            <a:xfrm>
              <a:off x="0" y="19050"/>
              <a:ext cx="1733800" cy="117018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77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72" name="Google Shape;272;p22"/>
          <p:cNvGrpSpPr/>
          <p:nvPr/>
        </p:nvGrpSpPr>
        <p:grpSpPr>
          <a:xfrm>
            <a:off x="1795032" y="4654946"/>
            <a:ext cx="224656" cy="224656"/>
            <a:chOff x="0" y="0"/>
            <a:chExt cx="812800" cy="812800"/>
          </a:xfrm>
        </p:grpSpPr>
        <p:sp>
          <p:nvSpPr>
            <p:cNvPr id="273" name="Google Shape;273;p22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7DD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" name="Google Shape;274;p22"/>
            <p:cNvSpPr txBox="1"/>
            <p:nvPr/>
          </p:nvSpPr>
          <p:spPr>
            <a:xfrm>
              <a:off x="76200" y="95250"/>
              <a:ext cx="660400" cy="6413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77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75" name="Google Shape;275;p22"/>
          <p:cNvGrpSpPr/>
          <p:nvPr/>
        </p:nvGrpSpPr>
        <p:grpSpPr>
          <a:xfrm>
            <a:off x="10807110" y="2106280"/>
            <a:ext cx="517587" cy="517587"/>
            <a:chOff x="0" y="0"/>
            <a:chExt cx="812800" cy="812800"/>
          </a:xfrm>
        </p:grpSpPr>
        <p:sp>
          <p:nvSpPr>
            <p:cNvPr id="276" name="Google Shape;276;p22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7DD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" name="Google Shape;277;p22"/>
            <p:cNvSpPr txBox="1"/>
            <p:nvPr/>
          </p:nvSpPr>
          <p:spPr>
            <a:xfrm>
              <a:off x="76200" y="95250"/>
              <a:ext cx="660400" cy="6413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77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78" name="Google Shape;278;p22"/>
          <p:cNvSpPr/>
          <p:nvPr/>
        </p:nvSpPr>
        <p:spPr>
          <a:xfrm>
            <a:off x="10896395" y="2196194"/>
            <a:ext cx="374682" cy="348710"/>
          </a:xfrm>
          <a:custGeom>
            <a:rect b="b" l="l" r="r" t="t"/>
            <a:pathLst>
              <a:path extrusionOk="0" h="348710" w="374682">
                <a:moveTo>
                  <a:pt x="0" y="0"/>
                </a:moveTo>
                <a:lnTo>
                  <a:pt x="374682" y="0"/>
                </a:lnTo>
                <a:lnTo>
                  <a:pt x="374682" y="348710"/>
                </a:lnTo>
                <a:lnTo>
                  <a:pt x="0" y="3487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79" name="Google Shape;279;p22"/>
          <p:cNvSpPr/>
          <p:nvPr/>
        </p:nvSpPr>
        <p:spPr>
          <a:xfrm>
            <a:off x="10697519" y="3586585"/>
            <a:ext cx="5478233" cy="1878573"/>
          </a:xfrm>
          <a:custGeom>
            <a:rect b="b" l="l" r="r" t="t"/>
            <a:pathLst>
              <a:path extrusionOk="0" h="1878573" w="5478233">
                <a:moveTo>
                  <a:pt x="0" y="0"/>
                </a:moveTo>
                <a:lnTo>
                  <a:pt x="5478232" y="0"/>
                </a:lnTo>
                <a:lnTo>
                  <a:pt x="5478232" y="1878573"/>
                </a:lnTo>
                <a:lnTo>
                  <a:pt x="0" y="187857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80" name="Google Shape;280;p22"/>
          <p:cNvSpPr txBox="1"/>
          <p:nvPr/>
        </p:nvSpPr>
        <p:spPr>
          <a:xfrm>
            <a:off x="1795032" y="930452"/>
            <a:ext cx="1302079" cy="362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8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7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/>
          </a:p>
        </p:txBody>
      </p:sp>
      <p:sp>
        <p:nvSpPr>
          <p:cNvPr id="281" name="Google Shape;281;p22"/>
          <p:cNvSpPr txBox="1"/>
          <p:nvPr/>
        </p:nvSpPr>
        <p:spPr>
          <a:xfrm>
            <a:off x="1795032" y="1507825"/>
            <a:ext cx="7089518" cy="20647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4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16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Gráficos de dependencias</a:t>
            </a:r>
            <a:endParaRPr/>
          </a:p>
        </p:txBody>
      </p:sp>
      <p:sp>
        <p:nvSpPr>
          <p:cNvPr id="282" name="Google Shape;282;p22"/>
          <p:cNvSpPr txBox="1"/>
          <p:nvPr/>
        </p:nvSpPr>
        <p:spPr>
          <a:xfrm>
            <a:off x="2324407" y="4645425"/>
            <a:ext cx="2046000" cy="3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39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4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Definición</a:t>
            </a:r>
            <a:endParaRPr/>
          </a:p>
        </p:txBody>
      </p:sp>
      <p:sp>
        <p:nvSpPr>
          <p:cNvPr id="283" name="Google Shape;283;p22"/>
          <p:cNvSpPr txBox="1"/>
          <p:nvPr/>
        </p:nvSpPr>
        <p:spPr>
          <a:xfrm>
            <a:off x="11665549" y="2177150"/>
            <a:ext cx="1959900" cy="3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39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54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Ejemplo</a:t>
            </a:r>
            <a:endParaRPr/>
          </a:p>
        </p:txBody>
      </p:sp>
      <p:sp>
        <p:nvSpPr>
          <p:cNvPr id="284" name="Google Shape;284;p22"/>
          <p:cNvSpPr txBox="1"/>
          <p:nvPr/>
        </p:nvSpPr>
        <p:spPr>
          <a:xfrm>
            <a:off x="9966109" y="7364869"/>
            <a:ext cx="3050649" cy="4369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3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54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Información extra</a:t>
            </a:r>
            <a:endParaRPr/>
          </a:p>
        </p:txBody>
      </p:sp>
      <p:sp>
        <p:nvSpPr>
          <p:cNvPr id="285" name="Google Shape;285;p22"/>
          <p:cNvSpPr txBox="1"/>
          <p:nvPr/>
        </p:nvSpPr>
        <p:spPr>
          <a:xfrm>
            <a:off x="2012489" y="5268187"/>
            <a:ext cx="5708731" cy="1500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7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Describe el ﬂujo de información entre las instancias de atributos en un árbol de análisis sintáctico especíﬁco; una ﬂecha de una instancia de atributo a otra signiﬁca</a:t>
            </a:r>
            <a:endParaRPr/>
          </a:p>
          <a:p>
            <a:pPr indent="0" lvl="0" marL="0" marR="0" rtl="0" algn="l">
              <a:lnSpc>
                <a:spcPct val="1399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7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que el valor de la primera se necesita para calcular la segunda.</a:t>
            </a:r>
            <a:endParaRPr/>
          </a:p>
        </p:txBody>
      </p:sp>
      <p:sp>
        <p:nvSpPr>
          <p:cNvPr id="286" name="Google Shape;286;p22"/>
          <p:cNvSpPr txBox="1"/>
          <p:nvPr/>
        </p:nvSpPr>
        <p:spPr>
          <a:xfrm>
            <a:off x="10808975" y="2689664"/>
            <a:ext cx="5102560" cy="6597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7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Las lineas punteadas el CST, las sólidas el anotado.</a:t>
            </a:r>
            <a:endParaRPr/>
          </a:p>
        </p:txBody>
      </p:sp>
      <p:sp>
        <p:nvSpPr>
          <p:cNvPr id="287" name="Google Shape;287;p22"/>
          <p:cNvSpPr txBox="1"/>
          <p:nvPr/>
        </p:nvSpPr>
        <p:spPr>
          <a:xfrm>
            <a:off x="10205321" y="7828605"/>
            <a:ext cx="5190000" cy="9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7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No importa el tipo de atributo, las flechas se dibujan en </a:t>
            </a:r>
            <a:r>
              <a:rPr lang="en-US" sz="1676">
                <a:solidFill>
                  <a:srgbClr val="FFFFFF"/>
                </a:solidFill>
              </a:rPr>
              <a:t>términos</a:t>
            </a:r>
            <a:r>
              <a:rPr b="0" i="0" lang="en-US" sz="167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de la secuencia para crear el valor del atributo.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519"/>
        </a:solidFill>
      </p:bgPr>
    </p:bg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23"/>
          <p:cNvSpPr/>
          <p:nvPr/>
        </p:nvSpPr>
        <p:spPr>
          <a:xfrm>
            <a:off x="1109689" y="777101"/>
            <a:ext cx="499539" cy="503199"/>
          </a:xfrm>
          <a:custGeom>
            <a:rect b="b" l="l" r="r" t="t"/>
            <a:pathLst>
              <a:path extrusionOk="0" h="503199" w="499539">
                <a:moveTo>
                  <a:pt x="0" y="0"/>
                </a:moveTo>
                <a:lnTo>
                  <a:pt x="499539" y="0"/>
                </a:lnTo>
                <a:lnTo>
                  <a:pt x="499539" y="503198"/>
                </a:lnTo>
                <a:lnTo>
                  <a:pt x="0" y="50319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93" name="Google Shape;293;p23"/>
          <p:cNvGrpSpPr/>
          <p:nvPr/>
        </p:nvGrpSpPr>
        <p:grpSpPr>
          <a:xfrm>
            <a:off x="774536" y="3582685"/>
            <a:ext cx="7343518" cy="5368247"/>
            <a:chOff x="0" y="0"/>
            <a:chExt cx="1934095" cy="1413859"/>
          </a:xfrm>
        </p:grpSpPr>
        <p:sp>
          <p:nvSpPr>
            <p:cNvPr id="294" name="Google Shape;294;p23"/>
            <p:cNvSpPr/>
            <p:nvPr/>
          </p:nvSpPr>
          <p:spPr>
            <a:xfrm>
              <a:off x="0" y="0"/>
              <a:ext cx="1934095" cy="1413859"/>
            </a:xfrm>
            <a:custGeom>
              <a:rect b="b" l="l" r="r" t="t"/>
              <a:pathLst>
                <a:path extrusionOk="0" h="1413859" w="1934095">
                  <a:moveTo>
                    <a:pt x="40062" y="0"/>
                  </a:moveTo>
                  <a:lnTo>
                    <a:pt x="1894034" y="0"/>
                  </a:lnTo>
                  <a:cubicBezTo>
                    <a:pt x="1904659" y="0"/>
                    <a:pt x="1914849" y="4221"/>
                    <a:pt x="1922362" y="11734"/>
                  </a:cubicBezTo>
                  <a:cubicBezTo>
                    <a:pt x="1929875" y="19247"/>
                    <a:pt x="1934095" y="29437"/>
                    <a:pt x="1934095" y="40062"/>
                  </a:cubicBezTo>
                  <a:lnTo>
                    <a:pt x="1934095" y="1373798"/>
                  </a:lnTo>
                  <a:cubicBezTo>
                    <a:pt x="1934095" y="1384423"/>
                    <a:pt x="1929875" y="1394613"/>
                    <a:pt x="1922362" y="1402126"/>
                  </a:cubicBezTo>
                  <a:cubicBezTo>
                    <a:pt x="1914849" y="1409639"/>
                    <a:pt x="1904659" y="1413859"/>
                    <a:pt x="1894034" y="1413859"/>
                  </a:cubicBezTo>
                  <a:lnTo>
                    <a:pt x="40062" y="1413859"/>
                  </a:lnTo>
                  <a:cubicBezTo>
                    <a:pt x="29437" y="1413859"/>
                    <a:pt x="19247" y="1409639"/>
                    <a:pt x="11734" y="1402126"/>
                  </a:cubicBezTo>
                  <a:cubicBezTo>
                    <a:pt x="4221" y="1394613"/>
                    <a:pt x="0" y="1384423"/>
                    <a:pt x="0" y="1373798"/>
                  </a:cubicBezTo>
                  <a:lnTo>
                    <a:pt x="0" y="40062"/>
                  </a:lnTo>
                  <a:cubicBezTo>
                    <a:pt x="0" y="29437"/>
                    <a:pt x="4221" y="19247"/>
                    <a:pt x="11734" y="11734"/>
                  </a:cubicBezTo>
                  <a:cubicBezTo>
                    <a:pt x="19247" y="4221"/>
                    <a:pt x="29437" y="0"/>
                    <a:pt x="40062" y="0"/>
                  </a:cubicBezTo>
                  <a:close/>
                </a:path>
              </a:pathLst>
            </a:custGeom>
            <a:solidFill>
              <a:srgbClr val="20212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" name="Google Shape;295;p23"/>
            <p:cNvSpPr txBox="1"/>
            <p:nvPr/>
          </p:nvSpPr>
          <p:spPr>
            <a:xfrm>
              <a:off x="0" y="19050"/>
              <a:ext cx="1934095" cy="139480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77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96" name="Google Shape;296;p23"/>
          <p:cNvGrpSpPr/>
          <p:nvPr/>
        </p:nvGrpSpPr>
        <p:grpSpPr>
          <a:xfrm>
            <a:off x="8818879" y="3281060"/>
            <a:ext cx="8964274" cy="5403277"/>
            <a:chOff x="0" y="0"/>
            <a:chExt cx="2360961" cy="1423085"/>
          </a:xfrm>
        </p:grpSpPr>
        <p:sp>
          <p:nvSpPr>
            <p:cNvPr id="297" name="Google Shape;297;p23"/>
            <p:cNvSpPr/>
            <p:nvPr/>
          </p:nvSpPr>
          <p:spPr>
            <a:xfrm>
              <a:off x="0" y="0"/>
              <a:ext cx="2360961" cy="1423085"/>
            </a:xfrm>
            <a:custGeom>
              <a:rect b="b" l="l" r="r" t="t"/>
              <a:pathLst>
                <a:path extrusionOk="0" h="1423085" w="2360961">
                  <a:moveTo>
                    <a:pt x="32818" y="0"/>
                  </a:moveTo>
                  <a:lnTo>
                    <a:pt x="2328143" y="0"/>
                  </a:lnTo>
                  <a:cubicBezTo>
                    <a:pt x="2346268" y="0"/>
                    <a:pt x="2360961" y="14693"/>
                    <a:pt x="2360961" y="32818"/>
                  </a:cubicBezTo>
                  <a:lnTo>
                    <a:pt x="2360961" y="1390267"/>
                  </a:lnTo>
                  <a:cubicBezTo>
                    <a:pt x="2360961" y="1398971"/>
                    <a:pt x="2357503" y="1407319"/>
                    <a:pt x="2351349" y="1413473"/>
                  </a:cubicBezTo>
                  <a:cubicBezTo>
                    <a:pt x="2345194" y="1419628"/>
                    <a:pt x="2336847" y="1423085"/>
                    <a:pt x="2328143" y="1423085"/>
                  </a:cubicBezTo>
                  <a:lnTo>
                    <a:pt x="32818" y="1423085"/>
                  </a:lnTo>
                  <a:cubicBezTo>
                    <a:pt x="14693" y="1423085"/>
                    <a:pt x="0" y="1408392"/>
                    <a:pt x="0" y="1390267"/>
                  </a:cubicBezTo>
                  <a:lnTo>
                    <a:pt x="0" y="32818"/>
                  </a:lnTo>
                  <a:cubicBezTo>
                    <a:pt x="0" y="24114"/>
                    <a:pt x="3458" y="15767"/>
                    <a:pt x="9612" y="9612"/>
                  </a:cubicBezTo>
                  <a:cubicBezTo>
                    <a:pt x="15767" y="3458"/>
                    <a:pt x="24114" y="0"/>
                    <a:pt x="32818" y="0"/>
                  </a:cubicBezTo>
                  <a:close/>
                </a:path>
              </a:pathLst>
            </a:custGeom>
            <a:solidFill>
              <a:srgbClr val="20212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" name="Google Shape;298;p23"/>
            <p:cNvSpPr txBox="1"/>
            <p:nvPr/>
          </p:nvSpPr>
          <p:spPr>
            <a:xfrm>
              <a:off x="0" y="19050"/>
              <a:ext cx="2360961" cy="140403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77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99" name="Google Shape;299;p23"/>
          <p:cNvGrpSpPr/>
          <p:nvPr/>
        </p:nvGrpSpPr>
        <p:grpSpPr>
          <a:xfrm>
            <a:off x="1134802" y="4102611"/>
            <a:ext cx="224656" cy="224656"/>
            <a:chOff x="0" y="0"/>
            <a:chExt cx="812800" cy="812800"/>
          </a:xfrm>
        </p:grpSpPr>
        <p:sp>
          <p:nvSpPr>
            <p:cNvPr id="300" name="Google Shape;300;p23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7DD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" name="Google Shape;301;p23"/>
            <p:cNvSpPr txBox="1"/>
            <p:nvPr/>
          </p:nvSpPr>
          <p:spPr>
            <a:xfrm>
              <a:off x="76200" y="95250"/>
              <a:ext cx="660400" cy="6413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77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02" name="Google Shape;302;p23"/>
          <p:cNvGrpSpPr/>
          <p:nvPr/>
        </p:nvGrpSpPr>
        <p:grpSpPr>
          <a:xfrm>
            <a:off x="9478542" y="3773663"/>
            <a:ext cx="216568" cy="216568"/>
            <a:chOff x="0" y="0"/>
            <a:chExt cx="812800" cy="812800"/>
          </a:xfrm>
        </p:grpSpPr>
        <p:sp>
          <p:nvSpPr>
            <p:cNvPr id="303" name="Google Shape;303;p23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7DD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" name="Google Shape;304;p23"/>
            <p:cNvSpPr txBox="1"/>
            <p:nvPr/>
          </p:nvSpPr>
          <p:spPr>
            <a:xfrm>
              <a:off x="76200" y="95250"/>
              <a:ext cx="660400" cy="6413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77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05" name="Google Shape;305;p23"/>
          <p:cNvGrpSpPr/>
          <p:nvPr/>
        </p:nvGrpSpPr>
        <p:grpSpPr>
          <a:xfrm>
            <a:off x="1134802" y="5747455"/>
            <a:ext cx="224656" cy="224656"/>
            <a:chOff x="0" y="0"/>
            <a:chExt cx="812800" cy="812800"/>
          </a:xfrm>
        </p:grpSpPr>
        <p:sp>
          <p:nvSpPr>
            <p:cNvPr id="306" name="Google Shape;306;p23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7DD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" name="Google Shape;307;p23"/>
            <p:cNvSpPr txBox="1"/>
            <p:nvPr/>
          </p:nvSpPr>
          <p:spPr>
            <a:xfrm>
              <a:off x="76200" y="95250"/>
              <a:ext cx="660400" cy="6413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77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08" name="Google Shape;308;p23"/>
          <p:cNvSpPr/>
          <p:nvPr/>
        </p:nvSpPr>
        <p:spPr>
          <a:xfrm>
            <a:off x="9125418" y="4366188"/>
            <a:ext cx="8312022" cy="3606345"/>
          </a:xfrm>
          <a:custGeom>
            <a:rect b="b" l="l" r="r" t="t"/>
            <a:pathLst>
              <a:path extrusionOk="0" h="3606345" w="8312022">
                <a:moveTo>
                  <a:pt x="0" y="0"/>
                </a:moveTo>
                <a:lnTo>
                  <a:pt x="8312022" y="0"/>
                </a:lnTo>
                <a:lnTo>
                  <a:pt x="8312022" y="3606345"/>
                </a:lnTo>
                <a:lnTo>
                  <a:pt x="0" y="360634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09" name="Google Shape;309;p23"/>
          <p:cNvSpPr txBox="1"/>
          <p:nvPr/>
        </p:nvSpPr>
        <p:spPr>
          <a:xfrm>
            <a:off x="961046" y="1977415"/>
            <a:ext cx="12487018" cy="11194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4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16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Aplicaciones de las DDS</a:t>
            </a:r>
            <a:endParaRPr/>
          </a:p>
        </p:txBody>
      </p:sp>
      <p:sp>
        <p:nvSpPr>
          <p:cNvPr id="310" name="Google Shape;310;p23"/>
          <p:cNvSpPr txBox="1"/>
          <p:nvPr/>
        </p:nvSpPr>
        <p:spPr>
          <a:xfrm>
            <a:off x="10054422" y="3737275"/>
            <a:ext cx="1894200" cy="3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39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54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Ejemplo</a:t>
            </a:r>
            <a:endParaRPr/>
          </a:p>
        </p:txBody>
      </p:sp>
      <p:sp>
        <p:nvSpPr>
          <p:cNvPr id="311" name="Google Shape;311;p23"/>
          <p:cNvSpPr txBox="1"/>
          <p:nvPr/>
        </p:nvSpPr>
        <p:spPr>
          <a:xfrm>
            <a:off x="1609228" y="4016886"/>
            <a:ext cx="5914768" cy="12280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7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Construcción de árboles de análisis sintáctico pero se deben controlar los efectos adicionales.</a:t>
            </a:r>
            <a:endParaRPr/>
          </a:p>
        </p:txBody>
      </p:sp>
      <p:sp>
        <p:nvSpPr>
          <p:cNvPr id="312" name="Google Shape;312;p23"/>
          <p:cNvSpPr txBox="1"/>
          <p:nvPr/>
        </p:nvSpPr>
        <p:spPr>
          <a:xfrm>
            <a:off x="1609228" y="6181083"/>
            <a:ext cx="5799296" cy="20281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7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Las reglas semánticas que se ejecuten por sus efectos adicionales, como print(E.val), se tratarán como las deﬁniciones de los atributos falsos sintetizados, asociados con el encabezado de la producción.</a:t>
            </a:r>
            <a:endParaRPr/>
          </a:p>
        </p:txBody>
      </p:sp>
      <p:sp>
        <p:nvSpPr>
          <p:cNvPr id="313" name="Google Shape;313;p23"/>
          <p:cNvSpPr txBox="1"/>
          <p:nvPr/>
        </p:nvSpPr>
        <p:spPr>
          <a:xfrm>
            <a:off x="1609228" y="5679717"/>
            <a:ext cx="2912211" cy="3506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39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4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Falsos sintetizados</a:t>
            </a:r>
            <a:endParaRPr/>
          </a:p>
        </p:txBody>
      </p:sp>
      <p:sp>
        <p:nvSpPr>
          <p:cNvPr id="314" name="Google Shape;314;p23"/>
          <p:cNvSpPr txBox="1"/>
          <p:nvPr/>
        </p:nvSpPr>
        <p:spPr>
          <a:xfrm>
            <a:off x="1822286" y="917833"/>
            <a:ext cx="504011" cy="362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8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7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519"/>
        </a:solidFill>
      </p:bgPr>
    </p:bg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24"/>
          <p:cNvSpPr/>
          <p:nvPr/>
        </p:nvSpPr>
        <p:spPr>
          <a:xfrm>
            <a:off x="1074577" y="845799"/>
            <a:ext cx="499539" cy="503199"/>
          </a:xfrm>
          <a:custGeom>
            <a:rect b="b" l="l" r="r" t="t"/>
            <a:pathLst>
              <a:path extrusionOk="0" h="503199" w="499539">
                <a:moveTo>
                  <a:pt x="0" y="0"/>
                </a:moveTo>
                <a:lnTo>
                  <a:pt x="499540" y="0"/>
                </a:lnTo>
                <a:lnTo>
                  <a:pt x="499540" y="503199"/>
                </a:lnTo>
                <a:lnTo>
                  <a:pt x="0" y="50319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20" name="Google Shape;320;p24"/>
          <p:cNvGrpSpPr/>
          <p:nvPr/>
        </p:nvGrpSpPr>
        <p:grpSpPr>
          <a:xfrm>
            <a:off x="1416350" y="5936778"/>
            <a:ext cx="7041893" cy="2865200"/>
            <a:chOff x="0" y="0"/>
            <a:chExt cx="1854655" cy="754620"/>
          </a:xfrm>
        </p:grpSpPr>
        <p:sp>
          <p:nvSpPr>
            <p:cNvPr id="321" name="Google Shape;321;p24"/>
            <p:cNvSpPr/>
            <p:nvPr/>
          </p:nvSpPr>
          <p:spPr>
            <a:xfrm>
              <a:off x="0" y="0"/>
              <a:ext cx="1854655" cy="754620"/>
            </a:xfrm>
            <a:custGeom>
              <a:rect b="b" l="l" r="r" t="t"/>
              <a:pathLst>
                <a:path extrusionOk="0" h="754620" w="1854655">
                  <a:moveTo>
                    <a:pt x="41778" y="0"/>
                  </a:moveTo>
                  <a:lnTo>
                    <a:pt x="1812878" y="0"/>
                  </a:lnTo>
                  <a:cubicBezTo>
                    <a:pt x="1835951" y="0"/>
                    <a:pt x="1854655" y="18704"/>
                    <a:pt x="1854655" y="41778"/>
                  </a:cubicBezTo>
                  <a:lnTo>
                    <a:pt x="1854655" y="712843"/>
                  </a:lnTo>
                  <a:cubicBezTo>
                    <a:pt x="1854655" y="735916"/>
                    <a:pt x="1835951" y="754620"/>
                    <a:pt x="1812878" y="754620"/>
                  </a:cubicBezTo>
                  <a:lnTo>
                    <a:pt x="41778" y="754620"/>
                  </a:lnTo>
                  <a:cubicBezTo>
                    <a:pt x="18704" y="754620"/>
                    <a:pt x="0" y="735916"/>
                    <a:pt x="0" y="712843"/>
                  </a:cubicBezTo>
                  <a:lnTo>
                    <a:pt x="0" y="41778"/>
                  </a:lnTo>
                  <a:cubicBezTo>
                    <a:pt x="0" y="18704"/>
                    <a:pt x="18704" y="0"/>
                    <a:pt x="41778" y="0"/>
                  </a:cubicBezTo>
                  <a:close/>
                </a:path>
              </a:pathLst>
            </a:custGeom>
            <a:solidFill>
              <a:srgbClr val="20212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" name="Google Shape;322;p24"/>
            <p:cNvSpPr txBox="1"/>
            <p:nvPr/>
          </p:nvSpPr>
          <p:spPr>
            <a:xfrm>
              <a:off x="0" y="19050"/>
              <a:ext cx="1854655" cy="73557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77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23" name="Google Shape;323;p24"/>
          <p:cNvGrpSpPr/>
          <p:nvPr/>
        </p:nvGrpSpPr>
        <p:grpSpPr>
          <a:xfrm>
            <a:off x="10136526" y="4928078"/>
            <a:ext cx="7583149" cy="4883150"/>
            <a:chOff x="0" y="0"/>
            <a:chExt cx="1997208" cy="1286097"/>
          </a:xfrm>
        </p:grpSpPr>
        <p:sp>
          <p:nvSpPr>
            <p:cNvPr id="324" name="Google Shape;324;p24"/>
            <p:cNvSpPr/>
            <p:nvPr/>
          </p:nvSpPr>
          <p:spPr>
            <a:xfrm>
              <a:off x="0" y="0"/>
              <a:ext cx="1997208" cy="1286097"/>
            </a:xfrm>
            <a:custGeom>
              <a:rect b="b" l="l" r="r" t="t"/>
              <a:pathLst>
                <a:path extrusionOk="0" h="1286097" w="1997208">
                  <a:moveTo>
                    <a:pt x="38796" y="0"/>
                  </a:moveTo>
                  <a:lnTo>
                    <a:pt x="1958412" y="0"/>
                  </a:lnTo>
                  <a:cubicBezTo>
                    <a:pt x="1979838" y="0"/>
                    <a:pt x="1997208" y="17369"/>
                    <a:pt x="1997208" y="38796"/>
                  </a:cubicBezTo>
                  <a:lnTo>
                    <a:pt x="1997208" y="1247301"/>
                  </a:lnTo>
                  <a:cubicBezTo>
                    <a:pt x="1997208" y="1268728"/>
                    <a:pt x="1979838" y="1286097"/>
                    <a:pt x="1958412" y="1286097"/>
                  </a:cubicBezTo>
                  <a:lnTo>
                    <a:pt x="38796" y="1286097"/>
                  </a:lnTo>
                  <a:cubicBezTo>
                    <a:pt x="28506" y="1286097"/>
                    <a:pt x="18639" y="1282010"/>
                    <a:pt x="11363" y="1274734"/>
                  </a:cubicBezTo>
                  <a:cubicBezTo>
                    <a:pt x="4087" y="1267458"/>
                    <a:pt x="0" y="1257591"/>
                    <a:pt x="0" y="1247301"/>
                  </a:cubicBezTo>
                  <a:lnTo>
                    <a:pt x="0" y="38796"/>
                  </a:lnTo>
                  <a:cubicBezTo>
                    <a:pt x="0" y="17369"/>
                    <a:pt x="17369" y="0"/>
                    <a:pt x="38796" y="0"/>
                  </a:cubicBezTo>
                  <a:close/>
                </a:path>
              </a:pathLst>
            </a:custGeom>
            <a:gradFill>
              <a:gsLst>
                <a:gs pos="0">
                  <a:srgbClr val="0C4A5B"/>
                </a:gs>
                <a:gs pos="100000">
                  <a:srgbClr val="27DDDF"/>
                </a:gs>
              </a:gsLst>
              <a:lin ang="27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" name="Google Shape;325;p24"/>
            <p:cNvSpPr txBox="1"/>
            <p:nvPr/>
          </p:nvSpPr>
          <p:spPr>
            <a:xfrm>
              <a:off x="0" y="19050"/>
              <a:ext cx="1997208" cy="126704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77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26" name="Google Shape;326;p24"/>
          <p:cNvGrpSpPr/>
          <p:nvPr/>
        </p:nvGrpSpPr>
        <p:grpSpPr>
          <a:xfrm>
            <a:off x="10358776" y="524023"/>
            <a:ext cx="6789399" cy="3753361"/>
            <a:chOff x="0" y="0"/>
            <a:chExt cx="1788154" cy="988539"/>
          </a:xfrm>
        </p:grpSpPr>
        <p:sp>
          <p:nvSpPr>
            <p:cNvPr id="327" name="Google Shape;327;p24"/>
            <p:cNvSpPr/>
            <p:nvPr/>
          </p:nvSpPr>
          <p:spPr>
            <a:xfrm>
              <a:off x="0" y="0"/>
              <a:ext cx="1788154" cy="988539"/>
            </a:xfrm>
            <a:custGeom>
              <a:rect b="b" l="l" r="r" t="t"/>
              <a:pathLst>
                <a:path extrusionOk="0" h="988539" w="1788154">
                  <a:moveTo>
                    <a:pt x="43331" y="0"/>
                  </a:moveTo>
                  <a:lnTo>
                    <a:pt x="1744823" y="0"/>
                  </a:lnTo>
                  <a:cubicBezTo>
                    <a:pt x="1756315" y="0"/>
                    <a:pt x="1767337" y="4565"/>
                    <a:pt x="1775463" y="12691"/>
                  </a:cubicBezTo>
                  <a:cubicBezTo>
                    <a:pt x="1783589" y="20818"/>
                    <a:pt x="1788154" y="31839"/>
                    <a:pt x="1788154" y="43331"/>
                  </a:cubicBezTo>
                  <a:lnTo>
                    <a:pt x="1788154" y="945208"/>
                  </a:lnTo>
                  <a:cubicBezTo>
                    <a:pt x="1788154" y="956700"/>
                    <a:pt x="1783589" y="967722"/>
                    <a:pt x="1775463" y="975848"/>
                  </a:cubicBezTo>
                  <a:cubicBezTo>
                    <a:pt x="1767337" y="983974"/>
                    <a:pt x="1756315" y="988539"/>
                    <a:pt x="1744823" y="988539"/>
                  </a:cubicBezTo>
                  <a:lnTo>
                    <a:pt x="43331" y="988539"/>
                  </a:lnTo>
                  <a:cubicBezTo>
                    <a:pt x="19400" y="988539"/>
                    <a:pt x="0" y="969139"/>
                    <a:pt x="0" y="945208"/>
                  </a:cubicBezTo>
                  <a:lnTo>
                    <a:pt x="0" y="43331"/>
                  </a:lnTo>
                  <a:cubicBezTo>
                    <a:pt x="0" y="19400"/>
                    <a:pt x="19400" y="0"/>
                    <a:pt x="43331" y="0"/>
                  </a:cubicBezTo>
                  <a:close/>
                </a:path>
              </a:pathLst>
            </a:custGeom>
            <a:solidFill>
              <a:srgbClr val="20212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" name="Google Shape;328;p24"/>
            <p:cNvSpPr txBox="1"/>
            <p:nvPr/>
          </p:nvSpPr>
          <p:spPr>
            <a:xfrm>
              <a:off x="0" y="19050"/>
              <a:ext cx="1788154" cy="9694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77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29" name="Google Shape;329;p24"/>
          <p:cNvGrpSpPr/>
          <p:nvPr/>
        </p:nvGrpSpPr>
        <p:grpSpPr>
          <a:xfrm>
            <a:off x="1887035" y="6699728"/>
            <a:ext cx="224656" cy="224656"/>
            <a:chOff x="0" y="0"/>
            <a:chExt cx="812800" cy="812800"/>
          </a:xfrm>
        </p:grpSpPr>
        <p:sp>
          <p:nvSpPr>
            <p:cNvPr id="330" name="Google Shape;330;p24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7DD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" name="Google Shape;331;p24"/>
            <p:cNvSpPr txBox="1"/>
            <p:nvPr/>
          </p:nvSpPr>
          <p:spPr>
            <a:xfrm>
              <a:off x="76200" y="95250"/>
              <a:ext cx="660400" cy="6413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77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32" name="Google Shape;332;p24"/>
          <p:cNvGrpSpPr/>
          <p:nvPr/>
        </p:nvGrpSpPr>
        <p:grpSpPr>
          <a:xfrm>
            <a:off x="11099008" y="1093902"/>
            <a:ext cx="517587" cy="517587"/>
            <a:chOff x="0" y="0"/>
            <a:chExt cx="812800" cy="812800"/>
          </a:xfrm>
        </p:grpSpPr>
        <p:sp>
          <p:nvSpPr>
            <p:cNvPr id="333" name="Google Shape;333;p24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7DD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" name="Google Shape;334;p24"/>
            <p:cNvSpPr txBox="1"/>
            <p:nvPr/>
          </p:nvSpPr>
          <p:spPr>
            <a:xfrm>
              <a:off x="76200" y="95250"/>
              <a:ext cx="660400" cy="6413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77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35" name="Google Shape;335;p24"/>
          <p:cNvSpPr/>
          <p:nvPr/>
        </p:nvSpPr>
        <p:spPr>
          <a:xfrm>
            <a:off x="11188293" y="1183816"/>
            <a:ext cx="374682" cy="348710"/>
          </a:xfrm>
          <a:custGeom>
            <a:rect b="b" l="l" r="r" t="t"/>
            <a:pathLst>
              <a:path extrusionOk="0" h="348710" w="374682">
                <a:moveTo>
                  <a:pt x="0" y="0"/>
                </a:moveTo>
                <a:lnTo>
                  <a:pt x="374682" y="0"/>
                </a:lnTo>
                <a:lnTo>
                  <a:pt x="374682" y="348711"/>
                </a:lnTo>
                <a:lnTo>
                  <a:pt x="0" y="34871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36" name="Google Shape;336;p24"/>
          <p:cNvSpPr/>
          <p:nvPr/>
        </p:nvSpPr>
        <p:spPr>
          <a:xfrm>
            <a:off x="10552024" y="6365403"/>
            <a:ext cx="6596151" cy="2992239"/>
          </a:xfrm>
          <a:custGeom>
            <a:rect b="b" l="l" r="r" t="t"/>
            <a:pathLst>
              <a:path extrusionOk="0" h="2992239" w="6596151">
                <a:moveTo>
                  <a:pt x="0" y="0"/>
                </a:moveTo>
                <a:lnTo>
                  <a:pt x="6596151" y="0"/>
                </a:lnTo>
                <a:lnTo>
                  <a:pt x="6596151" y="2992239"/>
                </a:lnTo>
                <a:lnTo>
                  <a:pt x="0" y="299223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37" name="Google Shape;337;p24"/>
          <p:cNvSpPr txBox="1"/>
          <p:nvPr/>
        </p:nvSpPr>
        <p:spPr>
          <a:xfrm>
            <a:off x="1795032" y="930452"/>
            <a:ext cx="1302079" cy="362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8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7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/>
          </a:p>
        </p:txBody>
      </p:sp>
      <p:sp>
        <p:nvSpPr>
          <p:cNvPr id="338" name="Google Shape;338;p24"/>
          <p:cNvSpPr txBox="1"/>
          <p:nvPr/>
        </p:nvSpPr>
        <p:spPr>
          <a:xfrm>
            <a:off x="1324350" y="1569000"/>
            <a:ext cx="8431500" cy="316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4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66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Esquemas de traducción orientado por la sintaxis</a:t>
            </a:r>
            <a:endParaRPr sz="1000"/>
          </a:p>
        </p:txBody>
      </p:sp>
      <p:sp>
        <p:nvSpPr>
          <p:cNvPr id="339" name="Google Shape;339;p24"/>
          <p:cNvSpPr txBox="1"/>
          <p:nvPr/>
        </p:nvSpPr>
        <p:spPr>
          <a:xfrm>
            <a:off x="2346401" y="6690203"/>
            <a:ext cx="4670100" cy="3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39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4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Acciones </a:t>
            </a:r>
            <a:r>
              <a:rPr b="1" lang="en-US" sz="2254">
                <a:solidFill>
                  <a:srgbClr val="FFFFFF"/>
                </a:solidFill>
              </a:rPr>
              <a:t>semánticas</a:t>
            </a:r>
            <a:endParaRPr/>
          </a:p>
        </p:txBody>
      </p:sp>
      <p:sp>
        <p:nvSpPr>
          <p:cNvPr id="340" name="Google Shape;340;p24"/>
          <p:cNvSpPr txBox="1"/>
          <p:nvPr/>
        </p:nvSpPr>
        <p:spPr>
          <a:xfrm>
            <a:off x="11957450" y="1164766"/>
            <a:ext cx="2129789" cy="4043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39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4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Características </a:t>
            </a:r>
            <a:endParaRPr/>
          </a:p>
        </p:txBody>
      </p:sp>
      <p:sp>
        <p:nvSpPr>
          <p:cNvPr id="341" name="Google Shape;341;p24"/>
          <p:cNvSpPr txBox="1"/>
          <p:nvPr/>
        </p:nvSpPr>
        <p:spPr>
          <a:xfrm>
            <a:off x="2346401" y="7166987"/>
            <a:ext cx="5708731" cy="10286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7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Fragmentos de programa incrustados. Aparecen en cualquier posición dentro del cuerpo de una producción.</a:t>
            </a:r>
            <a:endParaRPr/>
          </a:p>
        </p:txBody>
      </p:sp>
      <p:sp>
        <p:nvSpPr>
          <p:cNvPr id="342" name="Google Shape;342;p24"/>
          <p:cNvSpPr txBox="1"/>
          <p:nvPr/>
        </p:nvSpPr>
        <p:spPr>
          <a:xfrm>
            <a:off x="11188293" y="1961767"/>
            <a:ext cx="5102560" cy="1917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91750" lvl="1" marL="383500" marR="0" rtl="0" algn="l">
              <a:lnSpc>
                <a:spcPct val="13997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76"/>
              <a:buFont typeface="Arial"/>
              <a:buChar char="•"/>
            </a:pPr>
            <a:r>
              <a:rPr b="0" i="0" lang="en-US" sz="177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Toda DDS se puede implementar por esta notación.</a:t>
            </a:r>
            <a:endParaRPr/>
          </a:p>
          <a:p>
            <a:pPr indent="-191750" lvl="1" marL="383500" marR="0" rtl="0" algn="l">
              <a:lnSpc>
                <a:spcPct val="13997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76"/>
              <a:buFont typeface="Arial"/>
              <a:buChar char="•"/>
            </a:pPr>
            <a:r>
              <a:rPr b="0" i="0" lang="en-US" sz="177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Una acción en el cuerpo de una producción se ejecuta tan pronto como los símbolos gramaticales a la izquierda de la acción tengan coincidencias.</a:t>
            </a:r>
            <a:endParaRPr/>
          </a:p>
        </p:txBody>
      </p:sp>
      <p:sp>
        <p:nvSpPr>
          <p:cNvPr id="343" name="Google Shape;343;p24"/>
          <p:cNvSpPr txBox="1"/>
          <p:nvPr/>
        </p:nvSpPr>
        <p:spPr>
          <a:xfrm>
            <a:off x="1416350" y="4627250"/>
            <a:ext cx="6013469" cy="8019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7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Son una notación complementaria para las</a:t>
            </a:r>
            <a:endParaRPr/>
          </a:p>
          <a:p>
            <a:pPr indent="0" lvl="0" marL="0" marR="0" rtl="0" algn="l">
              <a:lnSpc>
                <a:spcPct val="1399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7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definiciones dirigidas a la sintaxis.</a:t>
            </a:r>
            <a:endParaRPr/>
          </a:p>
        </p:txBody>
      </p:sp>
      <p:sp>
        <p:nvSpPr>
          <p:cNvPr id="344" name="Google Shape;344;p24"/>
          <p:cNvSpPr txBox="1"/>
          <p:nvPr/>
        </p:nvSpPr>
        <p:spPr>
          <a:xfrm>
            <a:off x="10688924" y="5221425"/>
            <a:ext cx="3050649" cy="4369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3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54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Ejemplo</a:t>
            </a:r>
            <a:endParaRPr/>
          </a:p>
        </p:txBody>
      </p:sp>
      <p:sp>
        <p:nvSpPr>
          <p:cNvPr id="345" name="Google Shape;345;p24"/>
          <p:cNvSpPr txBox="1"/>
          <p:nvPr/>
        </p:nvSpPr>
        <p:spPr>
          <a:xfrm>
            <a:off x="10688924" y="5617405"/>
            <a:ext cx="5189980" cy="3193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7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DDS anterior pero con acciones semánticas.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519"/>
        </a:solidFill>
      </p:bgPr>
    </p:bg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25"/>
          <p:cNvSpPr/>
          <p:nvPr/>
        </p:nvSpPr>
        <p:spPr>
          <a:xfrm>
            <a:off x="1074577" y="845799"/>
            <a:ext cx="499539" cy="503199"/>
          </a:xfrm>
          <a:custGeom>
            <a:rect b="b" l="l" r="r" t="t"/>
            <a:pathLst>
              <a:path extrusionOk="0" h="503199" w="499539">
                <a:moveTo>
                  <a:pt x="0" y="0"/>
                </a:moveTo>
                <a:lnTo>
                  <a:pt x="499540" y="0"/>
                </a:lnTo>
                <a:lnTo>
                  <a:pt x="499540" y="503199"/>
                </a:lnTo>
                <a:lnTo>
                  <a:pt x="0" y="50319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51" name="Google Shape;351;p25"/>
          <p:cNvGrpSpPr/>
          <p:nvPr/>
        </p:nvGrpSpPr>
        <p:grpSpPr>
          <a:xfrm>
            <a:off x="6010465" y="3968004"/>
            <a:ext cx="11801285" cy="5706593"/>
            <a:chOff x="0" y="0"/>
            <a:chExt cx="3108157" cy="1502971"/>
          </a:xfrm>
        </p:grpSpPr>
        <p:sp>
          <p:nvSpPr>
            <p:cNvPr id="352" name="Google Shape;352;p25"/>
            <p:cNvSpPr/>
            <p:nvPr/>
          </p:nvSpPr>
          <p:spPr>
            <a:xfrm>
              <a:off x="0" y="0"/>
              <a:ext cx="3108157" cy="1502971"/>
            </a:xfrm>
            <a:custGeom>
              <a:rect b="b" l="l" r="r" t="t"/>
              <a:pathLst>
                <a:path extrusionOk="0" h="1502971" w="3108157">
                  <a:moveTo>
                    <a:pt x="24929" y="0"/>
                  </a:moveTo>
                  <a:lnTo>
                    <a:pt x="3083228" y="0"/>
                  </a:lnTo>
                  <a:cubicBezTo>
                    <a:pt x="3089840" y="0"/>
                    <a:pt x="3096181" y="2626"/>
                    <a:pt x="3100856" y="7302"/>
                  </a:cubicBezTo>
                  <a:cubicBezTo>
                    <a:pt x="3105531" y="11977"/>
                    <a:pt x="3108157" y="18317"/>
                    <a:pt x="3108157" y="24929"/>
                  </a:cubicBezTo>
                  <a:lnTo>
                    <a:pt x="3108157" y="1478042"/>
                  </a:lnTo>
                  <a:cubicBezTo>
                    <a:pt x="3108157" y="1484654"/>
                    <a:pt x="3105531" y="1490994"/>
                    <a:pt x="3100856" y="1495669"/>
                  </a:cubicBezTo>
                  <a:cubicBezTo>
                    <a:pt x="3096181" y="1500345"/>
                    <a:pt x="3089840" y="1502971"/>
                    <a:pt x="3083228" y="1502971"/>
                  </a:cubicBezTo>
                  <a:lnTo>
                    <a:pt x="24929" y="1502971"/>
                  </a:lnTo>
                  <a:cubicBezTo>
                    <a:pt x="11161" y="1502971"/>
                    <a:pt x="0" y="1491810"/>
                    <a:pt x="0" y="1478042"/>
                  </a:cubicBezTo>
                  <a:lnTo>
                    <a:pt x="0" y="24929"/>
                  </a:lnTo>
                  <a:cubicBezTo>
                    <a:pt x="0" y="18317"/>
                    <a:pt x="2626" y="11977"/>
                    <a:pt x="7302" y="7302"/>
                  </a:cubicBezTo>
                  <a:cubicBezTo>
                    <a:pt x="11977" y="2626"/>
                    <a:pt x="18317" y="0"/>
                    <a:pt x="24929" y="0"/>
                  </a:cubicBezTo>
                  <a:close/>
                </a:path>
              </a:pathLst>
            </a:custGeom>
            <a:gradFill>
              <a:gsLst>
                <a:gs pos="0">
                  <a:srgbClr val="0C4A5B"/>
                </a:gs>
                <a:gs pos="100000">
                  <a:srgbClr val="27DDDF"/>
                </a:gs>
              </a:gsLst>
              <a:lin ang="27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" name="Google Shape;353;p25"/>
            <p:cNvSpPr txBox="1"/>
            <p:nvPr/>
          </p:nvSpPr>
          <p:spPr>
            <a:xfrm>
              <a:off x="0" y="19050"/>
              <a:ext cx="3108157" cy="148392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77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54" name="Google Shape;354;p25"/>
          <p:cNvGrpSpPr/>
          <p:nvPr/>
        </p:nvGrpSpPr>
        <p:grpSpPr>
          <a:xfrm>
            <a:off x="6432413" y="641230"/>
            <a:ext cx="10932774" cy="2546861"/>
            <a:chOff x="0" y="0"/>
            <a:chExt cx="2879414" cy="670778"/>
          </a:xfrm>
        </p:grpSpPr>
        <p:sp>
          <p:nvSpPr>
            <p:cNvPr id="355" name="Google Shape;355;p25"/>
            <p:cNvSpPr/>
            <p:nvPr/>
          </p:nvSpPr>
          <p:spPr>
            <a:xfrm>
              <a:off x="0" y="0"/>
              <a:ext cx="2879414" cy="670778"/>
            </a:xfrm>
            <a:custGeom>
              <a:rect b="b" l="l" r="r" t="t"/>
              <a:pathLst>
                <a:path extrusionOk="0" h="670778" w="2879414">
                  <a:moveTo>
                    <a:pt x="26909" y="0"/>
                  </a:moveTo>
                  <a:lnTo>
                    <a:pt x="2852504" y="0"/>
                  </a:lnTo>
                  <a:cubicBezTo>
                    <a:pt x="2859641" y="0"/>
                    <a:pt x="2866485" y="2835"/>
                    <a:pt x="2871532" y="7882"/>
                  </a:cubicBezTo>
                  <a:cubicBezTo>
                    <a:pt x="2876578" y="12928"/>
                    <a:pt x="2879414" y="19772"/>
                    <a:pt x="2879414" y="26909"/>
                  </a:cubicBezTo>
                  <a:lnTo>
                    <a:pt x="2879414" y="643869"/>
                  </a:lnTo>
                  <a:cubicBezTo>
                    <a:pt x="2879414" y="658730"/>
                    <a:pt x="2867366" y="670778"/>
                    <a:pt x="2852504" y="670778"/>
                  </a:cubicBezTo>
                  <a:lnTo>
                    <a:pt x="26909" y="670778"/>
                  </a:lnTo>
                  <a:cubicBezTo>
                    <a:pt x="12048" y="670778"/>
                    <a:pt x="0" y="658730"/>
                    <a:pt x="0" y="643869"/>
                  </a:cubicBezTo>
                  <a:lnTo>
                    <a:pt x="0" y="26909"/>
                  </a:lnTo>
                  <a:cubicBezTo>
                    <a:pt x="0" y="12048"/>
                    <a:pt x="12048" y="0"/>
                    <a:pt x="26909" y="0"/>
                  </a:cubicBezTo>
                  <a:close/>
                </a:path>
              </a:pathLst>
            </a:custGeom>
            <a:solidFill>
              <a:srgbClr val="20212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" name="Google Shape;356;p25"/>
            <p:cNvSpPr txBox="1"/>
            <p:nvPr/>
          </p:nvSpPr>
          <p:spPr>
            <a:xfrm>
              <a:off x="0" y="19050"/>
              <a:ext cx="2879414" cy="6517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77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57" name="Google Shape;357;p25"/>
          <p:cNvGrpSpPr/>
          <p:nvPr/>
        </p:nvGrpSpPr>
        <p:grpSpPr>
          <a:xfrm>
            <a:off x="6432413" y="4211314"/>
            <a:ext cx="224656" cy="224656"/>
            <a:chOff x="0" y="0"/>
            <a:chExt cx="812800" cy="812800"/>
          </a:xfrm>
        </p:grpSpPr>
        <p:sp>
          <p:nvSpPr>
            <p:cNvPr id="358" name="Google Shape;358;p25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7DD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" name="Google Shape;359;p25"/>
            <p:cNvSpPr txBox="1"/>
            <p:nvPr/>
          </p:nvSpPr>
          <p:spPr>
            <a:xfrm>
              <a:off x="76200" y="95250"/>
              <a:ext cx="660400" cy="6413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77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60" name="Google Shape;360;p25"/>
          <p:cNvGrpSpPr/>
          <p:nvPr/>
        </p:nvGrpSpPr>
        <p:grpSpPr>
          <a:xfrm>
            <a:off x="6735693" y="864401"/>
            <a:ext cx="517587" cy="517587"/>
            <a:chOff x="0" y="0"/>
            <a:chExt cx="812800" cy="812800"/>
          </a:xfrm>
        </p:grpSpPr>
        <p:sp>
          <p:nvSpPr>
            <p:cNvPr id="361" name="Google Shape;361;p25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7DD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" name="Google Shape;362;p25"/>
            <p:cNvSpPr txBox="1"/>
            <p:nvPr/>
          </p:nvSpPr>
          <p:spPr>
            <a:xfrm>
              <a:off x="76200" y="95250"/>
              <a:ext cx="660400" cy="6413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77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63" name="Google Shape;363;p25"/>
          <p:cNvSpPr/>
          <p:nvPr/>
        </p:nvSpPr>
        <p:spPr>
          <a:xfrm>
            <a:off x="6824978" y="954315"/>
            <a:ext cx="374682" cy="348710"/>
          </a:xfrm>
          <a:custGeom>
            <a:rect b="b" l="l" r="r" t="t"/>
            <a:pathLst>
              <a:path extrusionOk="0" h="348710" w="374682">
                <a:moveTo>
                  <a:pt x="0" y="0"/>
                </a:moveTo>
                <a:lnTo>
                  <a:pt x="374682" y="0"/>
                </a:lnTo>
                <a:lnTo>
                  <a:pt x="374682" y="348710"/>
                </a:lnTo>
                <a:lnTo>
                  <a:pt x="0" y="3487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64" name="Google Shape;364;p25"/>
          <p:cNvSpPr/>
          <p:nvPr/>
        </p:nvSpPr>
        <p:spPr>
          <a:xfrm>
            <a:off x="6316977" y="4849999"/>
            <a:ext cx="11301259" cy="4577010"/>
          </a:xfrm>
          <a:custGeom>
            <a:rect b="b" l="l" r="r" t="t"/>
            <a:pathLst>
              <a:path extrusionOk="0" h="4577010" w="11301259">
                <a:moveTo>
                  <a:pt x="0" y="0"/>
                </a:moveTo>
                <a:lnTo>
                  <a:pt x="11301259" y="0"/>
                </a:lnTo>
                <a:lnTo>
                  <a:pt x="11301259" y="4577010"/>
                </a:lnTo>
                <a:lnTo>
                  <a:pt x="0" y="45770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65" name="Google Shape;365;p25"/>
          <p:cNvSpPr txBox="1"/>
          <p:nvPr/>
        </p:nvSpPr>
        <p:spPr>
          <a:xfrm>
            <a:off x="1795032" y="930452"/>
            <a:ext cx="1302079" cy="362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8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7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/>
          </a:p>
        </p:txBody>
      </p:sp>
      <p:sp>
        <p:nvSpPr>
          <p:cNvPr id="366" name="Google Shape;366;p25"/>
          <p:cNvSpPr txBox="1"/>
          <p:nvPr/>
        </p:nvSpPr>
        <p:spPr>
          <a:xfrm>
            <a:off x="1028700" y="2209634"/>
            <a:ext cx="4488283" cy="47917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4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6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DDS contra esquemas de traducción</a:t>
            </a:r>
            <a:endParaRPr/>
          </a:p>
        </p:txBody>
      </p:sp>
      <p:sp>
        <p:nvSpPr>
          <p:cNvPr id="367" name="Google Shape;367;p25"/>
          <p:cNvSpPr txBox="1"/>
          <p:nvPr/>
        </p:nvSpPr>
        <p:spPr>
          <a:xfrm>
            <a:off x="7472355" y="935265"/>
            <a:ext cx="3225164" cy="4043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39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4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Referencia del libro</a:t>
            </a:r>
            <a:endParaRPr/>
          </a:p>
        </p:txBody>
      </p:sp>
      <p:sp>
        <p:nvSpPr>
          <p:cNvPr id="368" name="Google Shape;368;p25"/>
          <p:cNvSpPr txBox="1"/>
          <p:nvPr/>
        </p:nvSpPr>
        <p:spPr>
          <a:xfrm>
            <a:off x="6905555" y="4095634"/>
            <a:ext cx="3050649" cy="4369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3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54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Tabla comparativa</a:t>
            </a:r>
            <a:endParaRPr/>
          </a:p>
        </p:txBody>
      </p:sp>
      <p:sp>
        <p:nvSpPr>
          <p:cNvPr id="369" name="Google Shape;369;p25"/>
          <p:cNvSpPr txBox="1"/>
          <p:nvPr/>
        </p:nvSpPr>
        <p:spPr>
          <a:xfrm>
            <a:off x="6824978" y="1501308"/>
            <a:ext cx="10441715" cy="13976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7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Las gramáticas atribuidas no tienen efectos adicionales y permiten cualquier orden de evaluación consistente con el grafo de dependencias. Los esquemas de traducción imponen la evaluación de izquierda a derecha y permiten que las acciones semánticas contengan cualquier fragmento del programa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519"/>
        </a:solidFill>
      </p:bgPr>
    </p:bg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26"/>
          <p:cNvSpPr/>
          <p:nvPr/>
        </p:nvSpPr>
        <p:spPr>
          <a:xfrm>
            <a:off x="1074577" y="845799"/>
            <a:ext cx="499539" cy="503199"/>
          </a:xfrm>
          <a:custGeom>
            <a:rect b="b" l="l" r="r" t="t"/>
            <a:pathLst>
              <a:path extrusionOk="0" h="503199" w="499539">
                <a:moveTo>
                  <a:pt x="0" y="0"/>
                </a:moveTo>
                <a:lnTo>
                  <a:pt x="499540" y="0"/>
                </a:lnTo>
                <a:lnTo>
                  <a:pt x="499540" y="503199"/>
                </a:lnTo>
                <a:lnTo>
                  <a:pt x="0" y="50319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75" name="Google Shape;375;p26"/>
          <p:cNvGrpSpPr/>
          <p:nvPr/>
        </p:nvGrpSpPr>
        <p:grpSpPr>
          <a:xfrm>
            <a:off x="2251575" y="2236125"/>
            <a:ext cx="13584492" cy="5331406"/>
            <a:chOff x="0" y="0"/>
            <a:chExt cx="3262601" cy="1404147"/>
          </a:xfrm>
        </p:grpSpPr>
        <p:sp>
          <p:nvSpPr>
            <p:cNvPr id="376" name="Google Shape;376;p26"/>
            <p:cNvSpPr/>
            <p:nvPr/>
          </p:nvSpPr>
          <p:spPr>
            <a:xfrm>
              <a:off x="0" y="0"/>
              <a:ext cx="3262601" cy="1404147"/>
            </a:xfrm>
            <a:custGeom>
              <a:rect b="b" l="l" r="r" t="t"/>
              <a:pathLst>
                <a:path extrusionOk="0" h="1404147" w="3262601">
                  <a:moveTo>
                    <a:pt x="31873" y="0"/>
                  </a:moveTo>
                  <a:lnTo>
                    <a:pt x="3230727" y="0"/>
                  </a:lnTo>
                  <a:cubicBezTo>
                    <a:pt x="3239181" y="0"/>
                    <a:pt x="3247288" y="3358"/>
                    <a:pt x="3253265" y="9336"/>
                  </a:cubicBezTo>
                  <a:cubicBezTo>
                    <a:pt x="3259243" y="15313"/>
                    <a:pt x="3262601" y="23420"/>
                    <a:pt x="3262601" y="31873"/>
                  </a:cubicBezTo>
                  <a:lnTo>
                    <a:pt x="3262601" y="1372273"/>
                  </a:lnTo>
                  <a:cubicBezTo>
                    <a:pt x="3262601" y="1389877"/>
                    <a:pt x="3248331" y="1404147"/>
                    <a:pt x="3230727" y="1404147"/>
                  </a:cubicBezTo>
                  <a:lnTo>
                    <a:pt x="31873" y="1404147"/>
                  </a:lnTo>
                  <a:cubicBezTo>
                    <a:pt x="23420" y="1404147"/>
                    <a:pt x="15313" y="1400789"/>
                    <a:pt x="9336" y="1394811"/>
                  </a:cubicBezTo>
                  <a:cubicBezTo>
                    <a:pt x="3358" y="1388834"/>
                    <a:pt x="0" y="1380727"/>
                    <a:pt x="0" y="1372273"/>
                  </a:cubicBezTo>
                  <a:lnTo>
                    <a:pt x="0" y="31873"/>
                  </a:lnTo>
                  <a:cubicBezTo>
                    <a:pt x="0" y="23420"/>
                    <a:pt x="3358" y="15313"/>
                    <a:pt x="9336" y="9336"/>
                  </a:cubicBezTo>
                  <a:cubicBezTo>
                    <a:pt x="15313" y="3358"/>
                    <a:pt x="23420" y="0"/>
                    <a:pt x="31873" y="0"/>
                  </a:cubicBezTo>
                  <a:close/>
                </a:path>
              </a:pathLst>
            </a:custGeom>
            <a:solidFill>
              <a:srgbClr val="20212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" name="Google Shape;377;p26"/>
            <p:cNvSpPr txBox="1"/>
            <p:nvPr/>
          </p:nvSpPr>
          <p:spPr>
            <a:xfrm>
              <a:off x="0" y="19050"/>
              <a:ext cx="3262601" cy="13850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77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78" name="Google Shape;378;p26"/>
          <p:cNvGrpSpPr/>
          <p:nvPr/>
        </p:nvGrpSpPr>
        <p:grpSpPr>
          <a:xfrm rot="-4011154">
            <a:off x="13539775" y="1196864"/>
            <a:ext cx="17403374" cy="18180272"/>
            <a:chOff x="0" y="0"/>
            <a:chExt cx="4583605" cy="4788220"/>
          </a:xfrm>
        </p:grpSpPr>
        <p:sp>
          <p:nvSpPr>
            <p:cNvPr id="379" name="Google Shape;379;p26"/>
            <p:cNvSpPr/>
            <p:nvPr/>
          </p:nvSpPr>
          <p:spPr>
            <a:xfrm>
              <a:off x="0" y="0"/>
              <a:ext cx="4583605" cy="4788220"/>
            </a:xfrm>
            <a:custGeom>
              <a:rect b="b" l="l" r="r" t="t"/>
              <a:pathLst>
                <a:path extrusionOk="0" h="4788220" w="4583605">
                  <a:moveTo>
                    <a:pt x="0" y="0"/>
                  </a:moveTo>
                  <a:lnTo>
                    <a:pt x="4583605" y="0"/>
                  </a:lnTo>
                  <a:lnTo>
                    <a:pt x="4583605" y="4788220"/>
                  </a:lnTo>
                  <a:lnTo>
                    <a:pt x="0" y="4788220"/>
                  </a:lnTo>
                  <a:close/>
                </a:path>
              </a:pathLst>
            </a:custGeom>
            <a:gradFill>
              <a:gsLst>
                <a:gs pos="0">
                  <a:srgbClr val="27DDDF">
                    <a:alpha val="0"/>
                  </a:srgbClr>
                </a:gs>
                <a:gs pos="100000">
                  <a:srgbClr val="27DDDF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380" name="Google Shape;380;p26"/>
            <p:cNvSpPr txBox="1"/>
            <p:nvPr/>
          </p:nvSpPr>
          <p:spPr>
            <a:xfrm>
              <a:off x="0" y="19050"/>
              <a:ext cx="4583605" cy="476917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77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81" name="Google Shape;381;p26"/>
          <p:cNvSpPr txBox="1"/>
          <p:nvPr/>
        </p:nvSpPr>
        <p:spPr>
          <a:xfrm>
            <a:off x="5305449" y="4463975"/>
            <a:ext cx="7360800" cy="87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39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690">
                <a:solidFill>
                  <a:srgbClr val="FFFFFF"/>
                </a:solidFill>
              </a:rPr>
              <a:t>Lectura del Proyecto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519"/>
        </a:solidFill>
      </p:bgPr>
    </p:bg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27"/>
          <p:cNvSpPr/>
          <p:nvPr/>
        </p:nvSpPr>
        <p:spPr>
          <a:xfrm>
            <a:off x="1074577" y="845799"/>
            <a:ext cx="499539" cy="503199"/>
          </a:xfrm>
          <a:custGeom>
            <a:rect b="b" l="l" r="r" t="t"/>
            <a:pathLst>
              <a:path extrusionOk="0" h="503199" w="499539">
                <a:moveTo>
                  <a:pt x="0" y="0"/>
                </a:moveTo>
                <a:lnTo>
                  <a:pt x="499540" y="0"/>
                </a:lnTo>
                <a:lnTo>
                  <a:pt x="499540" y="503199"/>
                </a:lnTo>
                <a:lnTo>
                  <a:pt x="0" y="50319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87" name="Google Shape;387;p27"/>
          <p:cNvGrpSpPr/>
          <p:nvPr/>
        </p:nvGrpSpPr>
        <p:grpSpPr>
          <a:xfrm>
            <a:off x="2251580" y="2236121"/>
            <a:ext cx="12387770" cy="5331417"/>
            <a:chOff x="0" y="0"/>
            <a:chExt cx="3262601" cy="1404150"/>
          </a:xfrm>
        </p:grpSpPr>
        <p:sp>
          <p:nvSpPr>
            <p:cNvPr id="388" name="Google Shape;388;p27"/>
            <p:cNvSpPr/>
            <p:nvPr/>
          </p:nvSpPr>
          <p:spPr>
            <a:xfrm>
              <a:off x="0" y="0"/>
              <a:ext cx="3262601" cy="1404147"/>
            </a:xfrm>
            <a:custGeom>
              <a:rect b="b" l="l" r="r" t="t"/>
              <a:pathLst>
                <a:path extrusionOk="0" h="1404147" w="3262601">
                  <a:moveTo>
                    <a:pt x="31873" y="0"/>
                  </a:moveTo>
                  <a:lnTo>
                    <a:pt x="3230727" y="0"/>
                  </a:lnTo>
                  <a:cubicBezTo>
                    <a:pt x="3239181" y="0"/>
                    <a:pt x="3247288" y="3358"/>
                    <a:pt x="3253265" y="9336"/>
                  </a:cubicBezTo>
                  <a:cubicBezTo>
                    <a:pt x="3259243" y="15313"/>
                    <a:pt x="3262601" y="23420"/>
                    <a:pt x="3262601" y="31873"/>
                  </a:cubicBezTo>
                  <a:lnTo>
                    <a:pt x="3262601" y="1372273"/>
                  </a:lnTo>
                  <a:cubicBezTo>
                    <a:pt x="3262601" y="1389877"/>
                    <a:pt x="3248331" y="1404147"/>
                    <a:pt x="3230727" y="1404147"/>
                  </a:cubicBezTo>
                  <a:lnTo>
                    <a:pt x="31873" y="1404147"/>
                  </a:lnTo>
                  <a:cubicBezTo>
                    <a:pt x="23420" y="1404147"/>
                    <a:pt x="15313" y="1400789"/>
                    <a:pt x="9336" y="1394811"/>
                  </a:cubicBezTo>
                  <a:cubicBezTo>
                    <a:pt x="3358" y="1388834"/>
                    <a:pt x="0" y="1380727"/>
                    <a:pt x="0" y="1372273"/>
                  </a:cubicBezTo>
                  <a:lnTo>
                    <a:pt x="0" y="31873"/>
                  </a:lnTo>
                  <a:cubicBezTo>
                    <a:pt x="0" y="23420"/>
                    <a:pt x="3358" y="15313"/>
                    <a:pt x="9336" y="9336"/>
                  </a:cubicBezTo>
                  <a:cubicBezTo>
                    <a:pt x="15313" y="3358"/>
                    <a:pt x="23420" y="0"/>
                    <a:pt x="31873" y="0"/>
                  </a:cubicBezTo>
                  <a:close/>
                </a:path>
              </a:pathLst>
            </a:custGeom>
            <a:solidFill>
              <a:srgbClr val="20212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" name="Google Shape;389;p27"/>
            <p:cNvSpPr txBox="1"/>
            <p:nvPr/>
          </p:nvSpPr>
          <p:spPr>
            <a:xfrm>
              <a:off x="0" y="19050"/>
              <a:ext cx="3262500" cy="138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77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90" name="Google Shape;390;p27"/>
          <p:cNvGrpSpPr/>
          <p:nvPr/>
        </p:nvGrpSpPr>
        <p:grpSpPr>
          <a:xfrm rot="-4011188">
            <a:off x="13539598" y="1196688"/>
            <a:ext cx="17403599" cy="18180130"/>
            <a:chOff x="0" y="0"/>
            <a:chExt cx="4583700" cy="4788220"/>
          </a:xfrm>
        </p:grpSpPr>
        <p:sp>
          <p:nvSpPr>
            <p:cNvPr id="391" name="Google Shape;391;p27"/>
            <p:cNvSpPr/>
            <p:nvPr/>
          </p:nvSpPr>
          <p:spPr>
            <a:xfrm>
              <a:off x="0" y="0"/>
              <a:ext cx="4583605" cy="4788220"/>
            </a:xfrm>
            <a:custGeom>
              <a:rect b="b" l="l" r="r" t="t"/>
              <a:pathLst>
                <a:path extrusionOk="0" h="4788220" w="4583605">
                  <a:moveTo>
                    <a:pt x="0" y="0"/>
                  </a:moveTo>
                  <a:lnTo>
                    <a:pt x="4583605" y="0"/>
                  </a:lnTo>
                  <a:lnTo>
                    <a:pt x="4583605" y="4788220"/>
                  </a:lnTo>
                  <a:lnTo>
                    <a:pt x="0" y="4788220"/>
                  </a:lnTo>
                  <a:close/>
                </a:path>
              </a:pathLst>
            </a:custGeom>
            <a:gradFill>
              <a:gsLst>
                <a:gs pos="0">
                  <a:srgbClr val="27DDDF">
                    <a:alpha val="0"/>
                  </a:srgbClr>
                </a:gs>
                <a:gs pos="100000">
                  <a:srgbClr val="27DDDF"/>
                </a:gs>
              </a:gsLst>
              <a:lin ang="5400012" scaled="0"/>
            </a:gradFill>
            <a:ln>
              <a:noFill/>
            </a:ln>
          </p:spPr>
        </p:sp>
        <p:sp>
          <p:nvSpPr>
            <p:cNvPr id="392" name="Google Shape;392;p27"/>
            <p:cNvSpPr txBox="1"/>
            <p:nvPr/>
          </p:nvSpPr>
          <p:spPr>
            <a:xfrm>
              <a:off x="0" y="19050"/>
              <a:ext cx="4583700" cy="476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77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93" name="Google Shape;393;p27"/>
          <p:cNvSpPr txBox="1"/>
          <p:nvPr/>
        </p:nvSpPr>
        <p:spPr>
          <a:xfrm>
            <a:off x="1795032" y="930452"/>
            <a:ext cx="13020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8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7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08</a:t>
            </a:r>
            <a:endParaRPr/>
          </a:p>
        </p:txBody>
      </p:sp>
      <p:sp>
        <p:nvSpPr>
          <p:cNvPr id="394" name="Google Shape;394;p27"/>
          <p:cNvSpPr txBox="1"/>
          <p:nvPr/>
        </p:nvSpPr>
        <p:spPr>
          <a:xfrm>
            <a:off x="5664499" y="3183875"/>
            <a:ext cx="7360800" cy="87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39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69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Ejemplo práctico</a:t>
            </a:r>
            <a:endParaRPr/>
          </a:p>
        </p:txBody>
      </p:sp>
      <p:sp>
        <p:nvSpPr>
          <p:cNvPr id="395" name="Google Shape;395;p27"/>
          <p:cNvSpPr txBox="1"/>
          <p:nvPr/>
        </p:nvSpPr>
        <p:spPr>
          <a:xfrm>
            <a:off x="5755138" y="4514695"/>
            <a:ext cx="5817300" cy="66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7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*. Creación de una calculadora básica.</a:t>
            </a:r>
            <a:endParaRPr/>
          </a:p>
          <a:p>
            <a:pPr indent="0" lvl="0" marL="0" marR="0" rtl="0" algn="l">
              <a:lnSpc>
                <a:spcPct val="159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7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*. Construcción de un árbol de análisis sintáctico.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519"/>
        </a:solidFill>
      </p:bgPr>
    </p:bg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28"/>
          <p:cNvSpPr/>
          <p:nvPr/>
        </p:nvSpPr>
        <p:spPr>
          <a:xfrm>
            <a:off x="1074577" y="845799"/>
            <a:ext cx="499539" cy="503199"/>
          </a:xfrm>
          <a:custGeom>
            <a:rect b="b" l="l" r="r" t="t"/>
            <a:pathLst>
              <a:path extrusionOk="0" h="503199" w="499539">
                <a:moveTo>
                  <a:pt x="0" y="0"/>
                </a:moveTo>
                <a:lnTo>
                  <a:pt x="499540" y="0"/>
                </a:lnTo>
                <a:lnTo>
                  <a:pt x="499540" y="503199"/>
                </a:lnTo>
                <a:lnTo>
                  <a:pt x="0" y="50319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401" name="Google Shape;401;p28"/>
          <p:cNvGrpSpPr/>
          <p:nvPr/>
        </p:nvGrpSpPr>
        <p:grpSpPr>
          <a:xfrm>
            <a:off x="2054482" y="2262850"/>
            <a:ext cx="13884881" cy="1811493"/>
            <a:chOff x="0" y="0"/>
            <a:chExt cx="3656923" cy="477101"/>
          </a:xfrm>
        </p:grpSpPr>
        <p:sp>
          <p:nvSpPr>
            <p:cNvPr id="402" name="Google Shape;402;p28"/>
            <p:cNvSpPr/>
            <p:nvPr/>
          </p:nvSpPr>
          <p:spPr>
            <a:xfrm>
              <a:off x="0" y="0"/>
              <a:ext cx="3656923" cy="477101"/>
            </a:xfrm>
            <a:custGeom>
              <a:rect b="b" l="l" r="r" t="t"/>
              <a:pathLst>
                <a:path extrusionOk="0" h="477101" w="3656923">
                  <a:moveTo>
                    <a:pt x="19515" y="0"/>
                  </a:moveTo>
                  <a:lnTo>
                    <a:pt x="3637408" y="0"/>
                  </a:lnTo>
                  <a:cubicBezTo>
                    <a:pt x="3642584" y="0"/>
                    <a:pt x="3647548" y="2056"/>
                    <a:pt x="3651207" y="5716"/>
                  </a:cubicBezTo>
                  <a:cubicBezTo>
                    <a:pt x="3654867" y="9376"/>
                    <a:pt x="3656923" y="14339"/>
                    <a:pt x="3656923" y="19515"/>
                  </a:cubicBezTo>
                  <a:lnTo>
                    <a:pt x="3656923" y="457586"/>
                  </a:lnTo>
                  <a:cubicBezTo>
                    <a:pt x="3656923" y="462761"/>
                    <a:pt x="3654867" y="467725"/>
                    <a:pt x="3651207" y="471385"/>
                  </a:cubicBezTo>
                  <a:cubicBezTo>
                    <a:pt x="3647548" y="475045"/>
                    <a:pt x="3642584" y="477101"/>
                    <a:pt x="3637408" y="477101"/>
                  </a:cubicBezTo>
                  <a:lnTo>
                    <a:pt x="19515" y="477101"/>
                  </a:lnTo>
                  <a:cubicBezTo>
                    <a:pt x="14339" y="477101"/>
                    <a:pt x="9376" y="475045"/>
                    <a:pt x="5716" y="471385"/>
                  </a:cubicBezTo>
                  <a:cubicBezTo>
                    <a:pt x="2056" y="467725"/>
                    <a:pt x="0" y="462761"/>
                    <a:pt x="0" y="457586"/>
                  </a:cubicBezTo>
                  <a:lnTo>
                    <a:pt x="0" y="19515"/>
                  </a:lnTo>
                  <a:cubicBezTo>
                    <a:pt x="0" y="14339"/>
                    <a:pt x="2056" y="9376"/>
                    <a:pt x="5716" y="5716"/>
                  </a:cubicBezTo>
                  <a:cubicBezTo>
                    <a:pt x="9376" y="2056"/>
                    <a:pt x="14339" y="0"/>
                    <a:pt x="19515" y="0"/>
                  </a:cubicBezTo>
                  <a:close/>
                </a:path>
              </a:pathLst>
            </a:custGeom>
            <a:gradFill>
              <a:gsLst>
                <a:gs pos="0">
                  <a:srgbClr val="0C4A5B"/>
                </a:gs>
                <a:gs pos="100000">
                  <a:srgbClr val="27DDDF"/>
                </a:gs>
              </a:gsLst>
              <a:lin ang="27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" name="Google Shape;403;p28"/>
            <p:cNvSpPr txBox="1"/>
            <p:nvPr/>
          </p:nvSpPr>
          <p:spPr>
            <a:xfrm>
              <a:off x="0" y="19050"/>
              <a:ext cx="3656923" cy="45805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77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04" name="Google Shape;404;p28"/>
          <p:cNvSpPr txBox="1"/>
          <p:nvPr/>
        </p:nvSpPr>
        <p:spPr>
          <a:xfrm>
            <a:off x="1795032" y="930452"/>
            <a:ext cx="1302079" cy="362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8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7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09</a:t>
            </a:r>
            <a:endParaRPr/>
          </a:p>
        </p:txBody>
      </p:sp>
      <p:sp>
        <p:nvSpPr>
          <p:cNvPr id="405" name="Google Shape;405;p28"/>
          <p:cNvSpPr txBox="1"/>
          <p:nvPr/>
        </p:nvSpPr>
        <p:spPr>
          <a:xfrm>
            <a:off x="2583650" y="2401421"/>
            <a:ext cx="12183600" cy="8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4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496">
                <a:solidFill>
                  <a:srgbClr val="FFFFFF"/>
                </a:solidFill>
              </a:rPr>
              <a:t>Tarea 1 </a:t>
            </a:r>
            <a:endParaRPr/>
          </a:p>
        </p:txBody>
      </p:sp>
      <p:grpSp>
        <p:nvGrpSpPr>
          <p:cNvPr id="406" name="Google Shape;406;p28"/>
          <p:cNvGrpSpPr/>
          <p:nvPr/>
        </p:nvGrpSpPr>
        <p:grpSpPr>
          <a:xfrm>
            <a:off x="2054444" y="5498250"/>
            <a:ext cx="13884801" cy="3296241"/>
            <a:chOff x="0" y="0"/>
            <a:chExt cx="2480669" cy="868140"/>
          </a:xfrm>
        </p:grpSpPr>
        <p:sp>
          <p:nvSpPr>
            <p:cNvPr id="407" name="Google Shape;407;p28"/>
            <p:cNvSpPr/>
            <p:nvPr/>
          </p:nvSpPr>
          <p:spPr>
            <a:xfrm>
              <a:off x="0" y="0"/>
              <a:ext cx="2480669" cy="868140"/>
            </a:xfrm>
            <a:custGeom>
              <a:rect b="b" l="l" r="r" t="t"/>
              <a:pathLst>
                <a:path extrusionOk="0" h="868140" w="2480669">
                  <a:moveTo>
                    <a:pt x="28769" y="0"/>
                  </a:moveTo>
                  <a:lnTo>
                    <a:pt x="2451900" y="0"/>
                  </a:lnTo>
                  <a:cubicBezTo>
                    <a:pt x="2459530" y="0"/>
                    <a:pt x="2466847" y="3031"/>
                    <a:pt x="2472243" y="8426"/>
                  </a:cubicBezTo>
                  <a:cubicBezTo>
                    <a:pt x="2477638" y="13821"/>
                    <a:pt x="2480669" y="21139"/>
                    <a:pt x="2480669" y="28769"/>
                  </a:cubicBezTo>
                  <a:lnTo>
                    <a:pt x="2480669" y="839371"/>
                  </a:lnTo>
                  <a:cubicBezTo>
                    <a:pt x="2480669" y="847001"/>
                    <a:pt x="2477638" y="854319"/>
                    <a:pt x="2472243" y="859714"/>
                  </a:cubicBezTo>
                  <a:cubicBezTo>
                    <a:pt x="2466847" y="865109"/>
                    <a:pt x="2459530" y="868140"/>
                    <a:pt x="2451900" y="868140"/>
                  </a:cubicBezTo>
                  <a:lnTo>
                    <a:pt x="28769" y="868140"/>
                  </a:lnTo>
                  <a:cubicBezTo>
                    <a:pt x="21139" y="868140"/>
                    <a:pt x="13821" y="865109"/>
                    <a:pt x="8426" y="859714"/>
                  </a:cubicBezTo>
                  <a:cubicBezTo>
                    <a:pt x="3031" y="854319"/>
                    <a:pt x="0" y="847001"/>
                    <a:pt x="0" y="839371"/>
                  </a:cubicBezTo>
                  <a:lnTo>
                    <a:pt x="0" y="28769"/>
                  </a:lnTo>
                  <a:cubicBezTo>
                    <a:pt x="0" y="21139"/>
                    <a:pt x="3031" y="13821"/>
                    <a:pt x="8426" y="8426"/>
                  </a:cubicBezTo>
                  <a:cubicBezTo>
                    <a:pt x="13821" y="3031"/>
                    <a:pt x="21139" y="0"/>
                    <a:pt x="28769" y="0"/>
                  </a:cubicBezTo>
                  <a:close/>
                </a:path>
              </a:pathLst>
            </a:custGeom>
            <a:solidFill>
              <a:srgbClr val="20212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" name="Google Shape;408;p28"/>
            <p:cNvSpPr txBox="1"/>
            <p:nvPr/>
          </p:nvSpPr>
          <p:spPr>
            <a:xfrm>
              <a:off x="0" y="19050"/>
              <a:ext cx="2480669" cy="8490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77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09" name="Google Shape;409;p28"/>
          <p:cNvSpPr txBox="1"/>
          <p:nvPr/>
        </p:nvSpPr>
        <p:spPr>
          <a:xfrm>
            <a:off x="2854275" y="6577875"/>
            <a:ext cx="12069300" cy="131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Creación</a:t>
            </a:r>
            <a:r>
              <a:rPr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de una </a:t>
            </a:r>
            <a:r>
              <a:rPr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página</a:t>
            </a:r>
            <a:r>
              <a:rPr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web que reconozca la </a:t>
            </a:r>
            <a:r>
              <a:rPr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gramática</a:t>
            </a:r>
            <a:r>
              <a:rPr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de una calculadora y retorne el resultado.</a:t>
            </a:r>
            <a:endParaRPr sz="3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519"/>
        </a:solidFill>
      </p:bgPr>
    </p:bg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29"/>
          <p:cNvSpPr/>
          <p:nvPr/>
        </p:nvSpPr>
        <p:spPr>
          <a:xfrm>
            <a:off x="1074577" y="845799"/>
            <a:ext cx="499539" cy="503199"/>
          </a:xfrm>
          <a:custGeom>
            <a:rect b="b" l="l" r="r" t="t"/>
            <a:pathLst>
              <a:path extrusionOk="0" h="503199" w="499539">
                <a:moveTo>
                  <a:pt x="0" y="0"/>
                </a:moveTo>
                <a:lnTo>
                  <a:pt x="499540" y="0"/>
                </a:lnTo>
                <a:lnTo>
                  <a:pt x="499540" y="503199"/>
                </a:lnTo>
                <a:lnTo>
                  <a:pt x="0" y="50319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415" name="Google Shape;415;p29"/>
          <p:cNvGrpSpPr/>
          <p:nvPr/>
        </p:nvGrpSpPr>
        <p:grpSpPr>
          <a:xfrm rot="374770">
            <a:off x="-1666180" y="6478089"/>
            <a:ext cx="20251759" cy="18180272"/>
            <a:chOff x="0" y="0"/>
            <a:chExt cx="5333797" cy="4788220"/>
          </a:xfrm>
        </p:grpSpPr>
        <p:sp>
          <p:nvSpPr>
            <p:cNvPr id="416" name="Google Shape;416;p29"/>
            <p:cNvSpPr/>
            <p:nvPr/>
          </p:nvSpPr>
          <p:spPr>
            <a:xfrm>
              <a:off x="0" y="0"/>
              <a:ext cx="5333797" cy="4788220"/>
            </a:xfrm>
            <a:custGeom>
              <a:rect b="b" l="l" r="r" t="t"/>
              <a:pathLst>
                <a:path extrusionOk="0" h="4788220" w="5333797">
                  <a:moveTo>
                    <a:pt x="0" y="0"/>
                  </a:moveTo>
                  <a:lnTo>
                    <a:pt x="5333797" y="0"/>
                  </a:lnTo>
                  <a:lnTo>
                    <a:pt x="5333797" y="4788220"/>
                  </a:lnTo>
                  <a:lnTo>
                    <a:pt x="0" y="4788220"/>
                  </a:lnTo>
                  <a:close/>
                </a:path>
              </a:pathLst>
            </a:custGeom>
            <a:gradFill>
              <a:gsLst>
                <a:gs pos="0">
                  <a:srgbClr val="27DDDF">
                    <a:alpha val="0"/>
                  </a:srgbClr>
                </a:gs>
                <a:gs pos="100000">
                  <a:srgbClr val="27DDDF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417" name="Google Shape;417;p29"/>
            <p:cNvSpPr txBox="1"/>
            <p:nvPr/>
          </p:nvSpPr>
          <p:spPr>
            <a:xfrm>
              <a:off x="0" y="19050"/>
              <a:ext cx="5333797" cy="476917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77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18" name="Google Shape;418;p29"/>
          <p:cNvGrpSpPr/>
          <p:nvPr/>
        </p:nvGrpSpPr>
        <p:grpSpPr>
          <a:xfrm>
            <a:off x="2266343" y="8553082"/>
            <a:ext cx="13735267" cy="705218"/>
            <a:chOff x="0" y="0"/>
            <a:chExt cx="3583040" cy="183966"/>
          </a:xfrm>
        </p:grpSpPr>
        <p:sp>
          <p:nvSpPr>
            <p:cNvPr id="419" name="Google Shape;419;p29"/>
            <p:cNvSpPr/>
            <p:nvPr/>
          </p:nvSpPr>
          <p:spPr>
            <a:xfrm>
              <a:off x="0" y="0"/>
              <a:ext cx="3583039" cy="183966"/>
            </a:xfrm>
            <a:custGeom>
              <a:rect b="b" l="l" r="r" t="t"/>
              <a:pathLst>
                <a:path extrusionOk="0" h="183966" w="3583039">
                  <a:moveTo>
                    <a:pt x="11837" y="0"/>
                  </a:moveTo>
                  <a:lnTo>
                    <a:pt x="3571203" y="0"/>
                  </a:lnTo>
                  <a:cubicBezTo>
                    <a:pt x="3574342" y="0"/>
                    <a:pt x="3577353" y="1247"/>
                    <a:pt x="3579573" y="3467"/>
                  </a:cubicBezTo>
                  <a:cubicBezTo>
                    <a:pt x="3581792" y="5687"/>
                    <a:pt x="3583039" y="8697"/>
                    <a:pt x="3583039" y="11837"/>
                  </a:cubicBezTo>
                  <a:lnTo>
                    <a:pt x="3583039" y="172129"/>
                  </a:lnTo>
                  <a:cubicBezTo>
                    <a:pt x="3583039" y="175269"/>
                    <a:pt x="3581792" y="178279"/>
                    <a:pt x="3579573" y="180499"/>
                  </a:cubicBezTo>
                  <a:cubicBezTo>
                    <a:pt x="3577353" y="182719"/>
                    <a:pt x="3574342" y="183966"/>
                    <a:pt x="3571203" y="183966"/>
                  </a:cubicBezTo>
                  <a:lnTo>
                    <a:pt x="11837" y="183966"/>
                  </a:lnTo>
                  <a:cubicBezTo>
                    <a:pt x="8697" y="183966"/>
                    <a:pt x="5687" y="182719"/>
                    <a:pt x="3467" y="180499"/>
                  </a:cubicBezTo>
                  <a:cubicBezTo>
                    <a:pt x="1247" y="178279"/>
                    <a:pt x="0" y="175269"/>
                    <a:pt x="0" y="172129"/>
                  </a:cubicBezTo>
                  <a:lnTo>
                    <a:pt x="0" y="11837"/>
                  </a:lnTo>
                  <a:cubicBezTo>
                    <a:pt x="0" y="8697"/>
                    <a:pt x="1247" y="5687"/>
                    <a:pt x="3467" y="3467"/>
                  </a:cubicBezTo>
                  <a:cubicBezTo>
                    <a:pt x="5687" y="1247"/>
                    <a:pt x="8697" y="0"/>
                    <a:pt x="11837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rnd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" name="Google Shape;420;p29"/>
            <p:cNvSpPr txBox="1"/>
            <p:nvPr/>
          </p:nvSpPr>
          <p:spPr>
            <a:xfrm>
              <a:off x="0" y="19050"/>
              <a:ext cx="3583040" cy="16491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77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21" name="Google Shape;421;p29"/>
          <p:cNvSpPr txBox="1"/>
          <p:nvPr/>
        </p:nvSpPr>
        <p:spPr>
          <a:xfrm>
            <a:off x="1795032" y="930452"/>
            <a:ext cx="1302079" cy="362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8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7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/>
          </a:p>
        </p:txBody>
      </p:sp>
      <p:sp>
        <p:nvSpPr>
          <p:cNvPr id="422" name="Google Shape;422;p29"/>
          <p:cNvSpPr txBox="1"/>
          <p:nvPr/>
        </p:nvSpPr>
        <p:spPr>
          <a:xfrm>
            <a:off x="2080871" y="2411882"/>
            <a:ext cx="14126257" cy="35968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39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48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¡Gracias por su atención!</a:t>
            </a:r>
            <a:endParaRPr/>
          </a:p>
        </p:txBody>
      </p:sp>
      <p:sp>
        <p:nvSpPr>
          <p:cNvPr id="423" name="Google Shape;423;p29"/>
          <p:cNvSpPr txBox="1"/>
          <p:nvPr/>
        </p:nvSpPr>
        <p:spPr>
          <a:xfrm>
            <a:off x="2080871" y="6688163"/>
            <a:ext cx="14126257" cy="9759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07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¿Dudas?</a:t>
            </a:r>
            <a:endParaRPr/>
          </a:p>
        </p:txBody>
      </p:sp>
      <p:sp>
        <p:nvSpPr>
          <p:cNvPr id="424" name="Google Shape;424;p29"/>
          <p:cNvSpPr txBox="1"/>
          <p:nvPr/>
        </p:nvSpPr>
        <p:spPr>
          <a:xfrm>
            <a:off x="2411098" y="8556695"/>
            <a:ext cx="13465804" cy="6503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RECUERDA QUE TENEMOS NUESTRO FORO SEMANAL DONDE PUEDES CONSULTAR CUALQUIER DUDA QUE TE SURJA EN LA SEMANA</a:t>
            </a:r>
            <a:endParaRPr/>
          </a:p>
        </p:txBody>
      </p:sp>
      <p:sp>
        <p:nvSpPr>
          <p:cNvPr id="425" name="Google Shape;425;p29"/>
          <p:cNvSpPr/>
          <p:nvPr/>
        </p:nvSpPr>
        <p:spPr>
          <a:xfrm>
            <a:off x="16426204" y="0"/>
            <a:ext cx="1861796" cy="2546280"/>
          </a:xfrm>
          <a:custGeom>
            <a:rect b="b" l="l" r="r" t="t"/>
            <a:pathLst>
              <a:path extrusionOk="0" h="2546280" w="1861796">
                <a:moveTo>
                  <a:pt x="0" y="0"/>
                </a:moveTo>
                <a:lnTo>
                  <a:pt x="1861796" y="0"/>
                </a:lnTo>
                <a:lnTo>
                  <a:pt x="1861796" y="2546280"/>
                </a:lnTo>
                <a:lnTo>
                  <a:pt x="0" y="25462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