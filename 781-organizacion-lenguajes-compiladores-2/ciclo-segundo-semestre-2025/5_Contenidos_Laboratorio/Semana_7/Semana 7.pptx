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Open Sans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0DB9FC-C2C7-4C3A-B1D3-76376A0000CB}">
  <a:tblStyle styleId="{190DB9FC-C2C7-4C3A-B1D3-76376A0000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bold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ff958d2c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6ff958d2c9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26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{190DB9FC-C2C7-4C3A-B1D3-76376A0000CB}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X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XX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6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[</a:t>
            </a:r>
            <a:r>
              <a:rPr lang="en-US" sz="5000"/>
              <a:t>X</a:t>
            </a: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Rubén Alejandro Ralda Mejia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27"/>
          <p:cNvSpPr txBox="1"/>
          <p:nvPr/>
        </p:nvSpPr>
        <p:spPr>
          <a:xfrm>
            <a:off x="4025503" y="7479697"/>
            <a:ext cx="9698713" cy="131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269140" y="3930055"/>
            <a:ext cx="17749719" cy="2787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/>
          </a:p>
        </p:txBody>
      </p:sp>
      <p:sp>
        <p:nvSpPr>
          <p:cNvPr id="174" name="Google Shape;174;p27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76" name="Google Shape;176;p27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8"/>
          <p:cNvGrpSpPr/>
          <p:nvPr/>
        </p:nvGrpSpPr>
        <p:grpSpPr>
          <a:xfrm>
            <a:off x="5281317" y="2249591"/>
            <a:ext cx="7269518" cy="6078254"/>
            <a:chOff x="0" y="-76200"/>
            <a:chExt cx="3095001" cy="2587820"/>
          </a:xfrm>
        </p:grpSpPr>
        <p:sp>
          <p:nvSpPr>
            <p:cNvPr id="182" name="Google Shape;182;p28"/>
            <p:cNvSpPr/>
            <p:nvPr/>
          </p:nvSpPr>
          <p:spPr>
            <a:xfrm>
              <a:off x="0" y="0"/>
              <a:ext cx="3095001" cy="2511620"/>
            </a:xfrm>
            <a:custGeom>
              <a:rect b="b" l="l" r="r" t="t"/>
              <a:pathLst>
                <a:path extrusionOk="0" h="2511620" w="3095001">
                  <a:moveTo>
                    <a:pt x="2891801" y="0"/>
                  </a:moveTo>
                  <a:lnTo>
                    <a:pt x="0" y="0"/>
                  </a:lnTo>
                  <a:lnTo>
                    <a:pt x="0" y="2511620"/>
                  </a:lnTo>
                  <a:lnTo>
                    <a:pt x="2891801" y="2511620"/>
                  </a:lnTo>
                  <a:lnTo>
                    <a:pt x="3095001" y="1255810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3" name="Google Shape;183;p28"/>
            <p:cNvSpPr txBox="1"/>
            <p:nvPr/>
          </p:nvSpPr>
          <p:spPr>
            <a:xfrm>
              <a:off x="0" y="-76200"/>
              <a:ext cx="2980701" cy="2587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del proyecto</a:t>
              </a:r>
              <a:endParaRPr/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Clases y Objetos</a:t>
              </a:r>
              <a:endParaRPr/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Prototipos</a:t>
              </a:r>
              <a:endParaRPr/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Constructores</a:t>
              </a:r>
              <a:endParaRPr/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Sobrecarga de métodos</a:t>
              </a:r>
              <a:endParaRPr/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28"/>
          <p:cNvSpPr/>
          <p:nvPr/>
        </p:nvSpPr>
        <p:spPr>
          <a:xfrm>
            <a:off x="5442821" y="242856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5" name="Google Shape;185;p28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86" name="Google Shape;186;p28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87" name="Google Shape;187;p28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28"/>
          <p:cNvSpPr/>
          <p:nvPr/>
        </p:nvSpPr>
        <p:spPr>
          <a:xfrm>
            <a:off x="5442821" y="35413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28"/>
          <p:cNvSpPr/>
          <p:nvPr/>
        </p:nvSpPr>
        <p:spPr>
          <a:xfrm>
            <a:off x="5442821" y="465340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28"/>
          <p:cNvSpPr/>
          <p:nvPr/>
        </p:nvSpPr>
        <p:spPr>
          <a:xfrm>
            <a:off x="5442821" y="561392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28"/>
          <p:cNvSpPr/>
          <p:nvPr/>
        </p:nvSpPr>
        <p:spPr>
          <a:xfrm>
            <a:off x="5442821" y="657359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97" name="Google Shape;197;p29"/>
          <p:cNvSpPr txBox="1"/>
          <p:nvPr/>
        </p:nvSpPr>
        <p:spPr>
          <a:xfrm>
            <a:off x="1791595" y="3457716"/>
            <a:ext cx="14704809" cy="5170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explica la eliminación de recursión por la izquierda con ejemplos paso a paso para preparar gramáticas para análisis sintáctico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analiza representaciones intermedias de código mediante código de tres direcciones para identificar oportunidades de optimización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1791595" y="3135401"/>
            <a:ext cx="14704809" cy="457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Rigor: porque se trabaja con conceptos técnicos de bajo nivel, donde la precisión y estructura lógica son clave, especialmente en temas como ensamblador o representación en memoria.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Autonomía: dado que muchos de estos temas requieren que el estudiante investigue, practique e identifique por su cuenta cómo se comportan las representaciones internas del código.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</a:t>
            </a:r>
            <a:endParaRPr/>
          </a:p>
        </p:txBody>
      </p:sp>
      <p:sp>
        <p:nvSpPr>
          <p:cNvPr id="209" name="Google Shape;209;p31"/>
          <p:cNvSpPr txBox="1"/>
          <p:nvPr/>
        </p:nvSpPr>
        <p:spPr>
          <a:xfrm>
            <a:off x="1791595" y="3182807"/>
            <a:ext cx="14704809" cy="523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9410" lvl="1" marL="79882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99"/>
              <a:buFont typeface="Arial"/>
              <a:buChar char="•"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Código de Tres Direcciones: Es una representación intermedia utilizada en compiladores, donde cada instrucción tiene a lo sumo tres operandos.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9410" lvl="1" marL="79882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99"/>
              <a:buFont typeface="Arial"/>
              <a:buChar char="•"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Bytecode: es una representación intermedia del código fuente que no es directamente ejecutable por el hardware, sino por una máquina virtual.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/>
        </p:nvSpPr>
        <p:spPr>
          <a:xfrm>
            <a:off x="1819398" y="797270"/>
            <a:ext cx="14649204" cy="94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CLASES Y OBJETOS</a:t>
            </a:r>
            <a:endParaRPr/>
          </a:p>
        </p:txBody>
      </p:sp>
      <p:sp>
        <p:nvSpPr>
          <p:cNvPr id="215" name="Google Shape;215;p32"/>
          <p:cNvSpPr txBox="1"/>
          <p:nvPr/>
        </p:nvSpPr>
        <p:spPr>
          <a:xfrm>
            <a:off x="919817" y="4426230"/>
            <a:ext cx="17368183" cy="339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20475" lvl="1" marL="104094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821"/>
              <a:buFont typeface="Arial"/>
              <a:buChar char="•"/>
            </a:pPr>
            <a:r>
              <a:rPr b="0" i="0" lang="en-US" sz="482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Clase: Es una plantilla o molde que define atributos y métodos.</a:t>
            </a:r>
            <a:endParaRPr/>
          </a:p>
          <a:p>
            <a:pPr indent="-520475" lvl="1" marL="104094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821"/>
              <a:buFont typeface="Arial"/>
              <a:buChar char="•"/>
            </a:pPr>
            <a:r>
              <a:rPr b="0" i="0" lang="en-US" sz="482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Objeto: Instancia concreta de una clase.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2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/>
          <p:nvPr/>
        </p:nvSpPr>
        <p:spPr>
          <a:xfrm>
            <a:off x="4605077" y="1772682"/>
            <a:ext cx="9077846" cy="6741636"/>
          </a:xfrm>
          <a:custGeom>
            <a:rect b="b" l="l" r="r" t="t"/>
            <a:pathLst>
              <a:path extrusionOk="0" h="6741636" w="9077846">
                <a:moveTo>
                  <a:pt x="0" y="0"/>
                </a:moveTo>
                <a:lnTo>
                  <a:pt x="9077846" y="0"/>
                </a:lnTo>
                <a:lnTo>
                  <a:pt x="9077846" y="6741636"/>
                </a:lnTo>
                <a:lnTo>
                  <a:pt x="0" y="67416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33"/>
          <p:cNvSpPr txBox="1"/>
          <p:nvPr/>
        </p:nvSpPr>
        <p:spPr>
          <a:xfrm>
            <a:off x="4764643" y="8757792"/>
            <a:ext cx="8758714" cy="500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Relación: Clase = definición, Objeto = uso real.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/>
        </p:nvSpPr>
        <p:spPr>
          <a:xfrm>
            <a:off x="1819398" y="797270"/>
            <a:ext cx="14649204" cy="94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PROTOTIPOS </a:t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919817" y="4426230"/>
            <a:ext cx="17368183" cy="4249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20475" lvl="1" marL="104094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821"/>
              <a:buFont typeface="Arial"/>
              <a:buChar char="•"/>
            </a:pPr>
            <a:r>
              <a:rPr b="0" i="0" lang="en-US" sz="482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Java no usa prototipos como JavaScript.</a:t>
            </a:r>
            <a:endParaRPr/>
          </a:p>
          <a:p>
            <a:pPr indent="-520475" lvl="1" marL="104094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821"/>
              <a:buFont typeface="Arial"/>
              <a:buChar char="•"/>
            </a:pPr>
            <a:r>
              <a:rPr b="0" i="0" lang="en-US" sz="482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Prototipos en Java se entienden como el uso de interfaces o clases abstractas para definir la forma de una clase.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2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/>
          <p:nvPr/>
        </p:nvSpPr>
        <p:spPr>
          <a:xfrm>
            <a:off x="5063399" y="2779499"/>
            <a:ext cx="8161203" cy="6107907"/>
          </a:xfrm>
          <a:custGeom>
            <a:rect b="b" l="l" r="r" t="t"/>
            <a:pathLst>
              <a:path extrusionOk="0" h="6107907" w="8161203">
                <a:moveTo>
                  <a:pt x="0" y="0"/>
                </a:moveTo>
                <a:lnTo>
                  <a:pt x="8161202" y="0"/>
                </a:lnTo>
                <a:lnTo>
                  <a:pt x="8161202" y="6107907"/>
                </a:lnTo>
                <a:lnTo>
                  <a:pt x="0" y="6107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35"/>
          <p:cNvSpPr txBox="1"/>
          <p:nvPr/>
        </p:nvSpPr>
        <p:spPr>
          <a:xfrm>
            <a:off x="4236839" y="1733540"/>
            <a:ext cx="9814322" cy="500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Prototipo aquí define el comportamiento esperado.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/>
          <p:nvPr/>
        </p:nvSpPr>
        <p:spPr>
          <a:xfrm>
            <a:off x="2812214" y="4382562"/>
            <a:ext cx="4954152" cy="5163751"/>
          </a:xfrm>
          <a:custGeom>
            <a:rect b="b" l="l" r="r" t="t"/>
            <a:pathLst>
              <a:path extrusionOk="0" h="5163751" w="4954152">
                <a:moveTo>
                  <a:pt x="0" y="0"/>
                </a:moveTo>
                <a:lnTo>
                  <a:pt x="4954151" y="0"/>
                </a:lnTo>
                <a:lnTo>
                  <a:pt x="4954151" y="5163750"/>
                </a:lnTo>
                <a:lnTo>
                  <a:pt x="0" y="5163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36"/>
          <p:cNvSpPr/>
          <p:nvPr/>
        </p:nvSpPr>
        <p:spPr>
          <a:xfrm>
            <a:off x="9680512" y="6160852"/>
            <a:ext cx="6675936" cy="1607170"/>
          </a:xfrm>
          <a:custGeom>
            <a:rect b="b" l="l" r="r" t="t"/>
            <a:pathLst>
              <a:path extrusionOk="0" h="1607170" w="6675936">
                <a:moveTo>
                  <a:pt x="0" y="0"/>
                </a:moveTo>
                <a:lnTo>
                  <a:pt x="6675936" y="0"/>
                </a:lnTo>
                <a:lnTo>
                  <a:pt x="6675936" y="1607170"/>
                </a:lnTo>
                <a:lnTo>
                  <a:pt x="0" y="1607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36"/>
          <p:cNvSpPr txBox="1"/>
          <p:nvPr/>
        </p:nvSpPr>
        <p:spPr>
          <a:xfrm>
            <a:off x="4409837" y="990600"/>
            <a:ext cx="9468326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</a:t>
            </a:r>
            <a:r>
              <a:rPr b="1" i="0" lang="en-US" sz="56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tores</a:t>
            </a:r>
            <a:endParaRPr/>
          </a:p>
        </p:txBody>
      </p:sp>
      <p:sp>
        <p:nvSpPr>
          <p:cNvPr id="241" name="Google Shape;241;p36"/>
          <p:cNvSpPr txBox="1"/>
          <p:nvPr/>
        </p:nvSpPr>
        <p:spPr>
          <a:xfrm>
            <a:off x="3732907" y="2001946"/>
            <a:ext cx="10822186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Método especial que se ejecuta al crear un objeto.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tiene tipo de retorno.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 haber constructores sobrecargados.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/>
        </p:nvSpPr>
        <p:spPr>
          <a:xfrm>
            <a:off x="2541766" y="4635677"/>
            <a:ext cx="13114197" cy="2727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813" lvl="1" marL="691625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3"/>
              <a:buFont typeface="Arial"/>
              <a:buChar char="•"/>
            </a:pPr>
            <a:r>
              <a:rPr b="0" i="0" lang="en-US" sz="32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Permite definir varios métodos con el mismo nombre pero diferentes parámetros.</a:t>
            </a:r>
            <a:endParaRPr/>
          </a:p>
          <a:p>
            <a:pPr indent="-345813" lvl="1" marL="691625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3"/>
              <a:buFont typeface="Arial"/>
              <a:buChar char="•"/>
            </a:pPr>
            <a:r>
              <a:rPr b="0" i="0" lang="en-US" sz="32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Mejora la legibilidad y reutilización del código.</a:t>
            </a:r>
            <a:endParaRPr/>
          </a:p>
          <a:p>
            <a:pPr indent="0" lvl="0" marL="0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3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2541766" y="2428693"/>
            <a:ext cx="13159333" cy="170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Sobrecarga de Métodos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/>
          <p:nvPr/>
        </p:nvSpPr>
        <p:spPr>
          <a:xfrm>
            <a:off x="5734206" y="1414394"/>
            <a:ext cx="6819588" cy="7458211"/>
          </a:xfrm>
          <a:custGeom>
            <a:rect b="b" l="l" r="r" t="t"/>
            <a:pathLst>
              <a:path extrusionOk="0" h="7458211" w="6819588">
                <a:moveTo>
                  <a:pt x="0" y="0"/>
                </a:moveTo>
                <a:lnTo>
                  <a:pt x="6819588" y="0"/>
                </a:lnTo>
                <a:lnTo>
                  <a:pt x="6819588" y="7458212"/>
                </a:lnTo>
                <a:lnTo>
                  <a:pt x="0" y="745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/>
          <p:nvPr/>
        </p:nvSpPr>
        <p:spPr>
          <a:xfrm>
            <a:off x="3099668" y="3900214"/>
            <a:ext cx="12088664" cy="4034592"/>
          </a:xfrm>
          <a:custGeom>
            <a:rect b="b" l="l" r="r" t="t"/>
            <a:pathLst>
              <a:path extrusionOk="0" h="4034592" w="12088664">
                <a:moveTo>
                  <a:pt x="0" y="0"/>
                </a:moveTo>
                <a:lnTo>
                  <a:pt x="12088664" y="0"/>
                </a:lnTo>
                <a:lnTo>
                  <a:pt x="12088664" y="4034592"/>
                </a:lnTo>
                <a:lnTo>
                  <a:pt x="0" y="403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39"/>
          <p:cNvSpPr txBox="1"/>
          <p:nvPr/>
        </p:nvSpPr>
        <p:spPr>
          <a:xfrm>
            <a:off x="2564334" y="1955723"/>
            <a:ext cx="13159333" cy="170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Resumen de lo aprendido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/>
        </p:nvSpPr>
        <p:spPr>
          <a:xfrm>
            <a:off x="3783911" y="3336688"/>
            <a:ext cx="10372536" cy="18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BIBLIOGRAFICAS</a:t>
            </a:r>
            <a:endParaRPr/>
          </a:p>
        </p:txBody>
      </p:sp>
      <p:sp>
        <p:nvSpPr>
          <p:cNvPr id="264" name="Google Shape;264;p40"/>
          <p:cNvSpPr txBox="1"/>
          <p:nvPr/>
        </p:nvSpPr>
        <p:spPr>
          <a:xfrm>
            <a:off x="1698706" y="5067300"/>
            <a:ext cx="14890588" cy="1243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731" lvl="1" marL="763462" marR="0" rtl="0" algn="just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36"/>
              <a:buFont typeface="Arial"/>
              <a:buChar char="•"/>
            </a:pPr>
            <a:r>
              <a:rPr b="0" i="0" lang="en-US" sz="3536" u="none" cap="none" strike="noStrike">
                <a:solidFill>
                  <a:srgbClr val="131416"/>
                </a:solidFill>
                <a:latin typeface="Lato"/>
                <a:ea typeface="Lato"/>
                <a:cs typeface="Lato"/>
                <a:sym typeface="Lato"/>
              </a:rPr>
              <a:t>Compiladores, Principios, Técnicas y HerramientasAho, Sethi y Ullmam. PEARSON ADDISON- WESLEY, 2008, segunda edición.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/>
        </p:nvSpPr>
        <p:spPr>
          <a:xfrm>
            <a:off x="3011833" y="3379081"/>
            <a:ext cx="12264334" cy="3500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practico sobre lo aprendido orientado a la creacion de un compilador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2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76" name="Google Shape;276;p42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