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10287000" cx="18288000"/>
  <p:notesSz cx="6858000" cy="9144000"/>
  <p:embeddedFontLst>
    <p:embeddedFont>
      <p:font typeface="Play"/>
      <p:regular r:id="rId30"/>
      <p:bold r:id="rId31"/>
    </p:embeddedFont>
    <p:embeddedFont>
      <p:font typeface="Lato"/>
      <p:regular r:id="rId32"/>
      <p:bold r:id="rId33"/>
      <p:italic r:id="rId34"/>
      <p:boldItalic r:id="rId35"/>
    </p:embeddedFont>
    <p:embeddedFont>
      <p:font typeface="Open Sans"/>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gAnPOD33TfwGEjXwR8sAlO3wn2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07AF36-F7B3-4719-A68C-72149727F03D}">
  <a:tblStyle styleId="{6507AF36-F7B3-4719-A68C-72149727F03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bold.fntdata"/><Relationship Id="rId30" Type="http://schemas.openxmlformats.org/officeDocument/2006/relationships/font" Target="fonts/Play-regular.fntdata"/><Relationship Id="rId11" Type="http://schemas.openxmlformats.org/officeDocument/2006/relationships/slide" Target="slides/slide5.xml"/><Relationship Id="rId33" Type="http://schemas.openxmlformats.org/officeDocument/2006/relationships/font" Target="fonts/Lato-bold.fntdata"/><Relationship Id="rId10" Type="http://schemas.openxmlformats.org/officeDocument/2006/relationships/slide" Target="slides/slide4.xml"/><Relationship Id="rId32" Type="http://schemas.openxmlformats.org/officeDocument/2006/relationships/font" Target="fonts/Lato-regular.fntdata"/><Relationship Id="rId13" Type="http://schemas.openxmlformats.org/officeDocument/2006/relationships/slide" Target="slides/slide7.xml"/><Relationship Id="rId35" Type="http://schemas.openxmlformats.org/officeDocument/2006/relationships/font" Target="fonts/Lato-boldItalic.fntdata"/><Relationship Id="rId12" Type="http://schemas.openxmlformats.org/officeDocument/2006/relationships/slide" Target="slides/slide6.xml"/><Relationship Id="rId34" Type="http://schemas.openxmlformats.org/officeDocument/2006/relationships/font" Target="fonts/Lato-italic.fntdata"/><Relationship Id="rId15" Type="http://schemas.openxmlformats.org/officeDocument/2006/relationships/slide" Target="slides/slide9.xml"/><Relationship Id="rId37" Type="http://schemas.openxmlformats.org/officeDocument/2006/relationships/font" Target="fonts/OpenSans-bold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e92fa51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e92fa51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e92fa51f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e92fa51f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e75bb65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ce75bb65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e75bb656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ce75bb656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e75bb656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ce75bb656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e75bb656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e75bb656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ce75bb656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ce75bb656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ce75bb656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ce75bb656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ce75bb6569_0_91"/>
          <p:cNvSpPr/>
          <p:nvPr/>
        </p:nvSpPr>
        <p:spPr>
          <a:xfrm>
            <a:off x="1050" y="9236850"/>
            <a:ext cx="18288000" cy="10632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82" name="Google Shape;82;g3ce75bb6569_0_91"/>
          <p:cNvSpPr/>
          <p:nvPr/>
        </p:nvSpPr>
        <p:spPr>
          <a:xfrm>
            <a:off x="0" y="890050"/>
            <a:ext cx="17664600" cy="1270200"/>
          </a:xfrm>
          <a:prstGeom prst="homePlate">
            <a:avLst>
              <a:gd fmla="val 50000" name="adj"/>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83" name="Google Shape;83;g3ce75bb6569_0_91"/>
          <p:cNvSpPr txBox="1"/>
          <p:nvPr>
            <p:ph type="title"/>
          </p:nvPr>
        </p:nvSpPr>
        <p:spPr>
          <a:xfrm>
            <a:off x="623400" y="890050"/>
            <a:ext cx="16321200" cy="1145400"/>
          </a:xfrm>
          <a:prstGeom prst="rect">
            <a:avLst/>
          </a:prstGeom>
        </p:spPr>
        <p:txBody>
          <a:bodyPr anchorCtr="0" anchor="ctr" bIns="45700" lIns="91425" spcFirstLastPara="1" rIns="91425" wrap="square" tIns="45700">
            <a:normAutofit/>
          </a:bodyPr>
          <a:lstStyle>
            <a:lvl1pPr indent="0" lvl="0" marL="0" marR="0">
              <a:lnSpc>
                <a:spcPct val="100000"/>
              </a:lnSpc>
              <a:spcBef>
                <a:spcPts val="0"/>
              </a:spcBef>
              <a:spcAft>
                <a:spcPts val="0"/>
              </a:spcAft>
              <a:buClr>
                <a:schemeClr val="lt1"/>
              </a:buClr>
              <a:buSzPts val="5600"/>
              <a:buFont typeface="Lato"/>
              <a:buNone/>
              <a:defRPr b="1">
                <a:solidFill>
                  <a:schemeClr val="lt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g3ce75bb6569_0_91"/>
          <p:cNvSpPr txBox="1"/>
          <p:nvPr>
            <p:ph idx="1" type="body"/>
          </p:nvPr>
        </p:nvSpPr>
        <p:spPr>
          <a:xfrm>
            <a:off x="623400" y="2304950"/>
            <a:ext cx="17041200" cy="68328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Font typeface="Lato"/>
              <a:buChar char="•"/>
              <a:defRPr>
                <a:latin typeface="Lato"/>
                <a:ea typeface="Lato"/>
                <a:cs typeface="Lato"/>
                <a:sym typeface="Lato"/>
              </a:defRPr>
            </a:lvl1pPr>
            <a:lvl2pPr indent="-406400" lvl="1" marL="914400">
              <a:spcBef>
                <a:spcPts val="560"/>
              </a:spcBef>
              <a:spcAft>
                <a:spcPts val="0"/>
              </a:spcAft>
              <a:buSzPts val="2800"/>
              <a:buFont typeface="Lato"/>
              <a:buChar char="–"/>
              <a:defRPr>
                <a:latin typeface="Lato"/>
                <a:ea typeface="Lato"/>
                <a:cs typeface="Lato"/>
                <a:sym typeface="Lato"/>
              </a:defRPr>
            </a:lvl2pPr>
            <a:lvl3pPr indent="-381000" lvl="2" marL="1371600">
              <a:spcBef>
                <a:spcPts val="480"/>
              </a:spcBef>
              <a:spcAft>
                <a:spcPts val="0"/>
              </a:spcAft>
              <a:buSzPts val="2400"/>
              <a:buFont typeface="Lato"/>
              <a:buChar char="•"/>
              <a:defRPr>
                <a:latin typeface="Lato"/>
                <a:ea typeface="Lato"/>
                <a:cs typeface="Lato"/>
                <a:sym typeface="Lato"/>
              </a:defRPr>
            </a:lvl3pPr>
            <a:lvl4pPr indent="-355600" lvl="3" marL="1828800">
              <a:spcBef>
                <a:spcPts val="400"/>
              </a:spcBef>
              <a:spcAft>
                <a:spcPts val="0"/>
              </a:spcAft>
              <a:buSzPts val="2000"/>
              <a:buFont typeface="Lato"/>
              <a:buChar char="–"/>
              <a:defRPr>
                <a:latin typeface="Lato"/>
                <a:ea typeface="Lato"/>
                <a:cs typeface="Lato"/>
                <a:sym typeface="Lato"/>
              </a:defRPr>
            </a:lvl4pPr>
            <a:lvl5pPr indent="-355600" lvl="4" marL="2286000">
              <a:spcBef>
                <a:spcPts val="400"/>
              </a:spcBef>
              <a:spcAft>
                <a:spcPts val="0"/>
              </a:spcAft>
              <a:buSzPts val="2000"/>
              <a:buFont typeface="Lato"/>
              <a:buChar char="»"/>
              <a:defRPr>
                <a:latin typeface="Lato"/>
                <a:ea typeface="Lato"/>
                <a:cs typeface="Lato"/>
                <a:sym typeface="Lato"/>
              </a:defRPr>
            </a:lvl5pPr>
            <a:lvl6pPr indent="-355600" lvl="5" marL="2743200">
              <a:spcBef>
                <a:spcPts val="400"/>
              </a:spcBef>
              <a:spcAft>
                <a:spcPts val="0"/>
              </a:spcAft>
              <a:buSzPts val="2000"/>
              <a:buFont typeface="Lato"/>
              <a:buChar char="•"/>
              <a:defRPr>
                <a:latin typeface="Lato"/>
                <a:ea typeface="Lato"/>
                <a:cs typeface="Lato"/>
                <a:sym typeface="Lato"/>
              </a:defRPr>
            </a:lvl6pPr>
            <a:lvl7pPr indent="-355600" lvl="6" marL="3200400">
              <a:spcBef>
                <a:spcPts val="400"/>
              </a:spcBef>
              <a:spcAft>
                <a:spcPts val="0"/>
              </a:spcAft>
              <a:buSzPts val="2000"/>
              <a:buFont typeface="Lato"/>
              <a:buChar char="•"/>
              <a:defRPr>
                <a:latin typeface="Lato"/>
                <a:ea typeface="Lato"/>
                <a:cs typeface="Lato"/>
                <a:sym typeface="Lato"/>
              </a:defRPr>
            </a:lvl7pPr>
            <a:lvl8pPr indent="-355600" lvl="7" marL="3657600">
              <a:spcBef>
                <a:spcPts val="400"/>
              </a:spcBef>
              <a:spcAft>
                <a:spcPts val="0"/>
              </a:spcAft>
              <a:buSzPts val="2000"/>
              <a:buFont typeface="Lato"/>
              <a:buChar char="•"/>
              <a:defRPr>
                <a:latin typeface="Lato"/>
                <a:ea typeface="Lato"/>
                <a:cs typeface="Lato"/>
                <a:sym typeface="Lato"/>
              </a:defRPr>
            </a:lvl8pPr>
            <a:lvl9pPr indent="-355600" lvl="8" marL="4114800">
              <a:spcBef>
                <a:spcPts val="400"/>
              </a:spcBef>
              <a:spcAft>
                <a:spcPts val="0"/>
              </a:spcAft>
              <a:buSzPts val="2000"/>
              <a:buFont typeface="Lato"/>
              <a:buChar char="•"/>
              <a:defRPr>
                <a:latin typeface="Lato"/>
                <a:ea typeface="Lato"/>
                <a:cs typeface="Lato"/>
                <a:sym typeface="Lato"/>
              </a:defRPr>
            </a:lvl9pPr>
          </a:lstStyle>
          <a:p/>
        </p:txBody>
      </p:sp>
      <p:sp>
        <p:nvSpPr>
          <p:cNvPr id="85" name="Google Shape;85;g3ce75bb6569_0_91"/>
          <p:cNvSpPr txBox="1"/>
          <p:nvPr>
            <p:ph idx="12" type="sldNum"/>
          </p:nvPr>
        </p:nvSpPr>
        <p:spPr>
          <a:xfrm>
            <a:off x="16944916" y="9326434"/>
            <a:ext cx="1097400" cy="787200"/>
          </a:xfrm>
          <a:prstGeom prst="rect">
            <a:avLst/>
          </a:prstGeom>
        </p:spPr>
        <p:txBody>
          <a:bodyPr anchorCtr="0" anchor="ctr" bIns="45700" lIns="91425" spcFirstLastPara="1" rIns="91425" wrap="square" tIns="457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g3ce75bb6569_0_97"/>
          <p:cNvSpPr txBox="1"/>
          <p:nvPr>
            <p:ph idx="12" type="sldNum"/>
          </p:nvPr>
        </p:nvSpPr>
        <p:spPr>
          <a:xfrm>
            <a:off x="16944916" y="9326434"/>
            <a:ext cx="1097400" cy="7872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g3ce75bb6569_0_97"/>
          <p:cNvSpPr/>
          <p:nvPr/>
        </p:nvSpPr>
        <p:spPr>
          <a:xfrm>
            <a:off x="1542600" y="8203750"/>
            <a:ext cx="15202800" cy="1578600"/>
          </a:xfrm>
          <a:prstGeom prst="ellipseRibbon2">
            <a:avLst>
              <a:gd fmla="val 25000" name="adj1"/>
              <a:gd fmla="val 91057" name="adj2"/>
              <a:gd fmla="val 13560" name="adj3"/>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b="1" sz="2800">
              <a:solidFill>
                <a:schemeClr val="lt1"/>
              </a:solidFill>
              <a:latin typeface="Lato"/>
              <a:ea typeface="Lato"/>
              <a:cs typeface="Lato"/>
              <a:sym typeface="Lato"/>
            </a:endParaRPr>
          </a:p>
        </p:txBody>
      </p:sp>
      <p:sp>
        <p:nvSpPr>
          <p:cNvPr id="89" name="Google Shape;89;g3ce75bb6569_0_97"/>
          <p:cNvSpPr txBox="1"/>
          <p:nvPr/>
        </p:nvSpPr>
        <p:spPr>
          <a:xfrm>
            <a:off x="3455250" y="8296200"/>
            <a:ext cx="11291400" cy="10302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t/>
            </a:r>
            <a:endParaRPr sz="3600">
              <a:solidFill>
                <a:schemeClr val="lt1"/>
              </a:solidFill>
              <a:latin typeface="Lato"/>
              <a:ea typeface="Lato"/>
              <a:cs typeface="Lato"/>
              <a:sym typeface="La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90" name="Shape 90"/>
        <p:cNvGrpSpPr/>
        <p:nvPr/>
      </p:nvGrpSpPr>
      <p:grpSpPr>
        <a:xfrm>
          <a:off x="0" y="0"/>
          <a:ext cx="0" cy="0"/>
          <a:chOff x="0" y="0"/>
          <a:chExt cx="0" cy="0"/>
        </a:xfrm>
      </p:grpSpPr>
      <p:sp>
        <p:nvSpPr>
          <p:cNvPr id="91" name="Google Shape;91;g3ce75bb6569_0_101"/>
          <p:cNvSpPr/>
          <p:nvPr/>
        </p:nvSpPr>
        <p:spPr>
          <a:xfrm>
            <a:off x="1050" y="9236850"/>
            <a:ext cx="18288000" cy="10632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92" name="Google Shape;92;g3ce75bb6569_0_101"/>
          <p:cNvSpPr txBox="1"/>
          <p:nvPr>
            <p:ph type="title"/>
          </p:nvPr>
        </p:nvSpPr>
        <p:spPr>
          <a:xfrm>
            <a:off x="623400" y="4301700"/>
            <a:ext cx="17041200" cy="1683600"/>
          </a:xfrm>
          <a:prstGeom prst="rect">
            <a:avLst/>
          </a:prstGeom>
        </p:spPr>
        <p:txBody>
          <a:bodyPr anchorCtr="0" anchor="ctr" bIns="45700" lIns="91425" spcFirstLastPara="1" rIns="91425" wrap="square" tIns="45700">
            <a:normAutofit/>
          </a:bodyPr>
          <a:lstStyle>
            <a:lvl1pPr indent="0" lvl="0" marL="0" marR="0" algn="ctr">
              <a:lnSpc>
                <a:spcPct val="100000"/>
              </a:lnSpc>
              <a:spcBef>
                <a:spcPts val="0"/>
              </a:spcBef>
              <a:spcAft>
                <a:spcPts val="0"/>
              </a:spcAft>
              <a:buSzPts val="8400"/>
              <a:buFont typeface="Lato"/>
              <a:buNone/>
              <a:defRPr b="1" sz="8400">
                <a:latin typeface="Lato"/>
                <a:ea typeface="Lato"/>
                <a:cs typeface="Lato"/>
                <a:sym typeface="Lato"/>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93" name="Google Shape;93;g3ce75bb6569_0_101"/>
          <p:cNvSpPr txBox="1"/>
          <p:nvPr>
            <p:ph idx="12" type="sldNum"/>
          </p:nvPr>
        </p:nvSpPr>
        <p:spPr>
          <a:xfrm>
            <a:off x="16944916" y="9326434"/>
            <a:ext cx="1097400" cy="787200"/>
          </a:xfrm>
          <a:prstGeom prst="rect">
            <a:avLst/>
          </a:prstGeom>
        </p:spPr>
        <p:txBody>
          <a:bodyPr anchorCtr="0" anchor="ctr" bIns="45700" lIns="91425" spcFirstLastPara="1" rIns="91425" wrap="square" tIns="457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pic>
        <p:nvPicPr>
          <p:cNvPr id="94" name="Google Shape;94;g3ce75bb6569_0_101"/>
          <p:cNvPicPr preferRelativeResize="0"/>
          <p:nvPr/>
        </p:nvPicPr>
        <p:blipFill>
          <a:blip r:embed="rId2">
            <a:alphaModFix/>
          </a:blip>
          <a:stretch>
            <a:fillRect/>
          </a:stretch>
        </p:blipFill>
        <p:spPr>
          <a:xfrm>
            <a:off x="14031650" y="199600"/>
            <a:ext cx="4010650" cy="1062950"/>
          </a:xfrm>
          <a:prstGeom prst="rect">
            <a:avLst/>
          </a:prstGeom>
          <a:noFill/>
          <a:ln>
            <a:noFill/>
          </a:ln>
        </p:spPr>
      </p:pic>
      <p:sp>
        <p:nvSpPr>
          <p:cNvPr id="95" name="Google Shape;95;g3ce75bb6569_0_101"/>
          <p:cNvSpPr/>
          <p:nvPr/>
        </p:nvSpPr>
        <p:spPr>
          <a:xfrm rot="5400000">
            <a:off x="-1061700" y="-1350700"/>
            <a:ext cx="5505600" cy="2135400"/>
          </a:xfrm>
          <a:prstGeom prst="chevron">
            <a:avLst>
              <a:gd fmla="val 50000" name="adj"/>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pic>
        <p:nvPicPr>
          <p:cNvPr id="96" name="Google Shape;96;g3ce75bb6569_0_101" title="Usac_logo.png"/>
          <p:cNvPicPr preferRelativeResize="0"/>
          <p:nvPr/>
        </p:nvPicPr>
        <p:blipFill>
          <a:blip r:embed="rId3">
            <a:alphaModFix/>
          </a:blip>
          <a:stretch>
            <a:fillRect/>
          </a:stretch>
        </p:blipFill>
        <p:spPr>
          <a:xfrm>
            <a:off x="898495" y="199600"/>
            <a:ext cx="1585200" cy="15852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3ce92fa51fd_0_271"/>
          <p:cNvSpPr/>
          <p:nvPr/>
        </p:nvSpPr>
        <p:spPr>
          <a:xfrm>
            <a:off x="1050" y="9236850"/>
            <a:ext cx="18288000" cy="10632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99" name="Google Shape;99;g3ce92fa51fd_0_271"/>
          <p:cNvSpPr txBox="1"/>
          <p:nvPr>
            <p:ph idx="1" type="body"/>
          </p:nvPr>
        </p:nvSpPr>
        <p:spPr>
          <a:xfrm>
            <a:off x="623400" y="2304950"/>
            <a:ext cx="7999800" cy="6832800"/>
          </a:xfrm>
          <a:prstGeom prst="rect">
            <a:avLst/>
          </a:prstGeom>
        </p:spPr>
        <p:txBody>
          <a:bodyPr anchorCtr="0" anchor="t" bIns="45700" lIns="91425" spcFirstLastPara="1" rIns="91425" wrap="square" tIns="45700">
            <a:normAutofit/>
          </a:bodyPr>
          <a:lstStyle>
            <a:lvl1pPr indent="-406400" lvl="0" marL="457200">
              <a:spcBef>
                <a:spcPts val="640"/>
              </a:spcBef>
              <a:spcAft>
                <a:spcPts val="0"/>
              </a:spcAft>
              <a:buSzPts val="2800"/>
              <a:buFont typeface="Lato"/>
              <a:buChar char="•"/>
              <a:defRPr sz="2800">
                <a:latin typeface="Lato"/>
                <a:ea typeface="Lato"/>
                <a:cs typeface="Lato"/>
                <a:sym typeface="Lato"/>
              </a:defRPr>
            </a:lvl1pPr>
            <a:lvl2pPr indent="-381000" lvl="1" marL="914400">
              <a:spcBef>
                <a:spcPts val="560"/>
              </a:spcBef>
              <a:spcAft>
                <a:spcPts val="0"/>
              </a:spcAft>
              <a:buSzPts val="2400"/>
              <a:buFont typeface="Lato"/>
              <a:buChar char="–"/>
              <a:defRPr sz="2400">
                <a:latin typeface="Lato"/>
                <a:ea typeface="Lato"/>
                <a:cs typeface="Lato"/>
                <a:sym typeface="Lato"/>
              </a:defRPr>
            </a:lvl2pPr>
            <a:lvl3pPr indent="-381000" lvl="2" marL="1371600">
              <a:spcBef>
                <a:spcPts val="480"/>
              </a:spcBef>
              <a:spcAft>
                <a:spcPts val="0"/>
              </a:spcAft>
              <a:buSzPts val="2400"/>
              <a:buFont typeface="Lato"/>
              <a:buChar char="•"/>
              <a:defRPr sz="2400">
                <a:latin typeface="Lato"/>
                <a:ea typeface="Lato"/>
                <a:cs typeface="Lato"/>
                <a:sym typeface="Lato"/>
              </a:defRPr>
            </a:lvl3pPr>
            <a:lvl4pPr indent="-381000" lvl="3" marL="1828800">
              <a:spcBef>
                <a:spcPts val="400"/>
              </a:spcBef>
              <a:spcAft>
                <a:spcPts val="0"/>
              </a:spcAft>
              <a:buSzPts val="2400"/>
              <a:buFont typeface="Lato"/>
              <a:buChar char="–"/>
              <a:defRPr sz="2400">
                <a:latin typeface="Lato"/>
                <a:ea typeface="Lato"/>
                <a:cs typeface="Lato"/>
                <a:sym typeface="Lato"/>
              </a:defRPr>
            </a:lvl4pPr>
            <a:lvl5pPr indent="-381000" lvl="4" marL="2286000">
              <a:spcBef>
                <a:spcPts val="400"/>
              </a:spcBef>
              <a:spcAft>
                <a:spcPts val="0"/>
              </a:spcAft>
              <a:buSzPts val="2400"/>
              <a:buFont typeface="Lato"/>
              <a:buChar char="»"/>
              <a:defRPr sz="2400">
                <a:latin typeface="Lato"/>
                <a:ea typeface="Lato"/>
                <a:cs typeface="Lato"/>
                <a:sym typeface="Lato"/>
              </a:defRPr>
            </a:lvl5pPr>
            <a:lvl6pPr indent="-381000" lvl="5" marL="2743200">
              <a:spcBef>
                <a:spcPts val="400"/>
              </a:spcBef>
              <a:spcAft>
                <a:spcPts val="0"/>
              </a:spcAft>
              <a:buSzPts val="2400"/>
              <a:buFont typeface="Lato"/>
              <a:buChar char="•"/>
              <a:defRPr sz="2400">
                <a:latin typeface="Lato"/>
                <a:ea typeface="Lato"/>
                <a:cs typeface="Lato"/>
                <a:sym typeface="Lato"/>
              </a:defRPr>
            </a:lvl6pPr>
            <a:lvl7pPr indent="-381000" lvl="6" marL="3200400">
              <a:spcBef>
                <a:spcPts val="400"/>
              </a:spcBef>
              <a:spcAft>
                <a:spcPts val="0"/>
              </a:spcAft>
              <a:buSzPts val="2400"/>
              <a:buFont typeface="Lato"/>
              <a:buChar char="•"/>
              <a:defRPr sz="2400">
                <a:latin typeface="Lato"/>
                <a:ea typeface="Lato"/>
                <a:cs typeface="Lato"/>
                <a:sym typeface="Lato"/>
              </a:defRPr>
            </a:lvl7pPr>
            <a:lvl8pPr indent="-381000" lvl="7" marL="3657600">
              <a:spcBef>
                <a:spcPts val="400"/>
              </a:spcBef>
              <a:spcAft>
                <a:spcPts val="0"/>
              </a:spcAft>
              <a:buSzPts val="2400"/>
              <a:buFont typeface="Lato"/>
              <a:buChar char="•"/>
              <a:defRPr sz="2400">
                <a:latin typeface="Lato"/>
                <a:ea typeface="Lato"/>
                <a:cs typeface="Lato"/>
                <a:sym typeface="Lato"/>
              </a:defRPr>
            </a:lvl8pPr>
            <a:lvl9pPr indent="-381000" lvl="8" marL="4114800">
              <a:spcBef>
                <a:spcPts val="400"/>
              </a:spcBef>
              <a:spcAft>
                <a:spcPts val="0"/>
              </a:spcAft>
              <a:buSzPts val="2400"/>
              <a:buFont typeface="Lato"/>
              <a:buChar char="•"/>
              <a:defRPr sz="2400">
                <a:latin typeface="Lato"/>
                <a:ea typeface="Lato"/>
                <a:cs typeface="Lato"/>
                <a:sym typeface="Lato"/>
              </a:defRPr>
            </a:lvl9pPr>
          </a:lstStyle>
          <a:p/>
        </p:txBody>
      </p:sp>
      <p:sp>
        <p:nvSpPr>
          <p:cNvPr id="100" name="Google Shape;100;g3ce92fa51fd_0_271"/>
          <p:cNvSpPr txBox="1"/>
          <p:nvPr>
            <p:ph idx="2" type="body"/>
          </p:nvPr>
        </p:nvSpPr>
        <p:spPr>
          <a:xfrm>
            <a:off x="9664800" y="2304950"/>
            <a:ext cx="7999800" cy="6832800"/>
          </a:xfrm>
          <a:prstGeom prst="rect">
            <a:avLst/>
          </a:prstGeom>
        </p:spPr>
        <p:txBody>
          <a:bodyPr anchorCtr="0" anchor="t" bIns="45700" lIns="91425" spcFirstLastPara="1" rIns="91425" wrap="square" tIns="45700">
            <a:normAutofit/>
          </a:bodyPr>
          <a:lstStyle>
            <a:lvl1pPr indent="-406400" lvl="0" marL="457200">
              <a:spcBef>
                <a:spcPts val="640"/>
              </a:spcBef>
              <a:spcAft>
                <a:spcPts val="0"/>
              </a:spcAft>
              <a:buSzPts val="2800"/>
              <a:buFont typeface="Lato"/>
              <a:buChar char="•"/>
              <a:defRPr sz="2800">
                <a:latin typeface="Lato"/>
                <a:ea typeface="Lato"/>
                <a:cs typeface="Lato"/>
                <a:sym typeface="Lato"/>
              </a:defRPr>
            </a:lvl1pPr>
            <a:lvl2pPr indent="-381000" lvl="1" marL="914400">
              <a:spcBef>
                <a:spcPts val="560"/>
              </a:spcBef>
              <a:spcAft>
                <a:spcPts val="0"/>
              </a:spcAft>
              <a:buSzPts val="2400"/>
              <a:buFont typeface="Lato"/>
              <a:buChar char="–"/>
              <a:defRPr sz="2400">
                <a:latin typeface="Lato"/>
                <a:ea typeface="Lato"/>
                <a:cs typeface="Lato"/>
                <a:sym typeface="Lato"/>
              </a:defRPr>
            </a:lvl2pPr>
            <a:lvl3pPr indent="-381000" lvl="2" marL="1371600">
              <a:spcBef>
                <a:spcPts val="480"/>
              </a:spcBef>
              <a:spcAft>
                <a:spcPts val="0"/>
              </a:spcAft>
              <a:buSzPts val="2400"/>
              <a:buFont typeface="Lato"/>
              <a:buChar char="•"/>
              <a:defRPr sz="2400">
                <a:latin typeface="Lato"/>
                <a:ea typeface="Lato"/>
                <a:cs typeface="Lato"/>
                <a:sym typeface="Lato"/>
              </a:defRPr>
            </a:lvl3pPr>
            <a:lvl4pPr indent="-381000" lvl="3" marL="1828800">
              <a:spcBef>
                <a:spcPts val="400"/>
              </a:spcBef>
              <a:spcAft>
                <a:spcPts val="0"/>
              </a:spcAft>
              <a:buSzPts val="2400"/>
              <a:buFont typeface="Lato"/>
              <a:buChar char="–"/>
              <a:defRPr sz="2400">
                <a:latin typeface="Lato"/>
                <a:ea typeface="Lato"/>
                <a:cs typeface="Lato"/>
                <a:sym typeface="Lato"/>
              </a:defRPr>
            </a:lvl4pPr>
            <a:lvl5pPr indent="-381000" lvl="4" marL="2286000">
              <a:spcBef>
                <a:spcPts val="400"/>
              </a:spcBef>
              <a:spcAft>
                <a:spcPts val="0"/>
              </a:spcAft>
              <a:buSzPts val="2400"/>
              <a:buFont typeface="Lato"/>
              <a:buChar char="»"/>
              <a:defRPr sz="2400">
                <a:latin typeface="Lato"/>
                <a:ea typeface="Lato"/>
                <a:cs typeface="Lato"/>
                <a:sym typeface="Lato"/>
              </a:defRPr>
            </a:lvl5pPr>
            <a:lvl6pPr indent="-381000" lvl="5" marL="2743200">
              <a:spcBef>
                <a:spcPts val="400"/>
              </a:spcBef>
              <a:spcAft>
                <a:spcPts val="0"/>
              </a:spcAft>
              <a:buSzPts val="2400"/>
              <a:buFont typeface="Lato"/>
              <a:buChar char="•"/>
              <a:defRPr sz="2400">
                <a:latin typeface="Lato"/>
                <a:ea typeface="Lato"/>
                <a:cs typeface="Lato"/>
                <a:sym typeface="Lato"/>
              </a:defRPr>
            </a:lvl6pPr>
            <a:lvl7pPr indent="-381000" lvl="6" marL="3200400">
              <a:spcBef>
                <a:spcPts val="400"/>
              </a:spcBef>
              <a:spcAft>
                <a:spcPts val="0"/>
              </a:spcAft>
              <a:buSzPts val="2400"/>
              <a:buFont typeface="Lato"/>
              <a:buChar char="•"/>
              <a:defRPr sz="2400">
                <a:latin typeface="Lato"/>
                <a:ea typeface="Lato"/>
                <a:cs typeface="Lato"/>
                <a:sym typeface="Lato"/>
              </a:defRPr>
            </a:lvl7pPr>
            <a:lvl8pPr indent="-381000" lvl="7" marL="3657600">
              <a:spcBef>
                <a:spcPts val="400"/>
              </a:spcBef>
              <a:spcAft>
                <a:spcPts val="0"/>
              </a:spcAft>
              <a:buSzPts val="2400"/>
              <a:buFont typeface="Lato"/>
              <a:buChar char="•"/>
              <a:defRPr sz="2400">
                <a:latin typeface="Lato"/>
                <a:ea typeface="Lato"/>
                <a:cs typeface="Lato"/>
                <a:sym typeface="Lato"/>
              </a:defRPr>
            </a:lvl8pPr>
            <a:lvl9pPr indent="-381000" lvl="8" marL="4114800">
              <a:spcBef>
                <a:spcPts val="400"/>
              </a:spcBef>
              <a:spcAft>
                <a:spcPts val="0"/>
              </a:spcAft>
              <a:buSzPts val="2400"/>
              <a:buFont typeface="Lato"/>
              <a:buChar char="•"/>
              <a:defRPr sz="2400">
                <a:latin typeface="Lato"/>
                <a:ea typeface="Lato"/>
                <a:cs typeface="Lato"/>
                <a:sym typeface="Lato"/>
              </a:defRPr>
            </a:lvl9pPr>
          </a:lstStyle>
          <a:p/>
        </p:txBody>
      </p:sp>
      <p:sp>
        <p:nvSpPr>
          <p:cNvPr id="101" name="Google Shape;101;g3ce92fa51fd_0_271"/>
          <p:cNvSpPr txBox="1"/>
          <p:nvPr>
            <p:ph idx="12" type="sldNum"/>
          </p:nvPr>
        </p:nvSpPr>
        <p:spPr>
          <a:xfrm>
            <a:off x="16944916" y="9326434"/>
            <a:ext cx="1097400" cy="787200"/>
          </a:xfrm>
          <a:prstGeom prst="rect">
            <a:avLst/>
          </a:prstGeom>
        </p:spPr>
        <p:txBody>
          <a:bodyPr anchorCtr="0" anchor="ctr" bIns="45700" lIns="91425" spcFirstLastPara="1" rIns="91425" wrap="square" tIns="4570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g3ce92fa51fd_0_271"/>
          <p:cNvSpPr/>
          <p:nvPr/>
        </p:nvSpPr>
        <p:spPr>
          <a:xfrm>
            <a:off x="0" y="890050"/>
            <a:ext cx="17664600" cy="1270200"/>
          </a:xfrm>
          <a:prstGeom prst="homePlate">
            <a:avLst>
              <a:gd fmla="val 50000" name="adj"/>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sp>
        <p:nvSpPr>
          <p:cNvPr id="103" name="Google Shape;103;g3ce92fa51fd_0_271"/>
          <p:cNvSpPr txBox="1"/>
          <p:nvPr>
            <p:ph type="title"/>
          </p:nvPr>
        </p:nvSpPr>
        <p:spPr>
          <a:xfrm>
            <a:off x="623400" y="890050"/>
            <a:ext cx="16321200" cy="1145400"/>
          </a:xfrm>
          <a:prstGeom prst="rect">
            <a:avLst/>
          </a:prstGeom>
        </p:spPr>
        <p:txBody>
          <a:bodyPr anchorCtr="0" anchor="ctr" bIns="45700" lIns="91425" spcFirstLastPara="1" rIns="91425" wrap="square" tIns="45700">
            <a:normAutofit/>
          </a:bodyPr>
          <a:lstStyle>
            <a:lvl1pPr indent="0" lvl="0" marL="0" marR="0">
              <a:lnSpc>
                <a:spcPct val="100000"/>
              </a:lnSpc>
              <a:spcBef>
                <a:spcPts val="0"/>
              </a:spcBef>
              <a:spcAft>
                <a:spcPts val="0"/>
              </a:spcAft>
              <a:buClr>
                <a:schemeClr val="lt1"/>
              </a:buClr>
              <a:buSzPts val="5600"/>
              <a:buFont typeface="Lato"/>
              <a:buNone/>
              <a:defRPr b="1">
                <a:solidFill>
                  <a:schemeClr val="lt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hyperlink" Target="https://craftinginterpreters.com/" TargetMode="External"/><Relationship Id="rId4" Type="http://schemas.openxmlformats.org/officeDocument/2006/relationships/hyperlink" Target="https://johannst.github.io/notes/arch/arm64.html" TargetMode="External"/><Relationship Id="rId5" Type="http://schemas.openxmlformats.org/officeDocument/2006/relationships/hyperlink" Target="https://godbolt.org/" TargetMode="External"/><Relationship Id="rId6" Type="http://schemas.openxmlformats.org/officeDocument/2006/relationships/hyperlink" Target="https://www.youtube.com/watch?v=5f6djCBK8wc" TargetMode="External"/><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www.youtube.com/watch?v=u71Du3nabXI" TargetMode="External"/><Relationship Id="rId4"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g3ce92fa51fd_0_0"/>
          <p:cNvPicPr preferRelativeResize="0"/>
          <p:nvPr/>
        </p:nvPicPr>
        <p:blipFill rotWithShape="1">
          <a:blip r:embed="rId3">
            <a:alphaModFix amt="62000"/>
          </a:blip>
          <a:srcRect b="0" l="0" r="0" t="0"/>
          <a:stretch/>
        </p:blipFill>
        <p:spPr>
          <a:xfrm>
            <a:off x="0" y="0"/>
            <a:ext cx="18288000" cy="10306153"/>
          </a:xfrm>
          <a:prstGeom prst="rect">
            <a:avLst/>
          </a:prstGeom>
          <a:noFill/>
          <a:ln>
            <a:noFill/>
          </a:ln>
        </p:spPr>
      </p:pic>
      <p:sp>
        <p:nvSpPr>
          <p:cNvPr id="109" name="Google Shape;109;g3ce92fa51fd_0_0"/>
          <p:cNvSpPr/>
          <p:nvPr/>
        </p:nvSpPr>
        <p:spPr>
          <a:xfrm>
            <a:off x="2532400" y="4440500"/>
            <a:ext cx="10883400" cy="2093400"/>
          </a:xfrm>
          <a:prstGeom prst="rect">
            <a:avLst/>
          </a:prstGeom>
          <a:noFill/>
          <a:ln>
            <a:noFill/>
          </a:ln>
        </p:spPr>
        <p:txBody>
          <a:bodyPr anchorCtr="0" anchor="t" bIns="202650" lIns="202650" spcFirstLastPara="1" rIns="202650" wrap="square" tIns="202650">
            <a:noAutofit/>
          </a:bodyPr>
          <a:lstStyle/>
          <a:p>
            <a:pPr indent="0" lvl="0" marL="0" marR="0" rtl="0" algn="l">
              <a:lnSpc>
                <a:spcPct val="100000"/>
              </a:lnSpc>
              <a:spcBef>
                <a:spcPts val="0"/>
              </a:spcBef>
              <a:spcAft>
                <a:spcPts val="0"/>
              </a:spcAft>
              <a:buNone/>
            </a:pPr>
            <a:r>
              <a:rPr b="0" i="0" lang="en-US" sz="5500" u="none" cap="none" strike="noStrike">
                <a:solidFill>
                  <a:srgbClr val="000000"/>
                </a:solidFill>
                <a:latin typeface="Arial"/>
                <a:ea typeface="Arial"/>
                <a:cs typeface="Arial"/>
                <a:sym typeface="Arial"/>
              </a:rPr>
              <a:t>Organización de Lenguajes y Compiladores 2</a:t>
            </a:r>
            <a:r>
              <a:rPr lang="en-US" sz="5500"/>
              <a:t> Sección B</a:t>
            </a:r>
            <a:endParaRPr b="0" i="0" sz="5500" u="none" cap="none" strike="noStrike">
              <a:solidFill>
                <a:srgbClr val="000000"/>
              </a:solidFill>
              <a:latin typeface="Arial"/>
              <a:ea typeface="Arial"/>
              <a:cs typeface="Arial"/>
              <a:sym typeface="Arial"/>
            </a:endParaRPr>
          </a:p>
        </p:txBody>
      </p:sp>
      <p:sp>
        <p:nvSpPr>
          <p:cNvPr id="110" name="Google Shape;110;g3ce92fa51fd_0_0"/>
          <p:cNvSpPr/>
          <p:nvPr/>
        </p:nvSpPr>
        <p:spPr>
          <a:xfrm>
            <a:off x="3149113" y="6294342"/>
            <a:ext cx="10169400" cy="1081200"/>
          </a:xfrm>
          <a:prstGeom prst="rect">
            <a:avLst/>
          </a:prstGeom>
          <a:noFill/>
          <a:ln>
            <a:noFill/>
          </a:ln>
        </p:spPr>
        <p:txBody>
          <a:bodyPr anchorCtr="0" anchor="t" bIns="202650" lIns="202650" spcFirstLastPara="1" rIns="202650" wrap="square" tIns="202650">
            <a:noAutofit/>
          </a:bodyPr>
          <a:lstStyle/>
          <a:p>
            <a:pPr indent="0" lvl="0" marL="0" marR="0" rtl="0" algn="l">
              <a:lnSpc>
                <a:spcPct val="100000"/>
              </a:lnSpc>
              <a:spcBef>
                <a:spcPts val="0"/>
              </a:spcBef>
              <a:spcAft>
                <a:spcPts val="0"/>
              </a:spcAft>
              <a:buNone/>
            </a:pPr>
            <a:r>
              <a:rPr lang="en-US" sz="4400"/>
              <a:t>Rubén Alejandro Ralda Mejia</a:t>
            </a:r>
            <a:endParaRPr b="0" i="0" sz="4400" u="none" cap="none" strike="noStrike">
              <a:solidFill>
                <a:srgbClr val="000000"/>
              </a:solidFill>
              <a:latin typeface="Arial"/>
              <a:ea typeface="Arial"/>
              <a:cs typeface="Arial"/>
              <a:sym typeface="Arial"/>
            </a:endParaRPr>
          </a:p>
        </p:txBody>
      </p:sp>
      <p:graphicFrame>
        <p:nvGraphicFramePr>
          <p:cNvPr id="111" name="Google Shape;111;g3ce92fa51fd_0_0"/>
          <p:cNvGraphicFramePr/>
          <p:nvPr/>
        </p:nvGraphicFramePr>
        <p:xfrm>
          <a:off x="10462090" y="2026600"/>
          <a:ext cx="3000000" cy="3000000"/>
        </p:xfrm>
        <a:graphic>
          <a:graphicData uri="http://schemas.openxmlformats.org/drawingml/2006/table">
            <a:tbl>
              <a:tblPr>
                <a:noFill/>
                <a:tableStyleId>{6507AF36-F7B3-4719-A68C-72149727F03D}</a:tableStyleId>
              </a:tblPr>
              <a:tblGrid>
                <a:gridCol w="3008100"/>
                <a:gridCol w="4304200"/>
              </a:tblGrid>
              <a:tr h="771900">
                <a:tc>
                  <a:txBody>
                    <a:bodyPr/>
                    <a:lstStyle/>
                    <a:p>
                      <a:pPr indent="0" lvl="0" marL="0" marR="0" rtl="0" algn="l">
                        <a:lnSpc>
                          <a:spcPct val="100000"/>
                        </a:lnSpc>
                        <a:spcBef>
                          <a:spcPts val="0"/>
                        </a:spcBef>
                        <a:spcAft>
                          <a:spcPts val="0"/>
                        </a:spcAft>
                        <a:buNone/>
                      </a:pPr>
                      <a:r>
                        <a:rPr b="1" lang="en-US" sz="2400" u="none" cap="none" strike="noStrike">
                          <a:solidFill>
                            <a:srgbClr val="000000"/>
                          </a:solidFill>
                          <a:latin typeface="Arial"/>
                          <a:ea typeface="Arial"/>
                          <a:cs typeface="Arial"/>
                          <a:sym typeface="Arial"/>
                        </a:rPr>
                        <a:t>Día, Fecha:</a:t>
                      </a:r>
                      <a:endParaRPr b="0" sz="2400" u="none" cap="none" strike="noStrike">
                        <a:solidFill>
                          <a:srgbClr val="000000"/>
                        </a:solidFill>
                        <a:latin typeface="Arial"/>
                        <a:ea typeface="Arial"/>
                        <a:cs typeface="Arial"/>
                        <a:sym typeface="Arial"/>
                      </a:endParaRPr>
                    </a:p>
                  </a:txBody>
                  <a:tcPr marT="182900" marB="182900" marR="364300" marL="36430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400" u="none" cap="none" strike="noStrike">
                          <a:solidFill>
                            <a:srgbClr val="000000"/>
                          </a:solidFill>
                          <a:latin typeface="Arial"/>
                          <a:ea typeface="Arial"/>
                          <a:cs typeface="Arial"/>
                          <a:sym typeface="Arial"/>
                        </a:rPr>
                        <a:t>Martes, </a:t>
                      </a:r>
                      <a:r>
                        <a:rPr lang="en-US" sz="2400"/>
                        <a:t>10</a:t>
                      </a:r>
                      <a:r>
                        <a:rPr b="0" lang="en-US" sz="2400" u="none" cap="none" strike="noStrike">
                          <a:solidFill>
                            <a:srgbClr val="000000"/>
                          </a:solidFill>
                          <a:latin typeface="Arial"/>
                          <a:ea typeface="Arial"/>
                          <a:cs typeface="Arial"/>
                          <a:sym typeface="Arial"/>
                        </a:rPr>
                        <a:t>/</a:t>
                      </a:r>
                      <a:r>
                        <a:rPr lang="en-US" sz="2400"/>
                        <a:t>03</a:t>
                      </a:r>
                      <a:r>
                        <a:rPr b="0" lang="en-US" sz="2400" u="none" cap="none" strike="noStrike">
                          <a:solidFill>
                            <a:srgbClr val="000000"/>
                          </a:solidFill>
                          <a:latin typeface="Arial"/>
                          <a:ea typeface="Arial"/>
                          <a:cs typeface="Arial"/>
                          <a:sym typeface="Arial"/>
                        </a:rPr>
                        <a:t>/202</a:t>
                      </a:r>
                      <a:r>
                        <a:rPr lang="en-US" sz="2400"/>
                        <a:t>6</a:t>
                      </a:r>
                      <a:endParaRPr b="0" sz="2400" u="none" cap="none" strike="noStrike">
                        <a:solidFill>
                          <a:srgbClr val="000000"/>
                        </a:solidFill>
                        <a:latin typeface="Arial"/>
                        <a:ea typeface="Arial"/>
                        <a:cs typeface="Arial"/>
                        <a:sym typeface="Arial"/>
                      </a:endParaRPr>
                    </a:p>
                  </a:txBody>
                  <a:tcPr marT="182900" marB="182900" marR="364300" marL="36430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771900">
                <a:tc>
                  <a:txBody>
                    <a:bodyPr/>
                    <a:lstStyle/>
                    <a:p>
                      <a:pPr indent="0" lvl="0" marL="0" marR="0" rtl="0" algn="l">
                        <a:lnSpc>
                          <a:spcPct val="100000"/>
                        </a:lnSpc>
                        <a:spcBef>
                          <a:spcPts val="0"/>
                        </a:spcBef>
                        <a:spcAft>
                          <a:spcPts val="0"/>
                        </a:spcAft>
                        <a:buNone/>
                      </a:pPr>
                      <a:r>
                        <a:rPr b="1" lang="en-US" sz="2400" u="none" cap="none" strike="noStrike">
                          <a:solidFill>
                            <a:srgbClr val="000000"/>
                          </a:solidFill>
                          <a:latin typeface="Arial"/>
                          <a:ea typeface="Arial"/>
                          <a:cs typeface="Arial"/>
                          <a:sym typeface="Arial"/>
                        </a:rPr>
                        <a:t>Hora de inicio:</a:t>
                      </a:r>
                      <a:endParaRPr b="0" sz="2400" u="none" cap="none" strike="noStrike">
                        <a:solidFill>
                          <a:srgbClr val="000000"/>
                        </a:solidFill>
                        <a:latin typeface="Arial"/>
                        <a:ea typeface="Arial"/>
                        <a:cs typeface="Arial"/>
                        <a:sym typeface="Arial"/>
                      </a:endParaRPr>
                    </a:p>
                  </a:txBody>
                  <a:tcPr marT="182900" marB="182900" marR="364300" marL="36430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2400"/>
                        <a:t>17</a:t>
                      </a:r>
                      <a:r>
                        <a:rPr b="0" lang="en-US" sz="2400" u="none" cap="none" strike="noStrike">
                          <a:solidFill>
                            <a:srgbClr val="000000"/>
                          </a:solidFill>
                          <a:latin typeface="Arial"/>
                          <a:ea typeface="Arial"/>
                          <a:cs typeface="Arial"/>
                          <a:sym typeface="Arial"/>
                        </a:rPr>
                        <a:t>:</a:t>
                      </a:r>
                      <a:r>
                        <a:rPr lang="en-US" sz="2400"/>
                        <a:t>20</a:t>
                      </a:r>
                      <a:endParaRPr b="0" sz="2400" u="none" cap="none" strike="noStrike">
                        <a:solidFill>
                          <a:srgbClr val="000000"/>
                        </a:solidFill>
                        <a:latin typeface="Arial"/>
                        <a:ea typeface="Arial"/>
                        <a:cs typeface="Arial"/>
                        <a:sym typeface="Arial"/>
                      </a:endParaRPr>
                    </a:p>
                  </a:txBody>
                  <a:tcPr marT="182900" marB="182900" marR="364300" marL="36430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17" name="Google Shape;117;p1"/>
          <p:cNvSpPr txBox="1"/>
          <p:nvPr/>
        </p:nvSpPr>
        <p:spPr>
          <a:xfrm>
            <a:off x="647350" y="7799825"/>
            <a:ext cx="145440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Organización de Lenguajes y Compiladores 2</a:t>
            </a:r>
            <a:endParaRPr/>
          </a:p>
        </p:txBody>
      </p:sp>
      <p:sp>
        <p:nvSpPr>
          <p:cNvPr id="118" name="Google Shape;118;p1"/>
          <p:cNvSpPr txBox="1"/>
          <p:nvPr/>
        </p:nvSpPr>
        <p:spPr>
          <a:xfrm>
            <a:off x="1000800" y="2186863"/>
            <a:ext cx="16286400" cy="4971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500" u="none" cap="none" strike="noStrike">
                <a:solidFill>
                  <a:srgbClr val="131416"/>
                </a:solidFill>
                <a:latin typeface="Open Sans"/>
                <a:ea typeface="Open Sans"/>
                <a:cs typeface="Open Sans"/>
                <a:sym typeface="Open Sans"/>
              </a:rPr>
              <a:t>Generación de código intermedio: expresiones básicas</a:t>
            </a:r>
            <a:endParaRPr sz="700"/>
          </a:p>
        </p:txBody>
      </p:sp>
      <p:sp>
        <p:nvSpPr>
          <p:cNvPr id="119" name="Google Shape;119;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a:t>
            </a:r>
            <a:r>
              <a:rPr b="1" lang="en-US" sz="2499">
                <a:solidFill>
                  <a:srgbClr val="131416"/>
                </a:solidFill>
                <a:latin typeface="Open Sans"/>
                <a:ea typeface="Open Sans"/>
                <a:cs typeface="Open Sans"/>
                <a:sym typeface="Open Sans"/>
              </a:rPr>
              <a:t>Ingeniería</a:t>
            </a:r>
            <a:r>
              <a:rPr b="1" i="0" lang="en-US" sz="2499" u="none" cap="none" strike="noStrike">
                <a:solidFill>
                  <a:srgbClr val="131416"/>
                </a:solidFill>
                <a:latin typeface="Open Sans"/>
                <a:ea typeface="Open Sans"/>
                <a:cs typeface="Open Sans"/>
                <a:sym typeface="Open Sans"/>
              </a:rPr>
              <a:t> de Ciencias Y Sistemas</a:t>
            </a:r>
            <a:endParaRPr/>
          </a:p>
        </p:txBody>
      </p:sp>
      <p:sp>
        <p:nvSpPr>
          <p:cNvPr id="120" name="Google Shape;120;p1"/>
          <p:cNvSpPr txBox="1"/>
          <p:nvPr/>
        </p:nvSpPr>
        <p:spPr>
          <a:xfrm>
            <a:off x="1028700" y="9210675"/>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a:t>
            </a:r>
            <a:r>
              <a:rPr b="1" lang="en-US" sz="2499">
                <a:solidFill>
                  <a:srgbClr val="131416"/>
                </a:solidFill>
                <a:latin typeface="Open Sans"/>
                <a:ea typeface="Open Sans"/>
                <a:cs typeface="Open Sans"/>
                <a:sym typeface="Open Sans"/>
              </a:rPr>
              <a:t>Ingeniería</a:t>
            </a:r>
            <a:endParaRPr/>
          </a:p>
        </p:txBody>
      </p:sp>
      <p:sp>
        <p:nvSpPr>
          <p:cNvPr id="121" name="Google Shape;121;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ce92fa51fd_0_205"/>
          <p:cNvSpPr txBox="1"/>
          <p:nvPr>
            <p:ph idx="1" type="body"/>
          </p:nvPr>
        </p:nvSpPr>
        <p:spPr>
          <a:xfrm>
            <a:off x="623400" y="2304950"/>
            <a:ext cx="7999800" cy="6832800"/>
          </a:xfrm>
          <a:prstGeom prst="rect">
            <a:avLst/>
          </a:prstGeom>
        </p:spPr>
        <p:txBody>
          <a:bodyPr anchorCtr="0" anchor="t" bIns="45700" lIns="91425" spcFirstLastPara="1" rIns="91425" wrap="square" tIns="45700">
            <a:normAutofit/>
          </a:bodyPr>
          <a:lstStyle/>
          <a:p>
            <a:pPr indent="-635000" lvl="0" marL="914400" rtl="0" algn="l">
              <a:spcBef>
                <a:spcPts val="640"/>
              </a:spcBef>
              <a:spcAft>
                <a:spcPts val="0"/>
              </a:spcAft>
              <a:buSzPts val="2800"/>
              <a:buChar char="➔"/>
            </a:pPr>
            <a:r>
              <a:rPr lang="en-US"/>
              <a:t>Dudas del proyecto</a:t>
            </a:r>
            <a:endParaRPr/>
          </a:p>
          <a:p>
            <a:pPr indent="-635000" lvl="0" marL="914400" rtl="0" algn="l">
              <a:spcBef>
                <a:spcPts val="640"/>
              </a:spcBef>
              <a:spcAft>
                <a:spcPts val="0"/>
              </a:spcAft>
              <a:buSzPts val="2800"/>
              <a:buChar char="➔"/>
            </a:pPr>
            <a:r>
              <a:rPr lang="en-US"/>
              <a:t>Definición</a:t>
            </a:r>
            <a:endParaRPr/>
          </a:p>
          <a:p>
            <a:pPr indent="-635000" lvl="0" marL="914400" rtl="0" algn="l">
              <a:spcBef>
                <a:spcPts val="640"/>
              </a:spcBef>
              <a:spcAft>
                <a:spcPts val="0"/>
              </a:spcAft>
              <a:buSzPts val="2800"/>
              <a:buChar char="➔"/>
            </a:pPr>
            <a:r>
              <a:rPr lang="en-US"/>
              <a:t>Código de 3 direcciones</a:t>
            </a:r>
            <a:endParaRPr/>
          </a:p>
          <a:p>
            <a:pPr indent="-635000" lvl="0" marL="914400" rtl="0" algn="l">
              <a:spcBef>
                <a:spcPts val="640"/>
              </a:spcBef>
              <a:spcAft>
                <a:spcPts val="0"/>
              </a:spcAft>
              <a:buSzPts val="2800"/>
              <a:buChar char="➔"/>
            </a:pPr>
            <a:r>
              <a:rPr lang="en-US"/>
              <a:t>Expresiones</a:t>
            </a:r>
            <a:endParaRPr/>
          </a:p>
          <a:p>
            <a:pPr indent="-635000" lvl="0" marL="914400" rtl="0" algn="l">
              <a:spcBef>
                <a:spcPts val="640"/>
              </a:spcBef>
              <a:spcAft>
                <a:spcPts val="0"/>
              </a:spcAft>
              <a:buSzPts val="2800"/>
              <a:buChar char="➔"/>
            </a:pPr>
            <a:r>
              <a:rPr lang="en-US"/>
              <a:t>Bytecode</a:t>
            </a:r>
            <a:endParaRPr/>
          </a:p>
          <a:p>
            <a:pPr indent="-635000" lvl="0" marL="914400" rtl="0" algn="l">
              <a:spcBef>
                <a:spcPts val="640"/>
              </a:spcBef>
              <a:spcAft>
                <a:spcPts val="0"/>
              </a:spcAft>
              <a:buSzPts val="2800"/>
              <a:buChar char="➔"/>
            </a:pPr>
            <a:r>
              <a:rPr lang="en-US"/>
              <a:t>Arm64</a:t>
            </a:r>
            <a:endParaRPr/>
          </a:p>
          <a:p>
            <a:pPr indent="-635000" lvl="0" marL="914400" rtl="0" algn="l">
              <a:spcBef>
                <a:spcPts val="640"/>
              </a:spcBef>
              <a:spcAft>
                <a:spcPts val="0"/>
              </a:spcAft>
              <a:buSzPts val="2800"/>
              <a:buChar char="➔"/>
            </a:pPr>
            <a:r>
              <a:rPr lang="en-US"/>
              <a:t>Ejemplo</a:t>
            </a:r>
            <a:endParaRPr/>
          </a:p>
          <a:p>
            <a:pPr indent="0" lvl="0" marL="0" rtl="0" algn="l">
              <a:spcBef>
                <a:spcPts val="640"/>
              </a:spcBef>
              <a:spcAft>
                <a:spcPts val="0"/>
              </a:spcAft>
              <a:buNone/>
            </a:pPr>
            <a:r>
              <a:rPr lang="en-US"/>
              <a:t>Recordatorios:</a:t>
            </a:r>
            <a:endParaRPr/>
          </a:p>
          <a:p>
            <a:pPr indent="-635000" lvl="0" marL="914400" rtl="0" algn="l">
              <a:spcBef>
                <a:spcPts val="640"/>
              </a:spcBef>
              <a:spcAft>
                <a:spcPts val="0"/>
              </a:spcAft>
              <a:buSzPts val="2800"/>
              <a:buChar char="➔"/>
            </a:pPr>
            <a:r>
              <a:rPr lang="en-US"/>
              <a:t>Enunciado Proyecto 2</a:t>
            </a:r>
            <a:endParaRPr/>
          </a:p>
          <a:p>
            <a:pPr indent="-635000" lvl="0" marL="914400" rtl="0" algn="l">
              <a:spcBef>
                <a:spcPts val="640"/>
              </a:spcBef>
              <a:spcAft>
                <a:spcPts val="0"/>
              </a:spcAft>
              <a:buSzPts val="2800"/>
              <a:buChar char="➔"/>
            </a:pPr>
            <a:r>
              <a:rPr lang="en-US"/>
              <a:t>Foro de esta semana</a:t>
            </a:r>
            <a:endParaRPr/>
          </a:p>
        </p:txBody>
      </p:sp>
      <p:sp>
        <p:nvSpPr>
          <p:cNvPr id="127" name="Google Shape;127;g3ce92fa51fd_0_205"/>
          <p:cNvSpPr txBox="1"/>
          <p:nvPr>
            <p:ph idx="2" type="body"/>
          </p:nvPr>
        </p:nvSpPr>
        <p:spPr>
          <a:xfrm>
            <a:off x="9664800" y="2304950"/>
            <a:ext cx="7999800" cy="6832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rPr lang="en-US"/>
              <a:t>Recursos:</a:t>
            </a:r>
            <a:endParaRPr/>
          </a:p>
          <a:p>
            <a:pPr indent="-635000" lvl="0" marL="914400" rtl="0" algn="l">
              <a:spcBef>
                <a:spcPts val="640"/>
              </a:spcBef>
              <a:spcAft>
                <a:spcPts val="0"/>
              </a:spcAft>
              <a:buSzPts val="2800"/>
              <a:buChar char="➔"/>
            </a:pPr>
            <a:r>
              <a:rPr lang="en-US" u="sng">
                <a:solidFill>
                  <a:schemeClr val="hlink"/>
                </a:solidFill>
                <a:hlinkClick r:id="rId3"/>
              </a:rPr>
              <a:t>Crafting Interpreters</a:t>
            </a:r>
            <a:endParaRPr/>
          </a:p>
          <a:p>
            <a:pPr indent="-635000" lvl="0" marL="914400" rtl="0" algn="l">
              <a:spcBef>
                <a:spcPts val="640"/>
              </a:spcBef>
              <a:spcAft>
                <a:spcPts val="0"/>
              </a:spcAft>
              <a:buSzPts val="2800"/>
              <a:buChar char="➔"/>
            </a:pPr>
            <a:r>
              <a:rPr lang="en-US" u="sng">
                <a:solidFill>
                  <a:schemeClr val="hlink"/>
                </a:solidFill>
                <a:hlinkClick r:id="rId4"/>
              </a:rPr>
              <a:t>ARM64 Cheat Sheet</a:t>
            </a:r>
            <a:endParaRPr/>
          </a:p>
          <a:p>
            <a:pPr indent="-635000" lvl="0" marL="914400" rtl="0" algn="l">
              <a:spcBef>
                <a:spcPts val="640"/>
              </a:spcBef>
              <a:spcAft>
                <a:spcPts val="0"/>
              </a:spcAft>
              <a:buSzPts val="2800"/>
              <a:buChar char="➔"/>
            </a:pPr>
            <a:r>
              <a:rPr lang="en-US" u="sng">
                <a:solidFill>
                  <a:schemeClr val="hlink"/>
                </a:solidFill>
                <a:hlinkClick r:id="rId5"/>
              </a:rPr>
              <a:t>Disassembler</a:t>
            </a:r>
            <a:endParaRPr/>
          </a:p>
          <a:p>
            <a:pPr indent="-635000" lvl="0" marL="914400" rtl="0" algn="l">
              <a:spcBef>
                <a:spcPts val="640"/>
              </a:spcBef>
              <a:spcAft>
                <a:spcPts val="0"/>
              </a:spcAft>
              <a:buSzPts val="2800"/>
              <a:buChar char="➔"/>
            </a:pPr>
            <a:r>
              <a:rPr lang="en-US" u="sng">
                <a:solidFill>
                  <a:schemeClr val="hlink"/>
                </a:solidFill>
                <a:hlinkClick r:id="rId6"/>
              </a:rPr>
              <a:t>QEMU</a:t>
            </a:r>
            <a:endParaRPr/>
          </a:p>
        </p:txBody>
      </p:sp>
      <p:sp>
        <p:nvSpPr>
          <p:cNvPr id="128" name="Google Shape;128;g3ce92fa51fd_0_205"/>
          <p:cNvSpPr txBox="1"/>
          <p:nvPr>
            <p:ph type="title"/>
          </p:nvPr>
        </p:nvSpPr>
        <p:spPr>
          <a:xfrm>
            <a:off x="623400" y="890050"/>
            <a:ext cx="16321200" cy="1145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Agenda</a:t>
            </a:r>
            <a:endParaRPr/>
          </a:p>
        </p:txBody>
      </p:sp>
      <p:sp>
        <p:nvSpPr>
          <p:cNvPr id="129" name="Google Shape;129;g3ce92fa51fd_0_205"/>
          <p:cNvSpPr/>
          <p:nvPr/>
        </p:nvSpPr>
        <p:spPr>
          <a:xfrm>
            <a:off x="7636208" y="2304970"/>
            <a:ext cx="1507784" cy="1745856"/>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2"/>
          <p:cNvGrpSpPr/>
          <p:nvPr/>
        </p:nvGrpSpPr>
        <p:grpSpPr>
          <a:xfrm>
            <a:off x="5037118" y="3703921"/>
            <a:ext cx="9356695" cy="5554379"/>
            <a:chOff x="0" y="-76200"/>
            <a:chExt cx="3983617" cy="2364780"/>
          </a:xfrm>
        </p:grpSpPr>
        <p:sp>
          <p:nvSpPr>
            <p:cNvPr id="135" name="Google Shape;135;p2"/>
            <p:cNvSpPr/>
            <p:nvPr/>
          </p:nvSpPr>
          <p:spPr>
            <a:xfrm>
              <a:off x="0" y="0"/>
              <a:ext cx="3983617" cy="2288579"/>
            </a:xfrm>
            <a:custGeom>
              <a:rect b="b" l="l" r="r" t="t"/>
              <a:pathLst>
                <a:path extrusionOk="0" h="2288579" w="3983617">
                  <a:moveTo>
                    <a:pt x="3780417" y="0"/>
                  </a:moveTo>
                  <a:lnTo>
                    <a:pt x="0" y="0"/>
                  </a:lnTo>
                  <a:lnTo>
                    <a:pt x="0" y="2288579"/>
                  </a:lnTo>
                  <a:lnTo>
                    <a:pt x="3780417" y="2288579"/>
                  </a:lnTo>
                  <a:lnTo>
                    <a:pt x="3983617" y="1144290"/>
                  </a:lnTo>
                  <a:lnTo>
                    <a:pt x="3780417" y="0"/>
                  </a:lnTo>
                  <a:close/>
                </a:path>
              </a:pathLst>
            </a:custGeom>
            <a:solidFill>
              <a:srgbClr val="FFFFFF"/>
            </a:solidFill>
            <a:ln>
              <a:noFill/>
            </a:ln>
          </p:spPr>
        </p:sp>
        <p:sp>
          <p:nvSpPr>
            <p:cNvPr id="136" name="Google Shape;136;p2"/>
            <p:cNvSpPr txBox="1"/>
            <p:nvPr/>
          </p:nvSpPr>
          <p:spPr>
            <a:xfrm>
              <a:off x="0" y="-76200"/>
              <a:ext cx="3869316" cy="236478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Dudas del proyecto</a:t>
              </a:r>
              <a:endParaRPr/>
            </a:p>
            <a:p>
              <a:pPr indent="0" lvl="0" marL="0" marR="0" rtl="0" algn="ctr">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Definición</a:t>
              </a:r>
              <a:endParaRPr/>
            </a:p>
            <a:p>
              <a:pPr indent="0" lvl="0" marL="0" marR="0" rtl="0" algn="ctr">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Código 3 direcciones</a:t>
              </a:r>
              <a:endParaRPr/>
            </a:p>
            <a:p>
              <a:pPr indent="0" lvl="0" marL="0" marR="0" rtl="0" algn="ctr">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Expresiones</a:t>
              </a:r>
              <a:endParaRPr/>
            </a:p>
            <a:p>
              <a:pPr indent="0" lvl="0" marL="0" marR="0" rtl="0" algn="ctr">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Ejemplo</a:t>
              </a:r>
              <a:endParaRPr/>
            </a:p>
            <a:p>
              <a:pPr indent="0" lvl="0" marL="0" marR="0" rtl="0" algn="ctr">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37" name="Google Shape;137;p2"/>
          <p:cNvSpPr/>
          <p:nvPr/>
        </p:nvSpPr>
        <p:spPr>
          <a:xfrm>
            <a:off x="6397318" y="3882899"/>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grpSp>
        <p:nvGrpSpPr>
          <p:cNvPr id="138" name="Google Shape;138;p2"/>
          <p:cNvGrpSpPr/>
          <p:nvPr/>
        </p:nvGrpSpPr>
        <p:grpSpPr>
          <a:xfrm>
            <a:off x="5037122" y="-71437"/>
            <a:ext cx="9044551" cy="3120462"/>
            <a:chOff x="-1382347" y="-95250"/>
            <a:chExt cx="12059400" cy="4160617"/>
          </a:xfrm>
        </p:grpSpPr>
        <p:sp>
          <p:nvSpPr>
            <p:cNvPr id="139" name="Google Shape;139;p2"/>
            <p:cNvSpPr txBox="1"/>
            <p:nvPr/>
          </p:nvSpPr>
          <p:spPr>
            <a:xfrm>
              <a:off x="-1382347" y="986767"/>
              <a:ext cx="120594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40" name="Google Shape;140;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2"/>
          <p:cNvSpPr/>
          <p:nvPr/>
        </p:nvSpPr>
        <p:spPr>
          <a:xfrm>
            <a:off x="6397318" y="4989097"/>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
        <p:nvSpPr>
          <p:cNvPr id="142" name="Google Shape;142;p2"/>
          <p:cNvSpPr/>
          <p:nvPr/>
        </p:nvSpPr>
        <p:spPr>
          <a:xfrm>
            <a:off x="6397318" y="6091641"/>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
        <p:nvSpPr>
          <p:cNvPr id="143" name="Google Shape;143;p2"/>
          <p:cNvSpPr/>
          <p:nvPr/>
        </p:nvSpPr>
        <p:spPr>
          <a:xfrm>
            <a:off x="6397318" y="7194185"/>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
        <p:nvSpPr>
          <p:cNvPr id="144" name="Google Shape;144;p2"/>
          <p:cNvSpPr/>
          <p:nvPr/>
        </p:nvSpPr>
        <p:spPr>
          <a:xfrm>
            <a:off x="6397318" y="8296729"/>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
          <p:cNvSpPr/>
          <p:nvPr/>
        </p:nvSpPr>
        <p:spPr>
          <a:xfrm>
            <a:off x="3650754" y="5714344"/>
            <a:ext cx="10986492" cy="3027528"/>
          </a:xfrm>
          <a:custGeom>
            <a:rect b="b" l="l" r="r" t="t"/>
            <a:pathLst>
              <a:path extrusionOk="0" h="3027528" w="10986492">
                <a:moveTo>
                  <a:pt x="0" y="0"/>
                </a:moveTo>
                <a:lnTo>
                  <a:pt x="10986492" y="0"/>
                </a:lnTo>
                <a:lnTo>
                  <a:pt x="10986492" y="3027528"/>
                </a:lnTo>
                <a:lnTo>
                  <a:pt x="0" y="3027528"/>
                </a:lnTo>
                <a:lnTo>
                  <a:pt x="0" y="0"/>
                </a:lnTo>
                <a:close/>
              </a:path>
            </a:pathLst>
          </a:custGeom>
          <a:blipFill rotWithShape="1">
            <a:blip r:embed="rId3">
              <a:alphaModFix/>
            </a:blip>
            <a:stretch>
              <a:fillRect b="0" l="0" r="0" t="0"/>
            </a:stretch>
          </a:blipFill>
          <a:ln>
            <a:noFill/>
          </a:ln>
        </p:spPr>
      </p:sp>
      <p:sp>
        <p:nvSpPr>
          <p:cNvPr id="150" name="Google Shape;150;p3"/>
          <p:cNvSpPr txBox="1"/>
          <p:nvPr/>
        </p:nvSpPr>
        <p:spPr>
          <a:xfrm>
            <a:off x="0" y="159703"/>
            <a:ext cx="18288000"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000000"/>
                </a:solidFill>
                <a:latin typeface="Open Sans"/>
                <a:ea typeface="Open Sans"/>
                <a:cs typeface="Open Sans"/>
                <a:sym typeface="Open Sans"/>
              </a:rPr>
              <a:t>Generación de código intermedio</a:t>
            </a:r>
            <a:endParaRPr/>
          </a:p>
        </p:txBody>
      </p:sp>
      <p:sp>
        <p:nvSpPr>
          <p:cNvPr id="151" name="Google Shape;151;p3"/>
          <p:cNvSpPr txBox="1"/>
          <p:nvPr/>
        </p:nvSpPr>
        <p:spPr>
          <a:xfrm>
            <a:off x="3036277" y="4159964"/>
            <a:ext cx="13106691" cy="1024383"/>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El front-end analiza un programa fuente y crea una representación intermedia, a partir de la cual el back-end genera el código destino.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nvSpPr>
        <p:spPr>
          <a:xfrm>
            <a:off x="2726607" y="3974039"/>
            <a:ext cx="12653515" cy="29806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 La elección o diseño de una representación intermedia varía de un compilador a otro. Una representación intermedia puede ser un verdadero lenguaje, o puede consistir en estructuras de datos internas que se comparten mediante las fases del compilador.</a:t>
            </a:r>
            <a:endParaRPr/>
          </a:p>
        </p:txBody>
      </p:sp>
      <p:sp>
        <p:nvSpPr>
          <p:cNvPr id="157" name="Google Shape;157;p4"/>
          <p:cNvSpPr txBox="1"/>
          <p:nvPr/>
        </p:nvSpPr>
        <p:spPr>
          <a:xfrm>
            <a:off x="2515125" y="2508993"/>
            <a:ext cx="1265351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Importante...</a:t>
            </a:r>
            <a:endParaRPr/>
          </a:p>
        </p:txBody>
      </p:sp>
      <p:sp>
        <p:nvSpPr>
          <p:cNvPr id="158" name="Google Shape;158;p4"/>
          <p:cNvSpPr txBox="1"/>
          <p:nvPr/>
        </p:nvSpPr>
        <p:spPr>
          <a:xfrm>
            <a:off x="12959210" y="8934767"/>
            <a:ext cx="4841825"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Se tiene de ejemplo 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p:nvPr/>
        </p:nvSpPr>
        <p:spPr>
          <a:xfrm>
            <a:off x="12427231" y="3585059"/>
            <a:ext cx="2698900" cy="1195486"/>
          </a:xfrm>
          <a:custGeom>
            <a:rect b="b" l="l" r="r" t="t"/>
            <a:pathLst>
              <a:path extrusionOk="0" h="1195486" w="2698900">
                <a:moveTo>
                  <a:pt x="0" y="0"/>
                </a:moveTo>
                <a:lnTo>
                  <a:pt x="2698900" y="0"/>
                </a:lnTo>
                <a:lnTo>
                  <a:pt x="2698900" y="1195486"/>
                </a:lnTo>
                <a:lnTo>
                  <a:pt x="0" y="1195486"/>
                </a:lnTo>
                <a:lnTo>
                  <a:pt x="0" y="0"/>
                </a:lnTo>
                <a:close/>
              </a:path>
            </a:pathLst>
          </a:custGeom>
          <a:blipFill rotWithShape="1">
            <a:blip r:embed="rId3">
              <a:alphaModFix/>
            </a:blip>
            <a:stretch>
              <a:fillRect b="0" l="0" r="0" t="0"/>
            </a:stretch>
          </a:blipFill>
          <a:ln>
            <a:noFill/>
          </a:ln>
        </p:spPr>
      </p:sp>
      <p:sp>
        <p:nvSpPr>
          <p:cNvPr id="164" name="Google Shape;164;p5"/>
          <p:cNvSpPr txBox="1"/>
          <p:nvPr/>
        </p:nvSpPr>
        <p:spPr>
          <a:xfrm>
            <a:off x="897900" y="921225"/>
            <a:ext cx="164922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000000"/>
                </a:solidFill>
                <a:latin typeface="Open Sans"/>
                <a:ea typeface="Open Sans"/>
                <a:cs typeface="Open Sans"/>
                <a:sym typeface="Open Sans"/>
              </a:rPr>
              <a:t>Código de tres direcciones</a:t>
            </a:r>
            <a:endParaRPr/>
          </a:p>
        </p:txBody>
      </p:sp>
      <p:sp>
        <p:nvSpPr>
          <p:cNvPr id="165" name="Google Shape;165;p5"/>
          <p:cNvSpPr txBox="1"/>
          <p:nvPr/>
        </p:nvSpPr>
        <p:spPr>
          <a:xfrm>
            <a:off x="2245698" y="3362960"/>
            <a:ext cx="9476329" cy="178054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Hay máximo un operador en el lado derecho de una instrucción; es decir, no se permiten expresiones aritméticas acumuladas.</a:t>
            </a:r>
            <a:endParaRPr/>
          </a:p>
        </p:txBody>
      </p:sp>
      <p:sp>
        <p:nvSpPr>
          <p:cNvPr id="166" name="Google Shape;166;p5"/>
          <p:cNvSpPr txBox="1"/>
          <p:nvPr/>
        </p:nvSpPr>
        <p:spPr>
          <a:xfrm>
            <a:off x="3720014" y="7916552"/>
            <a:ext cx="2449116"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 Direcciones</a:t>
            </a:r>
            <a:endParaRPr/>
          </a:p>
        </p:txBody>
      </p:sp>
      <p:sp>
        <p:nvSpPr>
          <p:cNvPr id="167" name="Google Shape;167;p5"/>
          <p:cNvSpPr txBox="1"/>
          <p:nvPr/>
        </p:nvSpPr>
        <p:spPr>
          <a:xfrm>
            <a:off x="7317284" y="6268654"/>
            <a:ext cx="3653433"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Se basa en:</a:t>
            </a:r>
            <a:endParaRPr/>
          </a:p>
        </p:txBody>
      </p:sp>
      <p:sp>
        <p:nvSpPr>
          <p:cNvPr id="168" name="Google Shape;168;p5"/>
          <p:cNvSpPr txBox="1"/>
          <p:nvPr/>
        </p:nvSpPr>
        <p:spPr>
          <a:xfrm>
            <a:off x="11722024" y="7916550"/>
            <a:ext cx="42603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Instrucciones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6"/>
          <p:cNvSpPr/>
          <p:nvPr/>
        </p:nvSpPr>
        <p:spPr>
          <a:xfrm>
            <a:off x="3825542" y="1693358"/>
            <a:ext cx="10636917" cy="4335509"/>
          </a:xfrm>
          <a:custGeom>
            <a:rect b="b" l="l" r="r" t="t"/>
            <a:pathLst>
              <a:path extrusionOk="0" h="4335509" w="10636917">
                <a:moveTo>
                  <a:pt x="0" y="0"/>
                </a:moveTo>
                <a:lnTo>
                  <a:pt x="10636916" y="0"/>
                </a:lnTo>
                <a:lnTo>
                  <a:pt x="10636916" y="4335509"/>
                </a:lnTo>
                <a:lnTo>
                  <a:pt x="0" y="4335509"/>
                </a:lnTo>
                <a:lnTo>
                  <a:pt x="0" y="0"/>
                </a:lnTo>
                <a:close/>
              </a:path>
            </a:pathLst>
          </a:custGeom>
          <a:blipFill rotWithShape="1">
            <a:blip r:embed="rId3">
              <a:alphaModFix/>
            </a:blip>
            <a:stretch>
              <a:fillRect b="0" l="0" r="0" t="0"/>
            </a:stretch>
          </a:blipFill>
          <a:ln>
            <a:noFill/>
          </a:ln>
        </p:spPr>
      </p:sp>
      <p:sp>
        <p:nvSpPr>
          <p:cNvPr id="174" name="Google Shape;174;p6"/>
          <p:cNvSpPr txBox="1"/>
          <p:nvPr/>
        </p:nvSpPr>
        <p:spPr>
          <a:xfrm>
            <a:off x="1762311" y="6843981"/>
            <a:ext cx="7620262" cy="154825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El código de tres direcciones es una representación lineal de un árbol sintáctico o de un GDA</a:t>
            </a:r>
            <a:endParaRPr/>
          </a:p>
        </p:txBody>
      </p:sp>
      <p:cxnSp>
        <p:nvCxnSpPr>
          <p:cNvPr id="175" name="Google Shape;175;p6"/>
          <p:cNvCxnSpPr/>
          <p:nvPr/>
        </p:nvCxnSpPr>
        <p:spPr>
          <a:xfrm flipH="1">
            <a:off x="7592371" y="8058333"/>
            <a:ext cx="4436847" cy="333906"/>
          </a:xfrm>
          <a:prstGeom prst="straightConnector1">
            <a:avLst/>
          </a:prstGeom>
          <a:noFill/>
          <a:ln cap="flat" cmpd="sng" w="38100">
            <a:solidFill>
              <a:srgbClr val="000000"/>
            </a:solidFill>
            <a:prstDash val="solid"/>
            <a:round/>
            <a:headEnd len="sm" w="sm" type="none"/>
            <a:tailEnd len="med" w="med" type="stealth"/>
          </a:ln>
        </p:spPr>
      </p:cxnSp>
      <p:sp>
        <p:nvSpPr>
          <p:cNvPr id="176" name="Google Shape;176;p6"/>
          <p:cNvSpPr txBox="1"/>
          <p:nvPr/>
        </p:nvSpPr>
        <p:spPr>
          <a:xfrm>
            <a:off x="12228207" y="6652705"/>
            <a:ext cx="4515236" cy="29806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 Un nodo N en un GDA tiene más de un padre si N representa a una subexpresión común</a:t>
            </a:r>
            <a:endParaRPr/>
          </a:p>
        </p:txBody>
      </p:sp>
      <p:sp>
        <p:nvSpPr>
          <p:cNvPr id="177" name="Google Shape;177;p6"/>
          <p:cNvSpPr txBox="1"/>
          <p:nvPr/>
        </p:nvSpPr>
        <p:spPr>
          <a:xfrm>
            <a:off x="8063434" y="537527"/>
            <a:ext cx="2638276"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Ejemplo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nvSpPr>
        <p:spPr>
          <a:xfrm>
            <a:off x="7011072" y="452899"/>
            <a:ext cx="3993900" cy="8871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 </a:t>
            </a:r>
            <a:r>
              <a:rPr b="1" i="0" lang="en-US" sz="5199" u="none" cap="none" strike="noStrike">
                <a:solidFill>
                  <a:srgbClr val="000000"/>
                </a:solidFill>
                <a:latin typeface="Open Sans"/>
                <a:ea typeface="Open Sans"/>
                <a:cs typeface="Open Sans"/>
                <a:sym typeface="Open Sans"/>
              </a:rPr>
              <a:t>Direcciones</a:t>
            </a:r>
            <a:endParaRPr/>
          </a:p>
        </p:txBody>
      </p:sp>
      <p:sp>
        <p:nvSpPr>
          <p:cNvPr id="183" name="Google Shape;183;p7"/>
          <p:cNvSpPr txBox="1"/>
          <p:nvPr/>
        </p:nvSpPr>
        <p:spPr>
          <a:xfrm>
            <a:off x="1463856" y="3220386"/>
            <a:ext cx="8207113" cy="1024383"/>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Un nombre, es un apuntador a su entrada en la tabla de simbolos</a:t>
            </a:r>
            <a:endParaRPr/>
          </a:p>
        </p:txBody>
      </p:sp>
      <p:sp>
        <p:nvSpPr>
          <p:cNvPr id="184" name="Google Shape;184;p7"/>
          <p:cNvSpPr txBox="1"/>
          <p:nvPr/>
        </p:nvSpPr>
        <p:spPr>
          <a:xfrm>
            <a:off x="3769451" y="5606689"/>
            <a:ext cx="2879080"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Una constante.</a:t>
            </a:r>
            <a:endParaRPr/>
          </a:p>
        </p:txBody>
      </p:sp>
      <p:sp>
        <p:nvSpPr>
          <p:cNvPr id="185" name="Google Shape;185;p7"/>
          <p:cNvSpPr txBox="1"/>
          <p:nvPr/>
        </p:nvSpPr>
        <p:spPr>
          <a:xfrm>
            <a:off x="1162769" y="7242195"/>
            <a:ext cx="8809286"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Un valor temporal generado por el compilador</a:t>
            </a:r>
            <a:endParaRPr/>
          </a:p>
        </p:txBody>
      </p:sp>
      <p:sp>
        <p:nvSpPr>
          <p:cNvPr id="186" name="Google Shape;186;p7"/>
          <p:cNvSpPr txBox="1"/>
          <p:nvPr/>
        </p:nvSpPr>
        <p:spPr>
          <a:xfrm>
            <a:off x="12978647" y="5590308"/>
            <a:ext cx="319042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t1 = 5 * nombre</a:t>
            </a:r>
            <a:endParaRPr/>
          </a:p>
        </p:txBody>
      </p:sp>
      <p:cxnSp>
        <p:nvCxnSpPr>
          <p:cNvPr id="187" name="Google Shape;187;p7"/>
          <p:cNvCxnSpPr/>
          <p:nvPr/>
        </p:nvCxnSpPr>
        <p:spPr>
          <a:xfrm>
            <a:off x="9670968" y="3770678"/>
            <a:ext cx="5564966" cy="1886305"/>
          </a:xfrm>
          <a:prstGeom prst="straightConnector1">
            <a:avLst/>
          </a:prstGeom>
          <a:noFill/>
          <a:ln cap="flat" cmpd="sng" w="38100">
            <a:solidFill>
              <a:srgbClr val="000000"/>
            </a:solidFill>
            <a:prstDash val="solid"/>
            <a:round/>
            <a:headEnd len="sm" w="sm" type="none"/>
            <a:tailEnd len="med" w="med" type="stealth"/>
          </a:ln>
        </p:spPr>
      </p:cxnSp>
      <p:cxnSp>
        <p:nvCxnSpPr>
          <p:cNvPr id="188" name="Google Shape;188;p7"/>
          <p:cNvCxnSpPr/>
          <p:nvPr/>
        </p:nvCxnSpPr>
        <p:spPr>
          <a:xfrm flipH="1" rot="10800000">
            <a:off x="6648531" y="5746410"/>
            <a:ext cx="7267281" cy="148633"/>
          </a:xfrm>
          <a:prstGeom prst="straightConnector1">
            <a:avLst/>
          </a:prstGeom>
          <a:noFill/>
          <a:ln cap="flat" cmpd="sng" w="38100">
            <a:solidFill>
              <a:srgbClr val="000000"/>
            </a:solidFill>
            <a:prstDash val="solid"/>
            <a:round/>
            <a:headEnd len="sm" w="sm" type="none"/>
            <a:tailEnd len="med" w="med" type="stealth"/>
          </a:ln>
        </p:spPr>
      </p:cxnSp>
      <p:cxnSp>
        <p:nvCxnSpPr>
          <p:cNvPr id="189" name="Google Shape;189;p7"/>
          <p:cNvCxnSpPr/>
          <p:nvPr/>
        </p:nvCxnSpPr>
        <p:spPr>
          <a:xfrm flipH="1" rot="10800000">
            <a:off x="9972055" y="6246228"/>
            <a:ext cx="3082723" cy="1284321"/>
          </a:xfrm>
          <a:prstGeom prst="straightConnector1">
            <a:avLst/>
          </a:prstGeom>
          <a:noFill/>
          <a:ln cap="flat" cmpd="sng" w="38100">
            <a:solidFill>
              <a:srgbClr val="000000"/>
            </a:solidFill>
            <a:prstDash val="solid"/>
            <a:round/>
            <a:headEnd len="sm" w="sm" type="none"/>
            <a:tailEnd len="med" w="med" type="stealth"/>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txBox="1"/>
          <p:nvPr/>
        </p:nvSpPr>
        <p:spPr>
          <a:xfrm>
            <a:off x="590385" y="2615375"/>
            <a:ext cx="6282184" cy="580390"/>
          </a:xfrm>
          <a:prstGeom prst="rect">
            <a:avLst/>
          </a:prstGeom>
          <a:noFill/>
          <a:ln>
            <a:noFill/>
          </a:ln>
        </p:spPr>
        <p:txBody>
          <a:bodyPr anchorCtr="0" anchor="t" bIns="0" lIns="0" spcFirstLastPara="1" rIns="0" wrap="square" tIns="0">
            <a:spAutoFit/>
          </a:bodyPr>
          <a:lstStyle/>
          <a:p>
            <a:pPr indent="-367030" lvl="1" marL="734059" marR="0" rtl="0" algn="ctr">
              <a:lnSpc>
                <a:spcPct val="140011"/>
              </a:lnSpc>
              <a:spcBef>
                <a:spcPts val="0"/>
              </a:spcBef>
              <a:spcAft>
                <a:spcPts val="0"/>
              </a:spcAft>
              <a:buClr>
                <a:srgbClr val="000000"/>
              </a:buClr>
              <a:buSzPts val="3399"/>
              <a:buFont typeface="Open Sans"/>
              <a:buAutoNum type="arabicPeriod"/>
            </a:pPr>
            <a:r>
              <a:rPr b="0" i="0" lang="en-US" sz="3399" u="none" cap="none" strike="noStrike">
                <a:solidFill>
                  <a:srgbClr val="000000"/>
                </a:solidFill>
                <a:latin typeface="Open Sans"/>
                <a:ea typeface="Open Sans"/>
                <a:cs typeface="Open Sans"/>
                <a:sym typeface="Open Sans"/>
              </a:rPr>
              <a:t>Instrucciones de asignación</a:t>
            </a:r>
            <a:endParaRPr/>
          </a:p>
        </p:txBody>
      </p:sp>
      <p:sp>
        <p:nvSpPr>
          <p:cNvPr id="195" name="Google Shape;195;p8"/>
          <p:cNvSpPr txBox="1"/>
          <p:nvPr/>
        </p:nvSpPr>
        <p:spPr>
          <a:xfrm>
            <a:off x="7299940" y="770122"/>
            <a:ext cx="4443300" cy="8871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Instrucciones</a:t>
            </a:r>
            <a:endParaRPr/>
          </a:p>
        </p:txBody>
      </p:sp>
      <p:sp>
        <p:nvSpPr>
          <p:cNvPr id="196" name="Google Shape;196;p8"/>
          <p:cNvSpPr txBox="1"/>
          <p:nvPr/>
        </p:nvSpPr>
        <p:spPr>
          <a:xfrm>
            <a:off x="7814942" y="2695257"/>
            <a:ext cx="1791891"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 x = y op z</a:t>
            </a:r>
            <a:endParaRPr/>
          </a:p>
        </p:txBody>
      </p:sp>
      <p:sp>
        <p:nvSpPr>
          <p:cNvPr id="197" name="Google Shape;197;p8"/>
          <p:cNvSpPr txBox="1"/>
          <p:nvPr/>
        </p:nvSpPr>
        <p:spPr>
          <a:xfrm>
            <a:off x="988339" y="3520864"/>
            <a:ext cx="3092797"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2. Asignaciones</a:t>
            </a:r>
            <a:endParaRPr/>
          </a:p>
        </p:txBody>
      </p:sp>
      <p:sp>
        <p:nvSpPr>
          <p:cNvPr id="198" name="Google Shape;198;p8"/>
          <p:cNvSpPr txBox="1"/>
          <p:nvPr/>
        </p:nvSpPr>
        <p:spPr>
          <a:xfrm>
            <a:off x="8004474" y="3556042"/>
            <a:ext cx="1412825"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x = op y</a:t>
            </a:r>
            <a:endParaRPr/>
          </a:p>
        </p:txBody>
      </p:sp>
      <p:sp>
        <p:nvSpPr>
          <p:cNvPr id="199" name="Google Shape;199;p8"/>
          <p:cNvSpPr txBox="1"/>
          <p:nvPr/>
        </p:nvSpPr>
        <p:spPr>
          <a:xfrm>
            <a:off x="10742197" y="3565567"/>
            <a:ext cx="1412825"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Unaria</a:t>
            </a:r>
            <a:endParaRPr/>
          </a:p>
        </p:txBody>
      </p:sp>
      <p:sp>
        <p:nvSpPr>
          <p:cNvPr id="200" name="Google Shape;200;p8"/>
          <p:cNvSpPr txBox="1"/>
          <p:nvPr/>
        </p:nvSpPr>
        <p:spPr>
          <a:xfrm>
            <a:off x="10300550" y="2615375"/>
            <a:ext cx="3708946"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Aritmética o lógica</a:t>
            </a:r>
            <a:endParaRPr/>
          </a:p>
        </p:txBody>
      </p:sp>
      <p:sp>
        <p:nvSpPr>
          <p:cNvPr id="201" name="Google Shape;201;p8"/>
          <p:cNvSpPr txBox="1"/>
          <p:nvPr/>
        </p:nvSpPr>
        <p:spPr>
          <a:xfrm>
            <a:off x="988339" y="4503590"/>
            <a:ext cx="1733252"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3. Copia </a:t>
            </a:r>
            <a:endParaRPr/>
          </a:p>
        </p:txBody>
      </p:sp>
      <p:sp>
        <p:nvSpPr>
          <p:cNvPr id="202" name="Google Shape;202;p8"/>
          <p:cNvSpPr txBox="1"/>
          <p:nvPr/>
        </p:nvSpPr>
        <p:spPr>
          <a:xfrm>
            <a:off x="8004474" y="4538769"/>
            <a:ext cx="830759"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x = y</a:t>
            </a:r>
            <a:endParaRPr/>
          </a:p>
        </p:txBody>
      </p:sp>
      <p:sp>
        <p:nvSpPr>
          <p:cNvPr id="203" name="Google Shape;203;p8"/>
          <p:cNvSpPr txBox="1"/>
          <p:nvPr/>
        </p:nvSpPr>
        <p:spPr>
          <a:xfrm>
            <a:off x="8004474" y="5474544"/>
            <a:ext cx="1280666"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 goto L</a:t>
            </a:r>
            <a:endParaRPr/>
          </a:p>
        </p:txBody>
      </p:sp>
      <p:sp>
        <p:nvSpPr>
          <p:cNvPr id="204" name="Google Shape;204;p8"/>
          <p:cNvSpPr txBox="1"/>
          <p:nvPr/>
        </p:nvSpPr>
        <p:spPr>
          <a:xfrm>
            <a:off x="988339" y="5439366"/>
            <a:ext cx="4367212"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4. Salto incondicional </a:t>
            </a:r>
            <a:endParaRPr/>
          </a:p>
        </p:txBody>
      </p:sp>
      <p:sp>
        <p:nvSpPr>
          <p:cNvPr id="205" name="Google Shape;205;p8"/>
          <p:cNvSpPr txBox="1"/>
          <p:nvPr/>
        </p:nvSpPr>
        <p:spPr>
          <a:xfrm>
            <a:off x="8851559" y="6803801"/>
            <a:ext cx="2897981" cy="1024383"/>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 if x goto L </a:t>
            </a:r>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if False x goto L</a:t>
            </a:r>
            <a:endParaRPr/>
          </a:p>
        </p:txBody>
      </p:sp>
      <p:sp>
        <p:nvSpPr>
          <p:cNvPr id="206" name="Google Shape;206;p8"/>
          <p:cNvSpPr txBox="1"/>
          <p:nvPr/>
        </p:nvSpPr>
        <p:spPr>
          <a:xfrm>
            <a:off x="988339" y="7030561"/>
            <a:ext cx="4534942"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5. Saltos condicionales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9"/>
          <p:cNvSpPr txBox="1"/>
          <p:nvPr/>
        </p:nvSpPr>
        <p:spPr>
          <a:xfrm>
            <a:off x="795534" y="1209668"/>
            <a:ext cx="9446100" cy="5805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6. Saltos condicionales con operador relacional</a:t>
            </a:r>
            <a:endParaRPr/>
          </a:p>
        </p:txBody>
      </p:sp>
      <p:sp>
        <p:nvSpPr>
          <p:cNvPr id="212" name="Google Shape;212;p9"/>
          <p:cNvSpPr txBox="1"/>
          <p:nvPr/>
        </p:nvSpPr>
        <p:spPr>
          <a:xfrm>
            <a:off x="11490744" y="1289550"/>
            <a:ext cx="3312600" cy="500400"/>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 if x relop y goto L</a:t>
            </a:r>
            <a:endParaRPr/>
          </a:p>
        </p:txBody>
      </p:sp>
      <p:sp>
        <p:nvSpPr>
          <p:cNvPr id="213" name="Google Shape;213;p9"/>
          <p:cNvSpPr txBox="1"/>
          <p:nvPr/>
        </p:nvSpPr>
        <p:spPr>
          <a:xfrm>
            <a:off x="795534" y="2780677"/>
            <a:ext cx="6024900" cy="5805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7. Llamadas a procedimientos</a:t>
            </a:r>
            <a:endParaRPr/>
          </a:p>
        </p:txBody>
      </p:sp>
      <p:sp>
        <p:nvSpPr>
          <p:cNvPr id="214" name="Google Shape;214;p9"/>
          <p:cNvSpPr txBox="1"/>
          <p:nvPr/>
        </p:nvSpPr>
        <p:spPr>
          <a:xfrm>
            <a:off x="10594225" y="2024978"/>
            <a:ext cx="2054400" cy="2981700"/>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param x_1 </a:t>
            </a:r>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param x_2 </a:t>
            </a:r>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 </a:t>
            </a:r>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param x_n </a:t>
            </a:r>
            <a:endParaRPr/>
          </a:p>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call p, n</a:t>
            </a:r>
            <a:endParaRPr/>
          </a:p>
        </p:txBody>
      </p:sp>
      <p:sp>
        <p:nvSpPr>
          <p:cNvPr id="215" name="Google Shape;215;p9"/>
          <p:cNvSpPr txBox="1"/>
          <p:nvPr/>
        </p:nvSpPr>
        <p:spPr>
          <a:xfrm>
            <a:off x="13383394" y="3037525"/>
            <a:ext cx="27993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 return y</a:t>
            </a:r>
            <a:endParaRPr/>
          </a:p>
        </p:txBody>
      </p:sp>
      <p:sp>
        <p:nvSpPr>
          <p:cNvPr id="216" name="Google Shape;216;p9"/>
          <p:cNvSpPr txBox="1"/>
          <p:nvPr/>
        </p:nvSpPr>
        <p:spPr>
          <a:xfrm>
            <a:off x="795534" y="5726300"/>
            <a:ext cx="713496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8. Instrucciones de copia indexadas</a:t>
            </a:r>
            <a:endParaRPr/>
          </a:p>
        </p:txBody>
      </p:sp>
      <p:sp>
        <p:nvSpPr>
          <p:cNvPr id="217" name="Google Shape;217;p9"/>
          <p:cNvSpPr txBox="1"/>
          <p:nvPr/>
        </p:nvSpPr>
        <p:spPr>
          <a:xfrm>
            <a:off x="9194644" y="5806182"/>
            <a:ext cx="2799300" cy="500400"/>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 x = y[i] y x[i]=y</a:t>
            </a:r>
            <a:endParaRPr/>
          </a:p>
        </p:txBody>
      </p:sp>
      <p:sp>
        <p:nvSpPr>
          <p:cNvPr id="218" name="Google Shape;218;p9"/>
          <p:cNvSpPr txBox="1"/>
          <p:nvPr/>
        </p:nvSpPr>
        <p:spPr>
          <a:xfrm>
            <a:off x="795534" y="7644725"/>
            <a:ext cx="9129564"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9. Asignaciones de direcciones y apuntadores</a:t>
            </a:r>
            <a:endParaRPr/>
          </a:p>
        </p:txBody>
      </p:sp>
      <p:sp>
        <p:nvSpPr>
          <p:cNvPr id="219" name="Google Shape;219;p9"/>
          <p:cNvSpPr txBox="1"/>
          <p:nvPr/>
        </p:nvSpPr>
        <p:spPr>
          <a:xfrm>
            <a:off x="13144402" y="7644725"/>
            <a:ext cx="1542300" cy="19881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 x =&amp;y</a:t>
            </a:r>
            <a:endParaRPr/>
          </a:p>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x =*y </a:t>
            </a:r>
            <a:endParaRPr/>
          </a:p>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 x = y</a:t>
            </a:r>
            <a:endParaRPr/>
          </a:p>
        </p:txBody>
      </p:sp>
      <p:sp>
        <p:nvSpPr>
          <p:cNvPr id="220" name="Google Shape;220;p9"/>
          <p:cNvSpPr txBox="1"/>
          <p:nvPr/>
        </p:nvSpPr>
        <p:spPr>
          <a:xfrm>
            <a:off x="13865929" y="3827185"/>
            <a:ext cx="33189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y es un nombre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0"/>
          <p:cNvSpPr txBox="1"/>
          <p:nvPr/>
        </p:nvSpPr>
        <p:spPr>
          <a:xfrm>
            <a:off x="1691856" y="2645728"/>
            <a:ext cx="15281934" cy="482409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000000"/>
                </a:solidFill>
                <a:latin typeface="Open Sans"/>
                <a:ea typeface="Open Sans"/>
                <a:cs typeface="Open Sans"/>
                <a:sym typeface="Open Sans"/>
              </a:rPr>
              <a:t>¿Cómo se representa el c3d en una estructura de datos?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1"/>
          <p:cNvSpPr txBox="1"/>
          <p:nvPr/>
        </p:nvSpPr>
        <p:spPr>
          <a:xfrm>
            <a:off x="1487927" y="2351764"/>
            <a:ext cx="15312146" cy="238061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 En un compilador, estas instrucciones pueden implementarse como objetos o como registros, con campos para el operador y los operandos. Tres de estas representaciones se conocen como “cuádruplos”, “tripletas” y “tripletas indirectas”. </a:t>
            </a:r>
            <a:endParaRPr/>
          </a:p>
        </p:txBody>
      </p:sp>
      <p:sp>
        <p:nvSpPr>
          <p:cNvPr id="231" name="Google Shape;231;p11"/>
          <p:cNvSpPr txBox="1"/>
          <p:nvPr/>
        </p:nvSpPr>
        <p:spPr>
          <a:xfrm>
            <a:off x="904056" y="5755055"/>
            <a:ext cx="16479887"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Empezaremos con cuádruplos (puede que cambie)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2"/>
          <p:cNvSpPr txBox="1"/>
          <p:nvPr/>
        </p:nvSpPr>
        <p:spPr>
          <a:xfrm>
            <a:off x="1108397" y="1345620"/>
            <a:ext cx="16071205"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son 4 campos, op, arg1, arg2 y resultado. El operador de asignación es implícito.</a:t>
            </a:r>
            <a:endParaRPr/>
          </a:p>
        </p:txBody>
      </p:sp>
      <p:sp>
        <p:nvSpPr>
          <p:cNvPr id="237" name="Google Shape;237;p12"/>
          <p:cNvSpPr txBox="1"/>
          <p:nvPr/>
        </p:nvSpPr>
        <p:spPr>
          <a:xfrm>
            <a:off x="2449835" y="3173429"/>
            <a:ext cx="14173834" cy="29806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Se exceptúan: </a:t>
            </a:r>
            <a:endParaRPr/>
          </a:p>
          <a:p>
            <a:pPr indent="-367030" lvl="1" marL="734059" marR="0" rtl="0" algn="ctr">
              <a:lnSpc>
                <a:spcPct val="140011"/>
              </a:lnSpc>
              <a:spcBef>
                <a:spcPts val="0"/>
              </a:spcBef>
              <a:spcAft>
                <a:spcPts val="0"/>
              </a:spcAft>
              <a:buClr>
                <a:srgbClr val="000000"/>
              </a:buClr>
              <a:buSzPts val="3399"/>
              <a:buFont typeface="Open Sans"/>
              <a:buAutoNum type="arabicPeriod"/>
            </a:pPr>
            <a:r>
              <a:rPr b="0" i="0" lang="en-US" sz="3399" u="none" cap="none" strike="noStrike">
                <a:solidFill>
                  <a:srgbClr val="000000"/>
                </a:solidFill>
                <a:latin typeface="Open Sans"/>
                <a:ea typeface="Open Sans"/>
                <a:cs typeface="Open Sans"/>
                <a:sym typeface="Open Sans"/>
              </a:rPr>
              <a:t>Operadores unarios donde no se utiliza el arg2</a:t>
            </a:r>
            <a:endParaRPr/>
          </a:p>
          <a:p>
            <a:pPr indent="-367030" lvl="1" marL="734059" marR="0" rtl="0" algn="ctr">
              <a:lnSpc>
                <a:spcPct val="140011"/>
              </a:lnSpc>
              <a:spcBef>
                <a:spcPts val="0"/>
              </a:spcBef>
              <a:spcAft>
                <a:spcPts val="0"/>
              </a:spcAft>
              <a:buClr>
                <a:srgbClr val="000000"/>
              </a:buClr>
              <a:buSzPts val="3399"/>
              <a:buFont typeface="Open Sans"/>
              <a:buAutoNum type="arabicPeriod"/>
            </a:pPr>
            <a:r>
              <a:rPr b="0" i="0" lang="en-US" sz="3399" u="none" cap="none" strike="noStrike">
                <a:solidFill>
                  <a:srgbClr val="000000"/>
                </a:solidFill>
                <a:latin typeface="Open Sans"/>
                <a:ea typeface="Open Sans"/>
                <a:cs typeface="Open Sans"/>
                <a:sym typeface="Open Sans"/>
              </a:rPr>
              <a:t>Los operadores como param no utilizan arg2 ni resultado</a:t>
            </a:r>
            <a:endParaRPr/>
          </a:p>
          <a:p>
            <a:pPr indent="-367030" lvl="1" marL="734059" marR="0" rtl="0" algn="ctr">
              <a:lnSpc>
                <a:spcPct val="140011"/>
              </a:lnSpc>
              <a:spcBef>
                <a:spcPts val="0"/>
              </a:spcBef>
              <a:spcAft>
                <a:spcPts val="0"/>
              </a:spcAft>
              <a:buClr>
                <a:srgbClr val="000000"/>
              </a:buClr>
              <a:buSzPts val="3399"/>
              <a:buFont typeface="Open Sans"/>
              <a:buAutoNum type="arabicPeriod"/>
            </a:pPr>
            <a:r>
              <a:rPr b="0" i="0" lang="en-US" sz="3399" u="none" cap="none" strike="noStrike">
                <a:solidFill>
                  <a:srgbClr val="000000"/>
                </a:solidFill>
                <a:latin typeface="Open Sans"/>
                <a:ea typeface="Open Sans"/>
                <a:cs typeface="Open Sans"/>
                <a:sym typeface="Open Sans"/>
              </a:rPr>
              <a:t>Los saltos condicionales o incondicionales con la etiqueta de destino en resultado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p:nvPr/>
        </p:nvSpPr>
        <p:spPr>
          <a:xfrm>
            <a:off x="3741637" y="2649464"/>
            <a:ext cx="10804726" cy="4988071"/>
          </a:xfrm>
          <a:custGeom>
            <a:rect b="b" l="l" r="r" t="t"/>
            <a:pathLst>
              <a:path extrusionOk="0" h="4988071" w="10804726">
                <a:moveTo>
                  <a:pt x="0" y="0"/>
                </a:moveTo>
                <a:lnTo>
                  <a:pt x="10804726" y="0"/>
                </a:lnTo>
                <a:lnTo>
                  <a:pt x="10804726" y="4988072"/>
                </a:lnTo>
                <a:lnTo>
                  <a:pt x="0" y="4988072"/>
                </a:lnTo>
                <a:lnTo>
                  <a:pt x="0" y="0"/>
                </a:lnTo>
                <a:close/>
              </a:path>
            </a:pathLst>
          </a:custGeom>
          <a:blipFill rotWithShape="1">
            <a:blip r:embed="rId3">
              <a:alphaModFix/>
            </a:blip>
            <a:stretch>
              <a:fillRect b="0" l="0" r="0" t="0"/>
            </a:stretch>
          </a:blipFill>
          <a:ln>
            <a:noFill/>
          </a:ln>
        </p:spPr>
      </p:sp>
      <p:sp>
        <p:nvSpPr>
          <p:cNvPr id="243" name="Google Shape;243;p13"/>
          <p:cNvSpPr txBox="1"/>
          <p:nvPr/>
        </p:nvSpPr>
        <p:spPr>
          <a:xfrm>
            <a:off x="7401898" y="537527"/>
            <a:ext cx="2638200" cy="8871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Ejemplo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ce75bb6569_0_0"/>
          <p:cNvSpPr txBox="1"/>
          <p:nvPr>
            <p:ph type="title"/>
          </p:nvPr>
        </p:nvSpPr>
        <p:spPr>
          <a:xfrm>
            <a:off x="623400" y="890050"/>
            <a:ext cx="16321200" cy="1145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Bytecode</a:t>
            </a:r>
            <a:endParaRPr/>
          </a:p>
        </p:txBody>
      </p:sp>
      <p:sp>
        <p:nvSpPr>
          <p:cNvPr id="249" name="Google Shape;249;g3ce75bb6569_0_0"/>
          <p:cNvSpPr txBox="1"/>
          <p:nvPr>
            <p:ph idx="1" type="body"/>
          </p:nvPr>
        </p:nvSpPr>
        <p:spPr>
          <a:xfrm>
            <a:off x="623400" y="2304950"/>
            <a:ext cx="17041200" cy="6832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rPr lang="en-US"/>
              <a:t>El bytecode es una representación intermedia del programa optimizada para su ejecución en una máquina virtual. En lugar de interpretar directamente el AST (Árbol de Sintaxis Abstracta), el programa se transforma en una secuencia de instrucciones más simples que pueden ejecutarse de forma más eficiente por el intérprete.</a:t>
            </a:r>
            <a:endParaRPr/>
          </a:p>
        </p:txBody>
      </p:sp>
      <p:pic>
        <p:nvPicPr>
          <p:cNvPr id="250" name="Google Shape;250;g3ce75bb6569_0_0"/>
          <p:cNvPicPr preferRelativeResize="0"/>
          <p:nvPr/>
        </p:nvPicPr>
        <p:blipFill>
          <a:blip r:embed="rId3">
            <a:alphaModFix/>
          </a:blip>
          <a:stretch>
            <a:fillRect/>
          </a:stretch>
        </p:blipFill>
        <p:spPr>
          <a:xfrm>
            <a:off x="4840529" y="5143500"/>
            <a:ext cx="7886950" cy="39942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g3ce75bb6569_0_6"/>
          <p:cNvPicPr preferRelativeResize="0"/>
          <p:nvPr/>
        </p:nvPicPr>
        <p:blipFill>
          <a:blip r:embed="rId3">
            <a:alphaModFix/>
          </a:blip>
          <a:stretch>
            <a:fillRect/>
          </a:stretch>
        </p:blipFill>
        <p:spPr>
          <a:xfrm>
            <a:off x="304800" y="1326700"/>
            <a:ext cx="17678401" cy="5920466"/>
          </a:xfrm>
          <a:prstGeom prst="rect">
            <a:avLst/>
          </a:prstGeom>
          <a:noFill/>
          <a:ln>
            <a:noFill/>
          </a:ln>
        </p:spPr>
      </p:pic>
      <p:sp>
        <p:nvSpPr>
          <p:cNvPr id="256" name="Google Shape;256;g3ce75bb6569_0_6"/>
          <p:cNvSpPr txBox="1"/>
          <p:nvPr/>
        </p:nvSpPr>
        <p:spPr>
          <a:xfrm>
            <a:off x="3441350" y="8296300"/>
            <a:ext cx="11377200" cy="1124400"/>
          </a:xfrm>
          <a:prstGeom prst="rect">
            <a:avLst/>
          </a:prstGeom>
          <a:noFill/>
          <a:ln>
            <a:noFill/>
          </a:ln>
        </p:spPr>
        <p:txBody>
          <a:bodyPr anchorCtr="0" anchor="t" bIns="182850" lIns="182850" spcFirstLastPara="1" rIns="182850" wrap="square" tIns="182850">
            <a:noAutofit/>
          </a:bodyPr>
          <a:lstStyle/>
          <a:p>
            <a:pPr indent="0" lvl="0" marL="0" rtl="0" algn="ctr">
              <a:spcBef>
                <a:spcPts val="0"/>
              </a:spcBef>
              <a:spcAft>
                <a:spcPts val="0"/>
              </a:spcAft>
              <a:buNone/>
            </a:pPr>
            <a:r>
              <a:rPr lang="en-US" sz="3600">
                <a:solidFill>
                  <a:schemeClr val="lt1"/>
                </a:solidFill>
                <a:latin typeface="Lato"/>
                <a:ea typeface="Lato"/>
                <a:cs typeface="Lato"/>
                <a:sym typeface="Lato"/>
              </a:rPr>
              <a:t>Ejemplo de Java bytecode</a:t>
            </a:r>
            <a:endParaRPr sz="36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ce75bb6569_0_11"/>
          <p:cNvSpPr txBox="1"/>
          <p:nvPr>
            <p:ph type="title"/>
          </p:nvPr>
        </p:nvSpPr>
        <p:spPr>
          <a:xfrm>
            <a:off x="623400" y="4301700"/>
            <a:ext cx="17041200" cy="16836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ARM64</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ce75bb6569_0_15"/>
          <p:cNvSpPr txBox="1"/>
          <p:nvPr>
            <p:ph type="title"/>
          </p:nvPr>
        </p:nvSpPr>
        <p:spPr>
          <a:xfrm>
            <a:off x="623400" y="890050"/>
            <a:ext cx="16321200" cy="1145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¿Qué es?</a:t>
            </a:r>
            <a:endParaRPr/>
          </a:p>
        </p:txBody>
      </p:sp>
      <p:sp>
        <p:nvSpPr>
          <p:cNvPr id="267" name="Google Shape;267;g3ce75bb6569_0_15"/>
          <p:cNvSpPr txBox="1"/>
          <p:nvPr>
            <p:ph idx="1" type="body"/>
          </p:nvPr>
        </p:nvSpPr>
        <p:spPr>
          <a:xfrm>
            <a:off x="623400" y="2304950"/>
            <a:ext cx="17041200" cy="6832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rPr lang="en-US"/>
              <a:t>ARM64 (también conocido como AArch64) es una arquitectura de conjunto de instrucciones de 64 bits desarrollada por Arm Ltd. basada en los principios de RISC (Reduced Instruction Set Computer). Está diseñada para ofrecer alto rendimiento y eficiencia energética, por lo que es ampliamente utilizada en dispositivos móviles, sistemas embebidos y servidores modernos.</a:t>
            </a:r>
            <a:endParaRPr/>
          </a:p>
        </p:txBody>
      </p:sp>
      <p:pic>
        <p:nvPicPr>
          <p:cNvPr id="268" name="Google Shape;268;g3ce75bb6569_0_15"/>
          <p:cNvPicPr preferRelativeResize="0"/>
          <p:nvPr/>
        </p:nvPicPr>
        <p:blipFill>
          <a:blip r:embed="rId3">
            <a:alphaModFix/>
          </a:blip>
          <a:stretch>
            <a:fillRect/>
          </a:stretch>
        </p:blipFill>
        <p:spPr>
          <a:xfrm>
            <a:off x="6762750" y="6797125"/>
            <a:ext cx="4762500" cy="1466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ce75bb6569_0_21"/>
          <p:cNvSpPr txBox="1"/>
          <p:nvPr>
            <p:ph type="title"/>
          </p:nvPr>
        </p:nvSpPr>
        <p:spPr>
          <a:xfrm>
            <a:off x="623400" y="890050"/>
            <a:ext cx="16321200" cy="1145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Registros e Instrucciones Básicas</a:t>
            </a:r>
            <a:endParaRPr/>
          </a:p>
        </p:txBody>
      </p:sp>
      <p:sp>
        <p:nvSpPr>
          <p:cNvPr id="274" name="Google Shape;274;g3ce75bb6569_0_21"/>
          <p:cNvSpPr txBox="1"/>
          <p:nvPr>
            <p:ph idx="1" type="body"/>
          </p:nvPr>
        </p:nvSpPr>
        <p:spPr>
          <a:xfrm>
            <a:off x="623400" y="2304950"/>
            <a:ext cx="17041200" cy="6832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a:p>
        </p:txBody>
      </p:sp>
      <p:pic>
        <p:nvPicPr>
          <p:cNvPr id="275" name="Google Shape;275;g3ce75bb6569_0_21"/>
          <p:cNvPicPr preferRelativeResize="0"/>
          <p:nvPr/>
        </p:nvPicPr>
        <p:blipFill rotWithShape="1">
          <a:blip r:embed="rId3">
            <a:alphaModFix/>
          </a:blip>
          <a:srcRect b="0" l="0" r="43436" t="0"/>
          <a:stretch/>
        </p:blipFill>
        <p:spPr>
          <a:xfrm>
            <a:off x="1142589" y="2644775"/>
            <a:ext cx="8243150" cy="6153150"/>
          </a:xfrm>
          <a:prstGeom prst="rect">
            <a:avLst/>
          </a:prstGeom>
          <a:noFill/>
          <a:ln>
            <a:noFill/>
          </a:ln>
        </p:spPr>
      </p:pic>
      <p:pic>
        <p:nvPicPr>
          <p:cNvPr id="276" name="Google Shape;276;g3ce75bb6569_0_21"/>
          <p:cNvPicPr preferRelativeResize="0"/>
          <p:nvPr/>
        </p:nvPicPr>
        <p:blipFill>
          <a:blip r:embed="rId4">
            <a:alphaModFix/>
          </a:blip>
          <a:stretch>
            <a:fillRect/>
          </a:stretch>
        </p:blipFill>
        <p:spPr>
          <a:xfrm>
            <a:off x="9789249" y="2304951"/>
            <a:ext cx="7385363" cy="68328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descr="La rivalidad entre dos amigos se transforma en el fuego que forjara el procesador más exitoso del mundo.&#10;&#10;Esta es una compilación de videos pasados, re editados, con errores arreglados y nuevos actores de voz.&#10;&#10;Eventos ligeramente ajustados o exagerados por temas narrativos.&#10;&#10;SideQuest es la serie recompensa para Patreon:&#10;La conspiración que acabo con Ferranti, https://www.patreon.com/posts/bonus-que-la-62737885&#10;Como la BBC Micro falló en América en Patreon: https://www.patreon.com/posts/77830116&#10;La entrevista completa a Steve Furber: https://www.patreon.com/posts/77830048&#10;¿Y que le paso a Acorn Computers?: https://www.patreon.com/posts/80825635&#10;&#10;Y para miembros del canal:&#10;La conspiración que acabo con Ferranti: https://www.youtube.com/watch?v=bWpt85_MArE&#10;Como la BBC Micro falló en América: https://youtu.be/piYvYskJmXw&#10;La entrevista completa a Steve Furber: https://youtu.be/URdFK-txUeI&#10;¿Y que le paso a Acorn Computers?: https://www.youtube.com/watch?v=2597W5aihW8&#10;&#10;Social media:&#10;https://twitter.com/lowspec_gamer&#10;https://www.instagram.com/thelowspecgamer&#10;&#10;Créditos:&#10;&#10;Investigación y guion: LowSpecAlex&#10;Voz: LowSpecAlex&#10;Edición: Zave Davey, LowSpecAlex&#10;Edición de audio: Susmit Gupta&#10;Animación 3D: Windy, Divye&#10;Dibujos de Maiku No Koe: https://twitter.com/maiku_no_koe&#10;Miniatura: Maiku no Koe&#10;Traducción de español, Edición de audio, revision: Henrique von Buren&#10;Doblaje de: https://twitter.com/JesusHDoblaje&#10;Invitada especial/Sophie Wilson: Karen Hernández&#10;&#10;Music by Epidemic Sound: http://epidemicsound.com/creator&#10;Stock Footage from Getty&#10;&#10;Fuentes:&#10;The ZX Spectrum Ula: How to Design a Microcomputer de Christopher David Smith&#10;Entrevista con Chris Curry: https://www.youtube.com/watch?v=KrTmvqwpZF8&amp;list=WL&#10;Comentario de Micro Men con Chris Curry, Steve Furber and Hermann Hauser: https://www.youtube.com/watch?v=yaonVYOTSsk&#10;Sobre las fallas de Sinclair reportadas por Acorn: https://sinclairuser.com/035/news.htm&#10;Sobre el diseño del teclado: https://www.bbc.com/news/technology-17776666&#10;Sobre el debate de los juegos en Sinclair: https://www.cnet.com/news/clive-sinclairs-zx-spectrum-this-is-where-the-uk-games-industry-came-from/&#10;On semiconductor manufacture: https://www.youtube.com/watch?v=u3ws0UebnSE&#10;http://archive.computerhistory.org/resources/access/text/2015/04/102739951-05-01-acc.pdf&#10;https://archive.computerhistory.org/resources/access/text/2012/05/102746196-05-01-acc.pdf&#10;https://archive.computerhistory.org/resources/access/text/2012/06/102746190-05-01-acc.pdf&#10;http://archive.computerhistory.org/resources/access/text/2015/04/102739951-05-01-acc.pdf&#10;http://archive.computerhistory.org/resources/access/text/2013/04/102746578-05-01-acc.pdf" id="281" name="Google Shape;281;g3ce75bb6569_0_28" title="La Guerra Tecnologíca que creo ARM (Remasterizado)">
            <a:hlinkClick r:id="rId3"/>
          </p:cNvPr>
          <p:cNvPicPr preferRelativeResize="0"/>
          <p:nvPr/>
        </p:nvPicPr>
        <p:blipFill>
          <a:blip r:embed="rId4">
            <a:alphaModFix/>
          </a:blip>
          <a:stretch>
            <a:fillRect/>
          </a:stretch>
        </p:blipFill>
        <p:spPr>
          <a:xfrm>
            <a:off x="2030275" y="895050"/>
            <a:ext cx="14707400" cy="8272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nvSpPr>
        <p:spPr>
          <a:xfrm>
            <a:off x="4057725" y="659284"/>
            <a:ext cx="97353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000000"/>
                </a:solidFill>
                <a:latin typeface="Open Sans"/>
                <a:ea typeface="Open Sans"/>
                <a:cs typeface="Open Sans"/>
                <a:sym typeface="Open Sans"/>
              </a:rPr>
              <a:t>Ejemplo práctico</a:t>
            </a:r>
            <a:endParaRPr/>
          </a:p>
        </p:txBody>
      </p:sp>
      <p:sp>
        <p:nvSpPr>
          <p:cNvPr id="287" name="Google Shape;287;p14"/>
          <p:cNvSpPr txBox="1"/>
          <p:nvPr/>
        </p:nvSpPr>
        <p:spPr>
          <a:xfrm>
            <a:off x="3009751" y="4819967"/>
            <a:ext cx="122685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399">
                <a:latin typeface="Open Sans"/>
                <a:ea typeface="Open Sans"/>
                <a:cs typeface="Open Sans"/>
                <a:sym typeface="Open Sans"/>
              </a:rPr>
              <a:t>Cómo</a:t>
            </a:r>
            <a:r>
              <a:rPr b="0" i="0" lang="en-US" sz="3399" u="none" cap="none" strike="noStrike">
                <a:solidFill>
                  <a:srgbClr val="000000"/>
                </a:solidFill>
                <a:latin typeface="Open Sans"/>
                <a:ea typeface="Open Sans"/>
                <a:cs typeface="Open Sans"/>
                <a:sym typeface="Open Sans"/>
              </a:rPr>
              <a:t> representar las expresiones en código tres direcciones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5"/>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93" name="Google Shape;293;p15"/>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94" name="Google Shape;294;p15"/>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95" name="Google Shape;295;p15"/>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