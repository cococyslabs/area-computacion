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Lobster"/>
      <p:regular r:id="rId27"/>
    </p:embeddedFont>
    <p:embeddedFont>
      <p:font typeface="Lato"/>
      <p:regular r:id="rId28"/>
      <p:bold r:id="rId29"/>
      <p:italic r:id="rId30"/>
      <p:boldItalic r:id="rId31"/>
    </p:embeddedFont>
    <p:embeddedFont>
      <p:font typeface="Saira"/>
      <p:regular r:id="rId32"/>
      <p:bold r:id="rId33"/>
      <p:italic r:id="rId34"/>
      <p:boldItalic r:id="rId35"/>
    </p:embeddedFont>
    <p:embeddedFont>
      <p:font typeface="Saira ExtraLight"/>
      <p:regular r:id="rId36"/>
      <p:bold r:id="rId37"/>
      <p:italic r:id="rId38"/>
      <p:boldItalic r:id="rId39"/>
    </p:embeddedFont>
    <p:embeddedFont>
      <p:font typeface="Pacifico"/>
      <p:regular r:id="rId40"/>
    </p:embeddedFont>
    <p:embeddedFont>
      <p:font typeface="Saira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8AAAA4-CE37-488D-82F5-5E5CC842EC3A}">
  <a:tblStyle styleId="{0E8AAAA4-CE37-488D-82F5-5E5CC842EC3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acifico-regular.fntdata"/><Relationship Id="rId20" Type="http://schemas.openxmlformats.org/officeDocument/2006/relationships/slide" Target="slides/slide14.xml"/><Relationship Id="rId42" Type="http://schemas.openxmlformats.org/officeDocument/2006/relationships/font" Target="fonts/SairaLight-bold.fntdata"/><Relationship Id="rId41" Type="http://schemas.openxmlformats.org/officeDocument/2006/relationships/font" Target="fonts/SairaLight-regular.fntdata"/><Relationship Id="rId22" Type="http://schemas.openxmlformats.org/officeDocument/2006/relationships/slide" Target="slides/slide16.xml"/><Relationship Id="rId44" Type="http://schemas.openxmlformats.org/officeDocument/2006/relationships/font" Target="fonts/SairaLight-boldItalic.fntdata"/><Relationship Id="rId21" Type="http://schemas.openxmlformats.org/officeDocument/2006/relationships/slide" Target="slides/slide15.xml"/><Relationship Id="rId43" Type="http://schemas.openxmlformats.org/officeDocument/2006/relationships/font" Target="fonts/SairaLight-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ato-regular.fntdata"/><Relationship Id="rId27" Type="http://schemas.openxmlformats.org/officeDocument/2006/relationships/font" Target="fonts/Lobst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33" Type="http://schemas.openxmlformats.org/officeDocument/2006/relationships/font" Target="fonts/Saira-bold.fntdata"/><Relationship Id="rId10" Type="http://schemas.openxmlformats.org/officeDocument/2006/relationships/slide" Target="slides/slide4.xml"/><Relationship Id="rId32" Type="http://schemas.openxmlformats.org/officeDocument/2006/relationships/font" Target="fonts/Saira-regular.fntdata"/><Relationship Id="rId13" Type="http://schemas.openxmlformats.org/officeDocument/2006/relationships/slide" Target="slides/slide7.xml"/><Relationship Id="rId35" Type="http://schemas.openxmlformats.org/officeDocument/2006/relationships/font" Target="fonts/Saira-boldItalic.fntdata"/><Relationship Id="rId12" Type="http://schemas.openxmlformats.org/officeDocument/2006/relationships/slide" Target="slides/slide6.xml"/><Relationship Id="rId34" Type="http://schemas.openxmlformats.org/officeDocument/2006/relationships/font" Target="fonts/Saira-italic.fntdata"/><Relationship Id="rId15" Type="http://schemas.openxmlformats.org/officeDocument/2006/relationships/slide" Target="slides/slide9.xml"/><Relationship Id="rId37" Type="http://schemas.openxmlformats.org/officeDocument/2006/relationships/font" Target="fonts/SairaExtraLight-bold.fntdata"/><Relationship Id="rId14" Type="http://schemas.openxmlformats.org/officeDocument/2006/relationships/slide" Target="slides/slide8.xml"/><Relationship Id="rId36" Type="http://schemas.openxmlformats.org/officeDocument/2006/relationships/font" Target="fonts/SairaExtraLight-regular.fntdata"/><Relationship Id="rId17" Type="http://schemas.openxmlformats.org/officeDocument/2006/relationships/slide" Target="slides/slide11.xml"/><Relationship Id="rId39" Type="http://schemas.openxmlformats.org/officeDocument/2006/relationships/font" Target="fonts/SairaExtraLight-boldItalic.fntdata"/><Relationship Id="rId16" Type="http://schemas.openxmlformats.org/officeDocument/2006/relationships/slide" Target="slides/slide10.xml"/><Relationship Id="rId38" Type="http://schemas.openxmlformats.org/officeDocument/2006/relationships/font" Target="fonts/SairaExtra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ff96320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6ff96320c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ff96320ce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6ff96320ce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ae787236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ae787236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ae787236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ae787236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ae787236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ae787236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ae787236e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ae787236e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ae787236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ae787236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ae787236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cae787236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ae787236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cae787236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ae787236e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cae787236e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ae787236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ae787236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623520" y="889920"/>
            <a:ext cx="1704000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a:off x="623520" y="2304720"/>
            <a:ext cx="17040000" cy="6832200"/>
          </a:xfrm>
          <a:prstGeom prst="rect">
            <a:avLst/>
          </a:prstGeom>
          <a:noFill/>
          <a:ln>
            <a:noFill/>
          </a:ln>
        </p:spPr>
        <p:txBody>
          <a:bodyPr anchorCtr="0" anchor="t" bIns="0" lIns="0" spcFirstLastPara="1" rIns="0" wrap="square" tIns="0">
            <a:norm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83" name="Google Shape;83;p13"/>
          <p:cNvSpPr txBox="1"/>
          <p:nvPr>
            <p:ph idx="12" type="sldNum"/>
          </p:nvPr>
        </p:nvSpPr>
        <p:spPr>
          <a:xfrm>
            <a:off x="16945200" y="9326160"/>
            <a:ext cx="1096800" cy="786000"/>
          </a:xfrm>
          <a:prstGeom prst="rect">
            <a:avLst/>
          </a:prstGeom>
          <a:noFill/>
          <a:ln>
            <a:noFill/>
          </a:ln>
        </p:spPr>
        <p:txBody>
          <a:bodyPr anchorCtr="0" anchor="ctr" bIns="182850" lIns="182850" spcFirstLastPara="1" rIns="182850" wrap="square" tIns="182850">
            <a:normAutofit/>
          </a:bodyPr>
          <a:lstStyle>
            <a:lvl1pPr indent="0" lvl="0"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84" name="Shape 84"/>
        <p:cNvGrpSpPr/>
        <p:nvPr/>
      </p:nvGrpSpPr>
      <p:grpSpPr>
        <a:xfrm>
          <a:off x="0" y="0"/>
          <a:ext cx="0" cy="0"/>
          <a:chOff x="0" y="0"/>
          <a:chExt cx="0" cy="0"/>
        </a:xfrm>
      </p:grpSpPr>
      <p:sp>
        <p:nvSpPr>
          <p:cNvPr id="85" name="Google Shape;85;p14"/>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86" name="Google Shape;86;p14"/>
          <p:cNvSpPr txBox="1"/>
          <p:nvPr>
            <p:ph type="title"/>
          </p:nvPr>
        </p:nvSpPr>
        <p:spPr>
          <a:xfrm>
            <a:off x="623400" y="4301700"/>
            <a:ext cx="17041200" cy="1683600"/>
          </a:xfrm>
          <a:prstGeom prst="rect">
            <a:avLst/>
          </a:prstGeom>
        </p:spPr>
        <p:txBody>
          <a:bodyPr anchorCtr="0" anchor="ctr" bIns="45700" lIns="91425" spcFirstLastPara="1" rIns="91425" wrap="square" tIns="45700">
            <a:normAutofit/>
          </a:bodyPr>
          <a:lstStyle>
            <a:lvl1pPr indent="0" lvl="0" marL="0" marR="0" algn="ctr">
              <a:lnSpc>
                <a:spcPct val="100000"/>
              </a:lnSpc>
              <a:spcBef>
                <a:spcPts val="0"/>
              </a:spcBef>
              <a:spcAft>
                <a:spcPts val="0"/>
              </a:spcAft>
              <a:buSzPts val="8400"/>
              <a:buFont typeface="Lato"/>
              <a:buNone/>
              <a:defRPr b="1" sz="8400">
                <a:latin typeface="Lato"/>
                <a:ea typeface="Lato"/>
                <a:cs typeface="Lato"/>
                <a:sym typeface="Lato"/>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87" name="Google Shape;87;p14"/>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pic>
        <p:nvPicPr>
          <p:cNvPr id="88" name="Google Shape;88;p14"/>
          <p:cNvPicPr preferRelativeResize="0"/>
          <p:nvPr/>
        </p:nvPicPr>
        <p:blipFill>
          <a:blip r:embed="rId2">
            <a:alphaModFix/>
          </a:blip>
          <a:stretch>
            <a:fillRect/>
          </a:stretch>
        </p:blipFill>
        <p:spPr>
          <a:xfrm>
            <a:off x="14031650" y="199600"/>
            <a:ext cx="4010650" cy="1062950"/>
          </a:xfrm>
          <a:prstGeom prst="rect">
            <a:avLst/>
          </a:prstGeom>
          <a:noFill/>
          <a:ln>
            <a:noFill/>
          </a:ln>
        </p:spPr>
      </p:pic>
      <p:sp>
        <p:nvSpPr>
          <p:cNvPr id="89" name="Google Shape;89;p14"/>
          <p:cNvSpPr/>
          <p:nvPr/>
        </p:nvSpPr>
        <p:spPr>
          <a:xfrm rot="5400000">
            <a:off x="-1061700" y="-1350700"/>
            <a:ext cx="5505600" cy="2135400"/>
          </a:xfrm>
          <a:prstGeom prst="chevron">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90" name="Google Shape;90;p14" title="Usac_logo.png"/>
          <p:cNvPicPr preferRelativeResize="0"/>
          <p:nvPr/>
        </p:nvPicPr>
        <p:blipFill>
          <a:blip r:embed="rId3">
            <a:alphaModFix/>
          </a:blip>
          <a:stretch>
            <a:fillRect/>
          </a:stretch>
        </p:blipFill>
        <p:spPr>
          <a:xfrm>
            <a:off x="898495" y="199600"/>
            <a:ext cx="1585200" cy="1585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15"/>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5"/>
          <p:cNvSpPr/>
          <p:nvPr/>
        </p:nvSpPr>
        <p:spPr>
          <a:xfrm>
            <a:off x="1542600" y="8203750"/>
            <a:ext cx="15202800" cy="1578600"/>
          </a:xfrm>
          <a:prstGeom prst="ellipseRibbon2">
            <a:avLst>
              <a:gd fmla="val 25000" name="adj1"/>
              <a:gd fmla="val 91057" name="adj2"/>
              <a:gd fmla="val 13560" name="adj3"/>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800">
              <a:solidFill>
                <a:schemeClr val="lt1"/>
              </a:solidFill>
              <a:latin typeface="Lato"/>
              <a:ea typeface="Lato"/>
              <a:cs typeface="Lato"/>
              <a:sym typeface="Lato"/>
            </a:endParaRPr>
          </a:p>
        </p:txBody>
      </p:sp>
      <p:sp>
        <p:nvSpPr>
          <p:cNvPr id="94" name="Google Shape;94;p15"/>
          <p:cNvSpPr txBox="1"/>
          <p:nvPr/>
        </p:nvSpPr>
        <p:spPr>
          <a:xfrm>
            <a:off x="3455250" y="8296200"/>
            <a:ext cx="11291400" cy="1030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t/>
            </a:r>
            <a:endParaRPr sz="3600">
              <a:solidFill>
                <a:schemeClr val="lt1"/>
              </a:solidFill>
              <a:latin typeface="Lato"/>
              <a:ea typeface="Lato"/>
              <a:cs typeface="Lato"/>
              <a:sym typeface="La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spTree>
      <p:nvGrpSpPr>
        <p:cNvPr id="95" name="Shape 95"/>
        <p:cNvGrpSpPr/>
        <p:nvPr/>
      </p:nvGrpSpPr>
      <p:grpSpPr>
        <a:xfrm>
          <a:off x="0" y="0"/>
          <a:ext cx="0" cy="0"/>
          <a:chOff x="0" y="0"/>
          <a:chExt cx="0" cy="0"/>
        </a:xfrm>
      </p:grpSpPr>
      <p:sp>
        <p:nvSpPr>
          <p:cNvPr id="96" name="Google Shape;96;p16"/>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97" name="Google Shape;97;p16"/>
          <p:cNvSpPr txBox="1"/>
          <p:nvPr>
            <p:ph type="title"/>
          </p:nvPr>
        </p:nvSpPr>
        <p:spPr>
          <a:xfrm>
            <a:off x="623400" y="4301700"/>
            <a:ext cx="17041200" cy="1683600"/>
          </a:xfrm>
          <a:prstGeom prst="rect">
            <a:avLst/>
          </a:prstGeom>
        </p:spPr>
        <p:txBody>
          <a:bodyPr anchorCtr="0" anchor="ctr" bIns="45700" lIns="91425" spcFirstLastPara="1" rIns="91425" wrap="square" tIns="45700">
            <a:normAutofit/>
          </a:bodyPr>
          <a:lstStyle>
            <a:lvl1pPr indent="0" lvl="0" marL="0" marR="0" algn="ctr">
              <a:lnSpc>
                <a:spcPct val="100000"/>
              </a:lnSpc>
              <a:spcBef>
                <a:spcPts val="0"/>
              </a:spcBef>
              <a:spcAft>
                <a:spcPts val="0"/>
              </a:spcAft>
              <a:buSzPts val="8400"/>
              <a:buFont typeface="Lato"/>
              <a:buNone/>
              <a:defRPr b="1" sz="8400">
                <a:latin typeface="Lato"/>
                <a:ea typeface="Lato"/>
                <a:cs typeface="Lato"/>
                <a:sym typeface="Lato"/>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98" name="Google Shape;98;p16"/>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pic>
        <p:nvPicPr>
          <p:cNvPr id="99" name="Google Shape;99;p16"/>
          <p:cNvPicPr preferRelativeResize="0"/>
          <p:nvPr/>
        </p:nvPicPr>
        <p:blipFill>
          <a:blip r:embed="rId2">
            <a:alphaModFix/>
          </a:blip>
          <a:stretch>
            <a:fillRect/>
          </a:stretch>
        </p:blipFill>
        <p:spPr>
          <a:xfrm>
            <a:off x="14031650" y="199600"/>
            <a:ext cx="4010650" cy="1062950"/>
          </a:xfrm>
          <a:prstGeom prst="rect">
            <a:avLst/>
          </a:prstGeom>
          <a:noFill/>
          <a:ln>
            <a:noFill/>
          </a:ln>
        </p:spPr>
      </p:pic>
      <p:sp>
        <p:nvSpPr>
          <p:cNvPr id="100" name="Google Shape;100;p16"/>
          <p:cNvSpPr/>
          <p:nvPr/>
        </p:nvSpPr>
        <p:spPr>
          <a:xfrm rot="5400000">
            <a:off x="-1061700" y="-1350700"/>
            <a:ext cx="5505600" cy="2135400"/>
          </a:xfrm>
          <a:prstGeom prst="chevron">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101" name="Google Shape;101;p16" title="Usac_logo.png"/>
          <p:cNvPicPr preferRelativeResize="0"/>
          <p:nvPr/>
        </p:nvPicPr>
        <p:blipFill>
          <a:blip r:embed="rId3">
            <a:alphaModFix/>
          </a:blip>
          <a:stretch>
            <a:fillRect/>
          </a:stretch>
        </p:blipFill>
        <p:spPr>
          <a:xfrm>
            <a:off x="898495" y="199600"/>
            <a:ext cx="1585200" cy="15852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hyperlink" Target="https://craftinginterpreters.com/contents.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7"/>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107" name="Google Shape;107;p17"/>
          <p:cNvGraphicFramePr/>
          <p:nvPr/>
        </p:nvGraphicFramePr>
        <p:xfrm>
          <a:off x="10656720" y="1940400"/>
          <a:ext cx="3000000" cy="3000000"/>
        </p:xfrm>
        <a:graphic>
          <a:graphicData uri="http://schemas.openxmlformats.org/drawingml/2006/table">
            <a:tbl>
              <a:tblPr>
                <a:noFill/>
                <a:tableStyleId>{0E8AAAA4-CE37-488D-82F5-5E5CC842EC3A}</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24</a:t>
                      </a:r>
                      <a:r>
                        <a:rPr b="0" lang="en-US" sz="2800" u="none" cap="none" strike="noStrike">
                          <a:solidFill>
                            <a:srgbClr val="000000"/>
                          </a:solidFill>
                          <a:latin typeface="Arial"/>
                          <a:ea typeface="Arial"/>
                          <a:cs typeface="Arial"/>
                          <a:sym typeface="Arial"/>
                        </a:rPr>
                        <a:t>/</a:t>
                      </a:r>
                      <a:r>
                        <a:rPr lang="en-US" sz="2800"/>
                        <a:t>02</a:t>
                      </a:r>
                      <a:r>
                        <a:rPr b="0" lang="en-US" sz="2800" u="none" cap="none" strike="noStrike">
                          <a:solidFill>
                            <a:srgbClr val="000000"/>
                          </a:solidFill>
                          <a:latin typeface="Arial"/>
                          <a:ea typeface="Arial"/>
                          <a:cs typeface="Arial"/>
                          <a:sym typeface="Arial"/>
                        </a:rPr>
                        <a:t>/202</a:t>
                      </a:r>
                      <a:r>
                        <a:rPr lang="en-US" sz="2800"/>
                        <a:t>6</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17</a:t>
                      </a:r>
                      <a:r>
                        <a:rPr b="0" lang="en-US" sz="2800" u="none" cap="none" strike="noStrike">
                          <a:solidFill>
                            <a:srgbClr val="000000"/>
                          </a:solidFill>
                          <a:latin typeface="Arial"/>
                          <a:ea typeface="Arial"/>
                          <a:cs typeface="Arial"/>
                          <a:sym typeface="Arial"/>
                        </a:rPr>
                        <a:t>:</a:t>
                      </a:r>
                      <a:r>
                        <a:rPr lang="en-US" sz="2800"/>
                        <a:t>20</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08" name="Google Shape;108;p17"/>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Sección B</a:t>
            </a:r>
            <a:endParaRPr b="0" i="0" sz="5000" u="none" cap="none" strike="noStrike">
              <a:solidFill>
                <a:srgbClr val="000000"/>
              </a:solidFill>
              <a:latin typeface="Arial"/>
              <a:ea typeface="Arial"/>
              <a:cs typeface="Arial"/>
              <a:sym typeface="Arial"/>
            </a:endParaRPr>
          </a:p>
        </p:txBody>
      </p:sp>
      <p:sp>
        <p:nvSpPr>
          <p:cNvPr id="109" name="Google Shape;109;p17"/>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Rubén Alejandro Ralda Mejia</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grpSp>
        <p:nvGrpSpPr>
          <p:cNvPr id="114" name="Google Shape;114;p18"/>
          <p:cNvGrpSpPr/>
          <p:nvPr/>
        </p:nvGrpSpPr>
        <p:grpSpPr>
          <a:xfrm>
            <a:off x="1667974" y="4617987"/>
            <a:ext cx="8185098" cy="879368"/>
            <a:chOff x="634943" y="-34688"/>
            <a:chExt cx="3484800" cy="374390"/>
          </a:xfrm>
        </p:grpSpPr>
        <p:sp>
          <p:nvSpPr>
            <p:cNvPr id="115" name="Google Shape;115;p18"/>
            <p:cNvSpPr/>
            <p:nvPr/>
          </p:nvSpPr>
          <p:spPr>
            <a:xfrm>
              <a:off x="719676" y="-34688"/>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18"/>
            <p:cNvSpPr txBox="1"/>
            <p:nvPr/>
          </p:nvSpPr>
          <p:spPr>
            <a:xfrm>
              <a:off x="634943" y="-20297"/>
              <a:ext cx="3484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Análisis sintáctico de descenso recursivo</a:t>
              </a:r>
              <a:endParaRPr b="0" i="0" sz="1400" u="none" cap="none" strike="noStrike">
                <a:solidFill>
                  <a:srgbClr val="000000"/>
                </a:solidFill>
                <a:latin typeface="Arial"/>
                <a:ea typeface="Arial"/>
                <a:cs typeface="Arial"/>
                <a:sym typeface="Arial"/>
              </a:endParaRPr>
            </a:p>
          </p:txBody>
        </p:sp>
      </p:grpSp>
      <p:sp>
        <p:nvSpPr>
          <p:cNvPr id="117" name="Google Shape;117;p18"/>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18"/>
          <p:cNvGrpSpPr/>
          <p:nvPr/>
        </p:nvGrpSpPr>
        <p:grpSpPr>
          <a:xfrm>
            <a:off x="1866989" y="3013981"/>
            <a:ext cx="4115217" cy="1556494"/>
            <a:chOff x="0" y="-76200"/>
            <a:chExt cx="1083836" cy="409938"/>
          </a:xfrm>
        </p:grpSpPr>
        <p:sp>
          <p:nvSpPr>
            <p:cNvPr id="119" name="Google Shape;119;p18"/>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20" name="Google Shape;120;p18"/>
            <p:cNvSpPr txBox="1"/>
            <p:nvPr/>
          </p:nvSpPr>
          <p:spPr>
            <a:xfrm>
              <a:off x="0" y="-76200"/>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21" name="Google Shape;121;p18"/>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22" name="Google Shape;122;p18"/>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23" name="Google Shape;123;p18"/>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24" name="Google Shape;124;p18"/>
          <p:cNvGrpSpPr/>
          <p:nvPr/>
        </p:nvGrpSpPr>
        <p:grpSpPr>
          <a:xfrm>
            <a:off x="11739805" y="2798631"/>
            <a:ext cx="5353682" cy="1701155"/>
            <a:chOff x="0" y="-114300"/>
            <a:chExt cx="1410014" cy="448038"/>
          </a:xfrm>
        </p:grpSpPr>
        <p:sp>
          <p:nvSpPr>
            <p:cNvPr id="125" name="Google Shape;125;p18"/>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6" name="Google Shape;126;p18"/>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a:t>
              </a:r>
              <a:endParaRPr b="0" i="0" sz="1400" u="none" cap="none" strike="noStrike">
                <a:solidFill>
                  <a:srgbClr val="000000"/>
                </a:solidFill>
                <a:latin typeface="Arial"/>
                <a:ea typeface="Arial"/>
                <a:cs typeface="Arial"/>
                <a:sym typeface="Arial"/>
              </a:endParaRPr>
            </a:p>
          </p:txBody>
        </p:sp>
      </p:grpSp>
      <p:grpSp>
        <p:nvGrpSpPr>
          <p:cNvPr id="127" name="Google Shape;127;p18"/>
          <p:cNvGrpSpPr/>
          <p:nvPr/>
        </p:nvGrpSpPr>
        <p:grpSpPr>
          <a:xfrm>
            <a:off x="64619" y="6443314"/>
            <a:ext cx="5948160" cy="934425"/>
            <a:chOff x="0" y="-114108"/>
            <a:chExt cx="2532425" cy="397831"/>
          </a:xfrm>
        </p:grpSpPr>
        <p:sp>
          <p:nvSpPr>
            <p:cNvPr id="128" name="Google Shape;128;p1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9" name="Google Shape;129;p18"/>
            <p:cNvSpPr txBox="1"/>
            <p:nvPr/>
          </p:nvSpPr>
          <p:spPr>
            <a:xfrm>
              <a:off x="682625" y="-114108"/>
              <a:ext cx="1849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Funciones Foráneas</a:t>
              </a:r>
              <a:endParaRPr sz="2799"/>
            </a:p>
          </p:txBody>
        </p:sp>
      </p:grpSp>
      <p:grpSp>
        <p:nvGrpSpPr>
          <p:cNvPr id="130" name="Google Shape;130;p18"/>
          <p:cNvGrpSpPr/>
          <p:nvPr/>
        </p:nvGrpSpPr>
        <p:grpSpPr>
          <a:xfrm>
            <a:off x="1331994" y="5467091"/>
            <a:ext cx="4750560" cy="915664"/>
            <a:chOff x="0" y="0"/>
            <a:chExt cx="2022548" cy="389844"/>
          </a:xfrm>
        </p:grpSpPr>
        <p:sp>
          <p:nvSpPr>
            <p:cNvPr id="131" name="Google Shape;131;p1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2" name="Google Shape;132;p18"/>
            <p:cNvSpPr txBox="1"/>
            <p:nvPr/>
          </p:nvSpPr>
          <p:spPr>
            <a:xfrm>
              <a:off x="172748" y="29844"/>
              <a:ext cx="1849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Funciones Embebidas</a:t>
              </a:r>
              <a:endParaRPr sz="2799"/>
            </a:p>
          </p:txBody>
        </p:sp>
      </p:grpSp>
      <p:grpSp>
        <p:nvGrpSpPr>
          <p:cNvPr id="133" name="Google Shape;133;p18"/>
          <p:cNvGrpSpPr/>
          <p:nvPr/>
        </p:nvGrpSpPr>
        <p:grpSpPr>
          <a:xfrm>
            <a:off x="176619" y="7438332"/>
            <a:ext cx="5836160" cy="845568"/>
            <a:chOff x="0" y="-38362"/>
            <a:chExt cx="2484741" cy="360000"/>
          </a:xfrm>
        </p:grpSpPr>
        <p:sp>
          <p:nvSpPr>
            <p:cNvPr id="134" name="Google Shape;134;p1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5" name="Google Shape;135;p18"/>
            <p:cNvSpPr txBox="1"/>
            <p:nvPr/>
          </p:nvSpPr>
          <p:spPr>
            <a:xfrm>
              <a:off x="634941" y="-38362"/>
              <a:ext cx="1849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Closures</a:t>
              </a:r>
              <a:endParaRPr sz="2799"/>
            </a:p>
          </p:txBody>
        </p:sp>
      </p:grpSp>
      <p:grpSp>
        <p:nvGrpSpPr>
          <p:cNvPr id="136" name="Google Shape;136;p18"/>
          <p:cNvGrpSpPr/>
          <p:nvPr/>
        </p:nvGrpSpPr>
        <p:grpSpPr>
          <a:xfrm>
            <a:off x="176619" y="8502315"/>
            <a:ext cx="5836160" cy="845568"/>
            <a:chOff x="0" y="-38138"/>
            <a:chExt cx="2484741" cy="360000"/>
          </a:xfrm>
        </p:grpSpPr>
        <p:sp>
          <p:nvSpPr>
            <p:cNvPr id="137" name="Google Shape;137;p1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8" name="Google Shape;138;p18"/>
            <p:cNvSpPr txBox="1"/>
            <p:nvPr/>
          </p:nvSpPr>
          <p:spPr>
            <a:xfrm>
              <a:off x="634941" y="-38138"/>
              <a:ext cx="1849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Hoisting</a:t>
              </a:r>
              <a:endParaRPr sz="2799"/>
            </a:p>
          </p:txBody>
        </p:sp>
      </p:grpSp>
      <p:sp>
        <p:nvSpPr>
          <p:cNvPr id="139" name="Google Shape;139;p18"/>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0" name="Google Shape;140;p18"/>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1" name="Google Shape;141;p18"/>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2" name="Google Shape;142;p18"/>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143" name="Google Shape;143;p18"/>
          <p:cNvSpPr/>
          <p:nvPr/>
        </p:nvSpPr>
        <p:spPr>
          <a:xfrm>
            <a:off x="6488300" y="5365870"/>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44" name="Google Shape;144;p18"/>
          <p:cNvSpPr txBox="1"/>
          <p:nvPr/>
        </p:nvSpPr>
        <p:spPr>
          <a:xfrm>
            <a:off x="7000850" y="6443325"/>
            <a:ext cx="3206100" cy="335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900">
                <a:solidFill>
                  <a:schemeClr val="dk1"/>
                </a:solidFill>
                <a:latin typeface="Lato"/>
                <a:ea typeface="Lato"/>
                <a:cs typeface="Lato"/>
                <a:sym typeface="Lato"/>
              </a:rPr>
              <a:t>Recordatorios:</a:t>
            </a:r>
            <a:endParaRPr sz="2900">
              <a:solidFill>
                <a:schemeClr val="dk1"/>
              </a:solidFill>
              <a:latin typeface="Lato"/>
              <a:ea typeface="Lato"/>
              <a:cs typeface="Lato"/>
              <a:sym typeface="Lato"/>
            </a:endParaRPr>
          </a:p>
          <a:p>
            <a:pPr indent="-412750" lvl="0" marL="457200" rtl="0" algn="l">
              <a:lnSpc>
                <a:spcPct val="115000"/>
              </a:lnSpc>
              <a:spcBef>
                <a:spcPts val="1200"/>
              </a:spcBef>
              <a:spcAft>
                <a:spcPts val="0"/>
              </a:spcAft>
              <a:buClr>
                <a:srgbClr val="595959"/>
              </a:buClr>
              <a:buSzPts val="2900"/>
              <a:buFont typeface="Lato"/>
              <a:buChar char="➔"/>
            </a:pPr>
            <a:r>
              <a:rPr lang="en-US" sz="2900">
                <a:solidFill>
                  <a:srgbClr val="595959"/>
                </a:solidFill>
                <a:latin typeface="Lato"/>
                <a:ea typeface="Lato"/>
                <a:cs typeface="Lato"/>
                <a:sym typeface="Lato"/>
              </a:rPr>
              <a:t>Foro de esta semana</a:t>
            </a:r>
            <a:endParaRPr sz="2900">
              <a:solidFill>
                <a:srgbClr val="595959"/>
              </a:solidFill>
              <a:latin typeface="Lato"/>
              <a:ea typeface="Lato"/>
              <a:cs typeface="Lato"/>
              <a:sym typeface="Lato"/>
            </a:endParaRPr>
          </a:p>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Hoja de Calificación Proyecto 1</a:t>
            </a:r>
            <a:endParaRPr sz="2900"/>
          </a:p>
        </p:txBody>
      </p:sp>
      <p:grpSp>
        <p:nvGrpSpPr>
          <p:cNvPr id="145" name="Google Shape;145;p18"/>
          <p:cNvGrpSpPr/>
          <p:nvPr/>
        </p:nvGrpSpPr>
        <p:grpSpPr>
          <a:xfrm>
            <a:off x="246394" y="9250590"/>
            <a:ext cx="5836160" cy="845568"/>
            <a:chOff x="0" y="-38138"/>
            <a:chExt cx="2484741" cy="360000"/>
          </a:xfrm>
        </p:grpSpPr>
        <p:sp>
          <p:nvSpPr>
            <p:cNvPr id="146" name="Google Shape;146;p1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47" name="Google Shape;147;p18"/>
            <p:cNvSpPr txBox="1"/>
            <p:nvPr/>
          </p:nvSpPr>
          <p:spPr>
            <a:xfrm>
              <a:off x="634941" y="-38138"/>
              <a:ext cx="1849800" cy="360000"/>
            </a:xfrm>
            <a:prstGeom prst="rect">
              <a:avLst/>
            </a:prstGeom>
            <a:noFill/>
            <a:ln>
              <a:noFill/>
            </a:ln>
          </p:spPr>
          <p:txBody>
            <a:bodyPr anchorCtr="0" anchor="ctr" bIns="50800" lIns="50800" spcFirstLastPara="1" rIns="50800" wrap="square" tIns="50800">
              <a:noAutofit/>
            </a:bodyPr>
            <a:lstStyle/>
            <a:p>
              <a:pPr indent="-412750" lvl="0" marL="457200" rtl="0" algn="l">
                <a:lnSpc>
                  <a:spcPct val="115000"/>
                </a:lnSpc>
                <a:spcBef>
                  <a:spcPts val="0"/>
                </a:spcBef>
                <a:spcAft>
                  <a:spcPts val="0"/>
                </a:spcAft>
                <a:buClr>
                  <a:srgbClr val="595959"/>
                </a:buClr>
                <a:buSzPts val="2900"/>
                <a:buFont typeface="Lato"/>
                <a:buChar char="➔"/>
              </a:pPr>
              <a:r>
                <a:rPr lang="en-US" sz="2900">
                  <a:solidFill>
                    <a:srgbClr val="595959"/>
                  </a:solidFill>
                  <a:latin typeface="Lato"/>
                  <a:ea typeface="Lato"/>
                  <a:cs typeface="Lato"/>
                  <a:sym typeface="Lato"/>
                </a:rPr>
                <a:t>CallStack</a:t>
              </a:r>
              <a:endParaRPr sz="2799"/>
            </a:p>
          </p:txBody>
        </p:sp>
      </p:grpSp>
      <p:sp>
        <p:nvSpPr>
          <p:cNvPr id="148" name="Google Shape;148;p18"/>
          <p:cNvSpPr/>
          <p:nvPr/>
        </p:nvSpPr>
        <p:spPr>
          <a:xfrm>
            <a:off x="948429" y="9353815"/>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149" name="Google Shape;149;p18"/>
          <p:cNvSpPr txBox="1"/>
          <p:nvPr/>
        </p:nvSpPr>
        <p:spPr>
          <a:xfrm>
            <a:off x="12471200" y="4499775"/>
            <a:ext cx="3000000" cy="11112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rgbClr val="595959"/>
              </a:buClr>
              <a:buSzPts val="2800"/>
              <a:buFont typeface="Lato"/>
              <a:buChar char="➔"/>
            </a:pPr>
            <a:r>
              <a:rPr lang="en-US" sz="2800" u="sng">
                <a:solidFill>
                  <a:srgbClr val="0097A7"/>
                </a:solidFill>
                <a:latin typeface="Lato"/>
                <a:ea typeface="Lato"/>
                <a:cs typeface="Lato"/>
                <a:sym typeface="Lato"/>
                <a:hlinkClick r:id="rId6">
                  <a:extLst>
                    <a:ext uri="{A12FA001-AC4F-418D-AE19-62706E023703}">
                      <ahyp:hlinkClr val="tx"/>
                    </a:ext>
                  </a:extLst>
                </a:hlinkClick>
              </a:rPr>
              <a:t>Crafting Interpreters</a:t>
            </a:r>
            <a:endParaRPr sz="2800">
              <a:solidFill>
                <a:srgbClr val="595959"/>
              </a:solidFill>
              <a:latin typeface="Lato"/>
              <a:ea typeface="Lato"/>
              <a:cs typeface="Lato"/>
              <a:sym typeface="Lato"/>
            </a:endParaRPr>
          </a:p>
        </p:txBody>
      </p:sp>
      <p:sp>
        <p:nvSpPr>
          <p:cNvPr id="150" name="Google Shape;150;p18"/>
          <p:cNvSpPr txBox="1"/>
          <p:nvPr/>
        </p:nvSpPr>
        <p:spPr>
          <a:xfrm>
            <a:off x="12382800" y="6736425"/>
            <a:ext cx="4750500" cy="196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3200">
                <a:solidFill>
                  <a:srgbClr val="595959"/>
                </a:solidFill>
                <a:latin typeface="Lato"/>
                <a:ea typeface="Lato"/>
                <a:cs typeface="Lato"/>
                <a:sym typeface="Lato"/>
              </a:rPr>
              <a:t>Valor:</a:t>
            </a:r>
            <a:endParaRPr sz="3200">
              <a:solidFill>
                <a:srgbClr val="595959"/>
              </a:solidFill>
              <a:latin typeface="Lato"/>
              <a:ea typeface="Lato"/>
              <a:cs typeface="Lato"/>
              <a:sym typeface="Lato"/>
            </a:endParaRPr>
          </a:p>
          <a:p>
            <a:pPr indent="0" lvl="0" marL="0" rtl="0" algn="ctr">
              <a:lnSpc>
                <a:spcPct val="115000"/>
              </a:lnSpc>
              <a:spcBef>
                <a:spcPts val="1200"/>
              </a:spcBef>
              <a:spcAft>
                <a:spcPts val="1200"/>
              </a:spcAft>
              <a:buNone/>
            </a:pPr>
            <a:r>
              <a:rPr i="1" lang="en-US" sz="3200">
                <a:solidFill>
                  <a:srgbClr val="595959"/>
                </a:solidFill>
                <a:latin typeface="Lato"/>
                <a:ea typeface="Lato"/>
                <a:cs typeface="Lato"/>
                <a:sym typeface="Lato"/>
              </a:rPr>
              <a:t>Gestión eficiente de recursos</a:t>
            </a:r>
            <a:endParaRPr i="1" sz="3200">
              <a:solidFill>
                <a:srgbClr val="595959"/>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54" name="Shape 154"/>
        <p:cNvGrpSpPr/>
        <p:nvPr/>
      </p:nvGrpSpPr>
      <p:grpSpPr>
        <a:xfrm>
          <a:off x="0" y="0"/>
          <a:ext cx="0" cy="0"/>
          <a:chOff x="0" y="0"/>
          <a:chExt cx="0" cy="0"/>
        </a:xfrm>
      </p:grpSpPr>
      <p:sp>
        <p:nvSpPr>
          <p:cNvPr id="155" name="Google Shape;155;p19"/>
          <p:cNvSpPr txBox="1"/>
          <p:nvPr/>
        </p:nvSpPr>
        <p:spPr>
          <a:xfrm>
            <a:off x="1808675" y="3249525"/>
            <a:ext cx="14805000" cy="350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7600">
                <a:solidFill>
                  <a:srgbClr val="FFFFFF"/>
                </a:solidFill>
              </a:rPr>
              <a:t>Traducción dirigida por la sintaxis: traducción durante el análisis sintáctico de descenso recursivo</a:t>
            </a:r>
            <a:endParaRPr sz="100"/>
          </a:p>
        </p:txBody>
      </p:sp>
      <p:sp>
        <p:nvSpPr>
          <p:cNvPr id="156" name="Google Shape;156;p19"/>
          <p:cNvSpPr/>
          <p:nvPr/>
        </p:nvSpPr>
        <p:spPr>
          <a:xfrm>
            <a:off x="12785514" y="0"/>
            <a:ext cx="5502486" cy="1458309"/>
          </a:xfrm>
          <a:custGeom>
            <a:rect b="b" l="l" r="r" t="t"/>
            <a:pathLst>
              <a:path extrusionOk="0" h="1458309" w="5502486">
                <a:moveTo>
                  <a:pt x="0" y="0"/>
                </a:moveTo>
                <a:lnTo>
                  <a:pt x="5502486" y="0"/>
                </a:lnTo>
                <a:lnTo>
                  <a:pt x="5502486" y="1458309"/>
                </a:lnTo>
                <a:lnTo>
                  <a:pt x="0" y="145830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60" name="Shape 160"/>
        <p:cNvGrpSpPr/>
        <p:nvPr/>
      </p:nvGrpSpPr>
      <p:grpSpPr>
        <a:xfrm>
          <a:off x="0" y="0"/>
          <a:ext cx="0" cy="0"/>
          <a:chOff x="0" y="0"/>
          <a:chExt cx="0" cy="0"/>
        </a:xfrm>
      </p:grpSpPr>
      <p:sp>
        <p:nvSpPr>
          <p:cNvPr id="161" name="Google Shape;161;p20"/>
          <p:cNvSpPr txBox="1"/>
          <p:nvPr/>
        </p:nvSpPr>
        <p:spPr>
          <a:xfrm>
            <a:off x="2724525" y="1893950"/>
            <a:ext cx="13177800" cy="8016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Análisis Sintáctico de Descenso Recursivo</a:t>
            </a:r>
            <a:endParaRPr/>
          </a:p>
        </p:txBody>
      </p:sp>
      <p:sp>
        <p:nvSpPr>
          <p:cNvPr id="162" name="Google Shape;162;p20"/>
          <p:cNvSpPr txBox="1"/>
          <p:nvPr/>
        </p:nvSpPr>
        <p:spPr>
          <a:xfrm>
            <a:off x="1988600" y="4025525"/>
            <a:ext cx="14793600" cy="22005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49" u="none" cap="none" strike="noStrike">
                <a:solidFill>
                  <a:srgbClr val="FFFFFF"/>
                </a:solidFill>
                <a:latin typeface="Saira"/>
                <a:ea typeface="Saira"/>
                <a:cs typeface="Saira"/>
                <a:sym typeface="Saira"/>
              </a:rPr>
              <a:t>Un analizador sintáctico por descenso recursivo es un método de análisis descendente (top-down) donde cada no terminal de la gramática se implementa como una función (procedimiento) en el código del compilador. Estas funciones llamadas recursivamente van procesando la entrada según las producciones de la gramática.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66" name="Shape 166"/>
        <p:cNvGrpSpPr/>
        <p:nvPr/>
      </p:nvGrpSpPr>
      <p:grpSpPr>
        <a:xfrm>
          <a:off x="0" y="0"/>
          <a:ext cx="0" cy="0"/>
          <a:chOff x="0" y="0"/>
          <a:chExt cx="0" cy="0"/>
        </a:xfrm>
      </p:grpSpPr>
      <p:grpSp>
        <p:nvGrpSpPr>
          <p:cNvPr id="167" name="Google Shape;167;p21"/>
          <p:cNvGrpSpPr/>
          <p:nvPr/>
        </p:nvGrpSpPr>
        <p:grpSpPr>
          <a:xfrm>
            <a:off x="2851313" y="4085205"/>
            <a:ext cx="4401306" cy="4565210"/>
            <a:chOff x="0" y="-47625"/>
            <a:chExt cx="1159184" cy="1202352"/>
          </a:xfrm>
        </p:grpSpPr>
        <p:sp>
          <p:nvSpPr>
            <p:cNvPr id="168" name="Google Shape;168;p21"/>
            <p:cNvSpPr/>
            <p:nvPr/>
          </p:nvSpPr>
          <p:spPr>
            <a:xfrm>
              <a:off x="0" y="0"/>
              <a:ext cx="1159184" cy="1154727"/>
            </a:xfrm>
            <a:custGeom>
              <a:rect b="b" l="l" r="r" t="t"/>
              <a:pathLst>
                <a:path extrusionOk="0" h="1154727" w="1159184">
                  <a:moveTo>
                    <a:pt x="0" y="0"/>
                  </a:moveTo>
                  <a:lnTo>
                    <a:pt x="1159184" y="0"/>
                  </a:lnTo>
                  <a:lnTo>
                    <a:pt x="1159184" y="1154727"/>
                  </a:lnTo>
                  <a:lnTo>
                    <a:pt x="0" y="115472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169" name="Google Shape;169;p21"/>
            <p:cNvSpPr txBox="1"/>
            <p:nvPr/>
          </p:nvSpPr>
          <p:spPr>
            <a:xfrm>
              <a:off x="0" y="-47625"/>
              <a:ext cx="1159184" cy="120235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21"/>
          <p:cNvGrpSpPr/>
          <p:nvPr/>
        </p:nvGrpSpPr>
        <p:grpSpPr>
          <a:xfrm>
            <a:off x="10195645" y="4085193"/>
            <a:ext cx="6806429" cy="4565210"/>
            <a:chOff x="0" y="-47625"/>
            <a:chExt cx="1792628" cy="1202352"/>
          </a:xfrm>
        </p:grpSpPr>
        <p:sp>
          <p:nvSpPr>
            <p:cNvPr id="171" name="Google Shape;171;p21"/>
            <p:cNvSpPr/>
            <p:nvPr/>
          </p:nvSpPr>
          <p:spPr>
            <a:xfrm>
              <a:off x="0" y="0"/>
              <a:ext cx="1792628" cy="1154727"/>
            </a:xfrm>
            <a:custGeom>
              <a:rect b="b" l="l" r="r" t="t"/>
              <a:pathLst>
                <a:path extrusionOk="0" h="1154727" w="1792628">
                  <a:moveTo>
                    <a:pt x="0" y="0"/>
                  </a:moveTo>
                  <a:lnTo>
                    <a:pt x="1792628" y="0"/>
                  </a:lnTo>
                  <a:lnTo>
                    <a:pt x="1792628" y="1154727"/>
                  </a:lnTo>
                  <a:lnTo>
                    <a:pt x="0" y="115472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172" name="Google Shape;172;p21"/>
            <p:cNvSpPr txBox="1"/>
            <p:nvPr/>
          </p:nvSpPr>
          <p:spPr>
            <a:xfrm>
              <a:off x="0" y="-47625"/>
              <a:ext cx="1792628" cy="120235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21"/>
          <p:cNvSpPr txBox="1"/>
          <p:nvPr/>
        </p:nvSpPr>
        <p:spPr>
          <a:xfrm>
            <a:off x="1508650" y="1018600"/>
            <a:ext cx="12666000" cy="8016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Análisis Sintáctico de Descenso Recursivo</a:t>
            </a:r>
            <a:endParaRPr/>
          </a:p>
        </p:txBody>
      </p:sp>
      <p:sp>
        <p:nvSpPr>
          <p:cNvPr id="174" name="Google Shape;174;p21"/>
          <p:cNvSpPr txBox="1"/>
          <p:nvPr/>
        </p:nvSpPr>
        <p:spPr>
          <a:xfrm>
            <a:off x="3162772" y="4420692"/>
            <a:ext cx="3778500" cy="802800"/>
          </a:xfrm>
          <a:prstGeom prst="rect">
            <a:avLst/>
          </a:prstGeom>
          <a:noFill/>
          <a:ln>
            <a:noFill/>
          </a:ln>
        </p:spPr>
        <p:txBody>
          <a:bodyPr anchorCtr="0" anchor="t" bIns="0" lIns="0" spcFirstLastPara="1" rIns="0" wrap="square" tIns="0">
            <a:spAutoFit/>
          </a:bodyPr>
          <a:lstStyle/>
          <a:p>
            <a:pPr indent="0" lvl="0" marL="0" marR="0" rtl="0" algn="just">
              <a:lnSpc>
                <a:spcPct val="135015"/>
              </a:lnSpc>
              <a:spcBef>
                <a:spcPts val="0"/>
              </a:spcBef>
              <a:spcAft>
                <a:spcPts val="0"/>
              </a:spcAft>
              <a:buNone/>
            </a:pPr>
            <a:r>
              <a:rPr b="1" i="0" lang="en-US" sz="2219" u="none" cap="none" strike="noStrike">
                <a:solidFill>
                  <a:srgbClr val="FFFFFF"/>
                </a:solidFill>
                <a:latin typeface="Saira"/>
                <a:ea typeface="Saira"/>
                <a:cs typeface="Saira"/>
                <a:sym typeface="Saira"/>
              </a:rPr>
              <a:t>Corresponde a gramáticas LL(1) típicamente</a:t>
            </a:r>
            <a:endParaRPr/>
          </a:p>
        </p:txBody>
      </p:sp>
      <p:sp>
        <p:nvSpPr>
          <p:cNvPr id="175" name="Google Shape;175;p21"/>
          <p:cNvSpPr txBox="1"/>
          <p:nvPr/>
        </p:nvSpPr>
        <p:spPr>
          <a:xfrm>
            <a:off x="10507106" y="5557916"/>
            <a:ext cx="6183600" cy="2828400"/>
          </a:xfrm>
          <a:prstGeom prst="rect">
            <a:avLst/>
          </a:prstGeom>
          <a:noFill/>
          <a:ln>
            <a:noFill/>
          </a:ln>
        </p:spPr>
        <p:txBody>
          <a:bodyPr anchorCtr="0" anchor="t" bIns="0" lIns="0" spcFirstLastPara="1" rIns="0" wrap="square" tIns="0">
            <a:spAutoFit/>
          </a:bodyPr>
          <a:lstStyle/>
          <a:p>
            <a:pPr indent="0" lvl="0" marL="0" marR="0" rtl="0" algn="just">
              <a:lnSpc>
                <a:spcPct val="135017"/>
              </a:lnSpc>
              <a:spcBef>
                <a:spcPts val="0"/>
              </a:spcBef>
              <a:spcAft>
                <a:spcPts val="0"/>
              </a:spcAft>
              <a:buNone/>
            </a:pPr>
            <a:r>
              <a:rPr b="0" i="0" lang="en-US" sz="2019" u="none" cap="none" strike="noStrike">
                <a:solidFill>
                  <a:srgbClr val="FFFFFF"/>
                </a:solidFill>
                <a:latin typeface="Saira Light"/>
                <a:ea typeface="Saira Light"/>
                <a:cs typeface="Saira Light"/>
                <a:sym typeface="Saira Light"/>
              </a:rPr>
              <a:t>La estructura del código sigue muy de cerca la estructura de la gramática. Por ejemplo, si la gramática tiene A -&gt; X Y Z, la función A() llamará sucesivamente a X(), Y() y Z() (o lo equivalente según cómo estén implementadas) en ese orden, esperando que cada una consuma la parte correspondiente de la entrada.</a:t>
            </a:r>
            <a:endParaRPr/>
          </a:p>
        </p:txBody>
      </p:sp>
      <p:sp>
        <p:nvSpPr>
          <p:cNvPr id="176" name="Google Shape;176;p21"/>
          <p:cNvSpPr txBox="1"/>
          <p:nvPr/>
        </p:nvSpPr>
        <p:spPr>
          <a:xfrm>
            <a:off x="1508650" y="2952663"/>
            <a:ext cx="7889700" cy="4230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49" u="none" cap="none" strike="noStrike">
                <a:solidFill>
                  <a:srgbClr val="FFFFFF"/>
                </a:solidFill>
                <a:latin typeface="Saira"/>
                <a:ea typeface="Saira"/>
                <a:cs typeface="Saira"/>
                <a:sym typeface="Saira"/>
              </a:rPr>
              <a:t>Características principales del descenso recursivo</a:t>
            </a:r>
            <a:endParaRPr/>
          </a:p>
        </p:txBody>
      </p:sp>
      <p:sp>
        <p:nvSpPr>
          <p:cNvPr id="177" name="Google Shape;177;p21"/>
          <p:cNvSpPr txBox="1"/>
          <p:nvPr/>
        </p:nvSpPr>
        <p:spPr>
          <a:xfrm>
            <a:off x="3162772" y="5466052"/>
            <a:ext cx="3778500" cy="3248100"/>
          </a:xfrm>
          <a:prstGeom prst="rect">
            <a:avLst/>
          </a:prstGeom>
          <a:noFill/>
          <a:ln>
            <a:noFill/>
          </a:ln>
        </p:spPr>
        <p:txBody>
          <a:bodyPr anchorCtr="0" anchor="t" bIns="0" lIns="0" spcFirstLastPara="1" rIns="0" wrap="square" tIns="0">
            <a:spAutoFit/>
          </a:bodyPr>
          <a:lstStyle/>
          <a:p>
            <a:pPr indent="0" lvl="0" marL="0" marR="0" rtl="0" algn="l">
              <a:lnSpc>
                <a:spcPct val="135017"/>
              </a:lnSpc>
              <a:spcBef>
                <a:spcPts val="0"/>
              </a:spcBef>
              <a:spcAft>
                <a:spcPts val="0"/>
              </a:spcAft>
              <a:buNone/>
            </a:pPr>
            <a:r>
              <a:rPr b="0" i="0" lang="en-US" sz="2019" u="none" cap="none" strike="noStrike">
                <a:solidFill>
                  <a:srgbClr val="FFFFFF"/>
                </a:solidFill>
                <a:latin typeface="Saira Light"/>
                <a:ea typeface="Saira Light"/>
                <a:cs typeface="Saira Light"/>
                <a:sym typeface="Saira Light"/>
              </a:rPr>
              <a:t>El descenso recursivo tradicional requiere que la gramática no tenga recursión izquierda inmediata y esté factorizada por la izquierda para decidir qué producción aplicar con un vistazo (lookahead) mínimo.</a:t>
            </a:r>
            <a:endParaRPr/>
          </a:p>
        </p:txBody>
      </p:sp>
      <p:sp>
        <p:nvSpPr>
          <p:cNvPr id="178" name="Google Shape;178;p21"/>
          <p:cNvSpPr txBox="1"/>
          <p:nvPr/>
        </p:nvSpPr>
        <p:spPr>
          <a:xfrm>
            <a:off x="10507106" y="4507000"/>
            <a:ext cx="3778500" cy="802800"/>
          </a:xfrm>
          <a:prstGeom prst="rect">
            <a:avLst/>
          </a:prstGeom>
          <a:noFill/>
          <a:ln>
            <a:noFill/>
          </a:ln>
        </p:spPr>
        <p:txBody>
          <a:bodyPr anchorCtr="0" anchor="t" bIns="0" lIns="0" spcFirstLastPara="1" rIns="0" wrap="square" tIns="0">
            <a:spAutoFit/>
          </a:bodyPr>
          <a:lstStyle/>
          <a:p>
            <a:pPr indent="0" lvl="0" marL="0" marR="0" rtl="0" algn="just">
              <a:lnSpc>
                <a:spcPct val="135015"/>
              </a:lnSpc>
              <a:spcBef>
                <a:spcPts val="0"/>
              </a:spcBef>
              <a:spcAft>
                <a:spcPts val="0"/>
              </a:spcAft>
              <a:buNone/>
            </a:pPr>
            <a:r>
              <a:rPr b="1" i="0" lang="en-US" sz="2219" u="none" cap="none" strike="noStrike">
                <a:solidFill>
                  <a:srgbClr val="FFFFFF"/>
                </a:solidFill>
                <a:latin typeface="Saira"/>
                <a:ea typeface="Saira"/>
                <a:cs typeface="Saira"/>
                <a:sym typeface="Saira"/>
              </a:rPr>
              <a:t>Implementación directa de las reglas gramaticales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82" name="Shape 182"/>
        <p:cNvGrpSpPr/>
        <p:nvPr/>
      </p:nvGrpSpPr>
      <p:grpSpPr>
        <a:xfrm>
          <a:off x="0" y="0"/>
          <a:ext cx="0" cy="0"/>
          <a:chOff x="0" y="0"/>
          <a:chExt cx="0" cy="0"/>
        </a:xfrm>
      </p:grpSpPr>
      <p:sp>
        <p:nvSpPr>
          <p:cNvPr id="183" name="Google Shape;183;p22"/>
          <p:cNvSpPr txBox="1"/>
          <p:nvPr/>
        </p:nvSpPr>
        <p:spPr>
          <a:xfrm>
            <a:off x="2086368" y="4190698"/>
            <a:ext cx="14115264" cy="1810837"/>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Traducción Durante el Análisis de Descenso Recursivo</a:t>
            </a:r>
            <a:endParaRPr/>
          </a:p>
        </p:txBody>
      </p:sp>
      <p:sp>
        <p:nvSpPr>
          <p:cNvPr id="184" name="Google Shape;184;p22"/>
          <p:cNvSpPr txBox="1"/>
          <p:nvPr/>
        </p:nvSpPr>
        <p:spPr>
          <a:xfrm>
            <a:off x="3332475" y="479300"/>
            <a:ext cx="11484000" cy="3341700"/>
          </a:xfrm>
          <a:prstGeom prst="rect">
            <a:avLst/>
          </a:prstGeom>
          <a:noFill/>
          <a:ln>
            <a:noFill/>
          </a:ln>
        </p:spPr>
        <p:txBody>
          <a:bodyPr anchorCtr="0" anchor="t" bIns="0" lIns="0" spcFirstLastPara="1" rIns="0" wrap="square" tIns="0">
            <a:spAutoFit/>
          </a:bodyPr>
          <a:lstStyle/>
          <a:p>
            <a:pPr indent="0" lvl="0" marL="0" marR="0" rtl="0" algn="just">
              <a:lnSpc>
                <a:spcPct val="135023"/>
              </a:lnSpc>
              <a:spcBef>
                <a:spcPts val="0"/>
              </a:spcBef>
              <a:spcAft>
                <a:spcPts val="0"/>
              </a:spcAft>
              <a:buNone/>
            </a:pPr>
            <a:r>
              <a:rPr b="0" i="0" lang="en-US" sz="2801" u="none" cap="none" strike="noStrike">
                <a:solidFill>
                  <a:srgbClr val="FFFFFF"/>
                </a:solidFill>
                <a:latin typeface="Saira Light"/>
                <a:ea typeface="Saira Light"/>
                <a:cs typeface="Saira Light"/>
                <a:sym typeface="Saira Light"/>
              </a:rPr>
              <a:t>La esencia de traducción durante el análisis sintáctico de descenso recursivo es ampliar esas funciones del parser para que, además de verificar la sintaxis, realicen las acciones semánticas correspondientes. En lugar de simplemente devolver un valor o construir una estructura, pueden, por ejemplo, generar código o imprimir resultados conforme avanza el análisis.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88" name="Shape 188"/>
        <p:cNvGrpSpPr/>
        <p:nvPr/>
      </p:nvGrpSpPr>
      <p:grpSpPr>
        <a:xfrm>
          <a:off x="0" y="0"/>
          <a:ext cx="0" cy="0"/>
          <a:chOff x="0" y="0"/>
          <a:chExt cx="0" cy="0"/>
        </a:xfrm>
      </p:grpSpPr>
      <p:sp>
        <p:nvSpPr>
          <p:cNvPr id="189" name="Google Shape;189;p23"/>
          <p:cNvSpPr txBox="1"/>
          <p:nvPr/>
        </p:nvSpPr>
        <p:spPr>
          <a:xfrm>
            <a:off x="1508675" y="2352502"/>
            <a:ext cx="1795500" cy="13947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01</a:t>
            </a:r>
            <a:endParaRPr/>
          </a:p>
        </p:txBody>
      </p:sp>
      <p:sp>
        <p:nvSpPr>
          <p:cNvPr id="190" name="Google Shape;190;p23"/>
          <p:cNvSpPr txBox="1"/>
          <p:nvPr/>
        </p:nvSpPr>
        <p:spPr>
          <a:xfrm>
            <a:off x="6990604" y="2352502"/>
            <a:ext cx="2547600" cy="13947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02</a:t>
            </a:r>
            <a:endParaRPr/>
          </a:p>
        </p:txBody>
      </p:sp>
      <p:sp>
        <p:nvSpPr>
          <p:cNvPr id="191" name="Google Shape;191;p23"/>
          <p:cNvSpPr txBox="1"/>
          <p:nvPr/>
        </p:nvSpPr>
        <p:spPr>
          <a:xfrm>
            <a:off x="1640251" y="3874945"/>
            <a:ext cx="4833600" cy="1963500"/>
          </a:xfrm>
          <a:prstGeom prst="rect">
            <a:avLst/>
          </a:prstGeom>
          <a:noFill/>
          <a:ln>
            <a:noFill/>
          </a:ln>
        </p:spPr>
        <p:txBody>
          <a:bodyPr anchorCtr="0" anchor="t" bIns="0" lIns="0" spcFirstLastPara="1" rIns="0" wrap="square" tIns="0">
            <a:spAutoFit/>
          </a:bodyPr>
          <a:lstStyle/>
          <a:p>
            <a:pPr indent="0" lvl="0" marL="0" marR="0" rtl="0" algn="just">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Cada función de no terminal puede definirse de tal forma que recibe los atributos heredados como parámetros (si los hay) y retorna los atributos sintetizados como valor de retorno</a:t>
            </a:r>
            <a:endParaRPr/>
          </a:p>
        </p:txBody>
      </p:sp>
      <p:sp>
        <p:nvSpPr>
          <p:cNvPr id="192" name="Google Shape;192;p23"/>
          <p:cNvSpPr txBox="1"/>
          <p:nvPr/>
        </p:nvSpPr>
        <p:spPr>
          <a:xfrm>
            <a:off x="6990604" y="3874945"/>
            <a:ext cx="4833600" cy="3206100"/>
          </a:xfrm>
          <a:prstGeom prst="rect">
            <a:avLst/>
          </a:prstGeom>
          <a:noFill/>
          <a:ln>
            <a:noFill/>
          </a:ln>
        </p:spPr>
        <p:txBody>
          <a:bodyPr anchorCtr="0" anchor="t" bIns="0" lIns="0" spcFirstLastPara="1" rIns="0" wrap="square" tIns="0">
            <a:spAutoFit/>
          </a:bodyPr>
          <a:lstStyle/>
          <a:p>
            <a:pPr indent="0" lvl="0" marL="0" marR="0" rtl="0" algn="l">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En el cuerpo de la función (que corresponde a una producción gramatical específica), se insertan las operaciones necesarias para la traducción. Estas operaciones pueden incluir llamadas a funciones auxiliares para generar código, insertar información en la tabla de símbolos, efectuar cálculos, etc</a:t>
            </a:r>
            <a:endParaRPr/>
          </a:p>
        </p:txBody>
      </p:sp>
      <p:sp>
        <p:nvSpPr>
          <p:cNvPr id="193" name="Google Shape;193;p23"/>
          <p:cNvSpPr txBox="1"/>
          <p:nvPr/>
        </p:nvSpPr>
        <p:spPr>
          <a:xfrm>
            <a:off x="12469242" y="2352502"/>
            <a:ext cx="2667300" cy="13947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03</a:t>
            </a:r>
            <a:endParaRPr/>
          </a:p>
        </p:txBody>
      </p:sp>
      <p:sp>
        <p:nvSpPr>
          <p:cNvPr id="194" name="Google Shape;194;p23"/>
          <p:cNvSpPr txBox="1"/>
          <p:nvPr/>
        </p:nvSpPr>
        <p:spPr>
          <a:xfrm>
            <a:off x="12469242" y="3874945"/>
            <a:ext cx="4833600" cy="2377800"/>
          </a:xfrm>
          <a:prstGeom prst="rect">
            <a:avLst/>
          </a:prstGeom>
          <a:noFill/>
          <a:ln>
            <a:noFill/>
          </a:ln>
        </p:spPr>
        <p:txBody>
          <a:bodyPr anchorCtr="0" anchor="t" bIns="0" lIns="0" spcFirstLastPara="1" rIns="0" wrap="square" tIns="0">
            <a:spAutoFit/>
          </a:bodyPr>
          <a:lstStyle/>
          <a:p>
            <a:pPr indent="0" lvl="0" marL="0" marR="0" rtl="0" algn="l">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Traducción en una pasada: Si la gramática es apropiada (p. ej., L-atributo), el analizador descendente puede garantizar que en el momento de ejecutar una acción semántica, todos los datos necesarios ya están disponibles.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98" name="Shape 198"/>
        <p:cNvGrpSpPr/>
        <p:nvPr/>
      </p:nvGrpSpPr>
      <p:grpSpPr>
        <a:xfrm>
          <a:off x="0" y="0"/>
          <a:ext cx="0" cy="0"/>
          <a:chOff x="0" y="0"/>
          <a:chExt cx="0" cy="0"/>
        </a:xfrm>
      </p:grpSpPr>
      <p:sp>
        <p:nvSpPr>
          <p:cNvPr id="199" name="Google Shape;199;p24"/>
          <p:cNvSpPr txBox="1"/>
          <p:nvPr/>
        </p:nvSpPr>
        <p:spPr>
          <a:xfrm>
            <a:off x="1135900" y="2829700"/>
            <a:ext cx="16030500" cy="6407400"/>
          </a:xfrm>
          <a:prstGeom prst="rect">
            <a:avLst/>
          </a:prstGeom>
          <a:noFill/>
          <a:ln>
            <a:noFill/>
          </a:ln>
        </p:spPr>
        <p:txBody>
          <a:bodyPr anchorCtr="0" anchor="t" bIns="0" lIns="0" spcFirstLastPara="1" rIns="0" wrap="square" tIns="0">
            <a:spAutoFit/>
          </a:bodyPr>
          <a:lstStyle/>
          <a:p>
            <a:pPr indent="0" lvl="0" marL="0" marR="0" rtl="0" algn="just">
              <a:lnSpc>
                <a:spcPct val="134988"/>
              </a:lnSpc>
              <a:spcBef>
                <a:spcPts val="0"/>
              </a:spcBef>
              <a:spcAft>
                <a:spcPts val="0"/>
              </a:spcAft>
              <a:buNone/>
            </a:pPr>
            <a:r>
              <a:rPr b="0" i="0" lang="en-US" sz="2618" u="none" cap="none" strike="noStrike">
                <a:solidFill>
                  <a:srgbClr val="FFFFFF"/>
                </a:solidFill>
                <a:latin typeface="Saira Light"/>
                <a:ea typeface="Saira Light"/>
                <a:cs typeface="Saira Light"/>
                <a:sym typeface="Saira Light"/>
              </a:rPr>
              <a:t>Es una representación gráfica de una gramática LL (predictiva) donde cada no terminal es un pequeño autómata dirigido con:</a:t>
            </a:r>
            <a:endParaRPr/>
          </a:p>
          <a:p>
            <a:pPr indent="-282664"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Un estado de entrada y un estado de aceptación.</a:t>
            </a:r>
            <a:endParaRPr/>
          </a:p>
          <a:p>
            <a:pPr indent="-293459" lvl="1" marL="586918" marR="0" rtl="0" algn="just">
              <a:lnSpc>
                <a:spcPct val="134988"/>
              </a:lnSpc>
              <a:spcBef>
                <a:spcPts val="0"/>
              </a:spcBef>
              <a:spcAft>
                <a:spcPts val="0"/>
              </a:spcAft>
              <a:buClr>
                <a:srgbClr val="FFFFFF"/>
              </a:buClr>
              <a:buSzPts val="2718"/>
              <a:buFont typeface="Arial"/>
              <a:buChar char="•"/>
            </a:pPr>
            <a:r>
              <a:rPr b="0" i="0" lang="en-US" sz="2718" u="none" cap="none" strike="noStrike">
                <a:solidFill>
                  <a:srgbClr val="FFFFFF"/>
                </a:solidFill>
                <a:latin typeface="Saira Light"/>
                <a:ea typeface="Saira Light"/>
                <a:cs typeface="Saira Light"/>
                <a:sym typeface="Saira Light"/>
              </a:rPr>
              <a:t>Arcos (transiciones) etiquetados por:</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Terminales → “consume” ese símbolo de entrada.</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No terminales → “llama” al diagrama de ese no terminal (subrutina).</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ε (epsilon) → transición vacía (no consume entrada).</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0" lvl="0" marL="0" marR="0" rtl="0" algn="just">
              <a:lnSpc>
                <a:spcPct val="134988"/>
              </a:lnSpc>
              <a:spcBef>
                <a:spcPts val="0"/>
              </a:spcBef>
              <a:spcAft>
                <a:spcPts val="0"/>
              </a:spcAft>
              <a:buNone/>
            </a:pPr>
            <a:r>
              <a:rPr b="0" i="0" lang="en-US" sz="2618" u="none" cap="none" strike="noStrike">
                <a:solidFill>
                  <a:srgbClr val="FFFFFF"/>
                </a:solidFill>
                <a:latin typeface="Saira Light"/>
                <a:ea typeface="Saira Light"/>
                <a:cs typeface="Saira Light"/>
                <a:sym typeface="Saira Light"/>
              </a:rPr>
              <a:t>Es equivalente a una tabla LL(1) pero más visual: cada producción A → X₁ X₂ … Xₖ se convierte en un camino desde A_in a A_out con arcos por X₁, X₂, …, Xₖ; las alternativas ramifican desde A_in y vuelven a A_out.</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p:txBody>
      </p:sp>
      <p:sp>
        <p:nvSpPr>
          <p:cNvPr id="200" name="Google Shape;200;p24"/>
          <p:cNvSpPr txBox="1"/>
          <p:nvPr/>
        </p:nvSpPr>
        <p:spPr>
          <a:xfrm>
            <a:off x="1668363" y="1137485"/>
            <a:ext cx="11279100" cy="1099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7145" u="none" cap="none" strike="noStrike">
                <a:solidFill>
                  <a:srgbClr val="FFFFFF"/>
                </a:solidFill>
                <a:latin typeface="Arial"/>
                <a:ea typeface="Arial"/>
                <a:cs typeface="Arial"/>
                <a:sym typeface="Arial"/>
              </a:rPr>
              <a:t>Diagrama de transición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04" name="Shape 204"/>
        <p:cNvGrpSpPr/>
        <p:nvPr/>
      </p:nvGrpSpPr>
      <p:grpSpPr>
        <a:xfrm>
          <a:off x="0" y="0"/>
          <a:ext cx="0" cy="0"/>
          <a:chOff x="0" y="0"/>
          <a:chExt cx="0" cy="0"/>
        </a:xfrm>
      </p:grpSpPr>
      <p:sp>
        <p:nvSpPr>
          <p:cNvPr id="205" name="Google Shape;205;p25"/>
          <p:cNvSpPr txBox="1"/>
          <p:nvPr/>
        </p:nvSpPr>
        <p:spPr>
          <a:xfrm>
            <a:off x="4046612" y="935739"/>
            <a:ext cx="9650700" cy="1099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7145" u="none" cap="none" strike="noStrike">
                <a:solidFill>
                  <a:srgbClr val="FFFFFF"/>
                </a:solidFill>
                <a:latin typeface="Arial"/>
                <a:ea typeface="Arial"/>
                <a:cs typeface="Arial"/>
                <a:sym typeface="Arial"/>
              </a:rPr>
              <a:t>¿Para qué sirven?</a:t>
            </a:r>
            <a:endParaRPr/>
          </a:p>
        </p:txBody>
      </p:sp>
      <p:sp>
        <p:nvSpPr>
          <p:cNvPr id="206" name="Google Shape;206;p25"/>
          <p:cNvSpPr txBox="1"/>
          <p:nvPr/>
        </p:nvSpPr>
        <p:spPr>
          <a:xfrm>
            <a:off x="2152025" y="2769673"/>
            <a:ext cx="14518200" cy="3122700"/>
          </a:xfrm>
          <a:prstGeom prst="rect">
            <a:avLst/>
          </a:prstGeom>
          <a:noFill/>
          <a:ln>
            <a:noFill/>
          </a:ln>
        </p:spPr>
        <p:txBody>
          <a:bodyPr anchorCtr="0" anchor="t" bIns="0" lIns="0" spcFirstLastPara="1" rIns="0" wrap="square" tIns="0">
            <a:spAutoFit/>
          </a:bodyPr>
          <a:lstStyle/>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explicar y construir parsers predictivos de forma gráfica.</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simular el análisis LL(1) sin tablas, decidiendo qué alternativa tomar con el lookahead (primer token por leer).</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enseñar FIRST/FOLLOW y cómo ε-transiciones representan producciones vacías.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10" name="Shape 210"/>
        <p:cNvGrpSpPr/>
        <p:nvPr/>
      </p:nvGrpSpPr>
      <p:grpSpPr>
        <a:xfrm>
          <a:off x="0" y="0"/>
          <a:ext cx="0" cy="0"/>
          <a:chOff x="0" y="0"/>
          <a:chExt cx="0" cy="0"/>
        </a:xfrm>
      </p:grpSpPr>
      <p:grpSp>
        <p:nvGrpSpPr>
          <p:cNvPr id="211" name="Google Shape;211;p26"/>
          <p:cNvGrpSpPr/>
          <p:nvPr/>
        </p:nvGrpSpPr>
        <p:grpSpPr>
          <a:xfrm>
            <a:off x="9144000" y="327141"/>
            <a:ext cx="8486935" cy="9272672"/>
            <a:chOff x="0" y="-47625"/>
            <a:chExt cx="2235242" cy="2442185"/>
          </a:xfrm>
        </p:grpSpPr>
        <p:sp>
          <p:nvSpPr>
            <p:cNvPr id="212" name="Google Shape;212;p26"/>
            <p:cNvSpPr/>
            <p:nvPr/>
          </p:nvSpPr>
          <p:spPr>
            <a:xfrm>
              <a:off x="0" y="0"/>
              <a:ext cx="2235242" cy="2394560"/>
            </a:xfrm>
            <a:custGeom>
              <a:rect b="b" l="l" r="r" t="t"/>
              <a:pathLst>
                <a:path extrusionOk="0" h="2394560" w="2235242">
                  <a:moveTo>
                    <a:pt x="0" y="0"/>
                  </a:moveTo>
                  <a:lnTo>
                    <a:pt x="2235242" y="0"/>
                  </a:lnTo>
                  <a:lnTo>
                    <a:pt x="2235242" y="2394560"/>
                  </a:lnTo>
                  <a:lnTo>
                    <a:pt x="0" y="2394560"/>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13" name="Google Shape;213;p26"/>
            <p:cNvSpPr txBox="1"/>
            <p:nvPr/>
          </p:nvSpPr>
          <p:spPr>
            <a:xfrm>
              <a:off x="0" y="-47625"/>
              <a:ext cx="2235242" cy="2442185"/>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4" name="Google Shape;214;p26"/>
          <p:cNvSpPr txBox="1"/>
          <p:nvPr/>
        </p:nvSpPr>
        <p:spPr>
          <a:xfrm>
            <a:off x="976697" y="2183821"/>
            <a:ext cx="7000800" cy="6910500"/>
          </a:xfrm>
          <a:prstGeom prst="rect">
            <a:avLst/>
          </a:prstGeom>
          <a:noFill/>
          <a:ln>
            <a:noFill/>
          </a:ln>
        </p:spPr>
        <p:txBody>
          <a:bodyPr anchorCtr="0" anchor="t" bIns="0" lIns="0" spcFirstLastPara="1" rIns="0" wrap="square" tIns="0">
            <a:spAutoFit/>
          </a:bodyPr>
          <a:lstStyle/>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E  → T E'</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E' → '+' T E'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 T E'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ε</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T  → F T'</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T' → '*' F T'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ε</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F  → '(' E ')'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id</a:t>
            </a:r>
            <a:endParaRPr/>
          </a:p>
          <a:p>
            <a:pPr indent="0" lvl="0" marL="0" marR="0" rtl="0" algn="l">
              <a:lnSpc>
                <a:spcPct val="135002"/>
              </a:lnSpc>
              <a:spcBef>
                <a:spcPts val="0"/>
              </a:spcBef>
              <a:spcAft>
                <a:spcPts val="0"/>
              </a:spcAft>
              <a:buNone/>
            </a:pPr>
            <a:r>
              <a:t/>
            </a:r>
            <a:endParaRPr b="0" i="0" sz="3414" u="none" cap="none" strike="noStrike">
              <a:solidFill>
                <a:srgbClr val="FFFFFF"/>
              </a:solidFill>
              <a:latin typeface="Saira Light"/>
              <a:ea typeface="Saira Light"/>
              <a:cs typeface="Saira Light"/>
              <a:sym typeface="Saira Light"/>
            </a:endParaRPr>
          </a:p>
        </p:txBody>
      </p:sp>
      <p:sp>
        <p:nvSpPr>
          <p:cNvPr id="215" name="Google Shape;215;p26"/>
          <p:cNvSpPr/>
          <p:nvPr/>
        </p:nvSpPr>
        <p:spPr>
          <a:xfrm>
            <a:off x="9468324" y="1028700"/>
            <a:ext cx="6593772" cy="2027309"/>
          </a:xfrm>
          <a:custGeom>
            <a:rect b="b" l="l" r="r" t="t"/>
            <a:pathLst>
              <a:path extrusionOk="0" h="2027309" w="6593772">
                <a:moveTo>
                  <a:pt x="0" y="0"/>
                </a:moveTo>
                <a:lnTo>
                  <a:pt x="6593772" y="0"/>
                </a:lnTo>
                <a:lnTo>
                  <a:pt x="6593772" y="2027309"/>
                </a:lnTo>
                <a:lnTo>
                  <a:pt x="0" y="2027309"/>
                </a:lnTo>
                <a:lnTo>
                  <a:pt x="0" y="0"/>
                </a:lnTo>
                <a:close/>
              </a:path>
            </a:pathLst>
          </a:custGeom>
          <a:blipFill rotWithShape="1">
            <a:blip r:embed="rId3">
              <a:alphaModFix/>
            </a:blip>
            <a:stretch>
              <a:fillRect b="0" l="0" r="0" t="0"/>
            </a:stretch>
          </a:blipFill>
          <a:ln>
            <a:noFill/>
          </a:ln>
        </p:spPr>
      </p:sp>
      <p:sp>
        <p:nvSpPr>
          <p:cNvPr id="216" name="Google Shape;216;p26"/>
          <p:cNvSpPr/>
          <p:nvPr/>
        </p:nvSpPr>
        <p:spPr>
          <a:xfrm>
            <a:off x="9468324" y="3716739"/>
            <a:ext cx="7790976" cy="2844887"/>
          </a:xfrm>
          <a:custGeom>
            <a:rect b="b" l="l" r="r" t="t"/>
            <a:pathLst>
              <a:path extrusionOk="0" h="2844887" w="7790976">
                <a:moveTo>
                  <a:pt x="0" y="0"/>
                </a:moveTo>
                <a:lnTo>
                  <a:pt x="7790976" y="0"/>
                </a:lnTo>
                <a:lnTo>
                  <a:pt x="7790976" y="2844886"/>
                </a:lnTo>
                <a:lnTo>
                  <a:pt x="0" y="2844886"/>
                </a:lnTo>
                <a:lnTo>
                  <a:pt x="0" y="0"/>
                </a:lnTo>
                <a:close/>
              </a:path>
            </a:pathLst>
          </a:custGeom>
          <a:blipFill rotWithShape="1">
            <a:blip r:embed="rId4">
              <a:alphaModFix/>
            </a:blip>
            <a:stretch>
              <a:fillRect b="0" l="0" r="0" t="0"/>
            </a:stretch>
          </a:blipFill>
          <a:ln>
            <a:noFill/>
          </a:ln>
        </p:spPr>
      </p:sp>
      <p:sp>
        <p:nvSpPr>
          <p:cNvPr id="217" name="Google Shape;217;p26"/>
          <p:cNvSpPr txBox="1"/>
          <p:nvPr/>
        </p:nvSpPr>
        <p:spPr>
          <a:xfrm>
            <a:off x="908694" y="832669"/>
            <a:ext cx="7136700" cy="11694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7598" u="none" cap="none" strike="noStrike">
                <a:solidFill>
                  <a:srgbClr val="8FE3FD"/>
                </a:solidFill>
                <a:latin typeface="Arial"/>
                <a:ea typeface="Arial"/>
                <a:cs typeface="Arial"/>
                <a:sym typeface="Arial"/>
              </a:rPr>
              <a:t>Ejemplo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623400" y="4301700"/>
            <a:ext cx="17041200" cy="1683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Funciones y cerraduras en un intérprete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type="title"/>
          </p:nvPr>
        </p:nvSpPr>
        <p:spPr>
          <a:xfrm>
            <a:off x="1343040" y="515965"/>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Funciones embebidas</a:t>
            </a:r>
            <a:endParaRPr/>
          </a:p>
        </p:txBody>
      </p:sp>
      <p:sp>
        <p:nvSpPr>
          <p:cNvPr id="228" name="Google Shape;228;p28"/>
          <p:cNvSpPr txBox="1"/>
          <p:nvPr>
            <p:ph idx="1" type="body"/>
          </p:nvPr>
        </p:nvSpPr>
        <p:spPr>
          <a:xfrm>
            <a:off x="623400" y="3296850"/>
            <a:ext cx="8520600" cy="68328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rPr lang="en-US"/>
              <a:t>Las funciones nativas o embebidas son fundamentales en un lenguaje de programación porque proporcionan acceso directo a servicios esenciales del sistema, evitando que el desarrollador tenga que implementar desde cero mecanismos complejos para realizar tareas básicas, como el manejo de archivos.</a:t>
            </a:r>
            <a:endParaRPr/>
          </a:p>
        </p:txBody>
      </p:sp>
      <p:pic>
        <p:nvPicPr>
          <p:cNvPr id="229" name="Google Shape;229;p28"/>
          <p:cNvPicPr preferRelativeResize="0"/>
          <p:nvPr/>
        </p:nvPicPr>
        <p:blipFill>
          <a:blip r:embed="rId3">
            <a:alphaModFix/>
          </a:blip>
          <a:stretch>
            <a:fillRect/>
          </a:stretch>
        </p:blipFill>
        <p:spPr>
          <a:xfrm>
            <a:off x="9144000" y="3037025"/>
            <a:ext cx="8534399" cy="5368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type="title"/>
          </p:nvPr>
        </p:nvSpPr>
        <p:spPr>
          <a:xfrm>
            <a:off x="1247040" y="1779840"/>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En donde se guardan</a:t>
            </a:r>
            <a:endParaRPr/>
          </a:p>
        </p:txBody>
      </p:sp>
      <p:sp>
        <p:nvSpPr>
          <p:cNvPr id="235" name="Google Shape;235;p29"/>
          <p:cNvSpPr txBox="1"/>
          <p:nvPr>
            <p:ph idx="1" type="body"/>
          </p:nvPr>
        </p:nvSpPr>
        <p:spPr>
          <a:xfrm>
            <a:off x="9144000" y="2304950"/>
            <a:ext cx="8520600" cy="68328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rPr lang="en-US"/>
              <a:t>Las funciones, al igual que las variables, se registran en la tabla de símbolos y deben almacenarse en el entorno global para garantizar su disponibilidad y reutilización durante toda la ejecución del programa.</a:t>
            </a:r>
            <a:endParaRPr/>
          </a:p>
        </p:txBody>
      </p:sp>
      <p:pic>
        <p:nvPicPr>
          <p:cNvPr id="236" name="Google Shape;236;p29"/>
          <p:cNvPicPr preferRelativeResize="0"/>
          <p:nvPr/>
        </p:nvPicPr>
        <p:blipFill rotWithShape="1">
          <a:blip r:embed="rId3">
            <a:alphaModFix/>
          </a:blip>
          <a:srcRect b="0" l="0" r="26681" t="0"/>
          <a:stretch/>
        </p:blipFill>
        <p:spPr>
          <a:xfrm>
            <a:off x="179799" y="2304950"/>
            <a:ext cx="8964199" cy="6832800"/>
          </a:xfrm>
          <a:prstGeom prst="rect">
            <a:avLst/>
          </a:prstGeom>
          <a:noFill/>
          <a:ln>
            <a:noFill/>
          </a:ln>
        </p:spPr>
      </p:pic>
      <p:cxnSp>
        <p:nvCxnSpPr>
          <p:cNvPr id="237" name="Google Shape;237;p29"/>
          <p:cNvCxnSpPr/>
          <p:nvPr/>
        </p:nvCxnSpPr>
        <p:spPr>
          <a:xfrm flipH="1" rot="10800000">
            <a:off x="1630078" y="4079730"/>
            <a:ext cx="4875000" cy="15000"/>
          </a:xfrm>
          <a:prstGeom prst="straightConnector1">
            <a:avLst/>
          </a:prstGeom>
          <a:noFill/>
          <a:ln cap="flat" cmpd="sng" w="67750">
            <a:solidFill>
              <a:srgbClr val="FF0000"/>
            </a:solidFill>
            <a:prstDash val="solid"/>
            <a:round/>
            <a:headEnd len="med" w="med" type="none"/>
            <a:tailEnd len="med" w="med" type="none"/>
          </a:ln>
        </p:spPr>
      </p:cxnSp>
      <p:cxnSp>
        <p:nvCxnSpPr>
          <p:cNvPr id="238" name="Google Shape;238;p29"/>
          <p:cNvCxnSpPr/>
          <p:nvPr/>
        </p:nvCxnSpPr>
        <p:spPr>
          <a:xfrm>
            <a:off x="2190225" y="5169647"/>
            <a:ext cx="6661200" cy="0"/>
          </a:xfrm>
          <a:prstGeom prst="straightConnector1">
            <a:avLst/>
          </a:prstGeom>
          <a:noFill/>
          <a:ln cap="flat" cmpd="sng" w="67750">
            <a:solidFill>
              <a:srgbClr val="FF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927090" y="195990"/>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Funciones Foráneas</a:t>
            </a:r>
            <a:endParaRPr/>
          </a:p>
        </p:txBody>
      </p:sp>
      <p:sp>
        <p:nvSpPr>
          <p:cNvPr id="244" name="Google Shape;244;p30"/>
          <p:cNvSpPr txBox="1"/>
          <p:nvPr>
            <p:ph idx="1" type="body"/>
          </p:nvPr>
        </p:nvSpPr>
        <p:spPr>
          <a:xfrm>
            <a:off x="623400" y="2304950"/>
            <a:ext cx="8520600" cy="68328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rPr lang="en-US"/>
              <a:t>Las funciones definidas por el usuario encapsulan instrucciones bajo un identificador para facilitar la reutilización y organización del código y, una vez registradas en la tabla de símbolos, pueden invocarse como cualquier otra función del lenguaje.</a:t>
            </a:r>
            <a:endParaRPr/>
          </a:p>
        </p:txBody>
      </p:sp>
      <p:pic>
        <p:nvPicPr>
          <p:cNvPr id="245" name="Google Shape;245;p30"/>
          <p:cNvPicPr preferRelativeResize="0"/>
          <p:nvPr/>
        </p:nvPicPr>
        <p:blipFill>
          <a:blip r:embed="rId3">
            <a:alphaModFix/>
          </a:blip>
          <a:stretch>
            <a:fillRect/>
          </a:stretch>
        </p:blipFill>
        <p:spPr>
          <a:xfrm>
            <a:off x="9144000" y="2704500"/>
            <a:ext cx="8534399" cy="60336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1247040" y="1779840"/>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Closures</a:t>
            </a:r>
            <a:endParaRPr/>
          </a:p>
        </p:txBody>
      </p:sp>
      <p:sp>
        <p:nvSpPr>
          <p:cNvPr id="251" name="Google Shape;251;p31"/>
          <p:cNvSpPr txBox="1"/>
          <p:nvPr>
            <p:ph idx="1" type="body"/>
          </p:nvPr>
        </p:nvSpPr>
        <p:spPr>
          <a:xfrm>
            <a:off x="1137274" y="3618550"/>
            <a:ext cx="14956500" cy="105543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rPr lang="en-US"/>
              <a:t>Anteriormente se explicó que una función se almacena en un entorno para poder ser invocada posteriormente. Sin embargo, además de estar registrada en dicho entorno, cada función encapsula su propio entorno y opera con un conjunto propio de variables locales.</a:t>
            </a:r>
            <a:endParaRPr/>
          </a:p>
          <a:p>
            <a:pPr indent="0" lvl="0" marL="0" rtl="0" algn="l">
              <a:spcBef>
                <a:spcPts val="2000"/>
              </a:spcBef>
              <a:spcAft>
                <a:spcPts val="0"/>
              </a:spcAft>
              <a:buNone/>
            </a:pPr>
            <a:r>
              <a:rPr lang="en-US"/>
              <a:t>La clausura (closure) es el mecanismo que permite que una función conserve acceso a las variables de su entorno de definición, incluso cuando es invocada en un contexto diferente. Es decir, la función mantiene una referencia al entorno en el que fue creada, lo que le permite utilizar valores declarados fuera de su ámbito inmediato de ejecución.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2"/>
          <p:cNvPicPr preferRelativeResize="0"/>
          <p:nvPr/>
        </p:nvPicPr>
        <p:blipFill>
          <a:blip r:embed="rId3">
            <a:alphaModFix/>
          </a:blip>
          <a:stretch>
            <a:fillRect/>
          </a:stretch>
        </p:blipFill>
        <p:spPr>
          <a:xfrm>
            <a:off x="1162050" y="1048450"/>
            <a:ext cx="7981950" cy="6705600"/>
          </a:xfrm>
          <a:prstGeom prst="rect">
            <a:avLst/>
          </a:prstGeom>
          <a:noFill/>
          <a:ln>
            <a:noFill/>
          </a:ln>
        </p:spPr>
      </p:pic>
      <p:pic>
        <p:nvPicPr>
          <p:cNvPr id="257" name="Google Shape;257;p32"/>
          <p:cNvPicPr preferRelativeResize="0"/>
          <p:nvPr/>
        </p:nvPicPr>
        <p:blipFill>
          <a:blip r:embed="rId4">
            <a:alphaModFix/>
          </a:blip>
          <a:stretch>
            <a:fillRect/>
          </a:stretch>
        </p:blipFill>
        <p:spPr>
          <a:xfrm>
            <a:off x="6810150" y="3217499"/>
            <a:ext cx="10737602" cy="2367500"/>
          </a:xfrm>
          <a:prstGeom prst="rect">
            <a:avLst/>
          </a:prstGeom>
          <a:noFill/>
          <a:ln>
            <a:noFill/>
          </a:ln>
        </p:spPr>
      </p:pic>
      <p:sp>
        <p:nvSpPr>
          <p:cNvPr id="258" name="Google Shape;258;p32"/>
          <p:cNvSpPr txBox="1"/>
          <p:nvPr/>
        </p:nvSpPr>
        <p:spPr>
          <a:xfrm>
            <a:off x="3511650" y="8324600"/>
            <a:ext cx="11278800" cy="11466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lang="en-US" sz="3600">
                <a:solidFill>
                  <a:schemeClr val="lt1"/>
                </a:solidFill>
                <a:latin typeface="Lato"/>
                <a:ea typeface="Lato"/>
                <a:cs typeface="Lato"/>
                <a:sym typeface="Lato"/>
              </a:rPr>
              <a:t>Resolución de Variables</a:t>
            </a:r>
            <a:endParaRPr sz="36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1039065" y="275990"/>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Hoisting</a:t>
            </a:r>
            <a:endParaRPr/>
          </a:p>
        </p:txBody>
      </p:sp>
      <p:sp>
        <p:nvSpPr>
          <p:cNvPr id="264" name="Google Shape;264;p33"/>
          <p:cNvSpPr txBox="1"/>
          <p:nvPr>
            <p:ph idx="1" type="body"/>
          </p:nvPr>
        </p:nvSpPr>
        <p:spPr>
          <a:xfrm>
            <a:off x="799375" y="2437100"/>
            <a:ext cx="8520600" cy="68328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rPr lang="en-US"/>
              <a:t>El hoisting permite que ciertas declaraciones sean registradas en el entorno antes de la ejecución, haciendo posible usar identificadores antes de que aparezcan explícitamente en el código.</a:t>
            </a:r>
            <a:endParaRPr/>
          </a:p>
          <a:p>
            <a:pPr indent="0" lvl="0" marL="0" rtl="0" algn="l">
              <a:spcBef>
                <a:spcPts val="2000"/>
              </a:spcBef>
              <a:spcAft>
                <a:spcPts val="0"/>
              </a:spcAft>
              <a:buNone/>
            </a:pPr>
            <a:r>
              <a:t/>
            </a:r>
            <a:endParaRPr/>
          </a:p>
        </p:txBody>
      </p:sp>
      <p:pic>
        <p:nvPicPr>
          <p:cNvPr id="265" name="Google Shape;265;p33"/>
          <p:cNvPicPr preferRelativeResize="0"/>
          <p:nvPr/>
        </p:nvPicPr>
        <p:blipFill>
          <a:blip r:embed="rId3">
            <a:alphaModFix/>
          </a:blip>
          <a:stretch>
            <a:fillRect/>
          </a:stretch>
        </p:blipFill>
        <p:spPr>
          <a:xfrm>
            <a:off x="9802693" y="2304950"/>
            <a:ext cx="7141902" cy="6832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1247040" y="1779840"/>
            <a:ext cx="34080000" cy="228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Call Stack</a:t>
            </a:r>
            <a:endParaRPr/>
          </a:p>
        </p:txBody>
      </p:sp>
      <p:sp>
        <p:nvSpPr>
          <p:cNvPr id="271" name="Google Shape;271;p34"/>
          <p:cNvSpPr txBox="1"/>
          <p:nvPr>
            <p:ph idx="1" type="body"/>
          </p:nvPr>
        </p:nvSpPr>
        <p:spPr>
          <a:xfrm>
            <a:off x="1247040" y="4609440"/>
            <a:ext cx="34080000" cy="13664400"/>
          </a:xfrm>
          <a:prstGeom prst="rect">
            <a:avLst/>
          </a:prstGeom>
        </p:spPr>
        <p:txBody>
          <a:bodyPr anchorCtr="0" anchor="t" bIns="0" lIns="0" spcFirstLastPara="1" rIns="0" wrap="square" tIns="0">
            <a:normAutofit/>
          </a:bodyPr>
          <a:lstStyle/>
          <a:p>
            <a:pPr indent="0" lvl="0" marL="0" rtl="0" algn="l">
              <a:spcBef>
                <a:spcPts val="2000"/>
              </a:spcBef>
              <a:spcAft>
                <a:spcPts val="0"/>
              </a:spcAft>
              <a:buNone/>
            </a:pPr>
            <a:r>
              <a:t/>
            </a:r>
            <a:endParaRPr/>
          </a:p>
        </p:txBody>
      </p:sp>
      <p:pic>
        <p:nvPicPr>
          <p:cNvPr id="272" name="Google Shape;272;p34"/>
          <p:cNvPicPr preferRelativeResize="0"/>
          <p:nvPr/>
        </p:nvPicPr>
        <p:blipFill>
          <a:blip r:embed="rId3">
            <a:alphaModFix/>
          </a:blip>
          <a:stretch>
            <a:fillRect/>
          </a:stretch>
        </p:blipFill>
        <p:spPr>
          <a:xfrm>
            <a:off x="3055875" y="2412825"/>
            <a:ext cx="11456248" cy="6617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623400" y="4301700"/>
            <a:ext cx="17041200" cy="16836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Implementación en ANTLR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81" name="Shape 281"/>
        <p:cNvGrpSpPr/>
        <p:nvPr/>
      </p:nvGrpSpPr>
      <p:grpSpPr>
        <a:xfrm>
          <a:off x="0" y="0"/>
          <a:ext cx="0" cy="0"/>
          <a:chOff x="0" y="0"/>
          <a:chExt cx="0" cy="0"/>
        </a:xfrm>
      </p:grpSpPr>
      <p:grpSp>
        <p:nvGrpSpPr>
          <p:cNvPr id="282" name="Google Shape;282;p36"/>
          <p:cNvGrpSpPr/>
          <p:nvPr/>
        </p:nvGrpSpPr>
        <p:grpSpPr>
          <a:xfrm>
            <a:off x="1028700" y="2086938"/>
            <a:ext cx="16230600" cy="5949170"/>
            <a:chOff x="0" y="-47625"/>
            <a:chExt cx="4274726" cy="1566860"/>
          </a:xfrm>
        </p:grpSpPr>
        <p:sp>
          <p:nvSpPr>
            <p:cNvPr id="283" name="Google Shape;283;p36"/>
            <p:cNvSpPr/>
            <p:nvPr/>
          </p:nvSpPr>
          <p:spPr>
            <a:xfrm>
              <a:off x="0" y="0"/>
              <a:ext cx="4274726" cy="1519235"/>
            </a:xfrm>
            <a:custGeom>
              <a:rect b="b" l="l" r="r" t="t"/>
              <a:pathLst>
                <a:path extrusionOk="0" h="1519235" w="4274726">
                  <a:moveTo>
                    <a:pt x="0" y="0"/>
                  </a:moveTo>
                  <a:lnTo>
                    <a:pt x="4274726" y="0"/>
                  </a:lnTo>
                  <a:lnTo>
                    <a:pt x="4274726" y="1519235"/>
                  </a:lnTo>
                  <a:lnTo>
                    <a:pt x="0" y="1519235"/>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84" name="Google Shape;284;p36"/>
            <p:cNvSpPr txBox="1"/>
            <p:nvPr/>
          </p:nvSpPr>
          <p:spPr>
            <a:xfrm>
              <a:off x="0" y="-47625"/>
              <a:ext cx="4274726" cy="1566860"/>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36"/>
          <p:cNvSpPr txBox="1"/>
          <p:nvPr/>
        </p:nvSpPr>
        <p:spPr>
          <a:xfrm>
            <a:off x="2230237" y="2773338"/>
            <a:ext cx="13849297" cy="2997887"/>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8598" u="none" cap="none" strike="noStrike">
                <a:solidFill>
                  <a:srgbClr val="8FE3FD"/>
                </a:solidFill>
                <a:latin typeface="Arial"/>
                <a:ea typeface="Arial"/>
                <a:cs typeface="Arial"/>
                <a:sym typeface="Arial"/>
              </a:rPr>
              <a:t>¡Gracias por su atención!</a:t>
            </a:r>
            <a:endParaRPr/>
          </a:p>
        </p:txBody>
      </p:sp>
      <p:sp>
        <p:nvSpPr>
          <p:cNvPr id="286" name="Google Shape;286;p36"/>
          <p:cNvSpPr txBox="1"/>
          <p:nvPr/>
        </p:nvSpPr>
        <p:spPr>
          <a:xfrm>
            <a:off x="3743884" y="6126618"/>
            <a:ext cx="10800231" cy="733425"/>
          </a:xfrm>
          <a:prstGeom prst="rect">
            <a:avLst/>
          </a:prstGeom>
          <a:noFill/>
          <a:ln>
            <a:noFill/>
          </a:ln>
        </p:spPr>
        <p:txBody>
          <a:bodyPr anchorCtr="0" anchor="t" bIns="0" lIns="0" spcFirstLastPara="1" rIns="0" wrap="square" tIns="0">
            <a:spAutoFit/>
          </a:bodyPr>
          <a:lstStyle/>
          <a:p>
            <a:pPr indent="0" lvl="0" marL="0" marR="0" rtl="0" algn="ctr">
              <a:lnSpc>
                <a:spcPct val="135007"/>
              </a:lnSpc>
              <a:spcBef>
                <a:spcPts val="0"/>
              </a:spcBef>
              <a:spcAft>
                <a:spcPts val="0"/>
              </a:spcAft>
              <a:buNone/>
            </a:pPr>
            <a:r>
              <a:rPr b="0" i="0" lang="en-US" sz="4499" u="none" cap="none" strike="noStrike">
                <a:solidFill>
                  <a:srgbClr val="FFFFFF"/>
                </a:solidFill>
                <a:latin typeface="Saira Light"/>
                <a:ea typeface="Saira Light"/>
                <a:cs typeface="Saira Light"/>
                <a:sym typeface="Saira Light"/>
              </a:rPr>
              <a:t>¿Dudas?</a:t>
            </a:r>
            <a:endParaRPr/>
          </a:p>
        </p:txBody>
      </p:sp>
      <p:sp>
        <p:nvSpPr>
          <p:cNvPr id="287" name="Google Shape;287;p36"/>
          <p:cNvSpPr/>
          <p:nvPr/>
        </p:nvSpPr>
        <p:spPr>
          <a:xfrm>
            <a:off x="15530732" y="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