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599C75-23F5-4F5C-A419-F8C2DF7EDA93}">
  <a:tblStyle styleId="{18599C75-23F5-4F5C-A419-F8C2DF7EDA9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5.xml"/><Relationship Id="rId22" Type="http://schemas.openxmlformats.org/officeDocument/2006/relationships/font" Target="fonts/Lato-boldItalic.fntdata"/><Relationship Id="rId10" Type="http://schemas.openxmlformats.org/officeDocument/2006/relationships/slide" Target="slides/slide4.xml"/><Relationship Id="rId21"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Lato-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23a5f1610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23a5f1610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23a5f1610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923a5f1610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23a5f1610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23a5f1610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437ef4f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437ef4f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23a5f1610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23a5f1610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23a5f1610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23a5f1610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23a5f1610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23a5f1610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23a5f1610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23a5f1610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437ef4ff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437ef4ff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23a5f1610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23a5f1610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23a5f1610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23a5f1610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437ef4ff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437ef4ff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300"/>
              <a:buFont typeface="Lato"/>
              <a:buNone/>
              <a:defRPr sz="23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 name="Google Shape;14;p2"/>
          <p:cNvPicPr preferRelativeResize="0"/>
          <p:nvPr/>
        </p:nvPicPr>
        <p:blipFill>
          <a:blip r:embed="rId2">
            <a:alphaModFix/>
          </a:blip>
          <a:stretch>
            <a:fillRect/>
          </a:stretch>
        </p:blipFill>
        <p:spPr>
          <a:xfrm>
            <a:off x="7015825" y="99800"/>
            <a:ext cx="2005325" cy="531475"/>
          </a:xfrm>
          <a:prstGeom prst="rect">
            <a:avLst/>
          </a:prstGeom>
          <a:noFill/>
          <a:ln>
            <a:noFill/>
          </a:ln>
        </p:spPr>
      </p:pic>
      <p:pic>
        <p:nvPicPr>
          <p:cNvPr id="15" name="Google Shape;15;p2"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indent="0" lvl="0" marL="0" marR="0" rtl="0" algn="ctr">
              <a:lnSpc>
                <a:spcPct val="100000"/>
              </a:lnSpc>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pic>
        <p:nvPicPr>
          <p:cNvPr id="21" name="Google Shape;21;p3"/>
          <p:cNvPicPr preferRelativeResize="0"/>
          <p:nvPr/>
        </p:nvPicPr>
        <p:blipFill>
          <a:blip r:embed="rId2">
            <a:alphaModFix/>
          </a:blip>
          <a:stretch>
            <a:fillRect/>
          </a:stretch>
        </p:blipFill>
        <p:spPr>
          <a:xfrm>
            <a:off x="7015825" y="99800"/>
            <a:ext cx="2005325" cy="531475"/>
          </a:xfrm>
          <a:prstGeom prst="rect">
            <a:avLst/>
          </a:prstGeom>
          <a:noFill/>
          <a:ln>
            <a:noFill/>
          </a:ln>
        </p:spPr>
      </p:pic>
      <p:sp>
        <p:nvSpPr>
          <p:cNvPr id="22" name="Google Shape;22;p3"/>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3"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rtl="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
        <p:nvSpPr>
          <p:cNvPr id="35" name="Google Shape;35;p5"/>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5"/>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6"/>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Lato"/>
              <a:buNone/>
              <a:defRPr b="1" sz="2400">
                <a:latin typeface="Lato"/>
                <a:ea typeface="Lato"/>
                <a:cs typeface="Lato"/>
                <a:sym typeface="Lato"/>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44" name="Google Shape;4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AC">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Lato"/>
              <a:buNone/>
              <a:defRPr b="1" sz="48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 name="Google Shape;5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Lato"/>
              <a:buNone/>
              <a:defRPr sz="2100">
                <a:latin typeface="Lato"/>
                <a:ea typeface="Lato"/>
                <a:cs typeface="Lato"/>
                <a:sym typeface="La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Lato"/>
              <a:buChar char="●"/>
              <a:defRPr b="1">
                <a:solidFill>
                  <a:schemeClr val="lt1"/>
                </a:solidFill>
                <a:latin typeface="Lato"/>
                <a:ea typeface="Lato"/>
                <a:cs typeface="Lato"/>
                <a:sym typeface="Lato"/>
              </a:defRPr>
            </a:lvl1pPr>
            <a:lvl2pPr indent="-317500" lvl="1" marL="914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2pPr>
            <a:lvl3pPr indent="-317500" lvl="2" marL="1371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3pPr>
            <a:lvl4pPr indent="-317500" lvl="3" marL="1828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4pPr>
            <a:lvl5pPr indent="-317500" lvl="4" marL="2286000">
              <a:spcBef>
                <a:spcPts val="0"/>
              </a:spcBef>
              <a:spcAft>
                <a:spcPts val="0"/>
              </a:spcAft>
              <a:buClr>
                <a:schemeClr val="lt1"/>
              </a:buClr>
              <a:buSzPts val="1400"/>
              <a:buFont typeface="Lato"/>
              <a:buChar char="○"/>
              <a:defRPr b="1">
                <a:solidFill>
                  <a:schemeClr val="lt1"/>
                </a:solidFill>
                <a:latin typeface="Lato"/>
                <a:ea typeface="Lato"/>
                <a:cs typeface="Lato"/>
                <a:sym typeface="Lato"/>
              </a:defRPr>
            </a:lvl5pPr>
            <a:lvl6pPr indent="-317500" lvl="5" marL="2743200">
              <a:spcBef>
                <a:spcPts val="0"/>
              </a:spcBef>
              <a:spcAft>
                <a:spcPts val="0"/>
              </a:spcAft>
              <a:buClr>
                <a:schemeClr val="lt1"/>
              </a:buClr>
              <a:buSzPts val="1400"/>
              <a:buFont typeface="Lato"/>
              <a:buChar char="■"/>
              <a:defRPr b="1">
                <a:solidFill>
                  <a:schemeClr val="lt1"/>
                </a:solidFill>
                <a:latin typeface="Lato"/>
                <a:ea typeface="Lato"/>
                <a:cs typeface="Lato"/>
                <a:sym typeface="Lato"/>
              </a:defRPr>
            </a:lvl6pPr>
            <a:lvl7pPr indent="-317500" lvl="6" marL="3200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7pPr>
            <a:lvl8pPr indent="-317500" lvl="7" marL="3657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8pPr>
            <a:lvl9pPr indent="-317500" lvl="8" marL="4114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56" name="Google Shape;56;p10"/>
          <p:cNvSpPr/>
          <p:nvPr/>
        </p:nvSpPr>
        <p:spPr>
          <a:xfrm>
            <a:off x="771300" y="4101875"/>
            <a:ext cx="7601400" cy="789300"/>
          </a:xfrm>
          <a:prstGeom prst="ellipseRibbon2">
            <a:avLst>
              <a:gd fmla="val 25000" name="adj1"/>
              <a:gd fmla="val 91057" name="adj2"/>
              <a:gd fmla="val 13560" name="adj3"/>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Lato"/>
              <a:ea typeface="Lato"/>
              <a:cs typeface="Lato"/>
              <a:sym typeface="Lato"/>
            </a:endParaRPr>
          </a:p>
        </p:txBody>
      </p:sp>
      <p:sp>
        <p:nvSpPr>
          <p:cNvPr id="57" name="Google Shape;57;p10"/>
          <p:cNvSpPr txBox="1"/>
          <p:nvPr/>
        </p:nvSpPr>
        <p:spPr>
          <a:xfrm>
            <a:off x="1727625" y="4148100"/>
            <a:ext cx="56457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Lato"/>
              <a:buNone/>
              <a:defRPr b="1" sz="12000">
                <a:latin typeface="Lato"/>
                <a:ea typeface="Lato"/>
                <a:cs typeface="Lato"/>
                <a:sym typeface="Lato"/>
              </a:defRPr>
            </a:lvl1pPr>
            <a:lvl2pPr lvl="1" algn="ctr">
              <a:spcBef>
                <a:spcPts val="0"/>
              </a:spcBef>
              <a:spcAft>
                <a:spcPts val="0"/>
              </a:spcAft>
              <a:buSzPts val="12000"/>
              <a:buFont typeface="Lato"/>
              <a:buNone/>
              <a:defRPr b="1" sz="12000">
                <a:latin typeface="Lato"/>
                <a:ea typeface="Lato"/>
                <a:cs typeface="Lato"/>
                <a:sym typeface="Lato"/>
              </a:defRPr>
            </a:lvl2pPr>
            <a:lvl3pPr lvl="2" algn="ctr">
              <a:spcBef>
                <a:spcPts val="0"/>
              </a:spcBef>
              <a:spcAft>
                <a:spcPts val="0"/>
              </a:spcAft>
              <a:buSzPts val="12000"/>
              <a:buFont typeface="Lato"/>
              <a:buNone/>
              <a:defRPr b="1" sz="12000">
                <a:latin typeface="Lato"/>
                <a:ea typeface="Lato"/>
                <a:cs typeface="Lato"/>
                <a:sym typeface="Lato"/>
              </a:defRPr>
            </a:lvl3pPr>
            <a:lvl4pPr lvl="3" algn="ctr">
              <a:spcBef>
                <a:spcPts val="0"/>
              </a:spcBef>
              <a:spcAft>
                <a:spcPts val="0"/>
              </a:spcAft>
              <a:buSzPts val="12000"/>
              <a:buFont typeface="Lato"/>
              <a:buNone/>
              <a:defRPr b="1" sz="12000">
                <a:latin typeface="Lato"/>
                <a:ea typeface="Lato"/>
                <a:cs typeface="Lato"/>
                <a:sym typeface="Lato"/>
              </a:defRPr>
            </a:lvl4pPr>
            <a:lvl5pPr lvl="4" algn="ctr">
              <a:spcBef>
                <a:spcPts val="0"/>
              </a:spcBef>
              <a:spcAft>
                <a:spcPts val="0"/>
              </a:spcAft>
              <a:buSzPts val="12000"/>
              <a:buFont typeface="Lato"/>
              <a:buNone/>
              <a:defRPr b="1" sz="12000">
                <a:latin typeface="Lato"/>
                <a:ea typeface="Lato"/>
                <a:cs typeface="Lato"/>
                <a:sym typeface="Lato"/>
              </a:defRPr>
            </a:lvl5pPr>
            <a:lvl6pPr lvl="5" algn="ctr">
              <a:spcBef>
                <a:spcPts val="0"/>
              </a:spcBef>
              <a:spcAft>
                <a:spcPts val="0"/>
              </a:spcAft>
              <a:buSzPts val="12000"/>
              <a:buFont typeface="Lato"/>
              <a:buNone/>
              <a:defRPr b="1" sz="12000">
                <a:latin typeface="Lato"/>
                <a:ea typeface="Lato"/>
                <a:cs typeface="Lato"/>
                <a:sym typeface="Lato"/>
              </a:defRPr>
            </a:lvl6pPr>
            <a:lvl7pPr lvl="6" algn="ctr">
              <a:spcBef>
                <a:spcPts val="0"/>
              </a:spcBef>
              <a:spcAft>
                <a:spcPts val="0"/>
              </a:spcAft>
              <a:buSzPts val="12000"/>
              <a:buFont typeface="Lato"/>
              <a:buNone/>
              <a:defRPr b="1" sz="12000">
                <a:latin typeface="Lato"/>
                <a:ea typeface="Lato"/>
                <a:cs typeface="Lato"/>
                <a:sym typeface="Lato"/>
              </a:defRPr>
            </a:lvl7pPr>
            <a:lvl8pPr lvl="7" algn="ctr">
              <a:spcBef>
                <a:spcPts val="0"/>
              </a:spcBef>
              <a:spcAft>
                <a:spcPts val="0"/>
              </a:spcAft>
              <a:buSzPts val="12000"/>
              <a:buFont typeface="Lato"/>
              <a:buNone/>
              <a:defRPr b="1" sz="12000">
                <a:latin typeface="Lato"/>
                <a:ea typeface="Lato"/>
                <a:cs typeface="Lato"/>
                <a:sym typeface="Lato"/>
              </a:defRPr>
            </a:lvl8pPr>
            <a:lvl9pPr lvl="8" algn="ctr">
              <a:spcBef>
                <a:spcPts val="0"/>
              </a:spcBef>
              <a:spcAft>
                <a:spcPts val="0"/>
              </a:spcAft>
              <a:buSzPts val="12000"/>
              <a:buFont typeface="Lato"/>
              <a:buNone/>
              <a:defRPr b="1" sz="12000">
                <a:latin typeface="Lato"/>
                <a:ea typeface="Lato"/>
                <a:cs typeface="Lato"/>
                <a:sym typeface="Lato"/>
              </a:defRPr>
            </a:lvl9pPr>
          </a:lstStyle>
          <a:p>
            <a:r>
              <a:t>xx%</a:t>
            </a:r>
          </a:p>
        </p:txBody>
      </p:sp>
      <p:sp>
        <p:nvSpPr>
          <p:cNvPr id="60" name="Google Shape;6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Lato"/>
              <a:buChar char="●"/>
              <a:defRPr>
                <a:latin typeface="Lato"/>
                <a:ea typeface="Lato"/>
                <a:cs typeface="Lato"/>
                <a:sym typeface="Lato"/>
              </a:defRPr>
            </a:lvl1pPr>
            <a:lvl2pPr indent="-317500" lvl="1" marL="914400" algn="ctr">
              <a:spcBef>
                <a:spcPts val="0"/>
              </a:spcBef>
              <a:spcAft>
                <a:spcPts val="0"/>
              </a:spcAft>
              <a:buSzPts val="1400"/>
              <a:buFont typeface="Lato"/>
              <a:buChar char="○"/>
              <a:defRPr>
                <a:latin typeface="Lato"/>
                <a:ea typeface="Lato"/>
                <a:cs typeface="Lato"/>
                <a:sym typeface="Lato"/>
              </a:defRPr>
            </a:lvl2pPr>
            <a:lvl3pPr indent="-317500" lvl="2" marL="1371600" algn="ctr">
              <a:spcBef>
                <a:spcPts val="0"/>
              </a:spcBef>
              <a:spcAft>
                <a:spcPts val="0"/>
              </a:spcAft>
              <a:buSzPts val="1400"/>
              <a:buFont typeface="Lato"/>
              <a:buChar char="■"/>
              <a:defRPr>
                <a:latin typeface="Lato"/>
                <a:ea typeface="Lato"/>
                <a:cs typeface="Lato"/>
                <a:sym typeface="Lato"/>
              </a:defRPr>
            </a:lvl3pPr>
            <a:lvl4pPr indent="-317500" lvl="3" marL="1828800" algn="ctr">
              <a:spcBef>
                <a:spcPts val="0"/>
              </a:spcBef>
              <a:spcAft>
                <a:spcPts val="0"/>
              </a:spcAft>
              <a:buSzPts val="1400"/>
              <a:buFont typeface="Lato"/>
              <a:buChar char="●"/>
              <a:defRPr>
                <a:latin typeface="Lato"/>
                <a:ea typeface="Lato"/>
                <a:cs typeface="Lato"/>
                <a:sym typeface="Lato"/>
              </a:defRPr>
            </a:lvl4pPr>
            <a:lvl5pPr indent="-317500" lvl="4" marL="2286000" algn="ctr">
              <a:spcBef>
                <a:spcPts val="0"/>
              </a:spcBef>
              <a:spcAft>
                <a:spcPts val="0"/>
              </a:spcAft>
              <a:buSzPts val="1400"/>
              <a:buFont typeface="Lato"/>
              <a:buChar char="○"/>
              <a:defRPr>
                <a:latin typeface="Lato"/>
                <a:ea typeface="Lato"/>
                <a:cs typeface="Lato"/>
                <a:sym typeface="Lato"/>
              </a:defRPr>
            </a:lvl5pPr>
            <a:lvl6pPr indent="-317500" lvl="5" marL="2743200" algn="ctr">
              <a:spcBef>
                <a:spcPts val="0"/>
              </a:spcBef>
              <a:spcAft>
                <a:spcPts val="0"/>
              </a:spcAft>
              <a:buSzPts val="1400"/>
              <a:buFont typeface="Lato"/>
              <a:buChar char="■"/>
              <a:defRPr>
                <a:latin typeface="Lato"/>
                <a:ea typeface="Lato"/>
                <a:cs typeface="Lato"/>
                <a:sym typeface="Lato"/>
              </a:defRPr>
            </a:lvl6pPr>
            <a:lvl7pPr indent="-317500" lvl="6" marL="3200400" algn="ctr">
              <a:spcBef>
                <a:spcPts val="0"/>
              </a:spcBef>
              <a:spcAft>
                <a:spcPts val="0"/>
              </a:spcAft>
              <a:buSzPts val="1400"/>
              <a:buFont typeface="Lato"/>
              <a:buChar char="●"/>
              <a:defRPr>
                <a:latin typeface="Lato"/>
                <a:ea typeface="Lato"/>
                <a:cs typeface="Lato"/>
                <a:sym typeface="Lato"/>
              </a:defRPr>
            </a:lvl7pPr>
            <a:lvl8pPr indent="-317500" lvl="7" marL="3657600" algn="ctr">
              <a:spcBef>
                <a:spcPts val="0"/>
              </a:spcBef>
              <a:spcAft>
                <a:spcPts val="0"/>
              </a:spcAft>
              <a:buSzPts val="1400"/>
              <a:buFont typeface="Lato"/>
              <a:buChar char="○"/>
              <a:defRPr>
                <a:latin typeface="Lato"/>
                <a:ea typeface="Lato"/>
                <a:cs typeface="Lato"/>
                <a:sym typeface="Lato"/>
              </a:defRPr>
            </a:lvl8pPr>
            <a:lvl9pPr indent="-317500" lvl="8" marL="4114800" algn="ctr">
              <a:spcBef>
                <a:spcPts val="0"/>
              </a:spcBef>
              <a:spcAft>
                <a:spcPts val="0"/>
              </a:spcAft>
              <a:buSzPts val="1400"/>
              <a:buFont typeface="Lato"/>
              <a:buChar char="■"/>
              <a:defRPr>
                <a:latin typeface="Lato"/>
                <a:ea typeface="Lato"/>
                <a:cs typeface="Lato"/>
                <a:sym typeface="Lato"/>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craftinginterpreters.com/contents.html"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9" name="Google Shape;69;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419" sz="2771" u="none" cap="none" strike="noStrike">
                <a:solidFill>
                  <a:srgbClr val="000000"/>
                </a:solidFill>
                <a:latin typeface="Arial"/>
                <a:ea typeface="Arial"/>
                <a:cs typeface="Arial"/>
                <a:sym typeface="Arial"/>
              </a:rPr>
              <a:t>Organización de Lenguajes y Compiladores 2</a:t>
            </a:r>
            <a:r>
              <a:rPr lang="es-419" sz="2771"/>
              <a:t> Sección A</a:t>
            </a:r>
            <a:endParaRPr b="0" i="0" sz="2771" u="none" cap="none" strike="noStrike">
              <a:solidFill>
                <a:srgbClr val="000000"/>
              </a:solidFill>
              <a:latin typeface="Arial"/>
              <a:ea typeface="Arial"/>
              <a:cs typeface="Arial"/>
              <a:sym typeface="Arial"/>
            </a:endParaRPr>
          </a:p>
        </p:txBody>
      </p:sp>
      <p:sp>
        <p:nvSpPr>
          <p:cNvPr id="70" name="Google Shape;70;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419" sz="2217"/>
              <a:t>Diego Felipe Cali Morales</a:t>
            </a:r>
            <a:endParaRPr b="0" i="0" sz="2217" u="none" cap="none" strike="noStrike">
              <a:solidFill>
                <a:srgbClr val="000000"/>
              </a:solidFill>
              <a:latin typeface="Arial"/>
              <a:ea typeface="Arial"/>
              <a:cs typeface="Arial"/>
              <a:sym typeface="Arial"/>
            </a:endParaRPr>
          </a:p>
        </p:txBody>
      </p:sp>
      <p:graphicFrame>
        <p:nvGraphicFramePr>
          <p:cNvPr id="71" name="Google Shape;71;p13"/>
          <p:cNvGraphicFramePr/>
          <p:nvPr/>
        </p:nvGraphicFramePr>
        <p:xfrm>
          <a:off x="5231045" y="1013300"/>
          <a:ext cx="3000000" cy="3000000"/>
        </p:xfrm>
        <a:graphic>
          <a:graphicData uri="http://schemas.openxmlformats.org/drawingml/2006/table">
            <a:tbl>
              <a:tblPr>
                <a:noFill/>
                <a:tableStyleId>{18599C75-23F5-4F5C-A419-F8C2DF7EDA93}</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419" sz="1200" u="none" cap="none" strike="noStrike">
                          <a:solidFill>
                            <a:srgbClr val="000000"/>
                          </a:solidFill>
                          <a:latin typeface="Arial"/>
                          <a:ea typeface="Arial"/>
                          <a:cs typeface="Arial"/>
                          <a:sym typeface="Arial"/>
                        </a:rPr>
                        <a:t>Martes, </a:t>
                      </a:r>
                      <a:r>
                        <a:rPr lang="es-419" sz="1200"/>
                        <a:t>24</a:t>
                      </a:r>
                      <a:r>
                        <a:rPr b="0" lang="es-419" sz="1200" u="none" cap="none" strike="noStrike">
                          <a:solidFill>
                            <a:srgbClr val="000000"/>
                          </a:solidFill>
                          <a:latin typeface="Arial"/>
                          <a:ea typeface="Arial"/>
                          <a:cs typeface="Arial"/>
                          <a:sym typeface="Arial"/>
                        </a:rPr>
                        <a:t>/</a:t>
                      </a:r>
                      <a:r>
                        <a:rPr lang="es-419" sz="1200"/>
                        <a:t>02</a:t>
                      </a:r>
                      <a:r>
                        <a:rPr b="0" lang="es-419" sz="1200" u="none" cap="none" strike="noStrike">
                          <a:solidFill>
                            <a:srgbClr val="000000"/>
                          </a:solidFill>
                          <a:latin typeface="Arial"/>
                          <a:ea typeface="Arial"/>
                          <a:cs typeface="Arial"/>
                          <a:sym typeface="Arial"/>
                        </a:rPr>
                        <a:t>/202</a:t>
                      </a:r>
                      <a:r>
                        <a:rPr lang="es-419" sz="1200"/>
                        <a:t>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419" sz="1200"/>
                        <a:t>17</a:t>
                      </a:r>
                      <a:r>
                        <a:rPr b="0" lang="es-419" sz="1200" u="none" cap="none" strike="noStrike">
                          <a:solidFill>
                            <a:srgbClr val="000000"/>
                          </a:solidFill>
                          <a:latin typeface="Arial"/>
                          <a:ea typeface="Arial"/>
                          <a:cs typeface="Arial"/>
                          <a:sym typeface="Arial"/>
                        </a:rPr>
                        <a:t>:</a:t>
                      </a:r>
                      <a:r>
                        <a:rPr lang="es-419"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Funciones y cerraduras en un intérprete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Repaso 4, Gramáticas Descendentes</a:t>
            </a:r>
            <a:endParaRPr/>
          </a:p>
          <a:p>
            <a:pPr indent="-317500" lvl="0" marL="457200" rtl="0" algn="l">
              <a:spcBef>
                <a:spcPts val="0"/>
              </a:spcBef>
              <a:spcAft>
                <a:spcPts val="0"/>
              </a:spcAft>
              <a:buSzPts val="1400"/>
              <a:buChar char="➔"/>
            </a:pPr>
            <a:r>
              <a:rPr lang="es-419"/>
              <a:t>Funciones Embebidas</a:t>
            </a:r>
            <a:endParaRPr/>
          </a:p>
          <a:p>
            <a:pPr indent="-317500" lvl="0" marL="457200" rtl="0" algn="l">
              <a:spcBef>
                <a:spcPts val="0"/>
              </a:spcBef>
              <a:spcAft>
                <a:spcPts val="0"/>
              </a:spcAft>
              <a:buSzPts val="1400"/>
              <a:buChar char="➔"/>
            </a:pPr>
            <a:r>
              <a:rPr lang="es-419"/>
              <a:t>Funciones Foráneas</a:t>
            </a:r>
            <a:endParaRPr/>
          </a:p>
          <a:p>
            <a:pPr indent="-317500" lvl="0" marL="457200" rtl="0" algn="l">
              <a:spcBef>
                <a:spcPts val="0"/>
              </a:spcBef>
              <a:spcAft>
                <a:spcPts val="0"/>
              </a:spcAft>
              <a:buSzPts val="1400"/>
              <a:buChar char="➔"/>
            </a:pPr>
            <a:r>
              <a:rPr lang="es-419"/>
              <a:t>Closures</a:t>
            </a:r>
            <a:endParaRPr/>
          </a:p>
          <a:p>
            <a:pPr indent="-317500" lvl="0" marL="457200" rtl="0" algn="l">
              <a:spcBef>
                <a:spcPts val="0"/>
              </a:spcBef>
              <a:spcAft>
                <a:spcPts val="0"/>
              </a:spcAft>
              <a:buSzPts val="1400"/>
              <a:buChar char="➔"/>
            </a:pPr>
            <a:r>
              <a:rPr lang="es-419"/>
              <a:t>Hoisting</a:t>
            </a:r>
            <a:endParaRPr/>
          </a:p>
          <a:p>
            <a:pPr indent="-317500" lvl="0" marL="457200" rtl="0" algn="l">
              <a:spcBef>
                <a:spcPts val="0"/>
              </a:spcBef>
              <a:spcAft>
                <a:spcPts val="0"/>
              </a:spcAft>
              <a:buSzPts val="1400"/>
              <a:buChar char="➔"/>
            </a:pPr>
            <a:r>
              <a:rPr lang="es-419"/>
              <a:t>CallStack</a:t>
            </a:r>
            <a:endParaRPr/>
          </a:p>
          <a:p>
            <a:pPr indent="0" lvl="0" marL="0" rtl="0" algn="l">
              <a:spcBef>
                <a:spcPts val="1200"/>
              </a:spcBef>
              <a:spcAft>
                <a:spcPts val="0"/>
              </a:spcAft>
              <a:buNone/>
            </a:pPr>
            <a:r>
              <a:rPr lang="es-419"/>
              <a:t>Recordatorios:</a:t>
            </a:r>
            <a:endParaRPr/>
          </a:p>
          <a:p>
            <a:pPr indent="-317500" lvl="0" marL="457200" rtl="0" algn="l">
              <a:spcBef>
                <a:spcPts val="1200"/>
              </a:spcBef>
              <a:spcAft>
                <a:spcPts val="0"/>
              </a:spcAft>
              <a:buSzPts val="1400"/>
              <a:buChar char="➔"/>
            </a:pPr>
            <a:r>
              <a:rPr lang="es-419"/>
              <a:t>Foro de esta semana</a:t>
            </a:r>
            <a:endParaRPr/>
          </a:p>
        </p:txBody>
      </p:sp>
      <p:sp>
        <p:nvSpPr>
          <p:cNvPr id="82" name="Google Shape;82;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Recursos:</a:t>
            </a:r>
            <a:endParaRPr/>
          </a:p>
          <a:p>
            <a:pPr indent="-317500" lvl="0" marL="457200" rtl="0" algn="l">
              <a:spcBef>
                <a:spcPts val="1200"/>
              </a:spcBef>
              <a:spcAft>
                <a:spcPts val="0"/>
              </a:spcAft>
              <a:buSzPts val="1400"/>
              <a:buChar char="➔"/>
            </a:pPr>
            <a:r>
              <a:rPr lang="es-419" u="sng">
                <a:solidFill>
                  <a:schemeClr val="hlink"/>
                </a:solidFill>
                <a:hlinkClick r:id="rId3"/>
              </a:rPr>
              <a:t>Crafting Interpreters</a:t>
            </a:r>
            <a:endParaRPr/>
          </a:p>
          <a:p>
            <a:pPr indent="0" lvl="0" marL="0" rtl="0" algn="l">
              <a:spcBef>
                <a:spcPts val="1200"/>
              </a:spcBef>
              <a:spcAft>
                <a:spcPts val="1200"/>
              </a:spcAft>
              <a:buNone/>
            </a:pPr>
            <a:r>
              <a:t/>
            </a:r>
            <a:endParaRPr/>
          </a:p>
        </p:txBody>
      </p:sp>
      <p:sp>
        <p:nvSpPr>
          <p:cNvPr id="83" name="Google Shape;83;p15"/>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Agenda</a:t>
            </a:r>
            <a:endParaRPr/>
          </a:p>
        </p:txBody>
      </p:sp>
      <p:sp>
        <p:nvSpPr>
          <p:cNvPr id="84" name="Google Shape;84;p15"/>
          <p:cNvSpPr/>
          <p:nvPr/>
        </p:nvSpPr>
        <p:spPr>
          <a:xfrm>
            <a:off x="3818104" y="1152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85" name="Google Shape;85;p15"/>
          <p:cNvSpPr txBox="1"/>
          <p:nvPr/>
        </p:nvSpPr>
        <p:spPr>
          <a:xfrm>
            <a:off x="4832400" y="2911975"/>
            <a:ext cx="39999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419"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419" sz="1600">
                <a:solidFill>
                  <a:srgbClr val="595959"/>
                </a:solidFill>
                <a:latin typeface="Lato"/>
                <a:ea typeface="Lato"/>
                <a:cs typeface="Lato"/>
                <a:sym typeface="Lato"/>
              </a:rPr>
              <a:t>Gestión eficiente de recursos</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Repaso 4</a:t>
            </a:r>
            <a:endParaRPr/>
          </a:p>
        </p:txBody>
      </p:sp>
      <p:sp>
        <p:nvSpPr>
          <p:cNvPr id="91" name="Google Shape;91;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a:t>Gramáticas para análisis sintáctico descendente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Funciones embebidas</a:t>
            </a:r>
            <a:endParaRPr/>
          </a:p>
        </p:txBody>
      </p:sp>
      <p:sp>
        <p:nvSpPr>
          <p:cNvPr id="97" name="Google Shape;97;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Las funciones nativas o embebidas son fundamentales en un lenguaje de programación porque proporcionan acceso directo a servicios esenciales del sistema, evitando que el desarrollador tenga que implementar desde cero mecanismos complejos para realizar tareas básicas, como el manejo de archivos.</a:t>
            </a:r>
            <a:endParaRPr/>
          </a:p>
        </p:txBody>
      </p:sp>
      <p:pic>
        <p:nvPicPr>
          <p:cNvPr id="98" name="Google Shape;98;p17"/>
          <p:cNvPicPr preferRelativeResize="0"/>
          <p:nvPr/>
        </p:nvPicPr>
        <p:blipFill>
          <a:blip r:embed="rId3">
            <a:alphaModFix/>
          </a:blip>
          <a:stretch>
            <a:fillRect/>
          </a:stretch>
        </p:blipFill>
        <p:spPr>
          <a:xfrm>
            <a:off x="4572000" y="1518513"/>
            <a:ext cx="4267200" cy="26843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 donde se guardan</a:t>
            </a:r>
            <a:endParaRPr/>
          </a:p>
        </p:txBody>
      </p:sp>
      <p:sp>
        <p:nvSpPr>
          <p:cNvPr id="104" name="Google Shape;104;p18"/>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Las funciones, al igual que las variables, se registran en la tabla de símbolos y deben almacenarse en el entorno global para garantizar su disponibilidad y reutilización durante toda la ejecución del programa.</a:t>
            </a:r>
            <a:endParaRPr/>
          </a:p>
        </p:txBody>
      </p:sp>
      <p:pic>
        <p:nvPicPr>
          <p:cNvPr id="105" name="Google Shape;105;p18"/>
          <p:cNvPicPr preferRelativeResize="0"/>
          <p:nvPr/>
        </p:nvPicPr>
        <p:blipFill rotWithShape="1">
          <a:blip r:embed="rId3">
            <a:alphaModFix/>
          </a:blip>
          <a:srcRect b="0" l="0" r="26681" t="0"/>
          <a:stretch/>
        </p:blipFill>
        <p:spPr>
          <a:xfrm>
            <a:off x="89900" y="1152475"/>
            <a:ext cx="4482100" cy="3416400"/>
          </a:xfrm>
          <a:prstGeom prst="rect">
            <a:avLst/>
          </a:prstGeom>
          <a:noFill/>
          <a:ln>
            <a:noFill/>
          </a:ln>
        </p:spPr>
      </p:pic>
      <p:cxnSp>
        <p:nvCxnSpPr>
          <p:cNvPr id="106" name="Google Shape;106;p18"/>
          <p:cNvCxnSpPr/>
          <p:nvPr/>
        </p:nvCxnSpPr>
        <p:spPr>
          <a:xfrm flipH="1" rot="10800000">
            <a:off x="815039" y="2039865"/>
            <a:ext cx="2437500" cy="7500"/>
          </a:xfrm>
          <a:prstGeom prst="straightConnector1">
            <a:avLst/>
          </a:prstGeom>
          <a:noFill/>
          <a:ln cap="flat" cmpd="sng" w="33875">
            <a:solidFill>
              <a:srgbClr val="FF0000"/>
            </a:solidFill>
            <a:prstDash val="solid"/>
            <a:round/>
            <a:headEnd len="med" w="med" type="none"/>
            <a:tailEnd len="med" w="med" type="none"/>
          </a:ln>
        </p:spPr>
      </p:cxnSp>
      <p:cxnSp>
        <p:nvCxnSpPr>
          <p:cNvPr id="107" name="Google Shape;107;p18"/>
          <p:cNvCxnSpPr/>
          <p:nvPr/>
        </p:nvCxnSpPr>
        <p:spPr>
          <a:xfrm>
            <a:off x="1095113" y="2584823"/>
            <a:ext cx="3330600" cy="0"/>
          </a:xfrm>
          <a:prstGeom prst="straightConnector1">
            <a:avLst/>
          </a:prstGeom>
          <a:noFill/>
          <a:ln cap="flat" cmpd="sng" w="33875">
            <a:solidFill>
              <a:srgbClr val="FF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Funciones Foráneas</a:t>
            </a:r>
            <a:endParaRPr/>
          </a:p>
        </p:txBody>
      </p:sp>
      <p:sp>
        <p:nvSpPr>
          <p:cNvPr id="113" name="Google Shape;113;p19"/>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Las funciones definidas por el usuario encapsulan instrucciones bajo un identificador para facilitar la reutilización y organización del código y, una vez registradas en la tabla de símbolos, pueden invocarse como cualquier otra función del lenguaje.</a:t>
            </a:r>
            <a:endParaRPr/>
          </a:p>
        </p:txBody>
      </p:sp>
      <p:pic>
        <p:nvPicPr>
          <p:cNvPr id="114" name="Google Shape;114;p19"/>
          <p:cNvPicPr preferRelativeResize="0"/>
          <p:nvPr/>
        </p:nvPicPr>
        <p:blipFill>
          <a:blip r:embed="rId3">
            <a:alphaModFix/>
          </a:blip>
          <a:stretch>
            <a:fillRect/>
          </a:stretch>
        </p:blipFill>
        <p:spPr>
          <a:xfrm>
            <a:off x="4572000" y="1352250"/>
            <a:ext cx="4267199" cy="30168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Closures</a:t>
            </a:r>
            <a:endParaRPr/>
          </a:p>
        </p:txBody>
      </p:sp>
      <p:sp>
        <p:nvSpPr>
          <p:cNvPr id="120" name="Google Shape;12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Anteriormente se explicó que una función se almacena en un entorno para poder ser invocada posteriormente. Sin embargo, además de estar registrada en dicho entorno, cada función encapsula su propio entorno y opera con un conjunto propio de variables locales.</a:t>
            </a:r>
            <a:endParaRPr/>
          </a:p>
          <a:p>
            <a:pPr indent="0" lvl="0" marL="0" rtl="0" algn="l">
              <a:spcBef>
                <a:spcPts val="1200"/>
              </a:spcBef>
              <a:spcAft>
                <a:spcPts val="1200"/>
              </a:spcAft>
              <a:buNone/>
            </a:pPr>
            <a:r>
              <a:rPr lang="es-419"/>
              <a:t>La clausura (closure) es el mecanismo que permite que una función conserve acceso a las variables de su entorno de definición, incluso cuando es invocada en un contexto diferente. Es decir, la función mantiene una referencia al entorno en el que fue creada, lo que le permite utilizar valores declarados fuera de su ámbito inmediato de ejecución.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1"/>
          <p:cNvPicPr preferRelativeResize="0"/>
          <p:nvPr/>
        </p:nvPicPr>
        <p:blipFill>
          <a:blip r:embed="rId3">
            <a:alphaModFix/>
          </a:blip>
          <a:stretch>
            <a:fillRect/>
          </a:stretch>
        </p:blipFill>
        <p:spPr>
          <a:xfrm>
            <a:off x="581025" y="524225"/>
            <a:ext cx="3990975" cy="3352800"/>
          </a:xfrm>
          <a:prstGeom prst="rect">
            <a:avLst/>
          </a:prstGeom>
          <a:noFill/>
          <a:ln>
            <a:noFill/>
          </a:ln>
        </p:spPr>
      </p:pic>
      <p:pic>
        <p:nvPicPr>
          <p:cNvPr id="126" name="Google Shape;126;p21"/>
          <p:cNvPicPr preferRelativeResize="0"/>
          <p:nvPr/>
        </p:nvPicPr>
        <p:blipFill>
          <a:blip r:embed="rId4">
            <a:alphaModFix/>
          </a:blip>
          <a:stretch>
            <a:fillRect/>
          </a:stretch>
        </p:blipFill>
        <p:spPr>
          <a:xfrm>
            <a:off x="3405075" y="1608749"/>
            <a:ext cx="5368801" cy="1183750"/>
          </a:xfrm>
          <a:prstGeom prst="rect">
            <a:avLst/>
          </a:prstGeom>
          <a:noFill/>
          <a:ln>
            <a:noFill/>
          </a:ln>
        </p:spPr>
      </p:pic>
      <p:sp>
        <p:nvSpPr>
          <p:cNvPr id="127" name="Google Shape;127;p21"/>
          <p:cNvSpPr txBox="1"/>
          <p:nvPr/>
        </p:nvSpPr>
        <p:spPr>
          <a:xfrm>
            <a:off x="1755825" y="4162300"/>
            <a:ext cx="5639400" cy="57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Resolución de Variables</a:t>
            </a:r>
            <a:endParaRPr sz="1800">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Hoisting</a:t>
            </a:r>
            <a:endParaRPr/>
          </a:p>
        </p:txBody>
      </p:sp>
      <p:sp>
        <p:nvSpPr>
          <p:cNvPr id="133" name="Google Shape;133;p22"/>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hoisting permite que ciertas declaraciones sean registradas en el entorno antes de la ejecución, haciendo posible usar identificadores antes de que aparezcan explícitamente en el código.</a:t>
            </a:r>
            <a:endParaRPr/>
          </a:p>
          <a:p>
            <a:pPr indent="0" lvl="0" marL="0" rtl="0" algn="l">
              <a:spcBef>
                <a:spcPts val="1200"/>
              </a:spcBef>
              <a:spcAft>
                <a:spcPts val="1200"/>
              </a:spcAft>
              <a:buNone/>
            </a:pPr>
            <a:r>
              <a:t/>
            </a:r>
            <a:endParaRPr/>
          </a:p>
        </p:txBody>
      </p:sp>
      <p:pic>
        <p:nvPicPr>
          <p:cNvPr id="134" name="Google Shape;134;p22"/>
          <p:cNvPicPr preferRelativeResize="0"/>
          <p:nvPr/>
        </p:nvPicPr>
        <p:blipFill>
          <a:blip r:embed="rId3">
            <a:alphaModFix/>
          </a:blip>
          <a:stretch>
            <a:fillRect/>
          </a:stretch>
        </p:blipFill>
        <p:spPr>
          <a:xfrm>
            <a:off x="4901347" y="1152475"/>
            <a:ext cx="3570951" cy="3416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Call Stack</a:t>
            </a:r>
            <a:endParaRPr/>
          </a:p>
        </p:txBody>
      </p:sp>
      <p:sp>
        <p:nvSpPr>
          <p:cNvPr id="140" name="Google Shape;14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1" name="Google Shape;141;p23"/>
          <p:cNvPicPr preferRelativeResize="0"/>
          <p:nvPr/>
        </p:nvPicPr>
        <p:blipFill>
          <a:blip r:embed="rId3">
            <a:alphaModFix/>
          </a:blip>
          <a:stretch>
            <a:fillRect/>
          </a:stretch>
        </p:blipFill>
        <p:spPr>
          <a:xfrm>
            <a:off x="1527937" y="1206412"/>
            <a:ext cx="5728124" cy="3308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Implementación en ANTLR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