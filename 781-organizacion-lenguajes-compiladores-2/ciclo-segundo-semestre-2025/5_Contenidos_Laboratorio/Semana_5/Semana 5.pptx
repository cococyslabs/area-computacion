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10287000" cx="18288000"/>
  <p:notesSz cx="6858000" cy="9144000"/>
  <p:embeddedFontLst>
    <p:embeddedFont>
      <p:font typeface="Lobster"/>
      <p:regular r:id="rId25"/>
    </p:embeddedFont>
    <p:embeddedFont>
      <p:font typeface="Saira"/>
      <p:regular r:id="rId26"/>
      <p:bold r:id="rId27"/>
      <p:italic r:id="rId28"/>
      <p:boldItalic r:id="rId29"/>
    </p:embeddedFont>
    <p:embeddedFont>
      <p:font typeface="Saira ExtraLight"/>
      <p:regular r:id="rId30"/>
      <p:bold r:id="rId31"/>
      <p:italic r:id="rId32"/>
      <p:boldItalic r:id="rId33"/>
    </p:embeddedFont>
    <p:embeddedFont>
      <p:font typeface="Pacifico"/>
      <p:regular r:id="rId34"/>
    </p:embeddedFont>
    <p:embeddedFont>
      <p:font typeface="Saira Light"/>
      <p:regular r:id="rId35"/>
      <p:bold r:id="rId36"/>
      <p:italic r:id="rId37"/>
      <p:boldItalic r:id="rId38"/>
    </p:embeddedFont>
    <p:embeddedFont>
      <p:font typeface="Open Sans"/>
      <p:regular r:id="rId39"/>
      <p:bold r:id="rId40"/>
      <p:italic r:id="rId41"/>
      <p:boldItalic r:id="rId42"/>
    </p:embeddedFont>
    <p:embeddedFont>
      <p:font typeface="Questrial"/>
      <p:regular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EC5C61-DF00-4328-A2BB-B1A5869B34CC}">
  <a:tblStyle styleId="{29EC5C61-DF00-4328-A2BB-B1A5869B34C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4.xml"/><Relationship Id="rId42" Type="http://schemas.openxmlformats.org/officeDocument/2006/relationships/font" Target="fonts/OpenSans-boldItalic.fntdata"/><Relationship Id="rId41" Type="http://schemas.openxmlformats.org/officeDocument/2006/relationships/font" Target="fonts/OpenSans-italic.fntdata"/><Relationship Id="rId22" Type="http://schemas.openxmlformats.org/officeDocument/2006/relationships/slide" Target="slides/slide16.xml"/><Relationship Id="rId21" Type="http://schemas.openxmlformats.org/officeDocument/2006/relationships/slide" Target="slides/slide15.xml"/><Relationship Id="rId43" Type="http://schemas.openxmlformats.org/officeDocument/2006/relationships/font" Target="fonts/Questrial-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Saira-regular.fntdata"/><Relationship Id="rId25" Type="http://schemas.openxmlformats.org/officeDocument/2006/relationships/font" Target="fonts/Lobster-regular.fntdata"/><Relationship Id="rId28" Type="http://schemas.openxmlformats.org/officeDocument/2006/relationships/font" Target="fonts/Saira-italic.fntdata"/><Relationship Id="rId27" Type="http://schemas.openxmlformats.org/officeDocument/2006/relationships/font" Target="fonts/Sair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Saira-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airaExtraLight-bold.fntdata"/><Relationship Id="rId30" Type="http://schemas.openxmlformats.org/officeDocument/2006/relationships/font" Target="fonts/SairaExtraLight-regular.fntdata"/><Relationship Id="rId11" Type="http://schemas.openxmlformats.org/officeDocument/2006/relationships/slide" Target="slides/slide5.xml"/><Relationship Id="rId33" Type="http://schemas.openxmlformats.org/officeDocument/2006/relationships/font" Target="fonts/SairaExtraLight-boldItalic.fntdata"/><Relationship Id="rId10" Type="http://schemas.openxmlformats.org/officeDocument/2006/relationships/slide" Target="slides/slide4.xml"/><Relationship Id="rId32" Type="http://schemas.openxmlformats.org/officeDocument/2006/relationships/font" Target="fonts/SairaExtraLight-italic.fntdata"/><Relationship Id="rId13" Type="http://schemas.openxmlformats.org/officeDocument/2006/relationships/slide" Target="slides/slide7.xml"/><Relationship Id="rId35" Type="http://schemas.openxmlformats.org/officeDocument/2006/relationships/font" Target="fonts/SairaLight-regular.fntdata"/><Relationship Id="rId12" Type="http://schemas.openxmlformats.org/officeDocument/2006/relationships/slide" Target="slides/slide6.xml"/><Relationship Id="rId34" Type="http://schemas.openxmlformats.org/officeDocument/2006/relationships/font" Target="fonts/Pacifico-regular.fntdata"/><Relationship Id="rId15" Type="http://schemas.openxmlformats.org/officeDocument/2006/relationships/slide" Target="slides/slide9.xml"/><Relationship Id="rId37" Type="http://schemas.openxmlformats.org/officeDocument/2006/relationships/font" Target="fonts/SairaLight-italic.fntdata"/><Relationship Id="rId14" Type="http://schemas.openxmlformats.org/officeDocument/2006/relationships/slide" Target="slides/slide8.xml"/><Relationship Id="rId36" Type="http://schemas.openxmlformats.org/officeDocument/2006/relationships/font" Target="fonts/SairaLight-bold.fntdata"/><Relationship Id="rId17" Type="http://schemas.openxmlformats.org/officeDocument/2006/relationships/slide" Target="slides/slide11.xml"/><Relationship Id="rId39" Type="http://schemas.openxmlformats.org/officeDocument/2006/relationships/font" Target="fonts/OpenSans-regular.fntdata"/><Relationship Id="rId16" Type="http://schemas.openxmlformats.org/officeDocument/2006/relationships/slide" Target="slides/slide10.xml"/><Relationship Id="rId38" Type="http://schemas.openxmlformats.org/officeDocument/2006/relationships/font" Target="fonts/Saira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ff96320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6ff96320c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6ff96320ce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6ff96320ce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80" name="Shape 80"/>
        <p:cNvGrpSpPr/>
        <p:nvPr/>
      </p:nvGrpSpPr>
      <p:grpSpPr>
        <a:xfrm>
          <a:off x="0" y="0"/>
          <a:ext cx="0" cy="0"/>
          <a:chOff x="0" y="0"/>
          <a:chExt cx="0" cy="0"/>
        </a:xfrm>
      </p:grpSpPr>
      <p:sp>
        <p:nvSpPr>
          <p:cNvPr id="81" name="Google Shape;81;p13"/>
          <p:cNvSpPr txBox="1"/>
          <p:nvPr>
            <p:ph type="title"/>
          </p:nvPr>
        </p:nvSpPr>
        <p:spPr>
          <a:xfrm>
            <a:off x="623520" y="889920"/>
            <a:ext cx="17040000" cy="11448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13"/>
          <p:cNvSpPr txBox="1"/>
          <p:nvPr>
            <p:ph idx="1" type="body"/>
          </p:nvPr>
        </p:nvSpPr>
        <p:spPr>
          <a:xfrm>
            <a:off x="623520" y="2304720"/>
            <a:ext cx="17040000" cy="6832200"/>
          </a:xfrm>
          <a:prstGeom prst="rect">
            <a:avLst/>
          </a:prstGeom>
          <a:noFill/>
          <a:ln>
            <a:noFill/>
          </a:ln>
        </p:spPr>
        <p:txBody>
          <a:bodyPr anchorCtr="0" anchor="t" bIns="0" lIns="0" spcFirstLastPara="1" rIns="0" wrap="square" tIns="0">
            <a:normAutofit/>
          </a:bodyPr>
          <a:lstStyle>
            <a:lvl1pPr indent="-457200" lvl="0" marL="457200" algn="l">
              <a:lnSpc>
                <a:spcPct val="90000"/>
              </a:lnSpc>
              <a:spcBef>
                <a:spcPts val="2000"/>
              </a:spcBef>
              <a:spcAft>
                <a:spcPts val="0"/>
              </a:spcAft>
              <a:buClr>
                <a:schemeClr val="dk1"/>
              </a:buClr>
              <a:buSzPts val="3600"/>
              <a:buChar char="•"/>
              <a:defRPr/>
            </a:lvl1pPr>
            <a:lvl2pPr indent="-457200" lvl="1" marL="914400" algn="l">
              <a:lnSpc>
                <a:spcPct val="90000"/>
              </a:lnSpc>
              <a:spcBef>
                <a:spcPts val="1000"/>
              </a:spcBef>
              <a:spcAft>
                <a:spcPts val="0"/>
              </a:spcAft>
              <a:buClr>
                <a:schemeClr val="dk1"/>
              </a:buClr>
              <a:buSzPts val="3600"/>
              <a:buChar char="–"/>
              <a:defRPr/>
            </a:lvl2pPr>
            <a:lvl3pPr indent="-457200" lvl="2" marL="1371600" algn="l">
              <a:lnSpc>
                <a:spcPct val="90000"/>
              </a:lnSpc>
              <a:spcBef>
                <a:spcPts val="1000"/>
              </a:spcBef>
              <a:spcAft>
                <a:spcPts val="0"/>
              </a:spcAft>
              <a:buClr>
                <a:schemeClr val="dk1"/>
              </a:buClr>
              <a:buSzPts val="3600"/>
              <a:buChar char="•"/>
              <a:defRPr/>
            </a:lvl3pPr>
            <a:lvl4pPr indent="-457200" lvl="3" marL="1828800" algn="l">
              <a:lnSpc>
                <a:spcPct val="90000"/>
              </a:lnSpc>
              <a:spcBef>
                <a:spcPts val="1000"/>
              </a:spcBef>
              <a:spcAft>
                <a:spcPts val="0"/>
              </a:spcAft>
              <a:buClr>
                <a:schemeClr val="dk1"/>
              </a:buClr>
              <a:buSzPts val="3600"/>
              <a:buChar char="–"/>
              <a:defRPr/>
            </a:lvl4pPr>
            <a:lvl5pPr indent="-457200" lvl="4" marL="2286000" algn="l">
              <a:lnSpc>
                <a:spcPct val="90000"/>
              </a:lnSpc>
              <a:spcBef>
                <a:spcPts val="1000"/>
              </a:spcBef>
              <a:spcAft>
                <a:spcPts val="0"/>
              </a:spcAft>
              <a:buClr>
                <a:schemeClr val="dk1"/>
              </a:buClr>
              <a:buSzPts val="3600"/>
              <a:buChar char="»"/>
              <a:defRPr/>
            </a:lvl5pPr>
            <a:lvl6pPr indent="-457200" lvl="5" marL="2743200" algn="l">
              <a:lnSpc>
                <a:spcPct val="90000"/>
              </a:lnSpc>
              <a:spcBef>
                <a:spcPts val="1000"/>
              </a:spcBef>
              <a:spcAft>
                <a:spcPts val="0"/>
              </a:spcAft>
              <a:buClr>
                <a:schemeClr val="dk1"/>
              </a:buClr>
              <a:buSzPts val="3600"/>
              <a:buChar char="•"/>
              <a:defRPr/>
            </a:lvl6pPr>
            <a:lvl7pPr indent="-457200" lvl="6" marL="3200400" algn="l">
              <a:lnSpc>
                <a:spcPct val="90000"/>
              </a:lnSpc>
              <a:spcBef>
                <a:spcPts val="1000"/>
              </a:spcBef>
              <a:spcAft>
                <a:spcPts val="0"/>
              </a:spcAft>
              <a:buClr>
                <a:schemeClr val="dk1"/>
              </a:buClr>
              <a:buSzPts val="3600"/>
              <a:buChar char="•"/>
              <a:defRPr/>
            </a:lvl7pPr>
            <a:lvl8pPr indent="-457200" lvl="7" marL="3657600" algn="l">
              <a:lnSpc>
                <a:spcPct val="90000"/>
              </a:lnSpc>
              <a:spcBef>
                <a:spcPts val="1000"/>
              </a:spcBef>
              <a:spcAft>
                <a:spcPts val="0"/>
              </a:spcAft>
              <a:buClr>
                <a:schemeClr val="dk1"/>
              </a:buClr>
              <a:buSzPts val="3600"/>
              <a:buChar char="•"/>
              <a:defRPr/>
            </a:lvl8pPr>
            <a:lvl9pPr indent="-457200" lvl="8" marL="4114800" algn="l">
              <a:lnSpc>
                <a:spcPct val="90000"/>
              </a:lnSpc>
              <a:spcBef>
                <a:spcPts val="1000"/>
              </a:spcBef>
              <a:spcAft>
                <a:spcPts val="0"/>
              </a:spcAft>
              <a:buClr>
                <a:schemeClr val="dk1"/>
              </a:buClr>
              <a:buSzPts val="3600"/>
              <a:buChar char="•"/>
              <a:defRPr/>
            </a:lvl9pPr>
          </a:lstStyle>
          <a:p/>
        </p:txBody>
      </p:sp>
      <p:sp>
        <p:nvSpPr>
          <p:cNvPr id="83" name="Google Shape;83;p13"/>
          <p:cNvSpPr txBox="1"/>
          <p:nvPr>
            <p:ph idx="12" type="sldNum"/>
          </p:nvPr>
        </p:nvSpPr>
        <p:spPr>
          <a:xfrm>
            <a:off x="16945200" y="9326160"/>
            <a:ext cx="1096800" cy="786000"/>
          </a:xfrm>
          <a:prstGeom prst="rect">
            <a:avLst/>
          </a:prstGeom>
          <a:noFill/>
          <a:ln>
            <a:noFill/>
          </a:ln>
        </p:spPr>
        <p:txBody>
          <a:bodyPr anchorCtr="0" anchor="ctr" bIns="182850" lIns="182850" spcFirstLastPara="1" rIns="182850" wrap="square" tIns="182850">
            <a:normAutofit/>
          </a:bodyPr>
          <a:lstStyle>
            <a:lvl1pPr indent="0" lvl="0"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1pPr>
            <a:lvl2pPr indent="0" lvl="1"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2pPr>
            <a:lvl3pPr indent="0" lvl="2"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3pPr>
            <a:lvl4pPr indent="0" lvl="3"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4pPr>
            <a:lvl5pPr indent="0" lvl="4"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5pPr>
            <a:lvl6pPr indent="0" lvl="5"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6pPr>
            <a:lvl7pPr indent="0" lvl="6"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7pPr>
            <a:lvl8pPr indent="0" lvl="7"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8pPr>
            <a:lvl9pPr indent="0" lvl="8" marL="0" algn="r">
              <a:lnSpc>
                <a:spcPct val="100000"/>
              </a:lnSpc>
              <a:spcBef>
                <a:spcPts val="0"/>
              </a:spcBef>
              <a:buClr>
                <a:schemeClr val="dk2"/>
              </a:buClr>
              <a:buSzPts val="2000"/>
              <a:buFont typeface="Arial"/>
              <a:buNone/>
              <a:defRPr b="0" sz="2000" u="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200">
              <a:solidFill>
                <a:srgbClr val="888888"/>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4"/>
          <p:cNvPicPr preferRelativeResize="0"/>
          <p:nvPr/>
        </p:nvPicPr>
        <p:blipFill rotWithShape="1">
          <a:blip r:embed="rId3">
            <a:alphaModFix amt="62000"/>
          </a:blip>
          <a:srcRect b="0" l="0" r="0" t="0"/>
          <a:stretch/>
        </p:blipFill>
        <p:spPr>
          <a:xfrm>
            <a:off x="16560" y="0"/>
            <a:ext cx="18253440" cy="10286639"/>
          </a:xfrm>
          <a:prstGeom prst="rect">
            <a:avLst/>
          </a:prstGeom>
          <a:noFill/>
          <a:ln>
            <a:noFill/>
          </a:ln>
        </p:spPr>
      </p:pic>
      <p:graphicFrame>
        <p:nvGraphicFramePr>
          <p:cNvPr id="89" name="Google Shape;89;p14"/>
          <p:cNvGraphicFramePr/>
          <p:nvPr/>
        </p:nvGraphicFramePr>
        <p:xfrm>
          <a:off x="10656720" y="1940400"/>
          <a:ext cx="3000000" cy="3000000"/>
        </p:xfrm>
        <a:graphic>
          <a:graphicData uri="http://schemas.openxmlformats.org/drawingml/2006/table">
            <a:tbl>
              <a:tblPr>
                <a:noFill/>
                <a:tableStyleId>{29EC5C61-DF00-4328-A2BB-B1A5869B34CC}</a:tableStyleId>
              </a:tblPr>
              <a:tblGrid>
                <a:gridCol w="3036250"/>
                <a:gridCol w="4344500"/>
              </a:tblGrid>
              <a:tr h="64440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Día, Fecha:</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0" lang="en-US" sz="2800" u="none" cap="none" strike="noStrike">
                          <a:solidFill>
                            <a:srgbClr val="000000"/>
                          </a:solidFill>
                          <a:latin typeface="Arial"/>
                          <a:ea typeface="Arial"/>
                          <a:cs typeface="Arial"/>
                          <a:sym typeface="Arial"/>
                        </a:rPr>
                        <a:t>Martes, </a:t>
                      </a:r>
                      <a:r>
                        <a:rPr lang="en-US" sz="2800"/>
                        <a:t>XX</a:t>
                      </a:r>
                      <a:r>
                        <a:rPr b="0" lang="en-US" sz="2800" u="none" cap="none" strike="noStrike">
                          <a:solidFill>
                            <a:srgbClr val="000000"/>
                          </a:solidFill>
                          <a:latin typeface="Arial"/>
                          <a:ea typeface="Arial"/>
                          <a:cs typeface="Arial"/>
                          <a:sym typeface="Arial"/>
                        </a:rPr>
                        <a:t>/</a:t>
                      </a:r>
                      <a:r>
                        <a:rPr lang="en-US" sz="2800"/>
                        <a:t>XX</a:t>
                      </a:r>
                      <a:r>
                        <a:rPr b="0" lang="en-US" sz="2800" u="none" cap="none" strike="noStrike">
                          <a:solidFill>
                            <a:srgbClr val="000000"/>
                          </a:solidFill>
                          <a:latin typeface="Arial"/>
                          <a:ea typeface="Arial"/>
                          <a:cs typeface="Arial"/>
                          <a:sym typeface="Arial"/>
                        </a:rPr>
                        <a:t>/202</a:t>
                      </a:r>
                      <a:r>
                        <a:rPr lang="en-US" sz="2800"/>
                        <a:t>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r h="725750">
                <a:tc>
                  <a:txBody>
                    <a:bodyPr/>
                    <a:lstStyle/>
                    <a:p>
                      <a:pPr indent="0" lvl="0" marL="0" marR="0" rtl="0" algn="l">
                        <a:lnSpc>
                          <a:spcPct val="100000"/>
                        </a:lnSpc>
                        <a:spcBef>
                          <a:spcPts val="0"/>
                        </a:spcBef>
                        <a:spcAft>
                          <a:spcPts val="0"/>
                        </a:spcAft>
                        <a:buNone/>
                      </a:pPr>
                      <a:r>
                        <a:rPr b="1" lang="en-US" sz="2800" u="none" cap="none" strike="noStrike">
                          <a:solidFill>
                            <a:schemeClr val="dk1"/>
                          </a:solidFill>
                          <a:latin typeface="Arial"/>
                          <a:ea typeface="Arial"/>
                          <a:cs typeface="Arial"/>
                          <a:sym typeface="Arial"/>
                        </a:rPr>
                        <a:t>Hora de inicio:</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2800"/>
                        <a:t>XX</a:t>
                      </a:r>
                      <a:r>
                        <a:rPr b="0" lang="en-US" sz="2800" u="none" cap="none" strike="noStrike">
                          <a:solidFill>
                            <a:srgbClr val="000000"/>
                          </a:solidFill>
                          <a:latin typeface="Arial"/>
                          <a:ea typeface="Arial"/>
                          <a:cs typeface="Arial"/>
                          <a:sym typeface="Arial"/>
                        </a:rPr>
                        <a:t>:</a:t>
                      </a:r>
                      <a:r>
                        <a:rPr lang="en-US" sz="2800"/>
                        <a:t>XX</a:t>
                      </a:r>
                      <a:endParaRPr b="0" sz="2800" u="none" cap="none" strike="noStrike">
                        <a:solidFill>
                          <a:srgbClr val="000000"/>
                        </a:solidFill>
                        <a:latin typeface="Arial"/>
                        <a:ea typeface="Arial"/>
                        <a:cs typeface="Arial"/>
                        <a:sym typeface="Arial"/>
                      </a:endParaRPr>
                    </a:p>
                  </a:txBody>
                  <a:tcPr marT="91450" marB="91450" marR="182150" marL="182150">
                    <a:lnL cap="flat" cmpd="sng" w="19050">
                      <a:solidFill>
                        <a:srgbClr val="9E9E9E"/>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90" name="Google Shape;90;p14"/>
          <p:cNvSpPr/>
          <p:nvPr/>
        </p:nvSpPr>
        <p:spPr>
          <a:xfrm>
            <a:off x="2880000" y="4516560"/>
            <a:ext cx="11956800" cy="18888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5000" u="none" cap="none" strike="noStrike">
                <a:solidFill>
                  <a:srgbClr val="000000"/>
                </a:solidFill>
                <a:latin typeface="Arial"/>
                <a:ea typeface="Arial"/>
                <a:cs typeface="Arial"/>
                <a:sym typeface="Arial"/>
              </a:rPr>
              <a:t>Organización de Lenguajes y Compiladores 2 [</a:t>
            </a:r>
            <a:r>
              <a:rPr lang="en-US" sz="5000"/>
              <a:t>X</a:t>
            </a:r>
            <a:r>
              <a:rPr b="0" i="0" lang="en-US" sz="5000" u="none" cap="none" strike="noStrike">
                <a:solidFill>
                  <a:srgbClr val="000000"/>
                </a:solidFill>
                <a:latin typeface="Arial"/>
                <a:ea typeface="Arial"/>
                <a:cs typeface="Arial"/>
                <a:sym typeface="Arial"/>
              </a:rPr>
              <a:t>]</a:t>
            </a:r>
            <a:endParaRPr b="0" i="0" sz="5000" u="none" cap="none" strike="noStrike">
              <a:solidFill>
                <a:srgbClr val="000000"/>
              </a:solidFill>
              <a:latin typeface="Arial"/>
              <a:ea typeface="Arial"/>
              <a:cs typeface="Arial"/>
              <a:sym typeface="Arial"/>
            </a:endParaRPr>
          </a:p>
        </p:txBody>
      </p:sp>
      <p:sp>
        <p:nvSpPr>
          <p:cNvPr id="91" name="Google Shape;91;p14"/>
          <p:cNvSpPr/>
          <p:nvPr/>
        </p:nvSpPr>
        <p:spPr>
          <a:xfrm>
            <a:off x="3557520" y="6189120"/>
            <a:ext cx="11172000" cy="975000"/>
          </a:xfrm>
          <a:prstGeom prst="rect">
            <a:avLst/>
          </a:prstGeom>
          <a:noFill/>
          <a:ln>
            <a:noFill/>
          </a:ln>
        </p:spPr>
        <p:txBody>
          <a:bodyPr anchorCtr="0" anchor="t" bIns="182850" lIns="182850" spcFirstLastPara="1" rIns="182850" wrap="square" tIns="182850">
            <a:noAutofit/>
          </a:bodyPr>
          <a:lstStyle/>
          <a:p>
            <a:pPr indent="0" lvl="0" marL="0" marR="0" rtl="0" algn="l">
              <a:lnSpc>
                <a:spcPct val="100000"/>
              </a:lnSpc>
              <a:spcBef>
                <a:spcPts val="0"/>
              </a:spcBef>
              <a:spcAft>
                <a:spcPts val="0"/>
              </a:spcAft>
              <a:buNone/>
            </a:pPr>
            <a:r>
              <a:rPr b="0" i="0" lang="en-US" sz="4000" u="none" cap="none" strike="noStrike">
                <a:solidFill>
                  <a:srgbClr val="000000"/>
                </a:solidFill>
                <a:latin typeface="Arial"/>
                <a:ea typeface="Arial"/>
                <a:cs typeface="Arial"/>
                <a:sym typeface="Arial"/>
              </a:rPr>
              <a:t>Rubén Alejandro Ralda Mejia</a:t>
            </a:r>
            <a:endParaRPr b="0" i="0" sz="4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95" name="Shape 95"/>
        <p:cNvGrpSpPr/>
        <p:nvPr/>
      </p:nvGrpSpPr>
      <p:grpSpPr>
        <a:xfrm>
          <a:off x="0" y="0"/>
          <a:ext cx="0" cy="0"/>
          <a:chOff x="0" y="0"/>
          <a:chExt cx="0" cy="0"/>
        </a:xfrm>
      </p:grpSpPr>
      <p:sp>
        <p:nvSpPr>
          <p:cNvPr id="96" name="Google Shape;96;p15"/>
          <p:cNvSpPr txBox="1"/>
          <p:nvPr/>
        </p:nvSpPr>
        <p:spPr>
          <a:xfrm>
            <a:off x="1872650" y="2417625"/>
            <a:ext cx="14805000" cy="3509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7600">
                <a:solidFill>
                  <a:srgbClr val="FFFFFF"/>
                </a:solidFill>
              </a:rPr>
              <a:t>Traducción dirigida por la sintaxis: traducción durante el análisis sintáctico de descenso recursivo</a:t>
            </a:r>
            <a:endParaRPr sz="100"/>
          </a:p>
        </p:txBody>
      </p:sp>
      <p:sp>
        <p:nvSpPr>
          <p:cNvPr id="97" name="Google Shape;97;p15"/>
          <p:cNvSpPr txBox="1"/>
          <p:nvPr/>
        </p:nvSpPr>
        <p:spPr>
          <a:xfrm>
            <a:off x="839500" y="8152900"/>
            <a:ext cx="7159800" cy="17208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942" u="none" cap="none" strike="noStrike">
                <a:solidFill>
                  <a:srgbClr val="71DDEB"/>
                </a:solidFill>
                <a:latin typeface="Saira"/>
                <a:ea typeface="Saira"/>
                <a:cs typeface="Saira"/>
                <a:sym typeface="Saira"/>
              </a:rPr>
              <a:t>Escuela de Ciencias Y Sistemas</a:t>
            </a:r>
            <a:endParaRPr/>
          </a:p>
          <a:p>
            <a:pPr indent="0" lvl="0" marL="0" marR="0" rtl="0" algn="l">
              <a:lnSpc>
                <a:spcPct val="140006"/>
              </a:lnSpc>
              <a:spcBef>
                <a:spcPts val="0"/>
              </a:spcBef>
              <a:spcAft>
                <a:spcPts val="0"/>
              </a:spcAft>
              <a:buNone/>
            </a:pPr>
            <a:r>
              <a:rPr b="0" i="0" lang="en-US" sz="2942" u="none" cap="none" strike="noStrike">
                <a:solidFill>
                  <a:srgbClr val="71DDEB"/>
                </a:solidFill>
                <a:latin typeface="Saira"/>
                <a:ea typeface="Saira"/>
                <a:cs typeface="Saira"/>
                <a:sym typeface="Saira"/>
              </a:rPr>
              <a:t>Facultad de Ingeniería</a:t>
            </a:r>
            <a:endParaRPr/>
          </a:p>
          <a:p>
            <a:pPr indent="0" lvl="0" marL="0" marR="0" rtl="0" algn="l">
              <a:lnSpc>
                <a:spcPct val="140006"/>
              </a:lnSpc>
              <a:spcBef>
                <a:spcPts val="0"/>
              </a:spcBef>
              <a:spcAft>
                <a:spcPts val="0"/>
              </a:spcAft>
              <a:buNone/>
            </a:pPr>
            <a:r>
              <a:rPr b="0" i="0" lang="en-US" sz="2942" u="none" cap="none" strike="noStrike">
                <a:solidFill>
                  <a:srgbClr val="71DDEB"/>
                </a:solidFill>
                <a:latin typeface="Saira"/>
                <a:ea typeface="Saira"/>
                <a:cs typeface="Saira"/>
                <a:sym typeface="Saira"/>
              </a:rPr>
              <a:t>Universidad de San Carlos de Guatemala</a:t>
            </a:r>
            <a:endParaRPr/>
          </a:p>
        </p:txBody>
      </p:sp>
      <p:sp>
        <p:nvSpPr>
          <p:cNvPr id="98" name="Google Shape;98;p15"/>
          <p:cNvSpPr txBox="1"/>
          <p:nvPr/>
        </p:nvSpPr>
        <p:spPr>
          <a:xfrm>
            <a:off x="839500" y="6579425"/>
            <a:ext cx="5849100" cy="1071300"/>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lang="en-US" sz="2900">
                <a:solidFill>
                  <a:srgbClr val="FFFFFF"/>
                </a:solidFill>
              </a:rPr>
              <a:t>Organización de Lenguajes y Compiladores 2</a:t>
            </a:r>
            <a:endParaRPr sz="2900"/>
          </a:p>
        </p:txBody>
      </p:sp>
      <p:sp>
        <p:nvSpPr>
          <p:cNvPr id="99" name="Google Shape;99;p15"/>
          <p:cNvSpPr/>
          <p:nvPr/>
        </p:nvSpPr>
        <p:spPr>
          <a:xfrm>
            <a:off x="12785514" y="0"/>
            <a:ext cx="5502486" cy="1458309"/>
          </a:xfrm>
          <a:custGeom>
            <a:rect b="b" l="l" r="r" t="t"/>
            <a:pathLst>
              <a:path extrusionOk="0" h="1458309" w="5502486">
                <a:moveTo>
                  <a:pt x="0" y="0"/>
                </a:moveTo>
                <a:lnTo>
                  <a:pt x="5502486" y="0"/>
                </a:lnTo>
                <a:lnTo>
                  <a:pt x="5502486" y="1458309"/>
                </a:lnTo>
                <a:lnTo>
                  <a:pt x="0" y="1458309"/>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grpSp>
        <p:nvGrpSpPr>
          <p:cNvPr id="104" name="Google Shape;104;p16"/>
          <p:cNvGrpSpPr/>
          <p:nvPr/>
        </p:nvGrpSpPr>
        <p:grpSpPr>
          <a:xfrm>
            <a:off x="176619" y="4520484"/>
            <a:ext cx="4613562" cy="845568"/>
            <a:chOff x="0" y="-76200"/>
            <a:chExt cx="1964221" cy="360000"/>
          </a:xfrm>
        </p:grpSpPr>
        <p:sp>
          <p:nvSpPr>
            <p:cNvPr id="105" name="Google Shape;105;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06" name="Google Shape;106;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1</a:t>
              </a:r>
              <a:endParaRPr b="0" i="0" sz="1400" u="none" cap="none" strike="noStrike">
                <a:solidFill>
                  <a:srgbClr val="000000"/>
                </a:solidFill>
                <a:latin typeface="Arial"/>
                <a:ea typeface="Arial"/>
                <a:cs typeface="Arial"/>
                <a:sym typeface="Arial"/>
              </a:endParaRPr>
            </a:p>
          </p:txBody>
        </p:sp>
      </p:grpSp>
      <p:sp>
        <p:nvSpPr>
          <p:cNvPr id="107" name="Google Shape;107;p16"/>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108" name="Google Shape;108;p16"/>
          <p:cNvGrpSpPr/>
          <p:nvPr/>
        </p:nvGrpSpPr>
        <p:grpSpPr>
          <a:xfrm>
            <a:off x="1866989" y="3013981"/>
            <a:ext cx="4115217" cy="1556494"/>
            <a:chOff x="0" y="-76200"/>
            <a:chExt cx="1083836" cy="409938"/>
          </a:xfrm>
        </p:grpSpPr>
        <p:sp>
          <p:nvSpPr>
            <p:cNvPr id="109" name="Google Shape;109;p16"/>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10" name="Google Shape;110;p16"/>
            <p:cNvSpPr txBox="1"/>
            <p:nvPr/>
          </p:nvSpPr>
          <p:spPr>
            <a:xfrm>
              <a:off x="0" y="-76200"/>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11" name="Google Shape;111;p16"/>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sp>
        <p:nvSpPr>
          <p:cNvPr id="112" name="Google Shape;112;p16"/>
          <p:cNvSpPr txBox="1"/>
          <p:nvPr/>
        </p:nvSpPr>
        <p:spPr>
          <a:xfrm>
            <a:off x="651749" y="49090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acifico"/>
                <a:ea typeface="Pacifico"/>
                <a:cs typeface="Pacifico"/>
                <a:sym typeface="Pacifico"/>
              </a:rPr>
              <a:t>Agenda</a:t>
            </a:r>
            <a:endParaRPr b="0" i="0" sz="1400" u="none" cap="none" strike="noStrike">
              <a:solidFill>
                <a:srgbClr val="000000"/>
              </a:solidFill>
              <a:latin typeface="Pacifico"/>
              <a:ea typeface="Pacifico"/>
              <a:cs typeface="Pacifico"/>
              <a:sym typeface="Pacifico"/>
            </a:endParaRPr>
          </a:p>
        </p:txBody>
      </p:sp>
      <p:sp>
        <p:nvSpPr>
          <p:cNvPr id="113" name="Google Shape;113;p16"/>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Lobster"/>
                <a:ea typeface="Lobster"/>
                <a:cs typeface="Lobster"/>
                <a:sym typeface="Lobster"/>
              </a:rPr>
              <a:t>Recursos</a:t>
            </a:r>
            <a:endParaRPr b="0" i="0" sz="1400" u="none" cap="none" strike="noStrike">
              <a:solidFill>
                <a:srgbClr val="000000"/>
              </a:solidFill>
              <a:latin typeface="Lobster"/>
              <a:ea typeface="Lobster"/>
              <a:cs typeface="Lobster"/>
              <a:sym typeface="Lobster"/>
            </a:endParaRPr>
          </a:p>
        </p:txBody>
      </p:sp>
      <p:grpSp>
        <p:nvGrpSpPr>
          <p:cNvPr id="114" name="Google Shape;114;p16"/>
          <p:cNvGrpSpPr/>
          <p:nvPr/>
        </p:nvGrpSpPr>
        <p:grpSpPr>
          <a:xfrm>
            <a:off x="11739805" y="2798631"/>
            <a:ext cx="5353682" cy="1701155"/>
            <a:chOff x="0" y="-114300"/>
            <a:chExt cx="1410014" cy="448038"/>
          </a:xfrm>
        </p:grpSpPr>
        <p:sp>
          <p:nvSpPr>
            <p:cNvPr id="115" name="Google Shape;115;p16"/>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16" name="Google Shape;116;p16"/>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b="0" i="0" sz="1400" u="none" cap="none" strike="noStrike">
                <a:solidFill>
                  <a:srgbClr val="000000"/>
                </a:solidFill>
                <a:latin typeface="Arial"/>
                <a:ea typeface="Arial"/>
                <a:cs typeface="Arial"/>
                <a:sym typeface="Arial"/>
              </a:endParaRPr>
            </a:p>
          </p:txBody>
        </p:sp>
      </p:grpSp>
      <p:grpSp>
        <p:nvGrpSpPr>
          <p:cNvPr id="117" name="Google Shape;117;p16"/>
          <p:cNvGrpSpPr/>
          <p:nvPr/>
        </p:nvGrpSpPr>
        <p:grpSpPr>
          <a:xfrm>
            <a:off x="11739805" y="4598680"/>
            <a:ext cx="5353682" cy="1701155"/>
            <a:chOff x="0" y="-114300"/>
            <a:chExt cx="1410014" cy="448038"/>
          </a:xfrm>
        </p:grpSpPr>
        <p:sp>
          <p:nvSpPr>
            <p:cNvPr id="118" name="Google Shape;118;p16"/>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sp>
        <p:sp>
          <p:nvSpPr>
            <p:cNvPr id="119" name="Google Shape;119;p16"/>
            <p:cNvSpPr txBox="1"/>
            <p:nvPr/>
          </p:nvSpPr>
          <p:spPr>
            <a:xfrm>
              <a:off x="0" y="-114300"/>
              <a:ext cx="1295700" cy="447900"/>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Quizziz</a:t>
              </a:r>
              <a:endParaRPr b="0" i="0" sz="1400" u="none" cap="none" strike="noStrike">
                <a:solidFill>
                  <a:srgbClr val="000000"/>
                </a:solidFill>
                <a:latin typeface="Arial"/>
                <a:ea typeface="Arial"/>
                <a:cs typeface="Arial"/>
                <a:sym typeface="Arial"/>
              </a:endParaRPr>
            </a:p>
          </p:txBody>
        </p:sp>
      </p:grpSp>
      <p:grpSp>
        <p:nvGrpSpPr>
          <p:cNvPr id="120" name="Google Shape;120;p16"/>
          <p:cNvGrpSpPr/>
          <p:nvPr/>
        </p:nvGrpSpPr>
        <p:grpSpPr>
          <a:xfrm>
            <a:off x="176619" y="5444302"/>
            <a:ext cx="4613562" cy="845568"/>
            <a:chOff x="0" y="-76200"/>
            <a:chExt cx="1964221" cy="360000"/>
          </a:xfrm>
        </p:grpSpPr>
        <p:sp>
          <p:nvSpPr>
            <p:cNvPr id="121" name="Google Shape;121;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2" name="Google Shape;122;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2</a:t>
              </a:r>
              <a:endParaRPr b="0" i="0" sz="1400" u="none" cap="none" strike="noStrike">
                <a:solidFill>
                  <a:srgbClr val="000000"/>
                </a:solidFill>
                <a:latin typeface="Arial"/>
                <a:ea typeface="Arial"/>
                <a:cs typeface="Arial"/>
                <a:sym typeface="Arial"/>
              </a:endParaRPr>
            </a:p>
          </p:txBody>
        </p:sp>
      </p:grpSp>
      <p:grpSp>
        <p:nvGrpSpPr>
          <p:cNvPr id="123" name="Google Shape;123;p16"/>
          <p:cNvGrpSpPr/>
          <p:nvPr/>
        </p:nvGrpSpPr>
        <p:grpSpPr>
          <a:xfrm>
            <a:off x="176619" y="6425875"/>
            <a:ext cx="4613562" cy="845568"/>
            <a:chOff x="0" y="-76200"/>
            <a:chExt cx="1964221" cy="360000"/>
          </a:xfrm>
        </p:grpSpPr>
        <p:sp>
          <p:nvSpPr>
            <p:cNvPr id="124" name="Google Shape;124;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5" name="Google Shape;125;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3</a:t>
              </a:r>
              <a:endParaRPr b="0" i="0" sz="1400" u="none" cap="none" strike="noStrike">
                <a:solidFill>
                  <a:srgbClr val="000000"/>
                </a:solidFill>
                <a:latin typeface="Arial"/>
                <a:ea typeface="Arial"/>
                <a:cs typeface="Arial"/>
                <a:sym typeface="Arial"/>
              </a:endParaRPr>
            </a:p>
          </p:txBody>
        </p:sp>
      </p:grpSp>
      <p:grpSp>
        <p:nvGrpSpPr>
          <p:cNvPr id="126" name="Google Shape;126;p16"/>
          <p:cNvGrpSpPr/>
          <p:nvPr/>
        </p:nvGrpSpPr>
        <p:grpSpPr>
          <a:xfrm>
            <a:off x="176619" y="7349457"/>
            <a:ext cx="4613562" cy="845568"/>
            <a:chOff x="0" y="-76200"/>
            <a:chExt cx="1964221" cy="360000"/>
          </a:xfrm>
        </p:grpSpPr>
        <p:sp>
          <p:nvSpPr>
            <p:cNvPr id="127" name="Google Shape;127;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8" name="Google Shape;128;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4</a:t>
              </a:r>
              <a:endParaRPr b="0" i="0" sz="1400" u="none" cap="none" strike="noStrike">
                <a:solidFill>
                  <a:srgbClr val="000000"/>
                </a:solidFill>
                <a:latin typeface="Arial"/>
                <a:ea typeface="Arial"/>
                <a:cs typeface="Arial"/>
                <a:sym typeface="Arial"/>
              </a:endParaRPr>
            </a:p>
          </p:txBody>
        </p:sp>
      </p:grpSp>
      <p:grpSp>
        <p:nvGrpSpPr>
          <p:cNvPr id="129" name="Google Shape;129;p16"/>
          <p:cNvGrpSpPr/>
          <p:nvPr/>
        </p:nvGrpSpPr>
        <p:grpSpPr>
          <a:xfrm>
            <a:off x="176619" y="8412915"/>
            <a:ext cx="4613562" cy="845568"/>
            <a:chOff x="0" y="-76200"/>
            <a:chExt cx="1964221" cy="360000"/>
          </a:xfrm>
        </p:grpSpPr>
        <p:sp>
          <p:nvSpPr>
            <p:cNvPr id="130" name="Google Shape;130;p16"/>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1" name="Google Shape;131;p16"/>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5</a:t>
              </a:r>
              <a:endParaRPr b="0" i="0" sz="1400" u="none" cap="none" strike="noStrike">
                <a:solidFill>
                  <a:srgbClr val="000000"/>
                </a:solidFill>
                <a:latin typeface="Arial"/>
                <a:ea typeface="Arial"/>
                <a:cs typeface="Arial"/>
                <a:sym typeface="Arial"/>
              </a:endParaRPr>
            </a:p>
          </p:txBody>
        </p:sp>
      </p:grpSp>
      <p:sp>
        <p:nvSpPr>
          <p:cNvPr id="132" name="Google Shape;132;p16"/>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33" name="Google Shape;133;p16"/>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34" name="Google Shape;134;p16"/>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sp>
        <p:nvSpPr>
          <p:cNvPr id="135" name="Google Shape;135;p16"/>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3">
              <a:alphaModFix/>
            </a:blip>
            <a:stretch>
              <a:fillRect b="0" l="0" r="0" t="0"/>
            </a:stretch>
          </a:blipFill>
          <a:ln>
            <a:noFill/>
          </a:ln>
        </p:spPr>
      </p:sp>
      <p:sp>
        <p:nvSpPr>
          <p:cNvPr id="136" name="Google Shape;136;p16"/>
          <p:cNvSpPr/>
          <p:nvPr/>
        </p:nvSpPr>
        <p:spPr>
          <a:xfrm>
            <a:off x="6488300" y="5365870"/>
            <a:ext cx="4626468" cy="4575998"/>
          </a:xfrm>
          <a:custGeom>
            <a:rect b="b" l="l" r="r" t="t"/>
            <a:pathLst>
              <a:path extrusionOk="0" h="4575998" w="4626468">
                <a:moveTo>
                  <a:pt x="0" y="0"/>
                </a:moveTo>
                <a:lnTo>
                  <a:pt x="4626468" y="0"/>
                </a:lnTo>
                <a:lnTo>
                  <a:pt x="4626468" y="4575997"/>
                </a:lnTo>
                <a:lnTo>
                  <a:pt x="0" y="4575997"/>
                </a:lnTo>
                <a:lnTo>
                  <a:pt x="0" y="0"/>
                </a:lnTo>
                <a:close/>
              </a:path>
            </a:pathLst>
          </a:custGeom>
          <a:blipFill rotWithShape="1">
            <a:blip r:embed="rId5">
              <a:alphaModFix/>
            </a:blip>
            <a:stretch>
              <a:fillRect b="0" l="0" r="0" t="0"/>
            </a:stretch>
          </a:blipFill>
          <a:ln>
            <a:noFill/>
          </a:ln>
        </p:spPr>
      </p:sp>
      <p:sp>
        <p:nvSpPr>
          <p:cNvPr id="137" name="Google Shape;137;p16"/>
          <p:cNvSpPr txBox="1"/>
          <p:nvPr/>
        </p:nvSpPr>
        <p:spPr>
          <a:xfrm>
            <a:off x="7087316" y="6295138"/>
            <a:ext cx="3428400" cy="3242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Colocaras todos los recordatorios como lo sean, cortos, entregas, horarios de calificación. Colocaras, link de video y link o codigo de quizziz si lo amerita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41" name="Shape 141"/>
        <p:cNvGrpSpPr/>
        <p:nvPr/>
      </p:nvGrpSpPr>
      <p:grpSpPr>
        <a:xfrm>
          <a:off x="0" y="0"/>
          <a:ext cx="0" cy="0"/>
          <a:chOff x="0" y="0"/>
          <a:chExt cx="0" cy="0"/>
        </a:xfrm>
      </p:grpSpPr>
      <p:sp>
        <p:nvSpPr>
          <p:cNvPr id="142" name="Google Shape;142;p17"/>
          <p:cNvSpPr txBox="1"/>
          <p:nvPr/>
        </p:nvSpPr>
        <p:spPr>
          <a:xfrm>
            <a:off x="1336908" y="1683006"/>
            <a:ext cx="7974909" cy="1490835"/>
          </a:xfrm>
          <a:prstGeom prst="rect">
            <a:avLst/>
          </a:prstGeom>
          <a:noFill/>
          <a:ln>
            <a:noFill/>
          </a:ln>
        </p:spPr>
        <p:txBody>
          <a:bodyPr anchorCtr="0" anchor="t" bIns="0" lIns="0" spcFirstLastPara="1" rIns="0" wrap="square" tIns="0">
            <a:spAutoFit/>
          </a:bodyPr>
          <a:lstStyle/>
          <a:p>
            <a:pPr indent="0" lvl="0" marL="0" marR="0" rtl="0" algn="l">
              <a:lnSpc>
                <a:spcPct val="140009"/>
              </a:lnSpc>
              <a:spcBef>
                <a:spcPts val="0"/>
              </a:spcBef>
              <a:spcAft>
                <a:spcPts val="0"/>
              </a:spcAft>
              <a:buNone/>
            </a:pPr>
            <a:r>
              <a:rPr b="0" i="0" lang="en-US" sz="8743" u="none" cap="none" strike="noStrike">
                <a:solidFill>
                  <a:srgbClr val="8FE3FD"/>
                </a:solidFill>
                <a:latin typeface="Arial"/>
                <a:ea typeface="Arial"/>
                <a:cs typeface="Arial"/>
                <a:sym typeface="Arial"/>
              </a:rPr>
              <a:t>Valores</a:t>
            </a:r>
            <a:endParaRPr/>
          </a:p>
        </p:txBody>
      </p:sp>
      <p:sp>
        <p:nvSpPr>
          <p:cNvPr id="143" name="Google Shape;143;p17"/>
          <p:cNvSpPr txBox="1"/>
          <p:nvPr/>
        </p:nvSpPr>
        <p:spPr>
          <a:xfrm>
            <a:off x="1336908" y="3715285"/>
            <a:ext cx="7669124" cy="2037651"/>
          </a:xfrm>
          <a:prstGeom prst="rect">
            <a:avLst/>
          </a:prstGeom>
          <a:noFill/>
          <a:ln>
            <a:noFill/>
          </a:ln>
        </p:spPr>
        <p:txBody>
          <a:bodyPr anchorCtr="0" anchor="t" bIns="0" lIns="0" spcFirstLastPara="1" rIns="0" wrap="square" tIns="0">
            <a:spAutoFit/>
          </a:bodyPr>
          <a:lstStyle/>
          <a:p>
            <a:pPr indent="0" lvl="0" marL="0" marR="0" rtl="0" algn="just">
              <a:lnSpc>
                <a:spcPct val="135013"/>
              </a:lnSpc>
              <a:spcBef>
                <a:spcPts val="0"/>
              </a:spcBef>
              <a:spcAft>
                <a:spcPts val="0"/>
              </a:spcAft>
              <a:buNone/>
            </a:pPr>
            <a:r>
              <a:rPr b="0" i="0" lang="en-US" sz="3036" u="none" cap="none" strike="noStrike">
                <a:solidFill>
                  <a:srgbClr val="FFFFFF"/>
                </a:solidFill>
                <a:latin typeface="Saira Light"/>
                <a:ea typeface="Saira Light"/>
                <a:cs typeface="Saira Light"/>
                <a:sym typeface="Saira Light"/>
              </a:rPr>
              <a:t>Responsabilidad en la interoperabilidad: Llamar funciones externas exige control y seguridad.</a:t>
            </a:r>
            <a:endParaRPr/>
          </a:p>
          <a:p>
            <a:pPr indent="0" lvl="0" marL="0" marR="0" rtl="0" algn="just">
              <a:lnSpc>
                <a:spcPct val="135013"/>
              </a:lnSpc>
              <a:spcBef>
                <a:spcPts val="0"/>
              </a:spcBef>
              <a:spcAft>
                <a:spcPts val="0"/>
              </a:spcAft>
              <a:buNone/>
            </a:pPr>
            <a:r>
              <a:t/>
            </a:r>
            <a:endParaRPr b="0" i="0" sz="3036" u="none" cap="none" strike="noStrike">
              <a:solidFill>
                <a:srgbClr val="FFFFFF"/>
              </a:solidFill>
              <a:latin typeface="Saira Light"/>
              <a:ea typeface="Saira Light"/>
              <a:cs typeface="Saira Light"/>
              <a:sym typeface="Saira Light"/>
            </a:endParaRPr>
          </a:p>
        </p:txBody>
      </p:sp>
      <p:sp>
        <p:nvSpPr>
          <p:cNvPr id="144" name="Google Shape;144;p17"/>
          <p:cNvSpPr txBox="1"/>
          <p:nvPr/>
        </p:nvSpPr>
        <p:spPr>
          <a:xfrm>
            <a:off x="1336908" y="6091539"/>
            <a:ext cx="7669124" cy="1523301"/>
          </a:xfrm>
          <a:prstGeom prst="rect">
            <a:avLst/>
          </a:prstGeom>
          <a:noFill/>
          <a:ln>
            <a:noFill/>
          </a:ln>
        </p:spPr>
        <p:txBody>
          <a:bodyPr anchorCtr="0" anchor="t" bIns="0" lIns="0" spcFirstLastPara="1" rIns="0" wrap="square" tIns="0">
            <a:spAutoFit/>
          </a:bodyPr>
          <a:lstStyle/>
          <a:p>
            <a:pPr indent="0" lvl="0" marL="0" marR="0" rtl="0" algn="just">
              <a:lnSpc>
                <a:spcPct val="135013"/>
              </a:lnSpc>
              <a:spcBef>
                <a:spcPts val="0"/>
              </a:spcBef>
              <a:spcAft>
                <a:spcPts val="0"/>
              </a:spcAft>
              <a:buNone/>
            </a:pPr>
            <a:r>
              <a:rPr b="0" i="0" lang="en-US" sz="3036" u="none" cap="none" strike="noStrike">
                <a:solidFill>
                  <a:srgbClr val="FFFFFF"/>
                </a:solidFill>
                <a:latin typeface="Saira Light"/>
                <a:ea typeface="Saira Light"/>
                <a:cs typeface="Saira Light"/>
                <a:sym typeface="Saira Light"/>
              </a:rPr>
              <a:t>Ética del alcance: Mantener el uso de variables dentro de su contexto lógico y justo.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48" name="Shape 148"/>
        <p:cNvGrpSpPr/>
        <p:nvPr/>
      </p:nvGrpSpPr>
      <p:grpSpPr>
        <a:xfrm>
          <a:off x="0" y="0"/>
          <a:ext cx="0" cy="0"/>
          <a:chOff x="0" y="0"/>
          <a:chExt cx="0" cy="0"/>
        </a:xfrm>
      </p:grpSpPr>
      <p:sp>
        <p:nvSpPr>
          <p:cNvPr id="149" name="Google Shape;149;p18"/>
          <p:cNvSpPr txBox="1"/>
          <p:nvPr/>
        </p:nvSpPr>
        <p:spPr>
          <a:xfrm>
            <a:off x="1028700" y="1706528"/>
            <a:ext cx="9630740" cy="1810355"/>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Análisis Sintáctico de Descenso Recursivo</a:t>
            </a:r>
            <a:endParaRPr/>
          </a:p>
        </p:txBody>
      </p:sp>
      <p:sp>
        <p:nvSpPr>
          <p:cNvPr id="150" name="Google Shape;150;p18"/>
          <p:cNvSpPr txBox="1"/>
          <p:nvPr/>
        </p:nvSpPr>
        <p:spPr>
          <a:xfrm>
            <a:off x="1028700" y="3929541"/>
            <a:ext cx="11586711" cy="2406664"/>
          </a:xfrm>
          <a:prstGeom prst="rect">
            <a:avLst/>
          </a:prstGeom>
          <a:noFill/>
          <a:ln>
            <a:noFill/>
          </a:ln>
        </p:spPr>
        <p:txBody>
          <a:bodyPr anchorCtr="0" anchor="t" bIns="0" lIns="0" spcFirstLastPara="1" rIns="0" wrap="square" tIns="0">
            <a:spAutoFit/>
          </a:bodyPr>
          <a:lstStyle/>
          <a:p>
            <a:pPr indent="0" lvl="0" marL="0" marR="0" rtl="0" algn="just">
              <a:lnSpc>
                <a:spcPct val="140014"/>
              </a:lnSpc>
              <a:spcBef>
                <a:spcPts val="0"/>
              </a:spcBef>
              <a:spcAft>
                <a:spcPts val="0"/>
              </a:spcAft>
              <a:buNone/>
            </a:pPr>
            <a:r>
              <a:rPr b="0" i="0" lang="en-US" sz="2749" u="none" cap="none" strike="noStrike">
                <a:solidFill>
                  <a:srgbClr val="FFFFFF"/>
                </a:solidFill>
                <a:latin typeface="Saira"/>
                <a:ea typeface="Saira"/>
                <a:cs typeface="Saira"/>
                <a:sym typeface="Saira"/>
              </a:rPr>
              <a:t>Un analizador sintáctico por descenso recursivo es un método de análisis descendente (top-down) donde cada no terminal de la gramática se implementa como una función (procedimiento) en el código del compilador. Estas funciones llamadas recursivamente van procesando la entrada según las producciones de la gramática.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54" name="Shape 154"/>
        <p:cNvGrpSpPr/>
        <p:nvPr/>
      </p:nvGrpSpPr>
      <p:grpSpPr>
        <a:xfrm>
          <a:off x="0" y="0"/>
          <a:ext cx="0" cy="0"/>
          <a:chOff x="0" y="0"/>
          <a:chExt cx="0" cy="0"/>
        </a:xfrm>
      </p:grpSpPr>
      <p:grpSp>
        <p:nvGrpSpPr>
          <p:cNvPr id="155" name="Google Shape;155;p19"/>
          <p:cNvGrpSpPr/>
          <p:nvPr/>
        </p:nvGrpSpPr>
        <p:grpSpPr>
          <a:xfrm>
            <a:off x="1028700" y="4693119"/>
            <a:ext cx="4401278" cy="4565181"/>
            <a:chOff x="0" y="-47625"/>
            <a:chExt cx="1159184" cy="1202352"/>
          </a:xfrm>
        </p:grpSpPr>
        <p:sp>
          <p:nvSpPr>
            <p:cNvPr id="156" name="Google Shape;156;p19"/>
            <p:cNvSpPr/>
            <p:nvPr/>
          </p:nvSpPr>
          <p:spPr>
            <a:xfrm>
              <a:off x="0" y="0"/>
              <a:ext cx="1159184" cy="1154727"/>
            </a:xfrm>
            <a:custGeom>
              <a:rect b="b" l="l" r="r" t="t"/>
              <a:pathLst>
                <a:path extrusionOk="0" h="1154727" w="1159184">
                  <a:moveTo>
                    <a:pt x="0" y="0"/>
                  </a:moveTo>
                  <a:lnTo>
                    <a:pt x="1159184" y="0"/>
                  </a:lnTo>
                  <a:lnTo>
                    <a:pt x="1159184" y="1154727"/>
                  </a:lnTo>
                  <a:lnTo>
                    <a:pt x="0" y="115472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157" name="Google Shape;157;p19"/>
            <p:cNvSpPr txBox="1"/>
            <p:nvPr/>
          </p:nvSpPr>
          <p:spPr>
            <a:xfrm>
              <a:off x="0" y="-47625"/>
              <a:ext cx="1159184" cy="120235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 name="Google Shape;158;p19"/>
          <p:cNvGrpSpPr/>
          <p:nvPr/>
        </p:nvGrpSpPr>
        <p:grpSpPr>
          <a:xfrm>
            <a:off x="5844070" y="4693119"/>
            <a:ext cx="6806386" cy="4565181"/>
            <a:chOff x="0" y="-47625"/>
            <a:chExt cx="1792628" cy="1202352"/>
          </a:xfrm>
        </p:grpSpPr>
        <p:sp>
          <p:nvSpPr>
            <p:cNvPr id="159" name="Google Shape;159;p19"/>
            <p:cNvSpPr/>
            <p:nvPr/>
          </p:nvSpPr>
          <p:spPr>
            <a:xfrm>
              <a:off x="0" y="0"/>
              <a:ext cx="1792628" cy="1154727"/>
            </a:xfrm>
            <a:custGeom>
              <a:rect b="b" l="l" r="r" t="t"/>
              <a:pathLst>
                <a:path extrusionOk="0" h="1154727" w="1792628">
                  <a:moveTo>
                    <a:pt x="0" y="0"/>
                  </a:moveTo>
                  <a:lnTo>
                    <a:pt x="1792628" y="0"/>
                  </a:lnTo>
                  <a:lnTo>
                    <a:pt x="1792628" y="1154727"/>
                  </a:lnTo>
                  <a:lnTo>
                    <a:pt x="0" y="115472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160" name="Google Shape;160;p19"/>
            <p:cNvSpPr txBox="1"/>
            <p:nvPr/>
          </p:nvSpPr>
          <p:spPr>
            <a:xfrm>
              <a:off x="0" y="-47625"/>
              <a:ext cx="1792628" cy="120235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1" name="Google Shape;161;p19"/>
          <p:cNvSpPr txBox="1"/>
          <p:nvPr/>
        </p:nvSpPr>
        <p:spPr>
          <a:xfrm>
            <a:off x="1028700" y="1706528"/>
            <a:ext cx="9630740" cy="1810355"/>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Análisis Sintáctico de Descenso Recursivo</a:t>
            </a:r>
            <a:endParaRPr/>
          </a:p>
        </p:txBody>
      </p:sp>
      <p:sp>
        <p:nvSpPr>
          <p:cNvPr id="162" name="Google Shape;162;p19"/>
          <p:cNvSpPr txBox="1"/>
          <p:nvPr/>
        </p:nvSpPr>
        <p:spPr>
          <a:xfrm>
            <a:off x="1340160" y="5028604"/>
            <a:ext cx="3778357" cy="729243"/>
          </a:xfrm>
          <a:prstGeom prst="rect">
            <a:avLst/>
          </a:prstGeom>
          <a:noFill/>
          <a:ln>
            <a:noFill/>
          </a:ln>
        </p:spPr>
        <p:txBody>
          <a:bodyPr anchorCtr="0" anchor="t" bIns="0" lIns="0" spcFirstLastPara="1" rIns="0" wrap="square" tIns="0">
            <a:spAutoFit/>
          </a:bodyPr>
          <a:lstStyle/>
          <a:p>
            <a:pPr indent="0" lvl="0" marL="0" marR="0" rtl="0" algn="just">
              <a:lnSpc>
                <a:spcPct val="135015"/>
              </a:lnSpc>
              <a:spcBef>
                <a:spcPts val="0"/>
              </a:spcBef>
              <a:spcAft>
                <a:spcPts val="0"/>
              </a:spcAft>
              <a:buNone/>
            </a:pPr>
            <a:r>
              <a:rPr b="1" i="0" lang="en-US" sz="2219" u="none" cap="none" strike="noStrike">
                <a:solidFill>
                  <a:srgbClr val="FFFFFF"/>
                </a:solidFill>
                <a:latin typeface="Saira"/>
                <a:ea typeface="Saira"/>
                <a:cs typeface="Saira"/>
                <a:sym typeface="Saira"/>
              </a:rPr>
              <a:t>Corresponde a gramáticas LL(1) típicamente</a:t>
            </a:r>
            <a:endParaRPr/>
          </a:p>
        </p:txBody>
      </p:sp>
      <p:sp>
        <p:nvSpPr>
          <p:cNvPr id="163" name="Google Shape;163;p19"/>
          <p:cNvSpPr txBox="1"/>
          <p:nvPr/>
        </p:nvSpPr>
        <p:spPr>
          <a:xfrm>
            <a:off x="6155531" y="6165841"/>
            <a:ext cx="6183465" cy="2388279"/>
          </a:xfrm>
          <a:prstGeom prst="rect">
            <a:avLst/>
          </a:prstGeom>
          <a:noFill/>
          <a:ln>
            <a:noFill/>
          </a:ln>
        </p:spPr>
        <p:txBody>
          <a:bodyPr anchorCtr="0" anchor="t" bIns="0" lIns="0" spcFirstLastPara="1" rIns="0" wrap="square" tIns="0">
            <a:spAutoFit/>
          </a:bodyPr>
          <a:lstStyle/>
          <a:p>
            <a:pPr indent="0" lvl="0" marL="0" marR="0" rtl="0" algn="just">
              <a:lnSpc>
                <a:spcPct val="135017"/>
              </a:lnSpc>
              <a:spcBef>
                <a:spcPts val="0"/>
              </a:spcBef>
              <a:spcAft>
                <a:spcPts val="0"/>
              </a:spcAft>
              <a:buNone/>
            </a:pPr>
            <a:r>
              <a:rPr b="0" i="0" lang="en-US" sz="2019" u="none" cap="none" strike="noStrike">
                <a:solidFill>
                  <a:srgbClr val="FFFFFF"/>
                </a:solidFill>
                <a:latin typeface="Saira Light"/>
                <a:ea typeface="Saira Light"/>
                <a:cs typeface="Saira Light"/>
                <a:sym typeface="Saira Light"/>
              </a:rPr>
              <a:t>La estructura del código sigue muy de cerca la estructura de la gramática. Por ejemplo, si la gramática tiene A -&gt; X Y Z, la función A() llamará sucesivamente a X(), Y() y Z() (o lo equivalente según cómo estén implementadas) en ese orden, esperando que cada una consuma la parte correspondiente de la entrada.</a:t>
            </a:r>
            <a:endParaRPr/>
          </a:p>
        </p:txBody>
      </p:sp>
      <p:sp>
        <p:nvSpPr>
          <p:cNvPr id="164" name="Google Shape;164;p19"/>
          <p:cNvSpPr txBox="1"/>
          <p:nvPr/>
        </p:nvSpPr>
        <p:spPr>
          <a:xfrm>
            <a:off x="1028700" y="3640588"/>
            <a:ext cx="7889557" cy="463564"/>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49" u="none" cap="none" strike="noStrike">
                <a:solidFill>
                  <a:srgbClr val="FFFFFF"/>
                </a:solidFill>
                <a:latin typeface="Saira"/>
                <a:ea typeface="Saira"/>
                <a:cs typeface="Saira"/>
                <a:sym typeface="Saira"/>
              </a:rPr>
              <a:t>Características principales del descenso recursivo</a:t>
            </a:r>
            <a:endParaRPr/>
          </a:p>
        </p:txBody>
      </p:sp>
      <p:sp>
        <p:nvSpPr>
          <p:cNvPr id="165" name="Google Shape;165;p19"/>
          <p:cNvSpPr txBox="1"/>
          <p:nvPr/>
        </p:nvSpPr>
        <p:spPr>
          <a:xfrm>
            <a:off x="1340160" y="6073965"/>
            <a:ext cx="3778357" cy="2742828"/>
          </a:xfrm>
          <a:prstGeom prst="rect">
            <a:avLst/>
          </a:prstGeom>
          <a:noFill/>
          <a:ln>
            <a:noFill/>
          </a:ln>
        </p:spPr>
        <p:txBody>
          <a:bodyPr anchorCtr="0" anchor="t" bIns="0" lIns="0" spcFirstLastPara="1" rIns="0" wrap="square" tIns="0">
            <a:spAutoFit/>
          </a:bodyPr>
          <a:lstStyle/>
          <a:p>
            <a:pPr indent="0" lvl="0" marL="0" marR="0" rtl="0" algn="l">
              <a:lnSpc>
                <a:spcPct val="135017"/>
              </a:lnSpc>
              <a:spcBef>
                <a:spcPts val="0"/>
              </a:spcBef>
              <a:spcAft>
                <a:spcPts val="0"/>
              </a:spcAft>
              <a:buNone/>
            </a:pPr>
            <a:r>
              <a:rPr b="0" i="0" lang="en-US" sz="2019" u="none" cap="none" strike="noStrike">
                <a:solidFill>
                  <a:srgbClr val="FFFFFF"/>
                </a:solidFill>
                <a:latin typeface="Saira Light"/>
                <a:ea typeface="Saira Light"/>
                <a:cs typeface="Saira Light"/>
                <a:sym typeface="Saira Light"/>
              </a:rPr>
              <a:t>El descenso recursivo tradicional requiere que la gramática no tenga recursión izquierda inmediata y esté factorizada por la izquierda para decidir qué producción aplicar con un vistazo (lookahead) mínimo.</a:t>
            </a:r>
            <a:endParaRPr/>
          </a:p>
        </p:txBody>
      </p:sp>
      <p:sp>
        <p:nvSpPr>
          <p:cNvPr id="166" name="Google Shape;166;p19"/>
          <p:cNvSpPr txBox="1"/>
          <p:nvPr/>
        </p:nvSpPr>
        <p:spPr>
          <a:xfrm>
            <a:off x="6155531" y="5114925"/>
            <a:ext cx="3778357" cy="729243"/>
          </a:xfrm>
          <a:prstGeom prst="rect">
            <a:avLst/>
          </a:prstGeom>
          <a:noFill/>
          <a:ln>
            <a:noFill/>
          </a:ln>
        </p:spPr>
        <p:txBody>
          <a:bodyPr anchorCtr="0" anchor="t" bIns="0" lIns="0" spcFirstLastPara="1" rIns="0" wrap="square" tIns="0">
            <a:spAutoFit/>
          </a:bodyPr>
          <a:lstStyle/>
          <a:p>
            <a:pPr indent="0" lvl="0" marL="0" marR="0" rtl="0" algn="just">
              <a:lnSpc>
                <a:spcPct val="135015"/>
              </a:lnSpc>
              <a:spcBef>
                <a:spcPts val="0"/>
              </a:spcBef>
              <a:spcAft>
                <a:spcPts val="0"/>
              </a:spcAft>
              <a:buNone/>
            </a:pPr>
            <a:r>
              <a:rPr b="1" i="0" lang="en-US" sz="2219" u="none" cap="none" strike="noStrike">
                <a:solidFill>
                  <a:srgbClr val="FFFFFF"/>
                </a:solidFill>
                <a:latin typeface="Saira"/>
                <a:ea typeface="Saira"/>
                <a:cs typeface="Saira"/>
                <a:sym typeface="Saira"/>
              </a:rPr>
              <a:t>Implementación directa de las reglas gramaticales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70" name="Shape 170"/>
        <p:cNvGrpSpPr/>
        <p:nvPr/>
      </p:nvGrpSpPr>
      <p:grpSpPr>
        <a:xfrm>
          <a:off x="0" y="0"/>
          <a:ext cx="0" cy="0"/>
          <a:chOff x="0" y="0"/>
          <a:chExt cx="0" cy="0"/>
        </a:xfrm>
      </p:grpSpPr>
      <p:sp>
        <p:nvSpPr>
          <p:cNvPr id="171" name="Google Shape;171;p20"/>
          <p:cNvSpPr txBox="1"/>
          <p:nvPr/>
        </p:nvSpPr>
        <p:spPr>
          <a:xfrm>
            <a:off x="2086368" y="4190698"/>
            <a:ext cx="14115264" cy="1810837"/>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Traducción Durante el Análisis de Descenso Recursivo</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75" name="Shape 175"/>
        <p:cNvGrpSpPr/>
        <p:nvPr/>
      </p:nvGrpSpPr>
      <p:grpSpPr>
        <a:xfrm>
          <a:off x="0" y="0"/>
          <a:ext cx="0" cy="0"/>
          <a:chOff x="0" y="0"/>
          <a:chExt cx="0" cy="0"/>
        </a:xfrm>
      </p:grpSpPr>
      <p:sp>
        <p:nvSpPr>
          <p:cNvPr id="176" name="Google Shape;176;p21"/>
          <p:cNvSpPr txBox="1"/>
          <p:nvPr/>
        </p:nvSpPr>
        <p:spPr>
          <a:xfrm>
            <a:off x="1028700" y="3760352"/>
            <a:ext cx="1795619" cy="1551019"/>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01</a:t>
            </a:r>
            <a:endParaRPr/>
          </a:p>
        </p:txBody>
      </p:sp>
      <p:sp>
        <p:nvSpPr>
          <p:cNvPr id="177" name="Google Shape;177;p21"/>
          <p:cNvSpPr txBox="1"/>
          <p:nvPr/>
        </p:nvSpPr>
        <p:spPr>
          <a:xfrm>
            <a:off x="6510629" y="3760352"/>
            <a:ext cx="2547552" cy="1551019"/>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02</a:t>
            </a:r>
            <a:endParaRPr/>
          </a:p>
        </p:txBody>
      </p:sp>
      <p:sp>
        <p:nvSpPr>
          <p:cNvPr id="178" name="Google Shape;178;p21"/>
          <p:cNvSpPr txBox="1"/>
          <p:nvPr/>
        </p:nvSpPr>
        <p:spPr>
          <a:xfrm>
            <a:off x="1160276" y="5282795"/>
            <a:ext cx="4833470" cy="1675183"/>
          </a:xfrm>
          <a:prstGeom prst="rect">
            <a:avLst/>
          </a:prstGeom>
          <a:noFill/>
          <a:ln>
            <a:noFill/>
          </a:ln>
        </p:spPr>
        <p:txBody>
          <a:bodyPr anchorCtr="0" anchor="t" bIns="0" lIns="0" spcFirstLastPara="1" rIns="0" wrap="square" tIns="0">
            <a:spAutoFit/>
          </a:bodyPr>
          <a:lstStyle/>
          <a:p>
            <a:pPr indent="0" lvl="0" marL="0" marR="0" rtl="0" algn="just">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Cada función de no terminal puede definirse de tal forma que recibe los atributos heredados como parámetros (si los hay) y retorna los atributos sintetizados como valor de retorno</a:t>
            </a:r>
            <a:endParaRPr/>
          </a:p>
        </p:txBody>
      </p:sp>
      <p:sp>
        <p:nvSpPr>
          <p:cNvPr id="179" name="Google Shape;179;p21"/>
          <p:cNvSpPr txBox="1"/>
          <p:nvPr/>
        </p:nvSpPr>
        <p:spPr>
          <a:xfrm>
            <a:off x="1028700" y="1151250"/>
            <a:ext cx="11484080" cy="2795270"/>
          </a:xfrm>
          <a:prstGeom prst="rect">
            <a:avLst/>
          </a:prstGeom>
          <a:noFill/>
          <a:ln>
            <a:noFill/>
          </a:ln>
        </p:spPr>
        <p:txBody>
          <a:bodyPr anchorCtr="0" anchor="t" bIns="0" lIns="0" spcFirstLastPara="1" rIns="0" wrap="square" tIns="0">
            <a:spAutoFit/>
          </a:bodyPr>
          <a:lstStyle/>
          <a:p>
            <a:pPr indent="0" lvl="0" marL="0" marR="0" rtl="0" algn="just">
              <a:lnSpc>
                <a:spcPct val="135023"/>
              </a:lnSpc>
              <a:spcBef>
                <a:spcPts val="0"/>
              </a:spcBef>
              <a:spcAft>
                <a:spcPts val="0"/>
              </a:spcAft>
              <a:buNone/>
            </a:pPr>
            <a:r>
              <a:rPr b="0" i="0" lang="en-US" sz="2801" u="none" cap="none" strike="noStrike">
                <a:solidFill>
                  <a:srgbClr val="FFFFFF"/>
                </a:solidFill>
                <a:latin typeface="Saira Light"/>
                <a:ea typeface="Saira Light"/>
                <a:cs typeface="Saira Light"/>
                <a:sym typeface="Saira Light"/>
              </a:rPr>
              <a:t>La esencia de traducción durante el análisis sintáctico de descenso recursivo es ampliar esas funciones del parser para que, además de verificar la sintaxis, realicen las acciones semánticas correspondientes. En lugar de simplemente devolver un valor o construir una estructura, pueden, por ejemplo, generar código o imprimir resultados conforme avanza el análisis.</a:t>
            </a:r>
            <a:endParaRPr/>
          </a:p>
        </p:txBody>
      </p:sp>
      <p:sp>
        <p:nvSpPr>
          <p:cNvPr id="180" name="Google Shape;180;p21"/>
          <p:cNvSpPr txBox="1"/>
          <p:nvPr/>
        </p:nvSpPr>
        <p:spPr>
          <a:xfrm>
            <a:off x="6510629" y="5282795"/>
            <a:ext cx="4833470" cy="2990965"/>
          </a:xfrm>
          <a:prstGeom prst="rect">
            <a:avLst/>
          </a:prstGeom>
          <a:noFill/>
          <a:ln>
            <a:noFill/>
          </a:ln>
        </p:spPr>
        <p:txBody>
          <a:bodyPr anchorCtr="0" anchor="t" bIns="0" lIns="0" spcFirstLastPara="1" rIns="0" wrap="square" tIns="0">
            <a:spAutoFit/>
          </a:bodyPr>
          <a:lstStyle/>
          <a:p>
            <a:pPr indent="0" lvl="0" marL="0" marR="0" rtl="0" algn="l">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En el cuerpo de la función (que corresponde a una producción gramatical específica), se insertan las operaciones necesarias para la traducción. Estas operaciones pueden incluir llamadas a funciones auxiliares para generar código, insertar información en la tabla de símbolos, efectuar cálculos, etc</a:t>
            </a:r>
            <a:endParaRPr/>
          </a:p>
        </p:txBody>
      </p:sp>
      <p:sp>
        <p:nvSpPr>
          <p:cNvPr id="181" name="Google Shape;181;p21"/>
          <p:cNvSpPr txBox="1"/>
          <p:nvPr/>
        </p:nvSpPr>
        <p:spPr>
          <a:xfrm>
            <a:off x="11989267" y="3760352"/>
            <a:ext cx="2667363" cy="1551019"/>
          </a:xfrm>
          <a:prstGeom prst="rect">
            <a:avLst/>
          </a:prstGeom>
          <a:noFill/>
          <a:ln>
            <a:noFill/>
          </a:ln>
        </p:spPr>
        <p:txBody>
          <a:bodyPr anchorCtr="0" anchor="t" bIns="0" lIns="0" spcFirstLastPara="1" rIns="0" wrap="square" tIns="0">
            <a:spAutoFit/>
          </a:bodyPr>
          <a:lstStyle/>
          <a:p>
            <a:pPr indent="0" lvl="0" marL="0" marR="0" rtl="0" algn="l">
              <a:lnSpc>
                <a:spcPct val="139995"/>
              </a:lnSpc>
              <a:spcBef>
                <a:spcPts val="0"/>
              </a:spcBef>
              <a:spcAft>
                <a:spcPts val="0"/>
              </a:spcAft>
              <a:buNone/>
            </a:pPr>
            <a:r>
              <a:rPr b="0" i="0" lang="en-US" sz="9061" u="none" cap="none" strike="noStrike">
                <a:solidFill>
                  <a:srgbClr val="8FE3FD"/>
                </a:solidFill>
                <a:latin typeface="Saira ExtraLight"/>
                <a:ea typeface="Saira ExtraLight"/>
                <a:cs typeface="Saira ExtraLight"/>
                <a:sym typeface="Saira ExtraLight"/>
              </a:rPr>
              <a:t>03</a:t>
            </a:r>
            <a:endParaRPr/>
          </a:p>
        </p:txBody>
      </p:sp>
      <p:sp>
        <p:nvSpPr>
          <p:cNvPr id="182" name="Google Shape;182;p21"/>
          <p:cNvSpPr txBox="1"/>
          <p:nvPr/>
        </p:nvSpPr>
        <p:spPr>
          <a:xfrm>
            <a:off x="11989267" y="5282795"/>
            <a:ext cx="4833470" cy="2324215"/>
          </a:xfrm>
          <a:prstGeom prst="rect">
            <a:avLst/>
          </a:prstGeom>
          <a:noFill/>
          <a:ln>
            <a:noFill/>
          </a:ln>
        </p:spPr>
        <p:txBody>
          <a:bodyPr anchorCtr="0" anchor="t" bIns="0" lIns="0" spcFirstLastPara="1" rIns="0" wrap="square" tIns="0">
            <a:spAutoFit/>
          </a:bodyPr>
          <a:lstStyle/>
          <a:p>
            <a:pPr indent="0" lvl="0" marL="0" marR="0" rtl="0" algn="l">
              <a:lnSpc>
                <a:spcPct val="135022"/>
              </a:lnSpc>
              <a:spcBef>
                <a:spcPts val="0"/>
              </a:spcBef>
              <a:spcAft>
                <a:spcPts val="0"/>
              </a:spcAft>
              <a:buNone/>
            </a:pPr>
            <a:r>
              <a:rPr b="0" i="0" lang="en-US" sz="1993" u="none" cap="none" strike="noStrike">
                <a:solidFill>
                  <a:srgbClr val="FFFFFF"/>
                </a:solidFill>
                <a:latin typeface="Saira Light"/>
                <a:ea typeface="Saira Light"/>
                <a:cs typeface="Saira Light"/>
                <a:sym typeface="Saira Light"/>
              </a:rPr>
              <a:t>Traducción en una pasada: Si la gramática es apropiada (p. ej., L-atributo), el analizador descendente puede garantizar que en el momento de ejecutar una acción semántica, todos los datos necesarios ya están disponibles.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86" name="Shape 186"/>
        <p:cNvGrpSpPr/>
        <p:nvPr/>
      </p:nvGrpSpPr>
      <p:grpSpPr>
        <a:xfrm>
          <a:off x="0" y="0"/>
          <a:ext cx="0" cy="0"/>
          <a:chOff x="0" y="0"/>
          <a:chExt cx="0" cy="0"/>
        </a:xfrm>
      </p:grpSpPr>
      <p:sp>
        <p:nvSpPr>
          <p:cNvPr id="187" name="Google Shape;187;p22"/>
          <p:cNvSpPr txBox="1"/>
          <p:nvPr/>
        </p:nvSpPr>
        <p:spPr>
          <a:xfrm>
            <a:off x="1732363" y="3325649"/>
            <a:ext cx="13439999" cy="5369843"/>
          </a:xfrm>
          <a:prstGeom prst="rect">
            <a:avLst/>
          </a:prstGeom>
          <a:noFill/>
          <a:ln>
            <a:noFill/>
          </a:ln>
        </p:spPr>
        <p:txBody>
          <a:bodyPr anchorCtr="0" anchor="t" bIns="0" lIns="0" spcFirstLastPara="1" rIns="0" wrap="square" tIns="0">
            <a:spAutoFit/>
          </a:bodyPr>
          <a:lstStyle/>
          <a:p>
            <a:pPr indent="0" lvl="0" marL="0" marR="0" rtl="0" algn="just">
              <a:lnSpc>
                <a:spcPct val="134988"/>
              </a:lnSpc>
              <a:spcBef>
                <a:spcPts val="0"/>
              </a:spcBef>
              <a:spcAft>
                <a:spcPts val="0"/>
              </a:spcAft>
              <a:buNone/>
            </a:pPr>
            <a:r>
              <a:rPr b="0" i="0" lang="en-US" sz="2618" u="none" cap="none" strike="noStrike">
                <a:solidFill>
                  <a:srgbClr val="FFFFFF"/>
                </a:solidFill>
                <a:latin typeface="Saira Light"/>
                <a:ea typeface="Saira Light"/>
                <a:cs typeface="Saira Light"/>
                <a:sym typeface="Saira Light"/>
              </a:rPr>
              <a:t>Es una representación gráfica de una gramática LL (predictiva) donde cada no terminal es un pequeño autómata dirigido con:</a:t>
            </a:r>
            <a:endParaRPr/>
          </a:p>
          <a:p>
            <a:pPr indent="-282664"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Un estado de entrada y un estado de aceptación.</a:t>
            </a:r>
            <a:endParaRPr/>
          </a:p>
          <a:p>
            <a:pPr indent="-293459" lvl="1" marL="586918" marR="0" rtl="0" algn="just">
              <a:lnSpc>
                <a:spcPct val="134988"/>
              </a:lnSpc>
              <a:spcBef>
                <a:spcPts val="0"/>
              </a:spcBef>
              <a:spcAft>
                <a:spcPts val="0"/>
              </a:spcAft>
              <a:buClr>
                <a:srgbClr val="FFFFFF"/>
              </a:buClr>
              <a:buSzPts val="2718"/>
              <a:buFont typeface="Arial"/>
              <a:buChar char="•"/>
            </a:pPr>
            <a:r>
              <a:rPr b="0" i="0" lang="en-US" sz="2718" u="none" cap="none" strike="noStrike">
                <a:solidFill>
                  <a:srgbClr val="FFFFFF"/>
                </a:solidFill>
                <a:latin typeface="Saira Light"/>
                <a:ea typeface="Saira Light"/>
                <a:cs typeface="Saira Light"/>
                <a:sym typeface="Saira Light"/>
              </a:rPr>
              <a:t>Arcos (transiciones) etiquetados por:</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Terminales → “consume” ese símbolo de entrada.</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No terminales → “llama” al diagrama de ese no terminal (subrutina).</a:t>
            </a:r>
            <a:endParaRPr/>
          </a:p>
          <a:p>
            <a:pPr indent="-376886" lvl="2" marL="1130658"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ε (epsilon) → transición vacía (no consume entrada).</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0" lvl="0" marL="0" marR="0" rtl="0" algn="just">
              <a:lnSpc>
                <a:spcPct val="134988"/>
              </a:lnSpc>
              <a:spcBef>
                <a:spcPts val="0"/>
              </a:spcBef>
              <a:spcAft>
                <a:spcPts val="0"/>
              </a:spcAft>
              <a:buNone/>
            </a:pPr>
            <a:r>
              <a:rPr b="0" i="0" lang="en-US" sz="2618" u="none" cap="none" strike="noStrike">
                <a:solidFill>
                  <a:srgbClr val="FFFFFF"/>
                </a:solidFill>
                <a:latin typeface="Saira Light"/>
                <a:ea typeface="Saira Light"/>
                <a:cs typeface="Saira Light"/>
                <a:sym typeface="Saira Light"/>
              </a:rPr>
              <a:t>Es equivalente a una tabla LL(1) pero más visual: cada producción A → X₁ X₂ … Xₖ se convierte en un camino desde A_in a A_out con arcos por X₁, X₂, …, Xₖ; las alternativas ramifican desde A_in y vuelven a A_out.</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p:txBody>
      </p:sp>
      <p:sp>
        <p:nvSpPr>
          <p:cNvPr id="188" name="Google Shape;188;p22"/>
          <p:cNvSpPr txBox="1"/>
          <p:nvPr/>
        </p:nvSpPr>
        <p:spPr>
          <a:xfrm>
            <a:off x="1732363" y="1633435"/>
            <a:ext cx="11279132" cy="1218687"/>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None/>
            </a:pPr>
            <a:r>
              <a:rPr b="0" i="0" lang="en-US" sz="7145" u="none" cap="none" strike="noStrike">
                <a:solidFill>
                  <a:srgbClr val="FFFFFF"/>
                </a:solidFill>
                <a:latin typeface="Arial"/>
                <a:ea typeface="Arial"/>
                <a:cs typeface="Arial"/>
                <a:sym typeface="Arial"/>
              </a:rPr>
              <a:t>Diagrama de transición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92" name="Shape 192"/>
        <p:cNvGrpSpPr/>
        <p:nvPr/>
      </p:nvGrpSpPr>
      <p:grpSpPr>
        <a:xfrm>
          <a:off x="0" y="0"/>
          <a:ext cx="0" cy="0"/>
          <a:chOff x="0" y="0"/>
          <a:chExt cx="0" cy="0"/>
        </a:xfrm>
      </p:grpSpPr>
      <p:sp>
        <p:nvSpPr>
          <p:cNvPr id="193" name="Google Shape;193;p23"/>
          <p:cNvSpPr txBox="1"/>
          <p:nvPr/>
        </p:nvSpPr>
        <p:spPr>
          <a:xfrm>
            <a:off x="4318587" y="839764"/>
            <a:ext cx="9650826" cy="1218688"/>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b="0" i="0" lang="en-US" sz="7145" u="none" cap="none" strike="noStrike">
                <a:solidFill>
                  <a:srgbClr val="FFFFFF"/>
                </a:solidFill>
                <a:latin typeface="Arial"/>
                <a:ea typeface="Arial"/>
                <a:cs typeface="Arial"/>
                <a:sym typeface="Arial"/>
              </a:rPr>
              <a:t>¿Para qué sirven?</a:t>
            </a:r>
            <a:endParaRPr/>
          </a:p>
        </p:txBody>
      </p:sp>
      <p:sp>
        <p:nvSpPr>
          <p:cNvPr id="194" name="Google Shape;194;p23"/>
          <p:cNvSpPr txBox="1"/>
          <p:nvPr/>
        </p:nvSpPr>
        <p:spPr>
          <a:xfrm>
            <a:off x="2424001" y="2353727"/>
            <a:ext cx="13439999" cy="3052714"/>
          </a:xfrm>
          <a:prstGeom prst="rect">
            <a:avLst/>
          </a:prstGeom>
          <a:noFill/>
          <a:ln>
            <a:noFill/>
          </a:ln>
        </p:spPr>
        <p:txBody>
          <a:bodyPr anchorCtr="0" anchor="t" bIns="0" lIns="0" spcFirstLastPara="1" rIns="0" wrap="square" tIns="0">
            <a:spAutoFit/>
          </a:bodyPr>
          <a:lstStyle/>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explicar y construir parsers predictivos de forma gráfica.</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simular el análisis LL(1) sin tablas, decidiendo qué alternativa tomar con el lookahead (primer token por leer).</a:t>
            </a:r>
            <a:endParaRPr/>
          </a:p>
          <a:p>
            <a:pPr indent="0" lvl="0" marL="0" marR="0" rtl="0" algn="just">
              <a:lnSpc>
                <a:spcPct val="134988"/>
              </a:lnSpc>
              <a:spcBef>
                <a:spcPts val="0"/>
              </a:spcBef>
              <a:spcAft>
                <a:spcPts val="0"/>
              </a:spcAft>
              <a:buNone/>
            </a:pPr>
            <a:r>
              <a:t/>
            </a:r>
            <a:endParaRPr b="0" i="0" sz="2618" u="none" cap="none" strike="noStrike">
              <a:solidFill>
                <a:srgbClr val="FFFFFF"/>
              </a:solidFill>
              <a:latin typeface="Saira Light"/>
              <a:ea typeface="Saira Light"/>
              <a:cs typeface="Saira Light"/>
              <a:sym typeface="Saira Light"/>
            </a:endParaRPr>
          </a:p>
          <a:p>
            <a:pPr indent="-282665" lvl="1" marL="565329" marR="0" rtl="0" algn="just">
              <a:lnSpc>
                <a:spcPct val="134988"/>
              </a:lnSpc>
              <a:spcBef>
                <a:spcPts val="0"/>
              </a:spcBef>
              <a:spcAft>
                <a:spcPts val="0"/>
              </a:spcAft>
              <a:buClr>
                <a:srgbClr val="FFFFFF"/>
              </a:buClr>
              <a:buSzPts val="2618"/>
              <a:buFont typeface="Arial"/>
              <a:buChar char="•"/>
            </a:pPr>
            <a:r>
              <a:rPr b="0" i="0" lang="en-US" sz="2618" u="none" cap="none" strike="noStrike">
                <a:solidFill>
                  <a:srgbClr val="FFFFFF"/>
                </a:solidFill>
                <a:latin typeface="Saira Light"/>
                <a:ea typeface="Saira Light"/>
                <a:cs typeface="Saira Light"/>
                <a:sym typeface="Saira Light"/>
              </a:rPr>
              <a:t>Para enseñar FIRST/FOLLOW y cómo ε-transiciones representan producciones vacías.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198" name="Shape 198"/>
        <p:cNvGrpSpPr/>
        <p:nvPr/>
      </p:nvGrpSpPr>
      <p:grpSpPr>
        <a:xfrm>
          <a:off x="0" y="0"/>
          <a:ext cx="0" cy="0"/>
          <a:chOff x="0" y="0"/>
          <a:chExt cx="0" cy="0"/>
        </a:xfrm>
      </p:grpSpPr>
      <p:grpSp>
        <p:nvGrpSpPr>
          <p:cNvPr id="199" name="Google Shape;199;p24"/>
          <p:cNvGrpSpPr/>
          <p:nvPr/>
        </p:nvGrpSpPr>
        <p:grpSpPr>
          <a:xfrm>
            <a:off x="9144000" y="327141"/>
            <a:ext cx="8486935" cy="9272672"/>
            <a:chOff x="0" y="-47625"/>
            <a:chExt cx="2235242" cy="2442185"/>
          </a:xfrm>
        </p:grpSpPr>
        <p:sp>
          <p:nvSpPr>
            <p:cNvPr id="200" name="Google Shape;200;p24"/>
            <p:cNvSpPr/>
            <p:nvPr/>
          </p:nvSpPr>
          <p:spPr>
            <a:xfrm>
              <a:off x="0" y="0"/>
              <a:ext cx="2235242" cy="2394560"/>
            </a:xfrm>
            <a:custGeom>
              <a:rect b="b" l="l" r="r" t="t"/>
              <a:pathLst>
                <a:path extrusionOk="0" h="2394560" w="2235242">
                  <a:moveTo>
                    <a:pt x="0" y="0"/>
                  </a:moveTo>
                  <a:lnTo>
                    <a:pt x="2235242" y="0"/>
                  </a:lnTo>
                  <a:lnTo>
                    <a:pt x="2235242" y="2394560"/>
                  </a:lnTo>
                  <a:lnTo>
                    <a:pt x="0" y="2394560"/>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01" name="Google Shape;201;p24"/>
            <p:cNvSpPr txBox="1"/>
            <p:nvPr/>
          </p:nvSpPr>
          <p:spPr>
            <a:xfrm>
              <a:off x="0" y="-47625"/>
              <a:ext cx="2235242" cy="2442185"/>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2" name="Google Shape;202;p24"/>
          <p:cNvSpPr txBox="1"/>
          <p:nvPr/>
        </p:nvSpPr>
        <p:spPr>
          <a:xfrm>
            <a:off x="960697" y="3895934"/>
            <a:ext cx="7000812" cy="5802355"/>
          </a:xfrm>
          <a:prstGeom prst="rect">
            <a:avLst/>
          </a:prstGeom>
          <a:noFill/>
          <a:ln>
            <a:noFill/>
          </a:ln>
        </p:spPr>
        <p:txBody>
          <a:bodyPr anchorCtr="0" anchor="t" bIns="0" lIns="0" spcFirstLastPara="1" rIns="0" wrap="square" tIns="0">
            <a:spAutoFit/>
          </a:bodyPr>
          <a:lstStyle/>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E  → T E'</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E' → '+' T E'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 T E'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ε</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T  → F T'</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T' → '*' F T'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ε</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F  → '(' E ')' </a:t>
            </a:r>
            <a:endParaRPr/>
          </a:p>
          <a:p>
            <a:pPr indent="0" lvl="0" marL="0" marR="0" rtl="0" algn="l">
              <a:lnSpc>
                <a:spcPct val="135002"/>
              </a:lnSpc>
              <a:spcBef>
                <a:spcPts val="0"/>
              </a:spcBef>
              <a:spcAft>
                <a:spcPts val="0"/>
              </a:spcAft>
              <a:buNone/>
            </a:pPr>
            <a:r>
              <a:rPr b="0" i="0" lang="en-US" sz="3414" u="none" cap="none" strike="noStrike">
                <a:solidFill>
                  <a:srgbClr val="FFFFFF"/>
                </a:solidFill>
                <a:latin typeface="Saira Light"/>
                <a:ea typeface="Saira Light"/>
                <a:cs typeface="Saira Light"/>
                <a:sym typeface="Saira Light"/>
              </a:rPr>
              <a:t>        | id</a:t>
            </a:r>
            <a:endParaRPr/>
          </a:p>
          <a:p>
            <a:pPr indent="0" lvl="0" marL="0" marR="0" rtl="0" algn="l">
              <a:lnSpc>
                <a:spcPct val="135002"/>
              </a:lnSpc>
              <a:spcBef>
                <a:spcPts val="0"/>
              </a:spcBef>
              <a:spcAft>
                <a:spcPts val="0"/>
              </a:spcAft>
              <a:buNone/>
            </a:pPr>
            <a:r>
              <a:t/>
            </a:r>
            <a:endParaRPr b="0" i="0" sz="3414" u="none" cap="none" strike="noStrike">
              <a:solidFill>
                <a:srgbClr val="FFFFFF"/>
              </a:solidFill>
              <a:latin typeface="Saira Light"/>
              <a:ea typeface="Saira Light"/>
              <a:cs typeface="Saira Light"/>
              <a:sym typeface="Saira Light"/>
            </a:endParaRPr>
          </a:p>
        </p:txBody>
      </p:sp>
      <p:sp>
        <p:nvSpPr>
          <p:cNvPr id="203" name="Google Shape;203;p24"/>
          <p:cNvSpPr/>
          <p:nvPr/>
        </p:nvSpPr>
        <p:spPr>
          <a:xfrm>
            <a:off x="9468324" y="1028700"/>
            <a:ext cx="6593772" cy="2027309"/>
          </a:xfrm>
          <a:custGeom>
            <a:rect b="b" l="l" r="r" t="t"/>
            <a:pathLst>
              <a:path extrusionOk="0" h="2027309" w="6593772">
                <a:moveTo>
                  <a:pt x="0" y="0"/>
                </a:moveTo>
                <a:lnTo>
                  <a:pt x="6593772" y="0"/>
                </a:lnTo>
                <a:lnTo>
                  <a:pt x="6593772" y="2027309"/>
                </a:lnTo>
                <a:lnTo>
                  <a:pt x="0" y="2027309"/>
                </a:lnTo>
                <a:lnTo>
                  <a:pt x="0" y="0"/>
                </a:lnTo>
                <a:close/>
              </a:path>
            </a:pathLst>
          </a:custGeom>
          <a:blipFill rotWithShape="1">
            <a:blip r:embed="rId3">
              <a:alphaModFix/>
            </a:blip>
            <a:stretch>
              <a:fillRect b="0" l="0" r="0" t="0"/>
            </a:stretch>
          </a:blipFill>
          <a:ln>
            <a:noFill/>
          </a:ln>
        </p:spPr>
      </p:sp>
      <p:sp>
        <p:nvSpPr>
          <p:cNvPr id="204" name="Google Shape;204;p24"/>
          <p:cNvSpPr/>
          <p:nvPr/>
        </p:nvSpPr>
        <p:spPr>
          <a:xfrm>
            <a:off x="9468324" y="3716739"/>
            <a:ext cx="7790976" cy="2844887"/>
          </a:xfrm>
          <a:custGeom>
            <a:rect b="b" l="l" r="r" t="t"/>
            <a:pathLst>
              <a:path extrusionOk="0" h="2844887" w="7790976">
                <a:moveTo>
                  <a:pt x="0" y="0"/>
                </a:moveTo>
                <a:lnTo>
                  <a:pt x="7790976" y="0"/>
                </a:lnTo>
                <a:lnTo>
                  <a:pt x="7790976" y="2844886"/>
                </a:lnTo>
                <a:lnTo>
                  <a:pt x="0" y="2844886"/>
                </a:lnTo>
                <a:lnTo>
                  <a:pt x="0" y="0"/>
                </a:lnTo>
                <a:close/>
              </a:path>
            </a:pathLst>
          </a:custGeom>
          <a:blipFill rotWithShape="1">
            <a:blip r:embed="rId4">
              <a:alphaModFix/>
            </a:blip>
            <a:stretch>
              <a:fillRect b="0" l="0" r="0" t="0"/>
            </a:stretch>
          </a:blipFill>
          <a:ln>
            <a:noFill/>
          </a:ln>
        </p:spPr>
      </p:sp>
      <p:sp>
        <p:nvSpPr>
          <p:cNvPr id="205" name="Google Shape;205;p24"/>
          <p:cNvSpPr txBox="1"/>
          <p:nvPr/>
        </p:nvSpPr>
        <p:spPr>
          <a:xfrm>
            <a:off x="892694" y="2544781"/>
            <a:ext cx="7136818" cy="1296656"/>
          </a:xfrm>
          <a:prstGeom prst="rect">
            <a:avLst/>
          </a:prstGeom>
          <a:noFill/>
          <a:ln>
            <a:noFill/>
          </a:ln>
        </p:spPr>
        <p:txBody>
          <a:bodyPr anchorCtr="0" anchor="t" bIns="0" lIns="0" spcFirstLastPara="1" rIns="0" wrap="square" tIns="0">
            <a:spAutoFit/>
          </a:bodyPr>
          <a:lstStyle/>
          <a:p>
            <a:pPr indent="0" lvl="0" marL="0" marR="0" rtl="0" algn="l">
              <a:lnSpc>
                <a:spcPct val="140010"/>
              </a:lnSpc>
              <a:spcBef>
                <a:spcPts val="0"/>
              </a:spcBef>
              <a:spcAft>
                <a:spcPts val="0"/>
              </a:spcAft>
              <a:buNone/>
            </a:pPr>
            <a:r>
              <a:rPr b="0" i="0" lang="en-US" sz="7598" u="none" cap="none" strike="noStrike">
                <a:solidFill>
                  <a:srgbClr val="8FE3FD"/>
                </a:solidFill>
                <a:latin typeface="Arial"/>
                <a:ea typeface="Arial"/>
                <a:cs typeface="Arial"/>
                <a:sym typeface="Arial"/>
              </a:rPr>
              <a:t>Ejemplo</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09" name="Shape 209"/>
        <p:cNvGrpSpPr/>
        <p:nvPr/>
      </p:nvGrpSpPr>
      <p:grpSpPr>
        <a:xfrm>
          <a:off x="0" y="0"/>
          <a:ext cx="0" cy="0"/>
          <a:chOff x="0" y="0"/>
          <a:chExt cx="0" cy="0"/>
        </a:xfrm>
      </p:grpSpPr>
      <p:sp>
        <p:nvSpPr>
          <p:cNvPr id="210" name="Google Shape;210;p25"/>
          <p:cNvSpPr txBox="1"/>
          <p:nvPr/>
        </p:nvSpPr>
        <p:spPr>
          <a:xfrm>
            <a:off x="3380402" y="4786651"/>
            <a:ext cx="11882856" cy="2038350"/>
          </a:xfrm>
          <a:prstGeom prst="rect">
            <a:avLst/>
          </a:prstGeom>
          <a:noFill/>
          <a:ln>
            <a:noFill/>
          </a:ln>
        </p:spPr>
        <p:txBody>
          <a:bodyPr anchorCtr="0" anchor="t" bIns="0" lIns="0" spcFirstLastPara="1" rIns="0" wrap="square" tIns="0">
            <a:spAutoFit/>
          </a:bodyPr>
          <a:lstStyle/>
          <a:p>
            <a:pPr indent="0" lvl="0" marL="0" marR="0" rtl="0" algn="ctr">
              <a:lnSpc>
                <a:spcPct val="135000"/>
              </a:lnSpc>
              <a:spcBef>
                <a:spcPts val="0"/>
              </a:spcBef>
              <a:spcAft>
                <a:spcPts val="0"/>
              </a:spcAft>
              <a:buNone/>
            </a:pPr>
            <a:r>
              <a:rPr b="0" i="0" lang="en-US" sz="3000" u="none" cap="none" strike="noStrike">
                <a:solidFill>
                  <a:srgbClr val="FFFFFF"/>
                </a:solidFill>
                <a:latin typeface="Saira Light"/>
                <a:ea typeface="Saira Light"/>
                <a:cs typeface="Saira Light"/>
                <a:sym typeface="Saira Light"/>
              </a:rPr>
              <a:t>Es una estructura de datos mantenida por el compilador durante la compilación, que asocia a cada símbolo (identificador) información relevante: nombre (lexema), tipo de dato, ámbito o alcance, dirección de memoria asignada, etc.</a:t>
            </a:r>
            <a:endParaRPr/>
          </a:p>
        </p:txBody>
      </p:sp>
      <p:sp>
        <p:nvSpPr>
          <p:cNvPr id="211" name="Google Shape;211;p25"/>
          <p:cNvSpPr txBox="1"/>
          <p:nvPr/>
        </p:nvSpPr>
        <p:spPr>
          <a:xfrm>
            <a:off x="3025997" y="2798621"/>
            <a:ext cx="12591666" cy="1708151"/>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9999" u="none" cap="none" strike="noStrike">
                <a:solidFill>
                  <a:srgbClr val="FFFFFF"/>
                </a:solidFill>
                <a:latin typeface="Arial"/>
                <a:ea typeface="Arial"/>
                <a:cs typeface="Arial"/>
                <a:sym typeface="Arial"/>
              </a:rPr>
              <a:t>Tabla de Símbolos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15" name="Shape 215"/>
        <p:cNvGrpSpPr/>
        <p:nvPr/>
      </p:nvGrpSpPr>
      <p:grpSpPr>
        <a:xfrm>
          <a:off x="0" y="0"/>
          <a:ext cx="0" cy="0"/>
          <a:chOff x="0" y="0"/>
          <a:chExt cx="0" cy="0"/>
        </a:xfrm>
      </p:grpSpPr>
      <p:sp>
        <p:nvSpPr>
          <p:cNvPr id="216" name="Google Shape;216;p26"/>
          <p:cNvSpPr txBox="1"/>
          <p:nvPr/>
        </p:nvSpPr>
        <p:spPr>
          <a:xfrm>
            <a:off x="1136266" y="1116313"/>
            <a:ext cx="8884764" cy="1046038"/>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en-US" sz="6128" u="none" cap="none" strike="noStrike">
                <a:solidFill>
                  <a:srgbClr val="FFFFFF"/>
                </a:solidFill>
                <a:latin typeface="Arial"/>
                <a:ea typeface="Arial"/>
                <a:cs typeface="Arial"/>
                <a:sym typeface="Arial"/>
              </a:rPr>
              <a:t>Tabla de Símbolos</a:t>
            </a:r>
            <a:endParaRPr/>
          </a:p>
        </p:txBody>
      </p:sp>
      <p:sp>
        <p:nvSpPr>
          <p:cNvPr id="217" name="Google Shape;217;p26"/>
          <p:cNvSpPr txBox="1"/>
          <p:nvPr/>
        </p:nvSpPr>
        <p:spPr>
          <a:xfrm>
            <a:off x="1136266" y="2447464"/>
            <a:ext cx="14743364" cy="1460500"/>
          </a:xfrm>
          <a:prstGeom prst="rect">
            <a:avLst/>
          </a:prstGeom>
          <a:noFill/>
          <a:ln>
            <a:noFill/>
          </a:ln>
        </p:spPr>
        <p:txBody>
          <a:bodyPr anchorCtr="0" anchor="t" bIns="0" lIns="0" spcFirstLastPara="1" rIns="0" wrap="square" tIns="0">
            <a:spAutoFit/>
          </a:bodyPr>
          <a:lstStyle/>
          <a:p>
            <a:pPr indent="0" lvl="1" marL="0" marR="0" rtl="0" algn="ctr">
              <a:lnSpc>
                <a:spcPct val="158023"/>
              </a:lnSpc>
              <a:spcBef>
                <a:spcPts val="0"/>
              </a:spcBef>
              <a:spcAft>
                <a:spcPts val="0"/>
              </a:spcAft>
              <a:buNone/>
            </a:pPr>
            <a:r>
              <a:rPr b="0" i="0" lang="en-US" sz="2499" u="none" cap="none" strike="noStrike">
                <a:solidFill>
                  <a:srgbClr val="FFFFFF"/>
                </a:solidFill>
                <a:latin typeface="Arial"/>
                <a:ea typeface="Arial"/>
                <a:cs typeface="Arial"/>
                <a:sym typeface="Arial"/>
              </a:rPr>
              <a:t>Las fases de análisis llenan la tabla con nuevos símbolos y tipos, mientras que las fases de síntesis (optimización, generación de código) consultan la tabla para producir código máquina correcto</a:t>
            </a:r>
            <a:endParaRPr/>
          </a:p>
        </p:txBody>
      </p:sp>
      <p:grpSp>
        <p:nvGrpSpPr>
          <p:cNvPr id="218" name="Google Shape;218;p26"/>
          <p:cNvGrpSpPr/>
          <p:nvPr/>
        </p:nvGrpSpPr>
        <p:grpSpPr>
          <a:xfrm>
            <a:off x="1326479" y="5193880"/>
            <a:ext cx="426853" cy="426853"/>
            <a:chOff x="0" y="0"/>
            <a:chExt cx="812800" cy="812800"/>
          </a:xfrm>
        </p:grpSpPr>
        <p:sp>
          <p:nvSpPr>
            <p:cNvPr id="219" name="Google Shape;219;p2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2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1" name="Google Shape;221;p26"/>
          <p:cNvSpPr txBox="1"/>
          <p:nvPr/>
        </p:nvSpPr>
        <p:spPr>
          <a:xfrm>
            <a:off x="1880765" y="5143500"/>
            <a:ext cx="7356753"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Información típica almacenada</a:t>
            </a:r>
            <a:endParaRPr/>
          </a:p>
        </p:txBody>
      </p:sp>
      <p:sp>
        <p:nvSpPr>
          <p:cNvPr id="222" name="Google Shape;222;p26"/>
          <p:cNvSpPr txBox="1"/>
          <p:nvPr/>
        </p:nvSpPr>
        <p:spPr>
          <a:xfrm>
            <a:off x="1326479" y="5787394"/>
            <a:ext cx="6983811" cy="2463800"/>
          </a:xfrm>
          <a:prstGeom prst="rect">
            <a:avLst/>
          </a:prstGeom>
          <a:noFill/>
          <a:ln>
            <a:noFill/>
          </a:ln>
        </p:spPr>
        <p:txBody>
          <a:bodyPr anchorCtr="0" anchor="t" bIns="0" lIns="0" spcFirstLastPara="1" rIns="0" wrap="square" tIns="0">
            <a:spAutoFit/>
          </a:bodyPr>
          <a:lstStyle/>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Nombre del identificador, tipo de dato (ej. int, float, char)</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Ámbito (global o nivel de anidamiento donde fue declarado)</a:t>
            </a:r>
            <a:endParaRPr/>
          </a:p>
          <a:p>
            <a:pPr indent="-215901" lvl="1" marL="431802" marR="0" rtl="0" algn="l">
              <a:lnSpc>
                <a:spcPct val="140000"/>
              </a:lnSpc>
              <a:spcBef>
                <a:spcPts val="0"/>
              </a:spcBef>
              <a:spcAft>
                <a:spcPts val="0"/>
              </a:spcAft>
              <a:buClr>
                <a:srgbClr val="FFFFFF"/>
              </a:buClr>
              <a:buSzPts val="2000"/>
              <a:buFont typeface="Arial"/>
              <a:buChar char="•"/>
            </a:pPr>
            <a:r>
              <a:rPr b="0" i="0" lang="en-US" sz="2000" u="none" cap="none" strike="noStrike">
                <a:solidFill>
                  <a:srgbClr val="FFFFFF"/>
                </a:solidFill>
                <a:latin typeface="Arial"/>
                <a:ea typeface="Arial"/>
                <a:cs typeface="Arial"/>
                <a:sym typeface="Arial"/>
              </a:rPr>
              <a:t>Dirección de memoria o desplazamiento, y dependiendo del caso, otros atributos semánticos</a:t>
            </a:r>
            <a:endParaRPr/>
          </a:p>
        </p:txBody>
      </p:sp>
      <p:sp>
        <p:nvSpPr>
          <p:cNvPr id="223" name="Google Shape;223;p26"/>
          <p:cNvSpPr txBox="1"/>
          <p:nvPr/>
        </p:nvSpPr>
        <p:spPr>
          <a:xfrm>
            <a:off x="8705606" y="5787394"/>
            <a:ext cx="6983811" cy="21113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En compiladores de lenguajes con varios bloques o funciones, a menudo se maneja una pila de tablas de símbolos: una tabla para el ámbito global y tablas separadas para cada función o bloque, entrando y saliendo de ellas según el alcance de las declaraciones.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27" name="Shape 227"/>
        <p:cNvGrpSpPr/>
        <p:nvPr/>
      </p:nvGrpSpPr>
      <p:grpSpPr>
        <a:xfrm>
          <a:off x="0" y="0"/>
          <a:ext cx="0" cy="0"/>
          <a:chOff x="0" y="0"/>
          <a:chExt cx="0" cy="0"/>
        </a:xfrm>
      </p:grpSpPr>
      <p:grpSp>
        <p:nvGrpSpPr>
          <p:cNvPr id="228" name="Google Shape;228;p27"/>
          <p:cNvGrpSpPr/>
          <p:nvPr/>
        </p:nvGrpSpPr>
        <p:grpSpPr>
          <a:xfrm>
            <a:off x="1028700" y="2610441"/>
            <a:ext cx="13616030" cy="5306975"/>
            <a:chOff x="0" y="-47625"/>
            <a:chExt cx="3586115" cy="1397722"/>
          </a:xfrm>
        </p:grpSpPr>
        <p:sp>
          <p:nvSpPr>
            <p:cNvPr id="229" name="Google Shape;229;p27"/>
            <p:cNvSpPr/>
            <p:nvPr/>
          </p:nvSpPr>
          <p:spPr>
            <a:xfrm>
              <a:off x="0" y="0"/>
              <a:ext cx="3586115" cy="1350097"/>
            </a:xfrm>
            <a:custGeom>
              <a:rect b="b" l="l" r="r" t="t"/>
              <a:pathLst>
                <a:path extrusionOk="0" h="1350097" w="3586115">
                  <a:moveTo>
                    <a:pt x="0" y="0"/>
                  </a:moveTo>
                  <a:lnTo>
                    <a:pt x="3586115" y="0"/>
                  </a:lnTo>
                  <a:lnTo>
                    <a:pt x="3586115" y="1350097"/>
                  </a:lnTo>
                  <a:lnTo>
                    <a:pt x="0" y="135009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30" name="Google Shape;230;p27"/>
            <p:cNvSpPr txBox="1"/>
            <p:nvPr/>
          </p:nvSpPr>
          <p:spPr>
            <a:xfrm>
              <a:off x="0" y="-47625"/>
              <a:ext cx="3586115" cy="139772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27"/>
          <p:cNvSpPr txBox="1"/>
          <p:nvPr/>
        </p:nvSpPr>
        <p:spPr>
          <a:xfrm>
            <a:off x="1028700" y="1706528"/>
            <a:ext cx="9630740" cy="88667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Ejemplo</a:t>
            </a:r>
            <a:endParaRPr/>
          </a:p>
        </p:txBody>
      </p:sp>
      <p:sp>
        <p:nvSpPr>
          <p:cNvPr id="232" name="Google Shape;232;p27"/>
          <p:cNvSpPr txBox="1"/>
          <p:nvPr/>
        </p:nvSpPr>
        <p:spPr>
          <a:xfrm>
            <a:off x="4539046" y="8069817"/>
            <a:ext cx="7327265" cy="463564"/>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n-US" sz="2749" u="none" cap="none" strike="noStrike">
                <a:solidFill>
                  <a:srgbClr val="FFFFFF"/>
                </a:solidFill>
                <a:latin typeface="Saira"/>
                <a:ea typeface="Saira"/>
                <a:cs typeface="Saira"/>
                <a:sym typeface="Saira"/>
              </a:rPr>
              <a:t>Se crea el ámbito anidado (bloque de función)</a:t>
            </a:r>
            <a:endParaRPr/>
          </a:p>
        </p:txBody>
      </p:sp>
      <p:sp>
        <p:nvSpPr>
          <p:cNvPr id="233" name="Google Shape;233;p27"/>
          <p:cNvSpPr/>
          <p:nvPr/>
        </p:nvSpPr>
        <p:spPr>
          <a:xfrm>
            <a:off x="1696623" y="3122409"/>
            <a:ext cx="12280184" cy="4463865"/>
          </a:xfrm>
          <a:custGeom>
            <a:rect b="b" l="l" r="r" t="t"/>
            <a:pathLst>
              <a:path extrusionOk="0" h="4463865" w="12280184">
                <a:moveTo>
                  <a:pt x="0" y="0"/>
                </a:moveTo>
                <a:lnTo>
                  <a:pt x="12280184" y="0"/>
                </a:lnTo>
                <a:lnTo>
                  <a:pt x="12280184" y="4463865"/>
                </a:lnTo>
                <a:lnTo>
                  <a:pt x="0" y="4463865"/>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37" name="Shape 237"/>
        <p:cNvGrpSpPr/>
        <p:nvPr/>
      </p:nvGrpSpPr>
      <p:grpSpPr>
        <a:xfrm>
          <a:off x="0" y="0"/>
          <a:ext cx="0" cy="0"/>
          <a:chOff x="0" y="0"/>
          <a:chExt cx="0" cy="0"/>
        </a:xfrm>
      </p:grpSpPr>
      <p:grpSp>
        <p:nvGrpSpPr>
          <p:cNvPr id="238" name="Google Shape;238;p28"/>
          <p:cNvGrpSpPr/>
          <p:nvPr/>
        </p:nvGrpSpPr>
        <p:grpSpPr>
          <a:xfrm>
            <a:off x="1028700" y="2610441"/>
            <a:ext cx="13616030" cy="5306975"/>
            <a:chOff x="0" y="-47625"/>
            <a:chExt cx="3586115" cy="1397722"/>
          </a:xfrm>
        </p:grpSpPr>
        <p:sp>
          <p:nvSpPr>
            <p:cNvPr id="239" name="Google Shape;239;p28"/>
            <p:cNvSpPr/>
            <p:nvPr/>
          </p:nvSpPr>
          <p:spPr>
            <a:xfrm>
              <a:off x="0" y="0"/>
              <a:ext cx="3586115" cy="1350097"/>
            </a:xfrm>
            <a:custGeom>
              <a:rect b="b" l="l" r="r" t="t"/>
              <a:pathLst>
                <a:path extrusionOk="0" h="1350097" w="3586115">
                  <a:moveTo>
                    <a:pt x="0" y="0"/>
                  </a:moveTo>
                  <a:lnTo>
                    <a:pt x="3586115" y="0"/>
                  </a:lnTo>
                  <a:lnTo>
                    <a:pt x="3586115" y="1350097"/>
                  </a:lnTo>
                  <a:lnTo>
                    <a:pt x="0" y="1350097"/>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40" name="Google Shape;240;p28"/>
            <p:cNvSpPr txBox="1"/>
            <p:nvPr/>
          </p:nvSpPr>
          <p:spPr>
            <a:xfrm>
              <a:off x="0" y="-47625"/>
              <a:ext cx="3586115" cy="1397722"/>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1" name="Google Shape;241;p28"/>
          <p:cNvSpPr txBox="1"/>
          <p:nvPr/>
        </p:nvSpPr>
        <p:spPr>
          <a:xfrm>
            <a:off x="1028700" y="1706528"/>
            <a:ext cx="9630740" cy="88667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5207" u="none" cap="none" strike="noStrike">
                <a:solidFill>
                  <a:srgbClr val="FFFFFF"/>
                </a:solidFill>
                <a:latin typeface="Arial"/>
                <a:ea typeface="Arial"/>
                <a:cs typeface="Arial"/>
                <a:sym typeface="Arial"/>
              </a:rPr>
              <a:t>Ejemplo</a:t>
            </a:r>
            <a:endParaRPr/>
          </a:p>
        </p:txBody>
      </p:sp>
      <p:sp>
        <p:nvSpPr>
          <p:cNvPr id="242" name="Google Shape;242;p28"/>
          <p:cNvSpPr/>
          <p:nvPr/>
        </p:nvSpPr>
        <p:spPr>
          <a:xfrm>
            <a:off x="2097361" y="3159939"/>
            <a:ext cx="11478707" cy="4390762"/>
          </a:xfrm>
          <a:custGeom>
            <a:rect b="b" l="l" r="r" t="t"/>
            <a:pathLst>
              <a:path extrusionOk="0" h="4390762" w="11478707">
                <a:moveTo>
                  <a:pt x="0" y="0"/>
                </a:moveTo>
                <a:lnTo>
                  <a:pt x="11478708" y="0"/>
                </a:lnTo>
                <a:lnTo>
                  <a:pt x="11478708" y="4390762"/>
                </a:lnTo>
                <a:lnTo>
                  <a:pt x="0" y="439076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46" name="Shape 246"/>
        <p:cNvGrpSpPr/>
        <p:nvPr/>
      </p:nvGrpSpPr>
      <p:grpSpPr>
        <a:xfrm>
          <a:off x="0" y="0"/>
          <a:ext cx="0" cy="0"/>
          <a:chOff x="0" y="0"/>
          <a:chExt cx="0" cy="0"/>
        </a:xfrm>
      </p:grpSpPr>
      <p:sp>
        <p:nvSpPr>
          <p:cNvPr id="247" name="Google Shape;247;p29"/>
          <p:cNvSpPr txBox="1"/>
          <p:nvPr/>
        </p:nvSpPr>
        <p:spPr>
          <a:xfrm>
            <a:off x="1840643" y="5105400"/>
            <a:ext cx="14606713" cy="2038350"/>
          </a:xfrm>
          <a:prstGeom prst="rect">
            <a:avLst/>
          </a:prstGeom>
          <a:noFill/>
          <a:ln>
            <a:noFill/>
          </a:ln>
        </p:spPr>
        <p:txBody>
          <a:bodyPr anchorCtr="0" anchor="t" bIns="0" lIns="0" spcFirstLastPara="1" rIns="0" wrap="square" tIns="0">
            <a:spAutoFit/>
          </a:bodyPr>
          <a:lstStyle/>
          <a:p>
            <a:pPr indent="0" lvl="0" marL="0" marR="0" rtl="0" algn="just">
              <a:lnSpc>
                <a:spcPct val="135000"/>
              </a:lnSpc>
              <a:spcBef>
                <a:spcPts val="0"/>
              </a:spcBef>
              <a:spcAft>
                <a:spcPts val="0"/>
              </a:spcAft>
              <a:buNone/>
            </a:pPr>
            <a:r>
              <a:rPr b="0" i="0" lang="en-US" sz="3000" u="none" cap="none" strike="noStrike">
                <a:solidFill>
                  <a:srgbClr val="FFFFFF"/>
                </a:solidFill>
                <a:latin typeface="Saira Light"/>
                <a:ea typeface="Saira Light"/>
                <a:cs typeface="Saira Light"/>
                <a:sym typeface="Saira Light"/>
              </a:rPr>
              <a:t>Un </a:t>
            </a:r>
            <a:r>
              <a:rPr b="1" i="0" lang="en-US" sz="3000" u="none" cap="none" strike="noStrike">
                <a:solidFill>
                  <a:srgbClr val="FFFFFF"/>
                </a:solidFill>
                <a:latin typeface="Saira"/>
                <a:ea typeface="Saira"/>
                <a:cs typeface="Saira"/>
                <a:sym typeface="Saira"/>
              </a:rPr>
              <a:t>sistema de tipos</a:t>
            </a:r>
            <a:r>
              <a:rPr b="0" i="0" lang="en-US" sz="3000" u="none" cap="none" strike="noStrike">
                <a:solidFill>
                  <a:srgbClr val="FFFFFF"/>
                </a:solidFill>
                <a:latin typeface="Saira Light"/>
                <a:ea typeface="Saira Light"/>
                <a:cs typeface="Saira Light"/>
                <a:sym typeface="Saira Light"/>
              </a:rPr>
              <a:t> define los tipos de datos de un lenguaje y las reglas de cómo se pueden usar e interactuar esos tipos.</a:t>
            </a:r>
            <a:endParaRPr/>
          </a:p>
          <a:p>
            <a:pPr indent="0" lvl="0" marL="0" marR="0" rtl="0" algn="just">
              <a:lnSpc>
                <a:spcPct val="135000"/>
              </a:lnSpc>
              <a:spcBef>
                <a:spcPts val="0"/>
              </a:spcBef>
              <a:spcAft>
                <a:spcPts val="0"/>
              </a:spcAft>
              <a:buNone/>
            </a:pPr>
            <a:r>
              <a:rPr b="0" i="0" lang="en-US" sz="3000" u="none" cap="none" strike="noStrike">
                <a:solidFill>
                  <a:srgbClr val="FFFFFF"/>
                </a:solidFill>
                <a:latin typeface="Saira Light"/>
                <a:ea typeface="Saira Light"/>
                <a:cs typeface="Saira Light"/>
                <a:sym typeface="Saira Light"/>
              </a:rPr>
              <a:t>La </a:t>
            </a:r>
            <a:r>
              <a:rPr b="1" i="0" lang="en-US" sz="3000" u="none" cap="none" strike="noStrike">
                <a:solidFill>
                  <a:srgbClr val="FFFFFF"/>
                </a:solidFill>
                <a:latin typeface="Saira"/>
                <a:ea typeface="Saira"/>
                <a:cs typeface="Saira"/>
                <a:sym typeface="Saira"/>
              </a:rPr>
              <a:t>verificación de tipos</a:t>
            </a:r>
            <a:r>
              <a:rPr b="0" i="0" lang="en-US" sz="3000" u="none" cap="none" strike="noStrike">
                <a:solidFill>
                  <a:srgbClr val="FFFFFF"/>
                </a:solidFill>
                <a:latin typeface="Saira Light"/>
                <a:ea typeface="Saira Light"/>
                <a:cs typeface="Saira Light"/>
                <a:sym typeface="Saira Light"/>
              </a:rPr>
              <a:t> (type checking) es el proceso de comprobar que cada operación reciba operandos del tipo apropiado según las reglas del lenguaje.</a:t>
            </a:r>
            <a:endParaRPr/>
          </a:p>
        </p:txBody>
      </p:sp>
      <p:sp>
        <p:nvSpPr>
          <p:cNvPr id="248" name="Google Shape;248;p29"/>
          <p:cNvSpPr txBox="1"/>
          <p:nvPr/>
        </p:nvSpPr>
        <p:spPr>
          <a:xfrm>
            <a:off x="979383" y="1344950"/>
            <a:ext cx="16230600" cy="3479801"/>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0" i="0" lang="en-US" sz="9999" u="none" cap="none" strike="noStrike">
                <a:solidFill>
                  <a:srgbClr val="FFFFFF"/>
                </a:solidFill>
                <a:latin typeface="Arial"/>
                <a:ea typeface="Arial"/>
                <a:cs typeface="Arial"/>
                <a:sym typeface="Arial"/>
              </a:rPr>
              <a:t>Sistema y verificación de tipos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52" name="Shape 252"/>
        <p:cNvGrpSpPr/>
        <p:nvPr/>
      </p:nvGrpSpPr>
      <p:grpSpPr>
        <a:xfrm>
          <a:off x="0" y="0"/>
          <a:ext cx="0" cy="0"/>
          <a:chOff x="0" y="0"/>
          <a:chExt cx="0" cy="0"/>
        </a:xfrm>
      </p:grpSpPr>
      <p:sp>
        <p:nvSpPr>
          <p:cNvPr id="253" name="Google Shape;253;p30"/>
          <p:cNvSpPr txBox="1"/>
          <p:nvPr/>
        </p:nvSpPr>
        <p:spPr>
          <a:xfrm>
            <a:off x="1136266" y="1116313"/>
            <a:ext cx="8884764" cy="1046038"/>
          </a:xfrm>
          <a:prstGeom prst="rect">
            <a:avLst/>
          </a:prstGeom>
          <a:noFill/>
          <a:ln>
            <a:noFill/>
          </a:ln>
        </p:spPr>
        <p:txBody>
          <a:bodyPr anchorCtr="0" anchor="t" bIns="0" lIns="0" spcFirstLastPara="1" rIns="0" wrap="square" tIns="0">
            <a:spAutoFit/>
          </a:bodyPr>
          <a:lstStyle/>
          <a:p>
            <a:pPr indent="0" lvl="0" marL="0" marR="0" rtl="0" algn="l">
              <a:lnSpc>
                <a:spcPct val="139996"/>
              </a:lnSpc>
              <a:spcBef>
                <a:spcPts val="0"/>
              </a:spcBef>
              <a:spcAft>
                <a:spcPts val="0"/>
              </a:spcAft>
              <a:buNone/>
            </a:pPr>
            <a:r>
              <a:rPr b="0" i="0" lang="en-US" sz="6128" u="none" cap="none" strike="noStrike">
                <a:solidFill>
                  <a:srgbClr val="FFFFFF"/>
                </a:solidFill>
                <a:latin typeface="Arial"/>
                <a:ea typeface="Arial"/>
                <a:cs typeface="Arial"/>
                <a:sym typeface="Arial"/>
              </a:rPr>
              <a:t>Sistema de tipos</a:t>
            </a:r>
            <a:endParaRPr/>
          </a:p>
        </p:txBody>
      </p:sp>
      <p:sp>
        <p:nvSpPr>
          <p:cNvPr id="254" name="Google Shape;254;p30"/>
          <p:cNvSpPr txBox="1"/>
          <p:nvPr/>
        </p:nvSpPr>
        <p:spPr>
          <a:xfrm>
            <a:off x="1136266" y="2447464"/>
            <a:ext cx="14743364" cy="1460500"/>
          </a:xfrm>
          <a:prstGeom prst="rect">
            <a:avLst/>
          </a:prstGeom>
          <a:noFill/>
          <a:ln>
            <a:noFill/>
          </a:ln>
        </p:spPr>
        <p:txBody>
          <a:bodyPr anchorCtr="0" anchor="t" bIns="0" lIns="0" spcFirstLastPara="1" rIns="0" wrap="square" tIns="0">
            <a:spAutoFit/>
          </a:bodyPr>
          <a:lstStyle/>
          <a:p>
            <a:pPr indent="0" lvl="1" marL="0" marR="0" rtl="0" algn="ctr">
              <a:lnSpc>
                <a:spcPct val="158023"/>
              </a:lnSpc>
              <a:spcBef>
                <a:spcPts val="0"/>
              </a:spcBef>
              <a:spcAft>
                <a:spcPts val="0"/>
              </a:spcAft>
              <a:buNone/>
            </a:pPr>
            <a:r>
              <a:rPr b="0" i="0" lang="en-US" sz="2499" u="none" cap="none" strike="noStrike">
                <a:solidFill>
                  <a:srgbClr val="FFFFFF"/>
                </a:solidFill>
                <a:latin typeface="Arial"/>
                <a:ea typeface="Arial"/>
                <a:cs typeface="Arial"/>
                <a:sym typeface="Arial"/>
              </a:rPr>
              <a:t>En términos prácticos, el sistema de tipos ayuda a detectar errores de programación asegurando que las operaciones se apliquen a operandos compatibles.</a:t>
            </a:r>
            <a:endParaRPr/>
          </a:p>
        </p:txBody>
      </p:sp>
      <p:grpSp>
        <p:nvGrpSpPr>
          <p:cNvPr id="255" name="Google Shape;255;p30"/>
          <p:cNvGrpSpPr/>
          <p:nvPr/>
        </p:nvGrpSpPr>
        <p:grpSpPr>
          <a:xfrm>
            <a:off x="1136266" y="4580510"/>
            <a:ext cx="426853" cy="426853"/>
            <a:chOff x="0" y="0"/>
            <a:chExt cx="812800" cy="812800"/>
          </a:xfrm>
        </p:grpSpPr>
        <p:sp>
          <p:nvSpPr>
            <p:cNvPr id="256" name="Google Shape;256;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3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8" name="Google Shape;258;p30"/>
          <p:cNvSpPr txBox="1"/>
          <p:nvPr/>
        </p:nvSpPr>
        <p:spPr>
          <a:xfrm>
            <a:off x="1690552" y="4530130"/>
            <a:ext cx="4934639"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Tipos fuertes vs débiles</a:t>
            </a:r>
            <a:endParaRPr/>
          </a:p>
        </p:txBody>
      </p:sp>
      <p:sp>
        <p:nvSpPr>
          <p:cNvPr id="259" name="Google Shape;259;p30"/>
          <p:cNvSpPr txBox="1"/>
          <p:nvPr/>
        </p:nvSpPr>
        <p:spPr>
          <a:xfrm>
            <a:off x="1136266" y="5174024"/>
            <a:ext cx="14405387" cy="1054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Los lenguajes pueden considerarse fuertemente tipados si prohíben estrictamente las operaciones entre tipos incompatibles (requiriendo conversiones explícitas), o débilmente tipados si permiten ciertas mezclas haciendo conversiones implícitas.</a:t>
            </a:r>
            <a:endParaRPr/>
          </a:p>
        </p:txBody>
      </p:sp>
      <p:grpSp>
        <p:nvGrpSpPr>
          <p:cNvPr id="260" name="Google Shape;260;p30"/>
          <p:cNvGrpSpPr/>
          <p:nvPr/>
        </p:nvGrpSpPr>
        <p:grpSpPr>
          <a:xfrm>
            <a:off x="1136266" y="6661740"/>
            <a:ext cx="426853" cy="426853"/>
            <a:chOff x="0" y="0"/>
            <a:chExt cx="812800" cy="812800"/>
          </a:xfrm>
        </p:grpSpPr>
        <p:sp>
          <p:nvSpPr>
            <p:cNvPr id="261" name="Google Shape;261;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40000"/>
              </a:srgbClr>
            </a:solidFill>
            <a:ln cap="sq" cmpd="sng" w="28575">
              <a:solidFill>
                <a:srgbClr val="6AD3F3">
                  <a:alpha val="40000"/>
                </a:srgbClr>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3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3" name="Google Shape;263;p30"/>
          <p:cNvSpPr txBox="1"/>
          <p:nvPr/>
        </p:nvSpPr>
        <p:spPr>
          <a:xfrm>
            <a:off x="1690552" y="6611360"/>
            <a:ext cx="4934639" cy="527613"/>
          </a:xfrm>
          <a:prstGeom prst="rect">
            <a:avLst/>
          </a:prstGeom>
          <a:noFill/>
          <a:ln>
            <a:noFill/>
          </a:ln>
        </p:spPr>
        <p:txBody>
          <a:bodyPr anchorCtr="0" anchor="t" bIns="0" lIns="0" spcFirstLastPara="1" rIns="0" wrap="square" tIns="0">
            <a:spAutoFit/>
          </a:bodyPr>
          <a:lstStyle/>
          <a:p>
            <a:pPr indent="0" lvl="0" marL="0" marR="0" rtl="0" algn="l">
              <a:lnSpc>
                <a:spcPct val="116977"/>
              </a:lnSpc>
              <a:spcBef>
                <a:spcPts val="0"/>
              </a:spcBef>
              <a:spcAft>
                <a:spcPts val="0"/>
              </a:spcAft>
              <a:buNone/>
            </a:pPr>
            <a:r>
              <a:rPr b="0" i="0" lang="en-US" sz="3481" u="none" cap="none" strike="noStrike">
                <a:solidFill>
                  <a:srgbClr val="FFFFFF"/>
                </a:solidFill>
                <a:latin typeface="Questrial"/>
                <a:ea typeface="Questrial"/>
                <a:cs typeface="Questrial"/>
                <a:sym typeface="Questrial"/>
              </a:rPr>
              <a:t>Ejemplo</a:t>
            </a:r>
            <a:endParaRPr/>
          </a:p>
        </p:txBody>
      </p:sp>
      <p:sp>
        <p:nvSpPr>
          <p:cNvPr id="264" name="Google Shape;264;p30"/>
          <p:cNvSpPr txBox="1"/>
          <p:nvPr/>
        </p:nvSpPr>
        <p:spPr>
          <a:xfrm>
            <a:off x="1136266" y="7255254"/>
            <a:ext cx="14405387" cy="140652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Arial"/>
                <a:ea typeface="Arial"/>
                <a:cs typeface="Arial"/>
                <a:sym typeface="Arial"/>
              </a:rPr>
              <a:t>en C# (tipado fuerte) la expresión "1" + 1 produce un error de compilación (“Cannot implicitly convert type 'string' to 'int'”), obligando a convertir explícitamente la cadena "1" a número entero antes de sumar. En cambio, en un lenguaje más débil como Perl, la misma expresión "1" + 1 es válida y resultaría en 2, ya que Perl convierte la cadena "1" en 1 automáticamente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2B3D59"/>
            </a:gs>
            <a:gs pos="100000">
              <a:srgbClr val="03060C"/>
            </a:gs>
          </a:gsLst>
          <a:path path="circle">
            <a:fillToRect b="50%" l="50%" r="50%" t="50%"/>
          </a:path>
          <a:tileRect/>
        </a:gradFill>
      </p:bgPr>
    </p:bg>
    <p:spTree>
      <p:nvGrpSpPr>
        <p:cNvPr id="268" name="Shape 268"/>
        <p:cNvGrpSpPr/>
        <p:nvPr/>
      </p:nvGrpSpPr>
      <p:grpSpPr>
        <a:xfrm>
          <a:off x="0" y="0"/>
          <a:ext cx="0" cy="0"/>
          <a:chOff x="0" y="0"/>
          <a:chExt cx="0" cy="0"/>
        </a:xfrm>
      </p:grpSpPr>
      <p:grpSp>
        <p:nvGrpSpPr>
          <p:cNvPr id="269" name="Google Shape;269;p31"/>
          <p:cNvGrpSpPr/>
          <p:nvPr/>
        </p:nvGrpSpPr>
        <p:grpSpPr>
          <a:xfrm>
            <a:off x="1028700" y="2086938"/>
            <a:ext cx="16230600" cy="5949170"/>
            <a:chOff x="0" y="-47625"/>
            <a:chExt cx="4274726" cy="1566860"/>
          </a:xfrm>
        </p:grpSpPr>
        <p:sp>
          <p:nvSpPr>
            <p:cNvPr id="270" name="Google Shape;270;p31"/>
            <p:cNvSpPr/>
            <p:nvPr/>
          </p:nvSpPr>
          <p:spPr>
            <a:xfrm>
              <a:off x="0" y="0"/>
              <a:ext cx="4274726" cy="1519235"/>
            </a:xfrm>
            <a:custGeom>
              <a:rect b="b" l="l" r="r" t="t"/>
              <a:pathLst>
                <a:path extrusionOk="0" h="1519235" w="4274726">
                  <a:moveTo>
                    <a:pt x="0" y="0"/>
                  </a:moveTo>
                  <a:lnTo>
                    <a:pt x="4274726" y="0"/>
                  </a:lnTo>
                  <a:lnTo>
                    <a:pt x="4274726" y="1519235"/>
                  </a:lnTo>
                  <a:lnTo>
                    <a:pt x="0" y="1519235"/>
                  </a:lnTo>
                  <a:close/>
                </a:path>
              </a:pathLst>
            </a:custGeom>
            <a:gradFill>
              <a:gsLst>
                <a:gs pos="0">
                  <a:srgbClr val="000102">
                    <a:alpha val="62745"/>
                  </a:srgbClr>
                </a:gs>
                <a:gs pos="100000">
                  <a:srgbClr val="000000">
                    <a:alpha val="58823"/>
                  </a:srgbClr>
                </a:gs>
              </a:gsLst>
              <a:lin ang="0" scaled="0"/>
            </a:gradFill>
            <a:ln cap="sq" cmpd="sng" w="38100">
              <a:solidFill>
                <a:srgbClr val="92FEFE"/>
              </a:solidFill>
              <a:prstDash val="solid"/>
              <a:miter lim="8000"/>
              <a:headEnd len="sm" w="sm" type="none"/>
              <a:tailEnd len="sm" w="sm" type="none"/>
            </a:ln>
          </p:spPr>
        </p:sp>
        <p:sp>
          <p:nvSpPr>
            <p:cNvPr id="271" name="Google Shape;271;p31"/>
            <p:cNvSpPr txBox="1"/>
            <p:nvPr/>
          </p:nvSpPr>
          <p:spPr>
            <a:xfrm>
              <a:off x="0" y="-47625"/>
              <a:ext cx="4274726" cy="1566860"/>
            </a:xfrm>
            <a:prstGeom prst="rect">
              <a:avLst/>
            </a:prstGeom>
            <a:noFill/>
            <a:ln>
              <a:noFill/>
            </a:ln>
          </p:spPr>
          <p:txBody>
            <a:bodyPr anchorCtr="0" anchor="ctr" bIns="50800" lIns="50800" spcFirstLastPara="1" rIns="50800" wrap="square" tIns="50800">
              <a:noAutofit/>
            </a:bodyPr>
            <a:lstStyle/>
            <a:p>
              <a:pPr indent="0" lvl="0" marL="0" marR="0" rtl="0" algn="ctr">
                <a:lnSpc>
                  <a:spcPct val="174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31"/>
          <p:cNvSpPr txBox="1"/>
          <p:nvPr/>
        </p:nvSpPr>
        <p:spPr>
          <a:xfrm>
            <a:off x="2230237" y="2773338"/>
            <a:ext cx="13849297" cy="2997887"/>
          </a:xfrm>
          <a:prstGeom prst="rect">
            <a:avLst/>
          </a:prstGeom>
          <a:noFill/>
          <a:ln>
            <a:noFill/>
          </a:ln>
        </p:spPr>
        <p:txBody>
          <a:bodyPr anchorCtr="0" anchor="t" bIns="0" lIns="0" spcFirstLastPara="1" rIns="0" wrap="square" tIns="0">
            <a:spAutoFit/>
          </a:bodyPr>
          <a:lstStyle/>
          <a:p>
            <a:pPr indent="0" lvl="0" marL="0" marR="0" rtl="0" algn="ctr">
              <a:lnSpc>
                <a:spcPct val="140009"/>
              </a:lnSpc>
              <a:spcBef>
                <a:spcPts val="0"/>
              </a:spcBef>
              <a:spcAft>
                <a:spcPts val="0"/>
              </a:spcAft>
              <a:buNone/>
            </a:pPr>
            <a:r>
              <a:rPr b="0" i="0" lang="en-US" sz="8598" u="none" cap="none" strike="noStrike">
                <a:solidFill>
                  <a:srgbClr val="8FE3FD"/>
                </a:solidFill>
                <a:latin typeface="Arial"/>
                <a:ea typeface="Arial"/>
                <a:cs typeface="Arial"/>
                <a:sym typeface="Arial"/>
              </a:rPr>
              <a:t>¡Gracias por su atención!</a:t>
            </a:r>
            <a:endParaRPr/>
          </a:p>
        </p:txBody>
      </p:sp>
      <p:sp>
        <p:nvSpPr>
          <p:cNvPr id="273" name="Google Shape;273;p31"/>
          <p:cNvSpPr txBox="1"/>
          <p:nvPr/>
        </p:nvSpPr>
        <p:spPr>
          <a:xfrm>
            <a:off x="3743884" y="6126618"/>
            <a:ext cx="10800231" cy="733425"/>
          </a:xfrm>
          <a:prstGeom prst="rect">
            <a:avLst/>
          </a:prstGeom>
          <a:noFill/>
          <a:ln>
            <a:noFill/>
          </a:ln>
        </p:spPr>
        <p:txBody>
          <a:bodyPr anchorCtr="0" anchor="t" bIns="0" lIns="0" spcFirstLastPara="1" rIns="0" wrap="square" tIns="0">
            <a:spAutoFit/>
          </a:bodyPr>
          <a:lstStyle/>
          <a:p>
            <a:pPr indent="0" lvl="0" marL="0" marR="0" rtl="0" algn="ctr">
              <a:lnSpc>
                <a:spcPct val="135007"/>
              </a:lnSpc>
              <a:spcBef>
                <a:spcPts val="0"/>
              </a:spcBef>
              <a:spcAft>
                <a:spcPts val="0"/>
              </a:spcAft>
              <a:buNone/>
            </a:pPr>
            <a:r>
              <a:rPr b="0" i="0" lang="en-US" sz="4499" u="none" cap="none" strike="noStrike">
                <a:solidFill>
                  <a:srgbClr val="FFFFFF"/>
                </a:solidFill>
                <a:latin typeface="Saira Light"/>
                <a:ea typeface="Saira Light"/>
                <a:cs typeface="Saira Light"/>
                <a:sym typeface="Saira Light"/>
              </a:rPr>
              <a:t>¿Dudas?</a:t>
            </a:r>
            <a:endParaRPr/>
          </a:p>
        </p:txBody>
      </p:sp>
      <p:sp>
        <p:nvSpPr>
          <p:cNvPr id="274" name="Google Shape;274;p31"/>
          <p:cNvSpPr/>
          <p:nvPr/>
        </p:nvSpPr>
        <p:spPr>
          <a:xfrm>
            <a:off x="15530732" y="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