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C1E5E0-DE15-4A8F-AC47-B732DCA9F909}">
  <a:tblStyle styleId="{80C1E5E0-DE15-4A8F-AC47-B732DCA9F9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f8f13ab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6ff8f13abf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dfc7ba7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bdfc7ba74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e179250b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be179250b4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dfc7ba74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bdfc7ba74c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dfc7ba74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bdfc7ba74c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e179250b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be179250b4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3520" y="889920"/>
            <a:ext cx="17040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3520" y="2304720"/>
            <a:ext cx="17040000" cy="6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6945200" y="9326160"/>
            <a:ext cx="109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www.php.net" TargetMode="External"/><Relationship Id="rId5" Type="http://schemas.openxmlformats.org/officeDocument/2006/relationships/hyperlink" Target="https://www.antlr.org/download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{80C1E5E0-DE15-4A8F-AC47-B732DCA9F909}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27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01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6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17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20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4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</a:t>
            </a:r>
            <a:r>
              <a:rPr lang="en-US" sz="5000"/>
              <a:t>N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Omar Alejandro Vides Esteban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8588049" y="1768245"/>
            <a:ext cx="11404113" cy="11487660"/>
          </a:xfrm>
          <a:custGeom>
            <a:rect b="b" l="l" r="r" t="t"/>
            <a:pathLst>
              <a:path extrusionOk="0"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5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15"/>
          <p:cNvGrpSpPr/>
          <p:nvPr/>
        </p:nvGrpSpPr>
        <p:grpSpPr>
          <a:xfrm rot="1383774">
            <a:off x="8485994" y="522260"/>
            <a:ext cx="11226909" cy="14341591"/>
            <a:chOff x="0" y="0"/>
            <a:chExt cx="2956881" cy="3777209"/>
          </a:xfrm>
        </p:grpSpPr>
        <p:sp>
          <p:nvSpPr>
            <p:cNvPr id="99" name="Google Shape;99;p15"/>
            <p:cNvSpPr/>
            <p:nvPr/>
          </p:nvSpPr>
          <p:spPr>
            <a:xfrm>
              <a:off x="0" y="0"/>
              <a:ext cx="2956881" cy="3777209"/>
            </a:xfrm>
            <a:custGeom>
              <a:rect b="b" l="l" r="r" t="t"/>
              <a:pathLst>
                <a:path extrusionOk="0"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0" name="Google Shape;100;p15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5"/>
          <p:cNvSpPr txBox="1"/>
          <p:nvPr/>
        </p:nvSpPr>
        <p:spPr>
          <a:xfrm>
            <a:off x="2054482" y="3277263"/>
            <a:ext cx="9309363" cy="30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Fases de la Compilación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795032" y="930452"/>
            <a:ext cx="4330517" cy="647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054482" y="8596478"/>
            <a:ext cx="69702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Ciencias y Sistemas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2054482" y="9064947"/>
            <a:ext cx="54669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2054482" y="9521109"/>
            <a:ext cx="73890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1" name="Google Shape;111;p16"/>
          <p:cNvGrpSpPr/>
          <p:nvPr/>
        </p:nvGrpSpPr>
        <p:grpSpPr>
          <a:xfrm>
            <a:off x="2054475" y="1970472"/>
            <a:ext cx="7089564" cy="7037153"/>
            <a:chOff x="0" y="0"/>
            <a:chExt cx="1867198" cy="871690"/>
          </a:xfrm>
        </p:grpSpPr>
        <p:sp>
          <p:nvSpPr>
            <p:cNvPr id="112" name="Google Shape;112;p16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9439465" y="7136779"/>
            <a:ext cx="6583028" cy="1771650"/>
            <a:chOff x="0" y="0"/>
            <a:chExt cx="1733801" cy="466607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19050"/>
              <a:ext cx="1733800" cy="44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9439465" y="2343150"/>
            <a:ext cx="6583069" cy="4515391"/>
            <a:chOff x="0" y="0"/>
            <a:chExt cx="1733801" cy="1189231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16"/>
          <p:cNvSpPr txBox="1"/>
          <p:nvPr/>
        </p:nvSpPr>
        <p:spPr>
          <a:xfrm>
            <a:off x="1795032" y="930452"/>
            <a:ext cx="1302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576">
                <a:solidFill>
                  <a:srgbClr val="FFFFFF"/>
                </a:solidFill>
              </a:rPr>
              <a:t>0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2474657" y="545850"/>
            <a:ext cx="70896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66">
                <a:solidFill>
                  <a:srgbClr val="FFFFFF"/>
                </a:solidFill>
              </a:rPr>
              <a:t>Agenda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2282175" y="2343150"/>
            <a:ext cx="6715200" cy="6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Motivaciones para estudiar compiladores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Fases del Compilador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Fases de análisis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Compilar vs Interpretar vs Transpilar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Instalación de Herramientas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Ejemplo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Dudas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Recordatorio: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Char char="-"/>
            </a:pPr>
            <a:r>
              <a:rPr b="1"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Foro de esta semana.</a:t>
            </a:r>
            <a:endParaRPr b="1"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Char char="-"/>
            </a:pPr>
            <a:r>
              <a:rPr b="1"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Ponderación del Curso</a:t>
            </a:r>
            <a:endParaRPr b="1"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9663975" y="7389250"/>
            <a:ext cx="62592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Curiosidad Académica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9739100" y="2768150"/>
            <a:ext cx="59838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Recursos:</a:t>
            </a:r>
            <a:endParaRPr sz="5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Lato"/>
              <a:buChar char="➔"/>
            </a:pPr>
            <a:r>
              <a:rPr lang="en-US" sz="50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PHP</a:t>
            </a:r>
            <a:endParaRPr sz="5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Lato"/>
              <a:buChar char="➔"/>
            </a:pPr>
            <a:r>
              <a:rPr lang="en-US" sz="50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ANTLR</a:t>
            </a:r>
            <a:endParaRPr sz="5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1" name="Google Shape;131;p17"/>
          <p:cNvGrpSpPr/>
          <p:nvPr/>
        </p:nvGrpSpPr>
        <p:grpSpPr>
          <a:xfrm>
            <a:off x="1795024" y="6139075"/>
            <a:ext cx="7090726" cy="1771660"/>
            <a:chOff x="0" y="0"/>
            <a:chExt cx="1733801" cy="466607"/>
          </a:xfrm>
        </p:grpSpPr>
        <p:sp>
          <p:nvSpPr>
            <p:cNvPr id="132" name="Google Shape;132;p17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180680" y="74453"/>
              <a:ext cx="1282800" cy="3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Habilidad </a:t>
              </a: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Técnica</a:t>
              </a:r>
              <a:endPara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7"/>
          <p:cNvSpPr txBox="1"/>
          <p:nvPr/>
        </p:nvSpPr>
        <p:spPr>
          <a:xfrm>
            <a:off x="1795032" y="930452"/>
            <a:ext cx="1302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576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2271793" y="329600"/>
            <a:ext cx="141585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66">
                <a:solidFill>
                  <a:srgbClr val="FFFFFF"/>
                </a:solidFill>
              </a:rPr>
              <a:t>Motivaciones para estudiar compiladores</a:t>
            </a:r>
            <a:endParaRPr/>
          </a:p>
        </p:txBody>
      </p:sp>
      <p:grpSp>
        <p:nvGrpSpPr>
          <p:cNvPr id="136" name="Google Shape;136;p17"/>
          <p:cNvGrpSpPr/>
          <p:nvPr/>
        </p:nvGrpSpPr>
        <p:grpSpPr>
          <a:xfrm>
            <a:off x="9339562" y="4257675"/>
            <a:ext cx="7090726" cy="1771660"/>
            <a:chOff x="0" y="0"/>
            <a:chExt cx="1733801" cy="466607"/>
          </a:xfrm>
        </p:grpSpPr>
        <p:sp>
          <p:nvSpPr>
            <p:cNvPr id="137" name="Google Shape;137;p17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180680" y="74453"/>
              <a:ext cx="1282800" cy="3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Entendimiento de los lenguajes</a:t>
              </a:r>
              <a:endPara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7"/>
          <p:cNvGrpSpPr/>
          <p:nvPr/>
        </p:nvGrpSpPr>
        <p:grpSpPr>
          <a:xfrm>
            <a:off x="9771299" y="7591975"/>
            <a:ext cx="7090726" cy="1771660"/>
            <a:chOff x="0" y="0"/>
            <a:chExt cx="1733801" cy="466607"/>
          </a:xfrm>
        </p:grpSpPr>
        <p:sp>
          <p:nvSpPr>
            <p:cNvPr id="140" name="Google Shape;140;p17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180680" y="74453"/>
              <a:ext cx="1282800" cy="3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Conocimiento transferible</a:t>
              </a:r>
              <a:endPara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7"/>
          <p:cNvGrpSpPr/>
          <p:nvPr/>
        </p:nvGrpSpPr>
        <p:grpSpPr>
          <a:xfrm>
            <a:off x="1574124" y="2908650"/>
            <a:ext cx="7090726" cy="1771660"/>
            <a:chOff x="0" y="0"/>
            <a:chExt cx="1733801" cy="466607"/>
          </a:xfrm>
        </p:grpSpPr>
        <p:sp>
          <p:nvSpPr>
            <p:cNvPr id="143" name="Google Shape;143;p17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180680" y="74453"/>
              <a:ext cx="1282800" cy="3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Avanzado</a:t>
              </a:r>
              <a:endPara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18"/>
          <p:cNvSpPr/>
          <p:nvPr/>
        </p:nvSpPr>
        <p:spPr>
          <a:xfrm>
            <a:off x="363" y="2151385"/>
            <a:ext cx="18287266" cy="5984235"/>
          </a:xfrm>
          <a:custGeom>
            <a:rect b="b" l="l" r="r" t="t"/>
            <a:pathLst>
              <a:path extrusionOk="0" h="466607" w="1733801">
                <a:moveTo>
                  <a:pt x="44690" y="0"/>
                </a:moveTo>
                <a:lnTo>
                  <a:pt x="1689111" y="0"/>
                </a:lnTo>
                <a:cubicBezTo>
                  <a:pt x="1713792" y="0"/>
                  <a:pt x="1733801" y="20008"/>
                  <a:pt x="1733801" y="44690"/>
                </a:cubicBezTo>
                <a:lnTo>
                  <a:pt x="1733801" y="421918"/>
                </a:lnTo>
                <a:cubicBezTo>
                  <a:pt x="1733801" y="433770"/>
                  <a:pt x="1729092" y="445137"/>
                  <a:pt x="1720711" y="453518"/>
                </a:cubicBezTo>
                <a:cubicBezTo>
                  <a:pt x="1712330" y="461899"/>
                  <a:pt x="1700963" y="466607"/>
                  <a:pt x="1689111" y="466607"/>
                </a:cubicBezTo>
                <a:lnTo>
                  <a:pt x="44690" y="466607"/>
                </a:lnTo>
                <a:cubicBezTo>
                  <a:pt x="32837" y="466607"/>
                  <a:pt x="21470" y="461899"/>
                  <a:pt x="13089" y="453518"/>
                </a:cubicBezTo>
                <a:cubicBezTo>
                  <a:pt x="4708" y="445137"/>
                  <a:pt x="0" y="433770"/>
                  <a:pt x="0" y="421918"/>
                </a:cubicBezTo>
                <a:lnTo>
                  <a:pt x="0" y="44690"/>
                </a:lnTo>
                <a:cubicBezTo>
                  <a:pt x="0" y="32837"/>
                  <a:pt x="4708" y="21470"/>
                  <a:pt x="13089" y="13089"/>
                </a:cubicBezTo>
                <a:cubicBezTo>
                  <a:pt x="21470" y="4708"/>
                  <a:pt x="32837" y="0"/>
                  <a:pt x="44690" y="0"/>
                </a:cubicBezTo>
                <a:close/>
              </a:path>
            </a:pathLst>
          </a:custGeom>
          <a:gradFill>
            <a:gsLst>
              <a:gs pos="0">
                <a:srgbClr val="0C4A5B"/>
              </a:gs>
              <a:gs pos="100000">
                <a:srgbClr val="27DDDF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795032" y="930452"/>
            <a:ext cx="1302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576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2064743" y="4591950"/>
            <a:ext cx="141585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66">
                <a:solidFill>
                  <a:srgbClr val="FFFFFF"/>
                </a:solidFill>
              </a:rPr>
              <a:t>Recomendaciones para el curso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19"/>
          <p:cNvSpPr txBox="1"/>
          <p:nvPr/>
        </p:nvSpPr>
        <p:spPr>
          <a:xfrm>
            <a:off x="1795032" y="930452"/>
            <a:ext cx="1302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576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1795024" y="4018350"/>
            <a:ext cx="68916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66">
                <a:solidFill>
                  <a:srgbClr val="FFFFFF"/>
                </a:solidFill>
              </a:rPr>
              <a:t>Fases del compilador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8548345" y="1296912"/>
            <a:ext cx="7125922" cy="7693183"/>
          </a:xfrm>
          <a:custGeom>
            <a:rect b="b" l="l" r="r" t="t"/>
            <a:pathLst>
              <a:path extrusionOk="0" h="466607" w="1733801">
                <a:moveTo>
                  <a:pt x="44690" y="0"/>
                </a:moveTo>
                <a:lnTo>
                  <a:pt x="1689111" y="0"/>
                </a:lnTo>
                <a:cubicBezTo>
                  <a:pt x="1713792" y="0"/>
                  <a:pt x="1733801" y="20008"/>
                  <a:pt x="1733801" y="44690"/>
                </a:cubicBezTo>
                <a:lnTo>
                  <a:pt x="1733801" y="421918"/>
                </a:lnTo>
                <a:cubicBezTo>
                  <a:pt x="1733801" y="433770"/>
                  <a:pt x="1729092" y="445137"/>
                  <a:pt x="1720711" y="453518"/>
                </a:cubicBezTo>
                <a:cubicBezTo>
                  <a:pt x="1712330" y="461899"/>
                  <a:pt x="1700963" y="466607"/>
                  <a:pt x="1689111" y="466607"/>
                </a:cubicBezTo>
                <a:lnTo>
                  <a:pt x="44690" y="466607"/>
                </a:lnTo>
                <a:cubicBezTo>
                  <a:pt x="32837" y="466607"/>
                  <a:pt x="21470" y="461899"/>
                  <a:pt x="13089" y="453518"/>
                </a:cubicBezTo>
                <a:cubicBezTo>
                  <a:pt x="4708" y="445137"/>
                  <a:pt x="0" y="433770"/>
                  <a:pt x="0" y="421918"/>
                </a:cubicBezTo>
                <a:lnTo>
                  <a:pt x="0" y="44690"/>
                </a:lnTo>
                <a:cubicBezTo>
                  <a:pt x="0" y="32837"/>
                  <a:pt x="4708" y="21470"/>
                  <a:pt x="13089" y="13089"/>
                </a:cubicBezTo>
                <a:cubicBezTo>
                  <a:pt x="21470" y="4708"/>
                  <a:pt x="32837" y="0"/>
                  <a:pt x="44690" y="0"/>
                </a:cubicBezTo>
                <a:close/>
              </a:path>
            </a:pathLst>
          </a:custGeom>
          <a:gradFill>
            <a:gsLst>
              <a:gs pos="0">
                <a:srgbClr val="0C4A5B"/>
              </a:gs>
              <a:gs pos="100000">
                <a:srgbClr val="27DDDF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51212" y="1848287"/>
            <a:ext cx="5520201" cy="65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7" name="Google Shape;167;p20"/>
          <p:cNvGrpSpPr/>
          <p:nvPr/>
        </p:nvGrpSpPr>
        <p:grpSpPr>
          <a:xfrm>
            <a:off x="2084838" y="2343150"/>
            <a:ext cx="7089572" cy="6664506"/>
            <a:chOff x="0" y="0"/>
            <a:chExt cx="1867200" cy="871690"/>
          </a:xfrm>
        </p:grpSpPr>
        <p:sp>
          <p:nvSpPr>
            <p:cNvPr id="168" name="Google Shape;168;p20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0" y="19050"/>
              <a:ext cx="1867200" cy="8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20"/>
          <p:cNvGrpSpPr/>
          <p:nvPr/>
        </p:nvGrpSpPr>
        <p:grpSpPr>
          <a:xfrm>
            <a:off x="9439465" y="7136779"/>
            <a:ext cx="6583069" cy="1771823"/>
            <a:chOff x="0" y="0"/>
            <a:chExt cx="1733801" cy="466650"/>
          </a:xfrm>
        </p:grpSpPr>
        <p:sp>
          <p:nvSpPr>
            <p:cNvPr id="171" name="Google Shape;171;p20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0" y="19050"/>
              <a:ext cx="17337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20"/>
          <p:cNvGrpSpPr/>
          <p:nvPr/>
        </p:nvGrpSpPr>
        <p:grpSpPr>
          <a:xfrm>
            <a:off x="9439465" y="2343150"/>
            <a:ext cx="6583069" cy="4515843"/>
            <a:chOff x="0" y="0"/>
            <a:chExt cx="1733801" cy="1189350"/>
          </a:xfrm>
        </p:grpSpPr>
        <p:sp>
          <p:nvSpPr>
            <p:cNvPr id="174" name="Google Shape;174;p20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0" y="19050"/>
              <a:ext cx="1733700" cy="11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20"/>
          <p:cNvGrpSpPr/>
          <p:nvPr/>
        </p:nvGrpSpPr>
        <p:grpSpPr>
          <a:xfrm>
            <a:off x="2714464" y="5075022"/>
            <a:ext cx="224658" cy="224658"/>
            <a:chOff x="0" y="0"/>
            <a:chExt cx="812800" cy="812800"/>
          </a:xfrm>
        </p:grpSpPr>
        <p:sp>
          <p:nvSpPr>
            <p:cNvPr id="177" name="Google Shape;177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10179697" y="2913029"/>
            <a:ext cx="517591" cy="517591"/>
            <a:chOff x="0" y="0"/>
            <a:chExt cx="812800" cy="812800"/>
          </a:xfrm>
        </p:grpSpPr>
        <p:sp>
          <p:nvSpPr>
            <p:cNvPr id="180" name="Google Shape;180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20"/>
          <p:cNvSpPr/>
          <p:nvPr/>
        </p:nvSpPr>
        <p:spPr>
          <a:xfrm>
            <a:off x="10268981" y="3002943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3" y="0"/>
                </a:lnTo>
                <a:lnTo>
                  <a:pt x="374683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20"/>
          <p:cNvSpPr txBox="1"/>
          <p:nvPr/>
        </p:nvSpPr>
        <p:spPr>
          <a:xfrm>
            <a:off x="1795032" y="930452"/>
            <a:ext cx="1302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576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213032" y="545850"/>
            <a:ext cx="70896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Léxico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2939123" y="5013947"/>
            <a:ext cx="1229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1038139" y="2983893"/>
            <a:ext cx="11349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Tareas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0179702" y="7458325"/>
            <a:ext cx="54102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 de datos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2714487" y="5770279"/>
            <a:ext cx="5708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Archivo de texto con el código fuente.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10268981" y="3780894"/>
            <a:ext cx="5102700" cy="21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1751" lvl="1" marL="383501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Eliminación de comentarios y espacios en blanco.</a:t>
            </a:r>
            <a:endParaRPr/>
          </a:p>
          <a:p>
            <a:pPr indent="-191751" lvl="1" marL="383501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Reconocimiento de patrones mediante expresiones regulares.</a:t>
            </a:r>
            <a:endParaRPr/>
          </a:p>
          <a:p>
            <a:pPr indent="-191751" lvl="1" marL="383501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Gestión de errores léxicos (símbolos no reconocidos).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2592520" y="3500323"/>
            <a:ext cx="60135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Transforma la secuencia de caracteres del programa fuente en una secuencia de tokens</a:t>
            </a:r>
            <a:endParaRPr/>
          </a:p>
        </p:txBody>
      </p:sp>
      <p:grpSp>
        <p:nvGrpSpPr>
          <p:cNvPr id="191" name="Google Shape;191;p20"/>
          <p:cNvGrpSpPr/>
          <p:nvPr/>
        </p:nvGrpSpPr>
        <p:grpSpPr>
          <a:xfrm>
            <a:off x="2714464" y="6437830"/>
            <a:ext cx="224658" cy="224658"/>
            <a:chOff x="0" y="0"/>
            <a:chExt cx="812800" cy="812800"/>
          </a:xfrm>
        </p:grpSpPr>
        <p:sp>
          <p:nvSpPr>
            <p:cNvPr id="192" name="Google Shape;192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20"/>
          <p:cNvSpPr txBox="1"/>
          <p:nvPr/>
        </p:nvSpPr>
        <p:spPr>
          <a:xfrm>
            <a:off x="2939123" y="6376755"/>
            <a:ext cx="1229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2714487" y="7072036"/>
            <a:ext cx="5708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 de tokens (identificadores, literales, operadores, palabras reservadas, símbolos).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0181561" y="7953198"/>
            <a:ext cx="519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Tabla de símbolos (inicialmente con palabras reservadas)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1"/>
          <p:cNvGrpSpPr/>
          <p:nvPr/>
        </p:nvGrpSpPr>
        <p:grpSpPr>
          <a:xfrm>
            <a:off x="2145700" y="6940100"/>
            <a:ext cx="7089686" cy="2362929"/>
            <a:chOff x="0" y="0"/>
            <a:chExt cx="1733801" cy="466650"/>
          </a:xfrm>
        </p:grpSpPr>
        <p:sp>
          <p:nvSpPr>
            <p:cNvPr id="202" name="Google Shape;202;p21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1"/>
            <p:cNvSpPr txBox="1"/>
            <p:nvPr/>
          </p:nvSpPr>
          <p:spPr>
            <a:xfrm>
              <a:off x="0" y="19050"/>
              <a:ext cx="17337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21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5" name="Google Shape;205;p21"/>
          <p:cNvGrpSpPr/>
          <p:nvPr/>
        </p:nvGrpSpPr>
        <p:grpSpPr>
          <a:xfrm>
            <a:off x="2145695" y="3023191"/>
            <a:ext cx="7089564" cy="3309720"/>
            <a:chOff x="0" y="0"/>
            <a:chExt cx="1867198" cy="871690"/>
          </a:xfrm>
        </p:grpSpPr>
        <p:sp>
          <p:nvSpPr>
            <p:cNvPr id="206" name="Google Shape;206;p21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9653775" y="3023203"/>
            <a:ext cx="6583069" cy="4560769"/>
            <a:chOff x="0" y="0"/>
            <a:chExt cx="1733801" cy="871690"/>
          </a:xfrm>
        </p:grpSpPr>
        <p:sp>
          <p:nvSpPr>
            <p:cNvPr id="209" name="Google Shape;209;p21"/>
            <p:cNvSpPr/>
            <p:nvPr/>
          </p:nvSpPr>
          <p:spPr>
            <a:xfrm>
              <a:off x="0" y="0"/>
              <a:ext cx="1733801" cy="871690"/>
            </a:xfrm>
            <a:custGeom>
              <a:rect b="b" l="l" r="r" t="t"/>
              <a:pathLst>
                <a:path extrusionOk="0" h="871690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827001"/>
                  </a:lnTo>
                  <a:cubicBezTo>
                    <a:pt x="1733801" y="838853"/>
                    <a:pt x="1729092" y="850220"/>
                    <a:pt x="1720711" y="858601"/>
                  </a:cubicBezTo>
                  <a:cubicBezTo>
                    <a:pt x="1712330" y="866982"/>
                    <a:pt x="1700963" y="871690"/>
                    <a:pt x="1689111" y="871690"/>
                  </a:cubicBezTo>
                  <a:lnTo>
                    <a:pt x="44690" y="871690"/>
                  </a:lnTo>
                  <a:cubicBezTo>
                    <a:pt x="32837" y="871690"/>
                    <a:pt x="21470" y="866982"/>
                    <a:pt x="13089" y="858601"/>
                  </a:cubicBezTo>
                  <a:cubicBezTo>
                    <a:pt x="4708" y="850220"/>
                    <a:pt x="0" y="838853"/>
                    <a:pt x="0" y="82700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0" y="19050"/>
              <a:ext cx="1733800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1"/>
          <p:cNvSpPr/>
          <p:nvPr/>
        </p:nvSpPr>
        <p:spPr>
          <a:xfrm>
            <a:off x="2805685" y="8024007"/>
            <a:ext cx="4181340" cy="988523"/>
          </a:xfrm>
          <a:custGeom>
            <a:rect b="b" l="l" r="r" t="t"/>
            <a:pathLst>
              <a:path extrusionOk="0" h="988523" w="4181340">
                <a:moveTo>
                  <a:pt x="0" y="0"/>
                </a:moveTo>
                <a:lnTo>
                  <a:pt x="4181340" y="0"/>
                </a:lnTo>
                <a:lnTo>
                  <a:pt x="4181340" y="988523"/>
                </a:lnTo>
                <a:lnTo>
                  <a:pt x="0" y="988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1"/>
          <p:cNvSpPr/>
          <p:nvPr/>
        </p:nvSpPr>
        <p:spPr>
          <a:xfrm>
            <a:off x="11064749" y="4322700"/>
            <a:ext cx="3282358" cy="2507019"/>
          </a:xfrm>
          <a:custGeom>
            <a:rect b="b" l="l" r="r" t="t"/>
            <a:pathLst>
              <a:path extrusionOk="0" h="2161223" w="2170154">
                <a:moveTo>
                  <a:pt x="0" y="0"/>
                </a:moveTo>
                <a:lnTo>
                  <a:pt x="2170154" y="0"/>
                </a:lnTo>
                <a:lnTo>
                  <a:pt x="2170154" y="2161223"/>
                </a:lnTo>
                <a:lnTo>
                  <a:pt x="0" y="21612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21"/>
          <p:cNvSpPr txBox="1"/>
          <p:nvPr/>
        </p:nvSpPr>
        <p:spPr>
          <a:xfrm>
            <a:off x="5599245" y="537650"/>
            <a:ext cx="70896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Léxico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3112810" y="3429002"/>
            <a:ext cx="12294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10752663" y="3533109"/>
            <a:ext cx="22830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Salida Léxica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3112799" y="4322696"/>
            <a:ext cx="5708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 = 42 + y</a:t>
            </a:r>
            <a:endParaRPr sz="3500"/>
          </a:p>
        </p:txBody>
      </p:sp>
      <p:sp>
        <p:nvSpPr>
          <p:cNvPr id="217" name="Google Shape;217;p21"/>
          <p:cNvSpPr txBox="1"/>
          <p:nvPr/>
        </p:nvSpPr>
        <p:spPr>
          <a:xfrm>
            <a:off x="2054482" y="2133673"/>
            <a:ext cx="69474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Ejemplo: Tokenización de una expresión simple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2805685" y="7304722"/>
            <a:ext cx="4888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Definiciones de expresiones regulares</a:t>
            </a:r>
            <a:endParaRPr/>
          </a:p>
        </p:txBody>
      </p:sp>
      <p:grpSp>
        <p:nvGrpSpPr>
          <p:cNvPr id="219" name="Google Shape;219;p21"/>
          <p:cNvGrpSpPr/>
          <p:nvPr/>
        </p:nvGrpSpPr>
        <p:grpSpPr>
          <a:xfrm>
            <a:off x="9653782" y="7865966"/>
            <a:ext cx="7089564" cy="1496096"/>
            <a:chOff x="0" y="0"/>
            <a:chExt cx="1867198" cy="394031"/>
          </a:xfrm>
        </p:grpSpPr>
        <p:sp>
          <p:nvSpPr>
            <p:cNvPr id="220" name="Google Shape;220;p21"/>
            <p:cNvSpPr/>
            <p:nvPr/>
          </p:nvSpPr>
          <p:spPr>
            <a:xfrm>
              <a:off x="0" y="0"/>
              <a:ext cx="1867198" cy="394031"/>
            </a:xfrm>
            <a:custGeom>
              <a:rect b="b" l="l" r="r" t="t"/>
              <a:pathLst>
                <a:path extrusionOk="0" h="394031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352534"/>
                  </a:lnTo>
                  <a:cubicBezTo>
                    <a:pt x="1867198" y="375452"/>
                    <a:pt x="1848620" y="394031"/>
                    <a:pt x="1825701" y="394031"/>
                  </a:cubicBezTo>
                  <a:lnTo>
                    <a:pt x="41497" y="394031"/>
                  </a:lnTo>
                  <a:cubicBezTo>
                    <a:pt x="30491" y="394031"/>
                    <a:pt x="19936" y="389659"/>
                    <a:pt x="12154" y="381877"/>
                  </a:cubicBezTo>
                  <a:cubicBezTo>
                    <a:pt x="4372" y="374095"/>
                    <a:pt x="0" y="363540"/>
                    <a:pt x="0" y="35253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0" y="19050"/>
              <a:ext cx="1867198" cy="374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10060537" y="8278065"/>
            <a:ext cx="224658" cy="224658"/>
            <a:chOff x="0" y="0"/>
            <a:chExt cx="812800" cy="812800"/>
          </a:xfrm>
        </p:grpSpPr>
        <p:sp>
          <p:nvSpPr>
            <p:cNvPr id="223" name="Google Shape;223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21"/>
          <p:cNvSpPr txBox="1"/>
          <p:nvPr/>
        </p:nvSpPr>
        <p:spPr>
          <a:xfrm>
            <a:off x="10473597" y="8259015"/>
            <a:ext cx="3280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Herramientas habituales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0121361" y="8649508"/>
            <a:ext cx="5708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flex, JFlex, ANTLR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2" name="Google Shape;232;p22"/>
          <p:cNvGrpSpPr/>
          <p:nvPr/>
        </p:nvGrpSpPr>
        <p:grpSpPr>
          <a:xfrm>
            <a:off x="2054475" y="2343149"/>
            <a:ext cx="7089564" cy="6664506"/>
            <a:chOff x="0" y="0"/>
            <a:chExt cx="1867198" cy="871690"/>
          </a:xfrm>
        </p:grpSpPr>
        <p:sp>
          <p:nvSpPr>
            <p:cNvPr id="233" name="Google Shape;233;p22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2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22"/>
          <p:cNvGrpSpPr/>
          <p:nvPr/>
        </p:nvGrpSpPr>
        <p:grpSpPr>
          <a:xfrm>
            <a:off x="9439465" y="7136779"/>
            <a:ext cx="6583028" cy="1771650"/>
            <a:chOff x="0" y="0"/>
            <a:chExt cx="1733801" cy="466607"/>
          </a:xfrm>
        </p:grpSpPr>
        <p:sp>
          <p:nvSpPr>
            <p:cNvPr id="236" name="Google Shape;236;p22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2"/>
            <p:cNvSpPr txBox="1"/>
            <p:nvPr/>
          </p:nvSpPr>
          <p:spPr>
            <a:xfrm>
              <a:off x="0" y="19050"/>
              <a:ext cx="1733800" cy="44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22"/>
          <p:cNvGrpSpPr/>
          <p:nvPr/>
        </p:nvGrpSpPr>
        <p:grpSpPr>
          <a:xfrm>
            <a:off x="9439465" y="2343150"/>
            <a:ext cx="6583028" cy="4515361"/>
            <a:chOff x="0" y="0"/>
            <a:chExt cx="1733801" cy="1189231"/>
          </a:xfrm>
        </p:grpSpPr>
        <p:sp>
          <p:nvSpPr>
            <p:cNvPr id="239" name="Google Shape;239;p22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2"/>
            <p:cNvSpPr txBox="1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22"/>
          <p:cNvGrpSpPr/>
          <p:nvPr/>
        </p:nvGrpSpPr>
        <p:grpSpPr>
          <a:xfrm>
            <a:off x="2622889" y="4643872"/>
            <a:ext cx="224658" cy="224658"/>
            <a:chOff x="0" y="0"/>
            <a:chExt cx="812800" cy="812800"/>
          </a:xfrm>
        </p:grpSpPr>
        <p:sp>
          <p:nvSpPr>
            <p:cNvPr id="242" name="Google Shape;242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2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22"/>
          <p:cNvGrpSpPr/>
          <p:nvPr/>
        </p:nvGrpSpPr>
        <p:grpSpPr>
          <a:xfrm>
            <a:off x="10179697" y="2913029"/>
            <a:ext cx="517587" cy="517587"/>
            <a:chOff x="0" y="0"/>
            <a:chExt cx="812800" cy="812800"/>
          </a:xfrm>
        </p:grpSpPr>
        <p:sp>
          <p:nvSpPr>
            <p:cNvPr id="245" name="Google Shape;245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22"/>
          <p:cNvSpPr/>
          <p:nvPr/>
        </p:nvSpPr>
        <p:spPr>
          <a:xfrm>
            <a:off x="10268981" y="3002943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3" y="0"/>
                </a:lnTo>
                <a:lnTo>
                  <a:pt x="374683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22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5013598" y="452175"/>
            <a:ext cx="82608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Sintáctico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3127523" y="4580897"/>
            <a:ext cx="1229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1038139" y="2983893"/>
            <a:ext cx="1134758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Tareas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0179702" y="7458325"/>
            <a:ext cx="51900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 de datos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3127537" y="5145716"/>
            <a:ext cx="5708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 de tokens.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10268981" y="3780894"/>
            <a:ext cx="5102560" cy="1602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Aplicar reglas de gramática libre de contexto (apto para análisis sintáctico LL descendente o LR ascendente).</a:t>
            </a:r>
            <a:endParaRPr/>
          </a:p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Detectar y reportar errores de sintaxis (desbordes, tokens inesperados).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2622907" y="2913014"/>
            <a:ext cx="60135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Verifica que la secuencia de tokens cumple la gramática del lenguaje y construye una representación jerárquica</a:t>
            </a:r>
            <a:endParaRPr/>
          </a:p>
        </p:txBody>
      </p:sp>
      <p:grpSp>
        <p:nvGrpSpPr>
          <p:cNvPr id="256" name="Google Shape;256;p22"/>
          <p:cNvGrpSpPr/>
          <p:nvPr/>
        </p:nvGrpSpPr>
        <p:grpSpPr>
          <a:xfrm>
            <a:off x="2622889" y="6191717"/>
            <a:ext cx="224658" cy="224658"/>
            <a:chOff x="0" y="0"/>
            <a:chExt cx="812800" cy="812800"/>
          </a:xfrm>
        </p:grpSpPr>
        <p:sp>
          <p:nvSpPr>
            <p:cNvPr id="257" name="Google Shape;257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22"/>
          <p:cNvSpPr txBox="1"/>
          <p:nvPr/>
        </p:nvSpPr>
        <p:spPr>
          <a:xfrm>
            <a:off x="3097098" y="6065767"/>
            <a:ext cx="1229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3097112" y="6858511"/>
            <a:ext cx="5708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Árbol sintáctico abstracto.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0181561" y="7953198"/>
            <a:ext cx="5189980" cy="31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Árbol de análisis abstracto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7" name="Google Shape;267;p23"/>
          <p:cNvGrpSpPr/>
          <p:nvPr/>
        </p:nvGrpSpPr>
        <p:grpSpPr>
          <a:xfrm>
            <a:off x="1938575" y="3366551"/>
            <a:ext cx="7089564" cy="3993735"/>
            <a:chOff x="0" y="0"/>
            <a:chExt cx="1867198" cy="871690"/>
          </a:xfrm>
        </p:grpSpPr>
        <p:sp>
          <p:nvSpPr>
            <p:cNvPr id="268" name="Google Shape;268;p23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3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23"/>
          <p:cNvGrpSpPr/>
          <p:nvPr/>
        </p:nvGrpSpPr>
        <p:grpSpPr>
          <a:xfrm>
            <a:off x="9462250" y="2034800"/>
            <a:ext cx="6583069" cy="5714867"/>
            <a:chOff x="0" y="0"/>
            <a:chExt cx="1733801" cy="1385456"/>
          </a:xfrm>
        </p:grpSpPr>
        <p:sp>
          <p:nvSpPr>
            <p:cNvPr id="271" name="Google Shape;271;p23"/>
            <p:cNvSpPr/>
            <p:nvPr/>
          </p:nvSpPr>
          <p:spPr>
            <a:xfrm>
              <a:off x="0" y="0"/>
              <a:ext cx="1733801" cy="1385456"/>
            </a:xfrm>
            <a:custGeom>
              <a:rect b="b" l="l" r="r" t="t"/>
              <a:pathLst>
                <a:path extrusionOk="0" h="1385456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340766"/>
                  </a:lnTo>
                  <a:cubicBezTo>
                    <a:pt x="1733801" y="1352619"/>
                    <a:pt x="1729092" y="1363986"/>
                    <a:pt x="1720711" y="1372366"/>
                  </a:cubicBezTo>
                  <a:cubicBezTo>
                    <a:pt x="1712330" y="1380747"/>
                    <a:pt x="1700963" y="1385456"/>
                    <a:pt x="1689111" y="1385456"/>
                  </a:cubicBezTo>
                  <a:lnTo>
                    <a:pt x="44690" y="1385456"/>
                  </a:lnTo>
                  <a:cubicBezTo>
                    <a:pt x="32837" y="1385456"/>
                    <a:pt x="21470" y="1380747"/>
                    <a:pt x="13089" y="1372366"/>
                  </a:cubicBezTo>
                  <a:cubicBezTo>
                    <a:pt x="4708" y="1363986"/>
                    <a:pt x="0" y="1352619"/>
                    <a:pt x="0" y="1340766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3"/>
            <p:cNvSpPr txBox="1"/>
            <p:nvPr/>
          </p:nvSpPr>
          <p:spPr>
            <a:xfrm>
              <a:off x="0" y="19050"/>
              <a:ext cx="1733800" cy="1366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23"/>
          <p:cNvGrpSpPr/>
          <p:nvPr/>
        </p:nvGrpSpPr>
        <p:grpSpPr>
          <a:xfrm>
            <a:off x="2330172" y="3596324"/>
            <a:ext cx="224658" cy="224658"/>
            <a:chOff x="0" y="0"/>
            <a:chExt cx="812800" cy="812800"/>
          </a:xfrm>
        </p:grpSpPr>
        <p:sp>
          <p:nvSpPr>
            <p:cNvPr id="274" name="Google Shape;274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23"/>
          <p:cNvGrpSpPr/>
          <p:nvPr/>
        </p:nvGrpSpPr>
        <p:grpSpPr>
          <a:xfrm>
            <a:off x="9874227" y="2251264"/>
            <a:ext cx="216530" cy="216530"/>
            <a:chOff x="0" y="0"/>
            <a:chExt cx="812800" cy="812800"/>
          </a:xfrm>
        </p:grpSpPr>
        <p:sp>
          <p:nvSpPr>
            <p:cNvPr id="277" name="Google Shape;277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23"/>
          <p:cNvSpPr/>
          <p:nvPr/>
        </p:nvSpPr>
        <p:spPr>
          <a:xfrm>
            <a:off x="4105753" y="4068525"/>
            <a:ext cx="2279234" cy="2269855"/>
          </a:xfrm>
          <a:custGeom>
            <a:rect b="b" l="l" r="r" t="t"/>
            <a:pathLst>
              <a:path extrusionOk="0" h="2269855" w="2279234">
                <a:moveTo>
                  <a:pt x="0" y="0"/>
                </a:moveTo>
                <a:lnTo>
                  <a:pt x="2279235" y="0"/>
                </a:lnTo>
                <a:lnTo>
                  <a:pt x="2279235" y="2269855"/>
                </a:lnTo>
                <a:lnTo>
                  <a:pt x="0" y="2269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23"/>
          <p:cNvSpPr/>
          <p:nvPr/>
        </p:nvSpPr>
        <p:spPr>
          <a:xfrm>
            <a:off x="11282914" y="3005366"/>
            <a:ext cx="2941728" cy="3773731"/>
          </a:xfrm>
          <a:custGeom>
            <a:rect b="b" l="l" r="r" t="t"/>
            <a:pathLst>
              <a:path extrusionOk="0" h="3773731" w="2941728">
                <a:moveTo>
                  <a:pt x="0" y="0"/>
                </a:moveTo>
                <a:lnTo>
                  <a:pt x="2941728" y="0"/>
                </a:lnTo>
                <a:lnTo>
                  <a:pt x="2941728" y="3773732"/>
                </a:lnTo>
                <a:lnTo>
                  <a:pt x="0" y="3773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23"/>
          <p:cNvSpPr txBox="1"/>
          <p:nvPr/>
        </p:nvSpPr>
        <p:spPr>
          <a:xfrm>
            <a:off x="2054468" y="545850"/>
            <a:ext cx="146511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Sintáctico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2743231" y="3533349"/>
            <a:ext cx="1229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0348689" y="2178489"/>
            <a:ext cx="11349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2054445" y="2034788"/>
            <a:ext cx="7089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Ejemplo: Parseo de una asignación simple</a:t>
            </a:r>
            <a:endParaRPr/>
          </a:p>
        </p:txBody>
      </p:sp>
      <p:grpSp>
        <p:nvGrpSpPr>
          <p:cNvPr id="285" name="Google Shape;285;p23"/>
          <p:cNvGrpSpPr/>
          <p:nvPr/>
        </p:nvGrpSpPr>
        <p:grpSpPr>
          <a:xfrm>
            <a:off x="1938607" y="7720597"/>
            <a:ext cx="7089564" cy="1360843"/>
            <a:chOff x="0" y="0"/>
            <a:chExt cx="1867198" cy="358409"/>
          </a:xfrm>
        </p:grpSpPr>
        <p:sp>
          <p:nvSpPr>
            <p:cNvPr id="286" name="Google Shape;286;p23"/>
            <p:cNvSpPr/>
            <p:nvPr/>
          </p:nvSpPr>
          <p:spPr>
            <a:xfrm>
              <a:off x="0" y="0"/>
              <a:ext cx="1867198" cy="358409"/>
            </a:xfrm>
            <a:custGeom>
              <a:rect b="b" l="l" r="r" t="t"/>
              <a:pathLst>
                <a:path extrusionOk="0" h="358409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316912"/>
                  </a:lnTo>
                  <a:cubicBezTo>
                    <a:pt x="1867198" y="339830"/>
                    <a:pt x="1848620" y="358409"/>
                    <a:pt x="1825701" y="358409"/>
                  </a:cubicBezTo>
                  <a:lnTo>
                    <a:pt x="41497" y="358409"/>
                  </a:lnTo>
                  <a:cubicBezTo>
                    <a:pt x="30491" y="358409"/>
                    <a:pt x="19936" y="354037"/>
                    <a:pt x="12154" y="346255"/>
                  </a:cubicBezTo>
                  <a:cubicBezTo>
                    <a:pt x="4372" y="338472"/>
                    <a:pt x="0" y="327917"/>
                    <a:pt x="0" y="316912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3"/>
            <p:cNvSpPr txBox="1"/>
            <p:nvPr/>
          </p:nvSpPr>
          <p:spPr>
            <a:xfrm>
              <a:off x="0" y="19050"/>
              <a:ext cx="1867198" cy="339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23"/>
          <p:cNvGrpSpPr/>
          <p:nvPr/>
        </p:nvGrpSpPr>
        <p:grpSpPr>
          <a:xfrm>
            <a:off x="2330197" y="8055606"/>
            <a:ext cx="224658" cy="224658"/>
            <a:chOff x="0" y="0"/>
            <a:chExt cx="812800" cy="812800"/>
          </a:xfrm>
        </p:grpSpPr>
        <p:sp>
          <p:nvSpPr>
            <p:cNvPr id="289" name="Google Shape;289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23"/>
          <p:cNvSpPr txBox="1"/>
          <p:nvPr/>
        </p:nvSpPr>
        <p:spPr>
          <a:xfrm>
            <a:off x="2743256" y="8036556"/>
            <a:ext cx="3280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Herramientas habituales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2391020" y="8427049"/>
            <a:ext cx="5708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ANTLR, Bison, YACC</a:t>
            </a:r>
            <a:endParaRPr/>
          </a:p>
        </p:txBody>
      </p:sp>
      <p:grpSp>
        <p:nvGrpSpPr>
          <p:cNvPr id="293" name="Google Shape;293;p23"/>
          <p:cNvGrpSpPr/>
          <p:nvPr/>
        </p:nvGrpSpPr>
        <p:grpSpPr>
          <a:xfrm>
            <a:off x="9404325" y="7904558"/>
            <a:ext cx="6583069" cy="1564724"/>
            <a:chOff x="0" y="0"/>
            <a:chExt cx="1733801" cy="466650"/>
          </a:xfrm>
        </p:grpSpPr>
        <p:sp>
          <p:nvSpPr>
            <p:cNvPr id="294" name="Google Shape;294;p23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80750" lIns="80750" spcFirstLastPara="1" rIns="80750" wrap="square" tIns="80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3"/>
            <p:cNvSpPr txBox="1"/>
            <p:nvPr/>
          </p:nvSpPr>
          <p:spPr>
            <a:xfrm>
              <a:off x="0" y="19050"/>
              <a:ext cx="17337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875" lIns="44875" spcFirstLastPara="1" rIns="44875" wrap="square" tIns="44875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23"/>
          <p:cNvSpPr txBox="1"/>
          <p:nvPr/>
        </p:nvSpPr>
        <p:spPr>
          <a:xfrm>
            <a:off x="9830750" y="8254613"/>
            <a:ext cx="59331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4">
                <a:solidFill>
                  <a:srgbClr val="FFFFFF"/>
                </a:solidFill>
              </a:rPr>
              <a:t>Se valida el orden y prioridad del listado de tokens.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2" name="Google Shape;302;p24"/>
          <p:cNvGrpSpPr/>
          <p:nvPr/>
        </p:nvGrpSpPr>
        <p:grpSpPr>
          <a:xfrm>
            <a:off x="2054488" y="2343149"/>
            <a:ext cx="7089564" cy="6664506"/>
            <a:chOff x="0" y="0"/>
            <a:chExt cx="1867198" cy="871690"/>
          </a:xfrm>
        </p:grpSpPr>
        <p:sp>
          <p:nvSpPr>
            <p:cNvPr id="303" name="Google Shape;303;p24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4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24"/>
          <p:cNvGrpSpPr/>
          <p:nvPr/>
        </p:nvGrpSpPr>
        <p:grpSpPr>
          <a:xfrm>
            <a:off x="9439476" y="7136775"/>
            <a:ext cx="7454304" cy="1771660"/>
            <a:chOff x="0" y="0"/>
            <a:chExt cx="1733801" cy="466607"/>
          </a:xfrm>
        </p:grpSpPr>
        <p:sp>
          <p:nvSpPr>
            <p:cNvPr id="306" name="Google Shape;306;p24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4"/>
            <p:cNvSpPr txBox="1"/>
            <p:nvPr/>
          </p:nvSpPr>
          <p:spPr>
            <a:xfrm>
              <a:off x="0" y="19050"/>
              <a:ext cx="1733800" cy="44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24"/>
          <p:cNvGrpSpPr/>
          <p:nvPr/>
        </p:nvGrpSpPr>
        <p:grpSpPr>
          <a:xfrm>
            <a:off x="9439476" y="2343150"/>
            <a:ext cx="7454304" cy="4515391"/>
            <a:chOff x="0" y="0"/>
            <a:chExt cx="1733801" cy="1189231"/>
          </a:xfrm>
        </p:grpSpPr>
        <p:sp>
          <p:nvSpPr>
            <p:cNvPr id="309" name="Google Shape;309;p24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4"/>
            <p:cNvSpPr txBox="1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24"/>
          <p:cNvGrpSpPr/>
          <p:nvPr/>
        </p:nvGrpSpPr>
        <p:grpSpPr>
          <a:xfrm>
            <a:off x="2714477" y="4151247"/>
            <a:ext cx="224658" cy="224658"/>
            <a:chOff x="0" y="0"/>
            <a:chExt cx="812800" cy="812800"/>
          </a:xfrm>
        </p:grpSpPr>
        <p:sp>
          <p:nvSpPr>
            <p:cNvPr id="312" name="Google Shape;312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24"/>
          <p:cNvGrpSpPr/>
          <p:nvPr/>
        </p:nvGrpSpPr>
        <p:grpSpPr>
          <a:xfrm>
            <a:off x="10179697" y="2913029"/>
            <a:ext cx="517587" cy="517587"/>
            <a:chOff x="0" y="0"/>
            <a:chExt cx="812800" cy="812800"/>
          </a:xfrm>
        </p:grpSpPr>
        <p:sp>
          <p:nvSpPr>
            <p:cNvPr id="315" name="Google Shape;315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p24"/>
          <p:cNvSpPr/>
          <p:nvPr/>
        </p:nvSpPr>
        <p:spPr>
          <a:xfrm>
            <a:off x="10268981" y="3002943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3" y="0"/>
                </a:lnTo>
                <a:lnTo>
                  <a:pt x="374683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24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4866597" y="640225"/>
            <a:ext cx="85548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Semántico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3228960" y="4090172"/>
            <a:ext cx="1229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11038139" y="2983893"/>
            <a:ext cx="1134758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Tareas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10179702" y="7458325"/>
            <a:ext cx="51027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 de datos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3228949" y="4921116"/>
            <a:ext cx="5708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AST y tabla de símbolos.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10086074" y="3667500"/>
            <a:ext cx="6161100" cy="29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Comprobación de tipos: coherencia en operaciones y asignaciones.</a:t>
            </a:r>
            <a:endParaRPr/>
          </a:p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Verificación de declaraciones: uso de variables y funciones.</a:t>
            </a:r>
            <a:endParaRPr/>
          </a:p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Comprobación de reglas semánticas (alcance, conversión de tipos).</a:t>
            </a:r>
            <a:endParaRPr/>
          </a:p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Gestión de errores semánticos (uso de variables no declaradas, incompatibilidades de tipo).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2592532" y="2913014"/>
            <a:ext cx="60135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Comprueba la coherencia de tipos y uso correcto de declaraciones</a:t>
            </a:r>
            <a:endParaRPr/>
          </a:p>
        </p:txBody>
      </p:sp>
      <p:grpSp>
        <p:nvGrpSpPr>
          <p:cNvPr id="326" name="Google Shape;326;p24"/>
          <p:cNvGrpSpPr/>
          <p:nvPr/>
        </p:nvGrpSpPr>
        <p:grpSpPr>
          <a:xfrm>
            <a:off x="2775264" y="5832342"/>
            <a:ext cx="224658" cy="224658"/>
            <a:chOff x="0" y="0"/>
            <a:chExt cx="812800" cy="812800"/>
          </a:xfrm>
        </p:grpSpPr>
        <p:sp>
          <p:nvSpPr>
            <p:cNvPr id="327" name="Google Shape;327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24"/>
          <p:cNvSpPr txBox="1"/>
          <p:nvPr/>
        </p:nvSpPr>
        <p:spPr>
          <a:xfrm>
            <a:off x="3228948" y="5769367"/>
            <a:ext cx="1229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3097112" y="6640911"/>
            <a:ext cx="5708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AST anotado y tabla de símbolos completa (con información de tipos, espacios de nombres, etc.).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10179698" y="8156050"/>
            <a:ext cx="62631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AST anotado y tabla de símbolos enriquecida con tipos y ámbitos.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5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7" name="Google Shape;337;p25"/>
          <p:cNvGrpSpPr/>
          <p:nvPr/>
        </p:nvGrpSpPr>
        <p:grpSpPr>
          <a:xfrm>
            <a:off x="2054475" y="3028153"/>
            <a:ext cx="7089564" cy="6441156"/>
            <a:chOff x="0" y="0"/>
            <a:chExt cx="1867198" cy="1220147"/>
          </a:xfrm>
        </p:grpSpPr>
        <p:sp>
          <p:nvSpPr>
            <p:cNvPr id="338" name="Google Shape;338;p25"/>
            <p:cNvSpPr/>
            <p:nvPr/>
          </p:nvSpPr>
          <p:spPr>
            <a:xfrm>
              <a:off x="0" y="0"/>
              <a:ext cx="1867198" cy="1220147"/>
            </a:xfrm>
            <a:custGeom>
              <a:rect b="b" l="l" r="r" t="t"/>
              <a:pathLst>
                <a:path extrusionOk="0" h="1220147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1178650"/>
                  </a:lnTo>
                  <a:cubicBezTo>
                    <a:pt x="1867198" y="1201568"/>
                    <a:pt x="1848620" y="1220147"/>
                    <a:pt x="1825701" y="1220147"/>
                  </a:cubicBezTo>
                  <a:lnTo>
                    <a:pt x="41497" y="1220147"/>
                  </a:lnTo>
                  <a:cubicBezTo>
                    <a:pt x="30491" y="1220147"/>
                    <a:pt x="19936" y="1215775"/>
                    <a:pt x="12154" y="1207993"/>
                  </a:cubicBezTo>
                  <a:cubicBezTo>
                    <a:pt x="4372" y="1200210"/>
                    <a:pt x="0" y="1189655"/>
                    <a:pt x="0" y="1178650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5"/>
            <p:cNvSpPr txBox="1"/>
            <p:nvPr/>
          </p:nvSpPr>
          <p:spPr>
            <a:xfrm>
              <a:off x="0" y="19050"/>
              <a:ext cx="1867198" cy="1201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25"/>
          <p:cNvGrpSpPr/>
          <p:nvPr/>
        </p:nvGrpSpPr>
        <p:grpSpPr>
          <a:xfrm>
            <a:off x="9404325" y="2389300"/>
            <a:ext cx="6583069" cy="5275262"/>
            <a:chOff x="0" y="0"/>
            <a:chExt cx="1733801" cy="1385456"/>
          </a:xfrm>
        </p:grpSpPr>
        <p:sp>
          <p:nvSpPr>
            <p:cNvPr id="341" name="Google Shape;341;p25"/>
            <p:cNvSpPr/>
            <p:nvPr/>
          </p:nvSpPr>
          <p:spPr>
            <a:xfrm>
              <a:off x="0" y="0"/>
              <a:ext cx="1733801" cy="1385456"/>
            </a:xfrm>
            <a:custGeom>
              <a:rect b="b" l="l" r="r" t="t"/>
              <a:pathLst>
                <a:path extrusionOk="0" h="1385456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340766"/>
                  </a:lnTo>
                  <a:cubicBezTo>
                    <a:pt x="1733801" y="1352619"/>
                    <a:pt x="1729092" y="1363986"/>
                    <a:pt x="1720711" y="1372366"/>
                  </a:cubicBezTo>
                  <a:cubicBezTo>
                    <a:pt x="1712330" y="1380747"/>
                    <a:pt x="1700963" y="1385456"/>
                    <a:pt x="1689111" y="1385456"/>
                  </a:cubicBezTo>
                  <a:lnTo>
                    <a:pt x="44690" y="1385456"/>
                  </a:lnTo>
                  <a:cubicBezTo>
                    <a:pt x="32837" y="1385456"/>
                    <a:pt x="21470" y="1380747"/>
                    <a:pt x="13089" y="1372366"/>
                  </a:cubicBezTo>
                  <a:cubicBezTo>
                    <a:pt x="4708" y="1363986"/>
                    <a:pt x="0" y="1352619"/>
                    <a:pt x="0" y="1340766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5"/>
            <p:cNvSpPr txBox="1"/>
            <p:nvPr/>
          </p:nvSpPr>
          <p:spPr>
            <a:xfrm>
              <a:off x="0" y="19050"/>
              <a:ext cx="1733800" cy="1366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5"/>
          <p:cNvGrpSpPr/>
          <p:nvPr/>
        </p:nvGrpSpPr>
        <p:grpSpPr>
          <a:xfrm>
            <a:off x="2431572" y="3303536"/>
            <a:ext cx="224658" cy="224658"/>
            <a:chOff x="0" y="0"/>
            <a:chExt cx="812800" cy="812800"/>
          </a:xfrm>
        </p:grpSpPr>
        <p:sp>
          <p:nvSpPr>
            <p:cNvPr id="344" name="Google Shape;344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5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25"/>
          <p:cNvGrpSpPr/>
          <p:nvPr/>
        </p:nvGrpSpPr>
        <p:grpSpPr>
          <a:xfrm>
            <a:off x="9830752" y="2569339"/>
            <a:ext cx="216530" cy="216530"/>
            <a:chOff x="0" y="0"/>
            <a:chExt cx="812800" cy="812800"/>
          </a:xfrm>
        </p:grpSpPr>
        <p:sp>
          <p:nvSpPr>
            <p:cNvPr id="347" name="Google Shape;347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5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9" name="Google Shape;349;p25"/>
          <p:cNvSpPr/>
          <p:nvPr/>
        </p:nvSpPr>
        <p:spPr>
          <a:xfrm>
            <a:off x="2859119" y="3998645"/>
            <a:ext cx="5343908" cy="4926733"/>
          </a:xfrm>
          <a:custGeom>
            <a:rect b="b" l="l" r="r" t="t"/>
            <a:pathLst>
              <a:path extrusionOk="0" h="3368706" w="2625999">
                <a:moveTo>
                  <a:pt x="0" y="0"/>
                </a:moveTo>
                <a:lnTo>
                  <a:pt x="2626000" y="0"/>
                </a:lnTo>
                <a:lnTo>
                  <a:pt x="2626000" y="3368706"/>
                </a:lnTo>
                <a:lnTo>
                  <a:pt x="0" y="3368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0" name="Google Shape;350;p25"/>
          <p:cNvSpPr/>
          <p:nvPr/>
        </p:nvSpPr>
        <p:spPr>
          <a:xfrm>
            <a:off x="10874414" y="3095195"/>
            <a:ext cx="3642859" cy="3848627"/>
          </a:xfrm>
          <a:custGeom>
            <a:rect b="b" l="l" r="r" t="t"/>
            <a:pathLst>
              <a:path extrusionOk="0" h="3848627" w="3642859">
                <a:moveTo>
                  <a:pt x="0" y="0"/>
                </a:moveTo>
                <a:lnTo>
                  <a:pt x="3642859" y="0"/>
                </a:lnTo>
                <a:lnTo>
                  <a:pt x="3642859" y="3848628"/>
                </a:lnTo>
                <a:lnTo>
                  <a:pt x="0" y="3848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25"/>
          <p:cNvSpPr txBox="1"/>
          <p:nvPr/>
        </p:nvSpPr>
        <p:spPr>
          <a:xfrm>
            <a:off x="4810648" y="545850"/>
            <a:ext cx="86667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Semántico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859131" y="3253699"/>
            <a:ext cx="1229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10218289" y="2501652"/>
            <a:ext cx="11349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2170382" y="2389288"/>
            <a:ext cx="7089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endParaRPr/>
          </a:p>
        </p:txBody>
      </p:sp>
      <p:grpSp>
        <p:nvGrpSpPr>
          <p:cNvPr id="355" name="Google Shape;355;p25"/>
          <p:cNvGrpSpPr/>
          <p:nvPr/>
        </p:nvGrpSpPr>
        <p:grpSpPr>
          <a:xfrm>
            <a:off x="9404325" y="7904558"/>
            <a:ext cx="6583069" cy="1564724"/>
            <a:chOff x="0" y="0"/>
            <a:chExt cx="1733801" cy="466650"/>
          </a:xfrm>
        </p:grpSpPr>
        <p:sp>
          <p:nvSpPr>
            <p:cNvPr id="356" name="Google Shape;356;p25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80750" lIns="80750" spcFirstLastPara="1" rIns="80750" wrap="square" tIns="80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5"/>
            <p:cNvSpPr txBox="1"/>
            <p:nvPr/>
          </p:nvSpPr>
          <p:spPr>
            <a:xfrm>
              <a:off x="0" y="19050"/>
              <a:ext cx="17337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875" lIns="44875" spcFirstLastPara="1" rIns="44875" wrap="square" tIns="44875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" name="Google Shape;358;p25"/>
          <p:cNvSpPr txBox="1"/>
          <p:nvPr/>
        </p:nvSpPr>
        <p:spPr>
          <a:xfrm>
            <a:off x="9830750" y="8254613"/>
            <a:ext cx="59331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4">
                <a:solidFill>
                  <a:srgbClr val="FFFFFF"/>
                </a:solidFill>
              </a:rPr>
              <a:t>Se ve la coherencia del significado del </a:t>
            </a:r>
            <a:r>
              <a:rPr b="1" lang="en-US" sz="2754">
                <a:solidFill>
                  <a:srgbClr val="FFFFFF"/>
                </a:solidFill>
              </a:rPr>
              <a:t>Árbol</a:t>
            </a:r>
            <a:r>
              <a:rPr b="1" lang="en-US" sz="2754">
                <a:solidFill>
                  <a:srgbClr val="FFFFFF"/>
                </a:solidFill>
              </a:rPr>
              <a:t> de Sintaxis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26"/>
          <p:cNvGrpSpPr/>
          <p:nvPr/>
        </p:nvGrpSpPr>
        <p:grpSpPr>
          <a:xfrm>
            <a:off x="2358750" y="3798050"/>
            <a:ext cx="6477497" cy="5387829"/>
            <a:chOff x="0" y="0"/>
            <a:chExt cx="1867198" cy="871690"/>
          </a:xfrm>
        </p:grpSpPr>
        <p:sp>
          <p:nvSpPr>
            <p:cNvPr id="365" name="Google Shape;365;p26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6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26"/>
          <p:cNvGrpSpPr/>
          <p:nvPr/>
        </p:nvGrpSpPr>
        <p:grpSpPr>
          <a:xfrm>
            <a:off x="9439475" y="7136774"/>
            <a:ext cx="6583069" cy="2049105"/>
            <a:chOff x="0" y="0"/>
            <a:chExt cx="1733801" cy="466607"/>
          </a:xfrm>
        </p:grpSpPr>
        <p:sp>
          <p:nvSpPr>
            <p:cNvPr id="368" name="Google Shape;368;p26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6"/>
            <p:cNvSpPr txBox="1"/>
            <p:nvPr/>
          </p:nvSpPr>
          <p:spPr>
            <a:xfrm>
              <a:off x="0" y="19050"/>
              <a:ext cx="1733800" cy="44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0" name="Google Shape;370;p26"/>
          <p:cNvGrpSpPr/>
          <p:nvPr/>
        </p:nvGrpSpPr>
        <p:grpSpPr>
          <a:xfrm>
            <a:off x="9439465" y="2343150"/>
            <a:ext cx="6583028" cy="4515361"/>
            <a:chOff x="0" y="0"/>
            <a:chExt cx="1733801" cy="1189231"/>
          </a:xfrm>
        </p:grpSpPr>
        <p:sp>
          <p:nvSpPr>
            <p:cNvPr id="371" name="Google Shape;371;p26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6"/>
            <p:cNvSpPr txBox="1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26"/>
          <p:cNvGrpSpPr/>
          <p:nvPr/>
        </p:nvGrpSpPr>
        <p:grpSpPr>
          <a:xfrm>
            <a:off x="2775264" y="4289747"/>
            <a:ext cx="224658" cy="224658"/>
            <a:chOff x="0" y="0"/>
            <a:chExt cx="812800" cy="812800"/>
          </a:xfrm>
        </p:grpSpPr>
        <p:sp>
          <p:nvSpPr>
            <p:cNvPr id="374" name="Google Shape;374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6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" name="Google Shape;376;p26"/>
          <p:cNvGrpSpPr/>
          <p:nvPr/>
        </p:nvGrpSpPr>
        <p:grpSpPr>
          <a:xfrm>
            <a:off x="10179697" y="2913029"/>
            <a:ext cx="517587" cy="517587"/>
            <a:chOff x="0" y="0"/>
            <a:chExt cx="812800" cy="812800"/>
          </a:xfrm>
        </p:grpSpPr>
        <p:sp>
          <p:nvSpPr>
            <p:cNvPr id="377" name="Google Shape;377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6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26"/>
          <p:cNvSpPr/>
          <p:nvPr/>
        </p:nvSpPr>
        <p:spPr>
          <a:xfrm>
            <a:off x="10268981" y="3002943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3" y="0"/>
                </a:lnTo>
                <a:lnTo>
                  <a:pt x="374683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0" name="Google Shape;380;p26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2358750" y="343950"/>
            <a:ext cx="13968000" cy="22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Generación de Código Intermedio</a:t>
            </a:r>
            <a:endParaRPr/>
          </a:p>
        </p:txBody>
      </p:sp>
      <p:sp>
        <p:nvSpPr>
          <p:cNvPr id="382" name="Google Shape;382;p26"/>
          <p:cNvSpPr txBox="1"/>
          <p:nvPr/>
        </p:nvSpPr>
        <p:spPr>
          <a:xfrm>
            <a:off x="3097100" y="4228675"/>
            <a:ext cx="57087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Ejemplo: Código de tres direcciones</a:t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11038155" y="2983900"/>
            <a:ext cx="30507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/>
          </a:p>
        </p:txBody>
      </p:sp>
      <p:sp>
        <p:nvSpPr>
          <p:cNvPr id="384" name="Google Shape;384;p26"/>
          <p:cNvSpPr txBox="1"/>
          <p:nvPr/>
        </p:nvSpPr>
        <p:spPr>
          <a:xfrm>
            <a:off x="2743137" y="5146666"/>
            <a:ext cx="5708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Expresión original</a:t>
            </a:r>
            <a:r>
              <a:rPr b="1" i="1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1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(a + b) * c</a:t>
            </a:r>
            <a:endParaRPr/>
          </a:p>
        </p:txBody>
      </p:sp>
      <p:sp>
        <p:nvSpPr>
          <p:cNvPr id="385" name="Google Shape;385;p26"/>
          <p:cNvSpPr txBox="1"/>
          <p:nvPr/>
        </p:nvSpPr>
        <p:spPr>
          <a:xfrm>
            <a:off x="10268975" y="3780902"/>
            <a:ext cx="5102700" cy="1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solo operador por instrucción.</a:t>
            </a:r>
            <a:endParaRPr/>
          </a:p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Nombres temporales para valores intermedios.</a:t>
            </a:r>
            <a:endParaRPr/>
          </a:p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Etiquetas para saltos condicionales e incondicionales.</a:t>
            </a:r>
            <a:endParaRPr/>
          </a:p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Sirve de base para la optimización.</a:t>
            </a: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2358757" y="2833889"/>
            <a:ext cx="60135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Traduce el AST anotado a una representación neutral (IR).</a:t>
            </a:r>
            <a:endParaRPr/>
          </a:p>
        </p:txBody>
      </p:sp>
      <p:sp>
        <p:nvSpPr>
          <p:cNvPr id="387" name="Google Shape;387;p26"/>
          <p:cNvSpPr txBox="1"/>
          <p:nvPr/>
        </p:nvSpPr>
        <p:spPr>
          <a:xfrm>
            <a:off x="2743105" y="5902076"/>
            <a:ext cx="5708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 = a + b  </a:t>
            </a:r>
            <a:endParaRPr/>
          </a:p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 = t1 * c  </a:t>
            </a:r>
            <a:endParaRPr/>
          </a:p>
        </p:txBody>
      </p:sp>
      <p:sp>
        <p:nvSpPr>
          <p:cNvPr id="388" name="Google Shape;388;p26"/>
          <p:cNvSpPr txBox="1"/>
          <p:nvPr/>
        </p:nvSpPr>
        <p:spPr>
          <a:xfrm>
            <a:off x="10179697" y="7369295"/>
            <a:ext cx="3050649" cy="43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Propósito</a:t>
            </a:r>
            <a:endParaRPr/>
          </a:p>
        </p:txBody>
      </p:sp>
      <p:sp>
        <p:nvSpPr>
          <p:cNvPr id="389" name="Google Shape;389;p26"/>
          <p:cNvSpPr txBox="1"/>
          <p:nvPr/>
        </p:nvSpPr>
        <p:spPr>
          <a:xfrm>
            <a:off x="10136022" y="7885385"/>
            <a:ext cx="51900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Desacoplar front-end (análisis léxico, etc.) y back-end.</a:t>
            </a:r>
            <a:endParaRPr/>
          </a:p>
          <a:p>
            <a:pPr indent="-180955" lvl="1" marL="36191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6"/>
              <a:buFont typeface="Arial"/>
              <a:buChar char="•"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Simplificar la generación de código máquina</a:t>
            </a:r>
            <a:endParaRPr/>
          </a:p>
        </p:txBody>
      </p:sp>
      <p:sp>
        <p:nvSpPr>
          <p:cNvPr id="390" name="Google Shape;390;p26"/>
          <p:cNvSpPr txBox="1"/>
          <p:nvPr/>
        </p:nvSpPr>
        <p:spPr>
          <a:xfrm>
            <a:off x="2663555" y="7279486"/>
            <a:ext cx="57087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0955" lvl="1" marL="36191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6"/>
              <a:buFont typeface="Arial"/>
              <a:buChar char="•"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 = a + b calcula la subexpresión (a + b)</a:t>
            </a:r>
            <a:endParaRPr/>
          </a:p>
          <a:p>
            <a:pPr indent="-180955" lvl="1" marL="36191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6"/>
              <a:buFont typeface="Arial"/>
              <a:buChar char="•"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 = t1 * c multiplica ese resultado por c, reproduciendo (a + b) * c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6" name="Google Shape;396;p27"/>
          <p:cNvGrpSpPr/>
          <p:nvPr/>
        </p:nvGrpSpPr>
        <p:grpSpPr>
          <a:xfrm>
            <a:off x="1937200" y="3770925"/>
            <a:ext cx="7089564" cy="4878849"/>
            <a:chOff x="0" y="0"/>
            <a:chExt cx="1867198" cy="871690"/>
          </a:xfrm>
        </p:grpSpPr>
        <p:sp>
          <p:nvSpPr>
            <p:cNvPr id="397" name="Google Shape;397;p27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7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27"/>
          <p:cNvGrpSpPr/>
          <p:nvPr/>
        </p:nvGrpSpPr>
        <p:grpSpPr>
          <a:xfrm>
            <a:off x="9439475" y="2343150"/>
            <a:ext cx="6583069" cy="6306611"/>
            <a:chOff x="0" y="0"/>
            <a:chExt cx="1733801" cy="1189231"/>
          </a:xfrm>
        </p:grpSpPr>
        <p:sp>
          <p:nvSpPr>
            <p:cNvPr id="400" name="Google Shape;400;p27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7"/>
            <p:cNvSpPr txBox="1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27"/>
          <p:cNvGrpSpPr/>
          <p:nvPr/>
        </p:nvGrpSpPr>
        <p:grpSpPr>
          <a:xfrm>
            <a:off x="9876611" y="2917491"/>
            <a:ext cx="224656" cy="224656"/>
            <a:chOff x="0" y="0"/>
            <a:chExt cx="812800" cy="812800"/>
          </a:xfrm>
        </p:grpSpPr>
        <p:sp>
          <p:nvSpPr>
            <p:cNvPr id="403" name="Google Shape;403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05" name="Google Shape;405;p27"/>
          <p:cNvGraphicFramePr/>
          <p:nvPr/>
        </p:nvGraphicFramePr>
        <p:xfrm>
          <a:off x="9876634" y="43251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{80C1E5E0-DE15-4A8F-AC47-B732DCA9F909}</a:tableStyleId>
              </a:tblPr>
              <a:tblGrid>
                <a:gridCol w="2854375"/>
                <a:gridCol w="2854375"/>
              </a:tblGrid>
              <a:tr h="63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76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t1 = a + 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76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 EAX, [a]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76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EAX, [b]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76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t2 = t1 * c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76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IMUL EAX, [c]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76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 [t2], EAX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6" name="Google Shape;406;p27"/>
          <p:cNvSpPr txBox="1"/>
          <p:nvPr/>
        </p:nvSpPr>
        <p:spPr>
          <a:xfrm>
            <a:off x="1937194" y="553650"/>
            <a:ext cx="140853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Generación de Código Objetivo</a:t>
            </a:r>
            <a:endParaRPr/>
          </a:p>
        </p:txBody>
      </p:sp>
      <p:sp>
        <p:nvSpPr>
          <p:cNvPr id="407" name="Google Shape;407;p27"/>
          <p:cNvSpPr txBox="1"/>
          <p:nvPr/>
        </p:nvSpPr>
        <p:spPr>
          <a:xfrm>
            <a:off x="10289677" y="2898450"/>
            <a:ext cx="17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408" name="Google Shape;408;p27"/>
          <p:cNvSpPr txBox="1"/>
          <p:nvPr/>
        </p:nvSpPr>
        <p:spPr>
          <a:xfrm>
            <a:off x="1937200" y="2113502"/>
            <a:ext cx="60135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Toma el IR optimizado y lo convierte en instrucciones de ensamblador o máquina específicas de la arquitectura destino</a:t>
            </a:r>
            <a:endParaRPr/>
          </a:p>
        </p:txBody>
      </p:sp>
      <p:grpSp>
        <p:nvGrpSpPr>
          <p:cNvPr id="409" name="Google Shape;409;p27"/>
          <p:cNvGrpSpPr/>
          <p:nvPr/>
        </p:nvGrpSpPr>
        <p:grpSpPr>
          <a:xfrm>
            <a:off x="2597189" y="4325122"/>
            <a:ext cx="224658" cy="224658"/>
            <a:chOff x="0" y="0"/>
            <a:chExt cx="812800" cy="812800"/>
          </a:xfrm>
        </p:grpSpPr>
        <p:sp>
          <p:nvSpPr>
            <p:cNvPr id="410" name="Google Shape;410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p27"/>
          <p:cNvSpPr txBox="1"/>
          <p:nvPr/>
        </p:nvSpPr>
        <p:spPr>
          <a:xfrm>
            <a:off x="3010248" y="4315597"/>
            <a:ext cx="1229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/>
          </a:p>
        </p:txBody>
      </p:sp>
      <p:sp>
        <p:nvSpPr>
          <p:cNvPr id="413" name="Google Shape;413;p27"/>
          <p:cNvSpPr txBox="1"/>
          <p:nvPr/>
        </p:nvSpPr>
        <p:spPr>
          <a:xfrm>
            <a:off x="3010262" y="5207791"/>
            <a:ext cx="5708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IR ya optimizado</a:t>
            </a:r>
            <a:endParaRPr/>
          </a:p>
        </p:txBody>
      </p:sp>
      <p:grpSp>
        <p:nvGrpSpPr>
          <p:cNvPr id="414" name="Google Shape;414;p27"/>
          <p:cNvGrpSpPr/>
          <p:nvPr/>
        </p:nvGrpSpPr>
        <p:grpSpPr>
          <a:xfrm>
            <a:off x="2597200" y="6391000"/>
            <a:ext cx="224658" cy="224658"/>
            <a:chOff x="0" y="0"/>
            <a:chExt cx="812800" cy="812800"/>
          </a:xfrm>
        </p:grpSpPr>
        <p:sp>
          <p:nvSpPr>
            <p:cNvPr id="415" name="Google Shape;415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7" name="Google Shape;417;p27"/>
          <p:cNvSpPr txBox="1"/>
          <p:nvPr/>
        </p:nvSpPr>
        <p:spPr>
          <a:xfrm>
            <a:off x="3010248" y="6329917"/>
            <a:ext cx="1229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/>
          </a:p>
        </p:txBody>
      </p:sp>
      <p:sp>
        <p:nvSpPr>
          <p:cNvPr id="418" name="Google Shape;418;p27"/>
          <p:cNvSpPr txBox="1"/>
          <p:nvPr/>
        </p:nvSpPr>
        <p:spPr>
          <a:xfrm>
            <a:off x="3010262" y="6971686"/>
            <a:ext cx="5708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0955" lvl="1" marL="36191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6"/>
              <a:buFont typeface="Arial"/>
              <a:buChar char="•"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Ensamblador (.s) listo para ensamblar</a:t>
            </a:r>
            <a:endParaRPr/>
          </a:p>
          <a:p>
            <a:pPr indent="-180955" lvl="1" marL="36191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6"/>
              <a:buFont typeface="Arial"/>
              <a:buChar char="•"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Binario objeto (.o) tras el assembler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8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4" name="Google Shape;424;p28"/>
          <p:cNvSpPr/>
          <p:nvPr/>
        </p:nvSpPr>
        <p:spPr>
          <a:xfrm>
            <a:off x="1074575" y="3489438"/>
            <a:ext cx="5162802" cy="5086311"/>
          </a:xfrm>
          <a:custGeom>
            <a:rect b="b" l="l" r="r" t="t"/>
            <a:pathLst>
              <a:path extrusionOk="0" h="871690" w="1867198">
                <a:moveTo>
                  <a:pt x="41497" y="0"/>
                </a:moveTo>
                <a:lnTo>
                  <a:pt x="1825701" y="0"/>
                </a:lnTo>
                <a:cubicBezTo>
                  <a:pt x="1836707" y="0"/>
                  <a:pt x="1847262" y="4372"/>
                  <a:pt x="1855044" y="12154"/>
                </a:cubicBezTo>
                <a:cubicBezTo>
                  <a:pt x="1862826" y="19936"/>
                  <a:pt x="1867198" y="30491"/>
                  <a:pt x="1867198" y="41497"/>
                </a:cubicBezTo>
                <a:lnTo>
                  <a:pt x="1867198" y="830194"/>
                </a:lnTo>
                <a:cubicBezTo>
                  <a:pt x="1867198" y="853112"/>
                  <a:pt x="1848620" y="871690"/>
                  <a:pt x="1825701" y="871690"/>
                </a:cubicBezTo>
                <a:lnTo>
                  <a:pt x="41497" y="871690"/>
                </a:lnTo>
                <a:cubicBezTo>
                  <a:pt x="30491" y="871690"/>
                  <a:pt x="19936" y="867318"/>
                  <a:pt x="12154" y="859536"/>
                </a:cubicBezTo>
                <a:cubicBezTo>
                  <a:pt x="4372" y="851754"/>
                  <a:pt x="0" y="841199"/>
                  <a:pt x="0" y="830194"/>
                </a:cubicBezTo>
                <a:lnTo>
                  <a:pt x="0" y="41497"/>
                </a:lnTo>
                <a:cubicBezTo>
                  <a:pt x="0" y="30491"/>
                  <a:pt x="4372" y="19936"/>
                  <a:pt x="12154" y="12154"/>
                </a:cubicBezTo>
                <a:cubicBezTo>
                  <a:pt x="19936" y="4372"/>
                  <a:pt x="30491" y="0"/>
                  <a:pt x="41497" y="0"/>
                </a:cubicBezTo>
                <a:close/>
              </a:path>
            </a:pathLst>
          </a:custGeom>
          <a:solidFill>
            <a:srgbClr val="202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1399775" y="3489125"/>
            <a:ext cx="5162392" cy="5086936"/>
          </a:xfrm>
          <a:custGeom>
            <a:rect b="b" l="l" r="r" t="t"/>
            <a:pathLst>
              <a:path extrusionOk="0" h="1189231" w="1733801">
                <a:moveTo>
                  <a:pt x="44690" y="0"/>
                </a:moveTo>
                <a:lnTo>
                  <a:pt x="1689111" y="0"/>
                </a:lnTo>
                <a:cubicBezTo>
                  <a:pt x="1713792" y="0"/>
                  <a:pt x="1733801" y="20008"/>
                  <a:pt x="1733801" y="44690"/>
                </a:cubicBezTo>
                <a:lnTo>
                  <a:pt x="1733801" y="1144541"/>
                </a:lnTo>
                <a:cubicBezTo>
                  <a:pt x="1733801" y="1156394"/>
                  <a:pt x="1729092" y="1167761"/>
                  <a:pt x="1720711" y="1176141"/>
                </a:cubicBezTo>
                <a:cubicBezTo>
                  <a:pt x="1712330" y="1184522"/>
                  <a:pt x="1700963" y="1189231"/>
                  <a:pt x="1689111" y="1189231"/>
                </a:cubicBezTo>
                <a:lnTo>
                  <a:pt x="44690" y="1189231"/>
                </a:lnTo>
                <a:cubicBezTo>
                  <a:pt x="32837" y="1189231"/>
                  <a:pt x="21470" y="1184522"/>
                  <a:pt x="13089" y="1176141"/>
                </a:cubicBezTo>
                <a:cubicBezTo>
                  <a:pt x="4708" y="1167761"/>
                  <a:pt x="0" y="1156394"/>
                  <a:pt x="0" y="1144541"/>
                </a:cubicBezTo>
                <a:lnTo>
                  <a:pt x="0" y="44690"/>
                </a:lnTo>
                <a:cubicBezTo>
                  <a:pt x="0" y="32837"/>
                  <a:pt x="4708" y="21470"/>
                  <a:pt x="13089" y="13089"/>
                </a:cubicBezTo>
                <a:cubicBezTo>
                  <a:pt x="21470" y="4708"/>
                  <a:pt x="32837" y="0"/>
                  <a:pt x="44690" y="0"/>
                </a:cubicBezTo>
                <a:close/>
              </a:path>
            </a:pathLst>
          </a:custGeom>
          <a:solidFill>
            <a:srgbClr val="202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8"/>
          <p:cNvSpPr txBox="1"/>
          <p:nvPr/>
        </p:nvSpPr>
        <p:spPr>
          <a:xfrm>
            <a:off x="1937194" y="553650"/>
            <a:ext cx="14085300" cy="22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66">
                <a:solidFill>
                  <a:srgbClr val="FFFFFF"/>
                </a:solidFill>
              </a:rPr>
              <a:t>Compilar vs Interpretar vs Transpilar</a:t>
            </a: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6237380" y="3489575"/>
            <a:ext cx="5162392" cy="5086016"/>
          </a:xfrm>
          <a:custGeom>
            <a:rect b="b" l="l" r="r" t="t"/>
            <a:pathLst>
              <a:path extrusionOk="0" h="466607" w="1733801">
                <a:moveTo>
                  <a:pt x="44690" y="0"/>
                </a:moveTo>
                <a:lnTo>
                  <a:pt x="1689111" y="0"/>
                </a:lnTo>
                <a:cubicBezTo>
                  <a:pt x="1713792" y="0"/>
                  <a:pt x="1733801" y="20008"/>
                  <a:pt x="1733801" y="44690"/>
                </a:cubicBezTo>
                <a:lnTo>
                  <a:pt x="1733801" y="421918"/>
                </a:lnTo>
                <a:cubicBezTo>
                  <a:pt x="1733801" y="433770"/>
                  <a:pt x="1729092" y="445137"/>
                  <a:pt x="1720711" y="453518"/>
                </a:cubicBezTo>
                <a:cubicBezTo>
                  <a:pt x="1712330" y="461899"/>
                  <a:pt x="1700963" y="466607"/>
                  <a:pt x="1689111" y="466607"/>
                </a:cubicBezTo>
                <a:lnTo>
                  <a:pt x="44690" y="466607"/>
                </a:lnTo>
                <a:cubicBezTo>
                  <a:pt x="32837" y="466607"/>
                  <a:pt x="21470" y="461899"/>
                  <a:pt x="13089" y="453518"/>
                </a:cubicBezTo>
                <a:cubicBezTo>
                  <a:pt x="4708" y="445137"/>
                  <a:pt x="0" y="433770"/>
                  <a:pt x="0" y="421918"/>
                </a:cubicBezTo>
                <a:lnTo>
                  <a:pt x="0" y="44690"/>
                </a:lnTo>
                <a:cubicBezTo>
                  <a:pt x="0" y="32837"/>
                  <a:pt x="4708" y="21470"/>
                  <a:pt x="13089" y="13089"/>
                </a:cubicBezTo>
                <a:cubicBezTo>
                  <a:pt x="21470" y="4708"/>
                  <a:pt x="32837" y="0"/>
                  <a:pt x="44690" y="0"/>
                </a:cubicBezTo>
                <a:close/>
              </a:path>
            </a:pathLst>
          </a:custGeom>
          <a:gradFill>
            <a:gsLst>
              <a:gs pos="0">
                <a:srgbClr val="0C4A5B"/>
              </a:gs>
              <a:gs pos="100000">
                <a:srgbClr val="27DDDF"/>
              </a:gs>
            </a:gsLst>
            <a:lin ang="2700006" scaled="0"/>
          </a:gradFill>
          <a:ln>
            <a:noFill/>
          </a:ln>
        </p:spPr>
        <p:txBody>
          <a:bodyPr anchorCtr="0" anchor="ctr" bIns="89600" lIns="89600" spcFirstLastPara="1" rIns="89600" wrap="square" tIns="8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8"/>
          <p:cNvSpPr txBox="1"/>
          <p:nvPr/>
        </p:nvSpPr>
        <p:spPr>
          <a:xfrm>
            <a:off x="1574125" y="3840025"/>
            <a:ext cx="4433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Compilar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 txBox="1"/>
          <p:nvPr/>
        </p:nvSpPr>
        <p:spPr>
          <a:xfrm>
            <a:off x="11764125" y="3840025"/>
            <a:ext cx="4433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Transpilar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8"/>
          <p:cNvSpPr txBox="1"/>
          <p:nvPr/>
        </p:nvSpPr>
        <p:spPr>
          <a:xfrm>
            <a:off x="6601725" y="3840025"/>
            <a:ext cx="4433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Interpretar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8"/>
          <p:cNvSpPr txBox="1"/>
          <p:nvPr/>
        </p:nvSpPr>
        <p:spPr>
          <a:xfrm>
            <a:off x="1574125" y="5021125"/>
            <a:ext cx="4433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Todo el codigo de alto nivel se convierte lenguaje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máquina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(binario), esto permite una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ejecución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directa.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8"/>
          <p:cNvSpPr txBox="1"/>
          <p:nvPr/>
        </p:nvSpPr>
        <p:spPr>
          <a:xfrm>
            <a:off x="6486950" y="5021125"/>
            <a:ext cx="44337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código se interpreta en tiempo real por un mediador denominado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intérprete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8"/>
          <p:cNvSpPr txBox="1"/>
          <p:nvPr/>
        </p:nvSpPr>
        <p:spPr>
          <a:xfrm>
            <a:off x="11629325" y="5021125"/>
            <a:ext cx="4433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código se traduce de a otro de nivel similar, esto es utilizado para asegurar funcionamiento en entornos no compatibles nativamente.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9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9" name="Google Shape;439;p29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grpSp>
        <p:nvGrpSpPr>
          <p:cNvPr id="440" name="Google Shape;440;p29"/>
          <p:cNvGrpSpPr/>
          <p:nvPr/>
        </p:nvGrpSpPr>
        <p:grpSpPr>
          <a:xfrm rot="-4011154">
            <a:off x="13539775" y="1196864"/>
            <a:ext cx="17403374" cy="18180272"/>
            <a:chOff x="0" y="0"/>
            <a:chExt cx="4583605" cy="4788220"/>
          </a:xfrm>
        </p:grpSpPr>
        <p:sp>
          <p:nvSpPr>
            <p:cNvPr id="441" name="Google Shape;441;p29"/>
            <p:cNvSpPr/>
            <p:nvPr/>
          </p:nvSpPr>
          <p:spPr>
            <a:xfrm>
              <a:off x="0" y="0"/>
              <a:ext cx="4583605" cy="4788220"/>
            </a:xfrm>
            <a:custGeom>
              <a:rect b="b" l="l" r="r" t="t"/>
              <a:pathLst>
                <a:path extrusionOk="0"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42" name="Google Shape;442;p29"/>
            <p:cNvSpPr txBox="1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3" name="Google Shape;443;p29"/>
          <p:cNvGrpSpPr/>
          <p:nvPr/>
        </p:nvGrpSpPr>
        <p:grpSpPr>
          <a:xfrm>
            <a:off x="-5480811" y="3350526"/>
            <a:ext cx="29391319" cy="3585945"/>
            <a:chOff x="0" y="0"/>
            <a:chExt cx="1417549" cy="172950"/>
          </a:xfrm>
        </p:grpSpPr>
        <p:sp>
          <p:nvSpPr>
            <p:cNvPr id="444" name="Google Shape;444;p29"/>
            <p:cNvSpPr/>
            <p:nvPr/>
          </p:nvSpPr>
          <p:spPr>
            <a:xfrm>
              <a:off x="0" y="0"/>
              <a:ext cx="1417549" cy="172843"/>
            </a:xfrm>
            <a:custGeom>
              <a:rect b="b" l="l" r="r" t="t"/>
              <a:pathLst>
                <a:path extrusionOk="0" h="172843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42924"/>
                  </a:lnTo>
                  <a:cubicBezTo>
                    <a:pt x="1417549" y="159448"/>
                    <a:pt x="1404154" y="172843"/>
                    <a:pt x="1387630" y="172843"/>
                  </a:cubicBezTo>
                  <a:lnTo>
                    <a:pt x="29919" y="172843"/>
                  </a:lnTo>
                  <a:cubicBezTo>
                    <a:pt x="13395" y="172843"/>
                    <a:pt x="0" y="159448"/>
                    <a:pt x="0" y="142924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94500" lIns="494500" spcFirstLastPara="1" rIns="494500" wrap="square" tIns="494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9"/>
            <p:cNvSpPr txBox="1"/>
            <p:nvPr/>
          </p:nvSpPr>
          <p:spPr>
            <a:xfrm>
              <a:off x="0" y="19050"/>
              <a:ext cx="1417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750" lIns="274750" spcFirstLastPara="1" rIns="274750" wrap="square" tIns="27475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7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29"/>
          <p:cNvSpPr txBox="1"/>
          <p:nvPr/>
        </p:nvSpPr>
        <p:spPr>
          <a:xfrm>
            <a:off x="4172749" y="4705650"/>
            <a:ext cx="100842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90">
                <a:solidFill>
                  <a:srgbClr val="FFFFFF"/>
                </a:solidFill>
              </a:rPr>
              <a:t>Instalación de Herramientas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2" name="Google Shape;452;p30"/>
          <p:cNvGrpSpPr/>
          <p:nvPr/>
        </p:nvGrpSpPr>
        <p:grpSpPr>
          <a:xfrm>
            <a:off x="-9749190" y="2970189"/>
            <a:ext cx="37786389" cy="4346621"/>
            <a:chOff x="-85023" y="0"/>
            <a:chExt cx="1502572" cy="172843"/>
          </a:xfrm>
        </p:grpSpPr>
        <p:sp>
          <p:nvSpPr>
            <p:cNvPr id="453" name="Google Shape;453;p30"/>
            <p:cNvSpPr/>
            <p:nvPr/>
          </p:nvSpPr>
          <p:spPr>
            <a:xfrm>
              <a:off x="0" y="0"/>
              <a:ext cx="1417549" cy="172843"/>
            </a:xfrm>
            <a:custGeom>
              <a:rect b="b" l="l" r="r" t="t"/>
              <a:pathLst>
                <a:path extrusionOk="0" h="172843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42924"/>
                  </a:lnTo>
                  <a:cubicBezTo>
                    <a:pt x="1417549" y="159448"/>
                    <a:pt x="1404154" y="172843"/>
                    <a:pt x="1387630" y="172843"/>
                  </a:cubicBezTo>
                  <a:lnTo>
                    <a:pt x="29919" y="172843"/>
                  </a:lnTo>
                  <a:cubicBezTo>
                    <a:pt x="13395" y="172843"/>
                    <a:pt x="0" y="159448"/>
                    <a:pt x="0" y="142924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599750" lIns="599750" spcFirstLastPara="1" rIns="599750" wrap="square" tIns="599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0"/>
            <p:cNvSpPr txBox="1"/>
            <p:nvPr/>
          </p:nvSpPr>
          <p:spPr>
            <a:xfrm>
              <a:off x="-85023" y="2919"/>
              <a:ext cx="1417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250" lIns="333250" spcFirstLastPara="1" rIns="333250" wrap="square" tIns="33325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8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5" name="Google Shape;455;p30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456" name="Google Shape;456;p30"/>
          <p:cNvSpPr txBox="1"/>
          <p:nvPr/>
        </p:nvSpPr>
        <p:spPr>
          <a:xfrm>
            <a:off x="6210663" y="4705650"/>
            <a:ext cx="61575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90">
                <a:solidFill>
                  <a:srgbClr val="FFFFFF"/>
                </a:solidFill>
              </a:rPr>
              <a:t>Ejemplo </a:t>
            </a:r>
            <a:r>
              <a:rPr b="1" lang="en-US" sz="5690">
                <a:solidFill>
                  <a:srgbClr val="FFFFFF"/>
                </a:solidFill>
              </a:rPr>
              <a:t>Práctico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2" name="Google Shape;462;p31"/>
          <p:cNvGrpSpPr/>
          <p:nvPr/>
        </p:nvGrpSpPr>
        <p:grpSpPr>
          <a:xfrm>
            <a:off x="-1724127" y="4753910"/>
            <a:ext cx="20251360" cy="18179914"/>
            <a:chOff x="0" y="0"/>
            <a:chExt cx="5333797" cy="4788220"/>
          </a:xfrm>
        </p:grpSpPr>
        <p:sp>
          <p:nvSpPr>
            <p:cNvPr id="463" name="Google Shape;463;p31"/>
            <p:cNvSpPr/>
            <p:nvPr/>
          </p:nvSpPr>
          <p:spPr>
            <a:xfrm>
              <a:off x="0" y="0"/>
              <a:ext cx="5333797" cy="4788220"/>
            </a:xfrm>
            <a:custGeom>
              <a:rect b="b" l="l" r="r" t="t"/>
              <a:pathLst>
                <a:path extrusionOk="0"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64" name="Google Shape;464;p31"/>
            <p:cNvSpPr txBox="1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31"/>
          <p:cNvGrpSpPr/>
          <p:nvPr/>
        </p:nvGrpSpPr>
        <p:grpSpPr>
          <a:xfrm>
            <a:off x="2266343" y="8553082"/>
            <a:ext cx="13735267" cy="705218"/>
            <a:chOff x="0" y="0"/>
            <a:chExt cx="3583040" cy="183966"/>
          </a:xfrm>
        </p:grpSpPr>
        <p:sp>
          <p:nvSpPr>
            <p:cNvPr id="466" name="Google Shape;466;p31"/>
            <p:cNvSpPr/>
            <p:nvPr/>
          </p:nvSpPr>
          <p:spPr>
            <a:xfrm>
              <a:off x="0" y="0"/>
              <a:ext cx="3583039" cy="183966"/>
            </a:xfrm>
            <a:custGeom>
              <a:rect b="b" l="l" r="r" t="t"/>
              <a:pathLst>
                <a:path extrusionOk="0" h="183966" w="3583039">
                  <a:moveTo>
                    <a:pt x="11837" y="0"/>
                  </a:moveTo>
                  <a:lnTo>
                    <a:pt x="3571203" y="0"/>
                  </a:lnTo>
                  <a:cubicBezTo>
                    <a:pt x="3574342" y="0"/>
                    <a:pt x="3577353" y="1247"/>
                    <a:pt x="3579573" y="3467"/>
                  </a:cubicBezTo>
                  <a:cubicBezTo>
                    <a:pt x="3581792" y="5687"/>
                    <a:pt x="3583039" y="8697"/>
                    <a:pt x="3583039" y="11837"/>
                  </a:cubicBezTo>
                  <a:lnTo>
                    <a:pt x="3583039" y="172129"/>
                  </a:lnTo>
                  <a:cubicBezTo>
                    <a:pt x="3583039" y="175269"/>
                    <a:pt x="3581792" y="178279"/>
                    <a:pt x="3579573" y="180499"/>
                  </a:cubicBezTo>
                  <a:cubicBezTo>
                    <a:pt x="3577353" y="182719"/>
                    <a:pt x="3574342" y="183966"/>
                    <a:pt x="3571203" y="183966"/>
                  </a:cubicBezTo>
                  <a:lnTo>
                    <a:pt x="11837" y="183966"/>
                  </a:lnTo>
                  <a:cubicBezTo>
                    <a:pt x="8697" y="183966"/>
                    <a:pt x="5687" y="182719"/>
                    <a:pt x="3467" y="180499"/>
                  </a:cubicBezTo>
                  <a:cubicBezTo>
                    <a:pt x="1247" y="178279"/>
                    <a:pt x="0" y="175269"/>
                    <a:pt x="0" y="172129"/>
                  </a:cubicBezTo>
                  <a:lnTo>
                    <a:pt x="0" y="11837"/>
                  </a:lnTo>
                  <a:cubicBezTo>
                    <a:pt x="0" y="8697"/>
                    <a:pt x="1247" y="5687"/>
                    <a:pt x="3467" y="3467"/>
                  </a:cubicBezTo>
                  <a:cubicBezTo>
                    <a:pt x="5687" y="1247"/>
                    <a:pt x="8697" y="0"/>
                    <a:pt x="118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1"/>
            <p:cNvSpPr txBox="1"/>
            <p:nvPr/>
          </p:nvSpPr>
          <p:spPr>
            <a:xfrm>
              <a:off x="0" y="19050"/>
              <a:ext cx="3583040" cy="164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8" name="Google Shape;468;p31"/>
          <p:cNvSpPr txBox="1"/>
          <p:nvPr/>
        </p:nvSpPr>
        <p:spPr>
          <a:xfrm>
            <a:off x="1795032" y="930452"/>
            <a:ext cx="1302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76">
                <a:solidFill>
                  <a:srgbClr val="FFFFFF"/>
                </a:solidFill>
              </a:rPr>
              <a:t>09</a:t>
            </a:r>
            <a:endParaRPr/>
          </a:p>
        </p:txBody>
      </p:sp>
      <p:sp>
        <p:nvSpPr>
          <p:cNvPr id="469" name="Google Shape;469;p31"/>
          <p:cNvSpPr txBox="1"/>
          <p:nvPr/>
        </p:nvSpPr>
        <p:spPr>
          <a:xfrm>
            <a:off x="2080871" y="2411882"/>
            <a:ext cx="14126257" cy="3596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/>
          </a:p>
        </p:txBody>
      </p:sp>
      <p:sp>
        <p:nvSpPr>
          <p:cNvPr id="470" name="Google Shape;470;p31"/>
          <p:cNvSpPr txBox="1"/>
          <p:nvPr/>
        </p:nvSpPr>
        <p:spPr>
          <a:xfrm>
            <a:off x="2080871" y="6688163"/>
            <a:ext cx="14126257" cy="975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  <p:sp>
        <p:nvSpPr>
          <p:cNvPr id="471" name="Google Shape;471;p31"/>
          <p:cNvSpPr txBox="1"/>
          <p:nvPr/>
        </p:nvSpPr>
        <p:spPr>
          <a:xfrm>
            <a:off x="2411098" y="8556695"/>
            <a:ext cx="13465804" cy="650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  <p:sp>
        <p:nvSpPr>
          <p:cNvPr id="472" name="Google Shape;472;p31"/>
          <p:cNvSpPr/>
          <p:nvPr/>
        </p:nvSpPr>
        <p:spPr>
          <a:xfrm>
            <a:off x="16426204" y="0"/>
            <a:ext cx="1861796" cy="2546280"/>
          </a:xfrm>
          <a:custGeom>
            <a:rect b="b" l="l" r="r" t="t"/>
            <a:pathLst>
              <a:path extrusionOk="0" h="2546280" w="1861796">
                <a:moveTo>
                  <a:pt x="0" y="0"/>
                </a:moveTo>
                <a:lnTo>
                  <a:pt x="1861796" y="0"/>
                </a:lnTo>
                <a:lnTo>
                  <a:pt x="1861796" y="2546280"/>
                </a:lnTo>
                <a:lnTo>
                  <a:pt x="0" y="2546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