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Lobster"/>
      <p:regular r:id="rId24"/>
    </p:embeddedFont>
    <p:embeddedFont>
      <p:font typeface="Pacifico"/>
      <p:regular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798444-9E47-4F36-A902-9AB2E26042AE}">
  <a:tblStyle styleId="{22798444-9E47-4F36-A902-9AB2E26042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Lobster-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regular.fntdata"/><Relationship Id="rId25" Type="http://schemas.openxmlformats.org/officeDocument/2006/relationships/font" Target="fonts/Pacifico-regular.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ff8f13ab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6ff8f13abf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6ff8f13abf_1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6ff8f13abf_1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623520" y="889920"/>
            <a:ext cx="1704000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a:off x="623520" y="2304720"/>
            <a:ext cx="17040000" cy="6832200"/>
          </a:xfrm>
          <a:prstGeom prst="rect">
            <a:avLst/>
          </a:prstGeom>
          <a:noFill/>
          <a:ln>
            <a:noFill/>
          </a:ln>
        </p:spPr>
        <p:txBody>
          <a:bodyPr anchorCtr="0" anchor="t" bIns="0" lIns="0" spcFirstLastPara="1" rIns="0" wrap="square" tIns="0">
            <a:normAutofit/>
          </a:bodyPr>
          <a:lstStyle>
            <a:lvl1pPr indent="-457200" lvl="0" marL="457200" algn="l">
              <a:lnSpc>
                <a:spcPct val="90000"/>
              </a:lnSpc>
              <a:spcBef>
                <a:spcPts val="2000"/>
              </a:spcBef>
              <a:spcAft>
                <a:spcPts val="0"/>
              </a:spcAft>
              <a:buClr>
                <a:schemeClr val="dk1"/>
              </a:buClr>
              <a:buSzPts val="3600"/>
              <a:buChar char="•"/>
              <a:defRPr/>
            </a:lvl1pPr>
            <a:lvl2pPr indent="-457200" lvl="1" marL="914400" algn="l">
              <a:lnSpc>
                <a:spcPct val="90000"/>
              </a:lnSpc>
              <a:spcBef>
                <a:spcPts val="1000"/>
              </a:spcBef>
              <a:spcAft>
                <a:spcPts val="0"/>
              </a:spcAft>
              <a:buClr>
                <a:schemeClr val="dk1"/>
              </a:buClr>
              <a:buSzPts val="3600"/>
              <a:buChar char="–"/>
              <a:defRPr/>
            </a:lvl2pPr>
            <a:lvl3pPr indent="-457200" lvl="2" marL="1371600" algn="l">
              <a:lnSpc>
                <a:spcPct val="90000"/>
              </a:lnSpc>
              <a:spcBef>
                <a:spcPts val="1000"/>
              </a:spcBef>
              <a:spcAft>
                <a:spcPts val="0"/>
              </a:spcAft>
              <a:buClr>
                <a:schemeClr val="dk1"/>
              </a:buClr>
              <a:buSzPts val="3600"/>
              <a:buChar char="•"/>
              <a:defRPr/>
            </a:lvl3pPr>
            <a:lvl4pPr indent="-457200" lvl="3" marL="1828800" algn="l">
              <a:lnSpc>
                <a:spcPct val="90000"/>
              </a:lnSpc>
              <a:spcBef>
                <a:spcPts val="1000"/>
              </a:spcBef>
              <a:spcAft>
                <a:spcPts val="0"/>
              </a:spcAft>
              <a:buClr>
                <a:schemeClr val="dk1"/>
              </a:buClr>
              <a:buSzPts val="3600"/>
              <a:buChar char="–"/>
              <a:defRPr/>
            </a:lvl4pPr>
            <a:lvl5pPr indent="-457200" lvl="4" marL="2286000" algn="l">
              <a:lnSpc>
                <a:spcPct val="90000"/>
              </a:lnSpc>
              <a:spcBef>
                <a:spcPts val="1000"/>
              </a:spcBef>
              <a:spcAft>
                <a:spcPts val="0"/>
              </a:spcAft>
              <a:buClr>
                <a:schemeClr val="dk1"/>
              </a:buClr>
              <a:buSzPts val="3600"/>
              <a:buChar char="»"/>
              <a:defRPr/>
            </a:lvl5pPr>
            <a:lvl6pPr indent="-457200" lvl="5" marL="2743200" algn="l">
              <a:lnSpc>
                <a:spcPct val="90000"/>
              </a:lnSpc>
              <a:spcBef>
                <a:spcPts val="1000"/>
              </a:spcBef>
              <a:spcAft>
                <a:spcPts val="0"/>
              </a:spcAft>
              <a:buClr>
                <a:schemeClr val="dk1"/>
              </a:buClr>
              <a:buSzPts val="3600"/>
              <a:buChar char="•"/>
              <a:defRPr/>
            </a:lvl6pPr>
            <a:lvl7pPr indent="-457200" lvl="6" marL="3200400" algn="l">
              <a:lnSpc>
                <a:spcPct val="90000"/>
              </a:lnSpc>
              <a:spcBef>
                <a:spcPts val="1000"/>
              </a:spcBef>
              <a:spcAft>
                <a:spcPts val="0"/>
              </a:spcAft>
              <a:buClr>
                <a:schemeClr val="dk1"/>
              </a:buClr>
              <a:buSzPts val="3600"/>
              <a:buChar char="•"/>
              <a:defRPr/>
            </a:lvl7pPr>
            <a:lvl8pPr indent="-457200" lvl="7" marL="3657600" algn="l">
              <a:lnSpc>
                <a:spcPct val="90000"/>
              </a:lnSpc>
              <a:spcBef>
                <a:spcPts val="1000"/>
              </a:spcBef>
              <a:spcAft>
                <a:spcPts val="0"/>
              </a:spcAft>
              <a:buClr>
                <a:schemeClr val="dk1"/>
              </a:buClr>
              <a:buSzPts val="3600"/>
              <a:buChar char="•"/>
              <a:defRPr/>
            </a:lvl8pPr>
            <a:lvl9pPr indent="-457200" lvl="8" marL="4114800" algn="l">
              <a:lnSpc>
                <a:spcPct val="90000"/>
              </a:lnSpc>
              <a:spcBef>
                <a:spcPts val="1000"/>
              </a:spcBef>
              <a:spcAft>
                <a:spcPts val="0"/>
              </a:spcAft>
              <a:buClr>
                <a:schemeClr val="dk1"/>
              </a:buClr>
              <a:buSzPts val="3600"/>
              <a:buChar char="•"/>
              <a:defRPr/>
            </a:lvl9pPr>
          </a:lstStyle>
          <a:p/>
        </p:txBody>
      </p:sp>
      <p:sp>
        <p:nvSpPr>
          <p:cNvPr id="83" name="Google Shape;83;p13"/>
          <p:cNvSpPr txBox="1"/>
          <p:nvPr>
            <p:ph idx="12" type="sldNum"/>
          </p:nvPr>
        </p:nvSpPr>
        <p:spPr>
          <a:xfrm>
            <a:off x="16945200" y="9326160"/>
            <a:ext cx="1096800" cy="786000"/>
          </a:xfrm>
          <a:prstGeom prst="rect">
            <a:avLst/>
          </a:prstGeom>
          <a:noFill/>
          <a:ln>
            <a:noFill/>
          </a:ln>
        </p:spPr>
        <p:txBody>
          <a:bodyPr anchorCtr="0" anchor="ctr" bIns="182850" lIns="182850" spcFirstLastPara="1" rIns="182850" wrap="square" tIns="182850">
            <a:normAutofit/>
          </a:bodyPr>
          <a:lstStyle>
            <a:lvl1pPr indent="0" lvl="0"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2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4"/>
          <p:cNvPicPr preferRelativeResize="0"/>
          <p:nvPr/>
        </p:nvPicPr>
        <p:blipFill rotWithShape="1">
          <a:blip r:embed="rId3">
            <a:alphaModFix amt="62000"/>
          </a:blip>
          <a:srcRect b="0" l="0" r="0" t="0"/>
          <a:stretch/>
        </p:blipFill>
        <p:spPr>
          <a:xfrm>
            <a:off x="16560" y="0"/>
            <a:ext cx="18253440" cy="10286639"/>
          </a:xfrm>
          <a:prstGeom prst="rect">
            <a:avLst/>
          </a:prstGeom>
          <a:noFill/>
          <a:ln>
            <a:noFill/>
          </a:ln>
        </p:spPr>
      </p:pic>
      <p:graphicFrame>
        <p:nvGraphicFramePr>
          <p:cNvPr id="89" name="Google Shape;89;p14"/>
          <p:cNvGraphicFramePr/>
          <p:nvPr/>
        </p:nvGraphicFramePr>
        <p:xfrm>
          <a:off x="10656720" y="1940400"/>
          <a:ext cx="3000000" cy="3000000"/>
        </p:xfrm>
        <a:graphic>
          <a:graphicData uri="http://schemas.openxmlformats.org/drawingml/2006/table">
            <a:tbl>
              <a:tblPr>
                <a:noFill/>
                <a:tableStyleId>{22798444-9E47-4F36-A902-9AB2E26042AE}</a:tableStyleId>
              </a:tblPr>
              <a:tblGrid>
                <a:gridCol w="3036250"/>
                <a:gridCol w="4344500"/>
              </a:tblGrid>
              <a:tr h="64440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Día, Fecha:</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Arial"/>
                          <a:ea typeface="Arial"/>
                          <a:cs typeface="Arial"/>
                          <a:sym typeface="Arial"/>
                        </a:rPr>
                        <a:t>Martes, </a:t>
                      </a:r>
                      <a:r>
                        <a:rPr lang="en-US" sz="2800"/>
                        <a:t>XX</a:t>
                      </a:r>
                      <a:r>
                        <a:rPr b="0" lang="en-US" sz="2800" u="none" cap="none" strike="noStrike">
                          <a:solidFill>
                            <a:srgbClr val="000000"/>
                          </a:solidFill>
                          <a:latin typeface="Arial"/>
                          <a:ea typeface="Arial"/>
                          <a:cs typeface="Arial"/>
                          <a:sym typeface="Arial"/>
                        </a:rPr>
                        <a:t>/</a:t>
                      </a:r>
                      <a:r>
                        <a:rPr lang="en-US" sz="2800"/>
                        <a:t>XX</a:t>
                      </a:r>
                      <a:r>
                        <a:rPr b="0" lang="en-US" sz="2800" u="none" cap="none" strike="noStrike">
                          <a:solidFill>
                            <a:srgbClr val="000000"/>
                          </a:solidFill>
                          <a:latin typeface="Arial"/>
                          <a:ea typeface="Arial"/>
                          <a:cs typeface="Arial"/>
                          <a:sym typeface="Arial"/>
                        </a:rPr>
                        <a:t>/202</a:t>
                      </a:r>
                      <a:r>
                        <a:rPr lang="en-US" sz="2800"/>
                        <a:t>X</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72575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Hora de inicio:</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800"/>
                        <a:t>XX</a:t>
                      </a:r>
                      <a:r>
                        <a:rPr b="0" lang="en-US" sz="2800" u="none" cap="none" strike="noStrike">
                          <a:solidFill>
                            <a:srgbClr val="000000"/>
                          </a:solidFill>
                          <a:latin typeface="Arial"/>
                          <a:ea typeface="Arial"/>
                          <a:cs typeface="Arial"/>
                          <a:sym typeface="Arial"/>
                        </a:rPr>
                        <a:t>:</a:t>
                      </a:r>
                      <a:r>
                        <a:rPr lang="en-US" sz="2800"/>
                        <a:t>XX</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0" name="Google Shape;90;p14"/>
          <p:cNvSpPr/>
          <p:nvPr/>
        </p:nvSpPr>
        <p:spPr>
          <a:xfrm>
            <a:off x="2880000" y="4516560"/>
            <a:ext cx="11956800" cy="1888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5000" u="none" cap="none" strike="noStrike">
                <a:solidFill>
                  <a:srgbClr val="000000"/>
                </a:solidFill>
                <a:latin typeface="Arial"/>
                <a:ea typeface="Arial"/>
                <a:cs typeface="Arial"/>
                <a:sym typeface="Arial"/>
              </a:rPr>
              <a:t>Organización de Lenguajes y Compiladores 2 [</a:t>
            </a:r>
            <a:r>
              <a:rPr lang="en-US" sz="5000"/>
              <a:t>X</a:t>
            </a:r>
            <a:r>
              <a:rPr b="0" i="0" lang="en-US" sz="5000" u="none" cap="none" strike="noStrike">
                <a:solidFill>
                  <a:srgbClr val="000000"/>
                </a:solidFill>
                <a:latin typeface="Arial"/>
                <a:ea typeface="Arial"/>
                <a:cs typeface="Arial"/>
                <a:sym typeface="Arial"/>
              </a:rPr>
              <a:t>]</a:t>
            </a:r>
            <a:endParaRPr b="0" i="0" sz="5000" u="none" cap="none" strike="noStrike">
              <a:solidFill>
                <a:srgbClr val="000000"/>
              </a:solidFill>
              <a:latin typeface="Arial"/>
              <a:ea typeface="Arial"/>
              <a:cs typeface="Arial"/>
              <a:sym typeface="Arial"/>
            </a:endParaRPr>
          </a:p>
        </p:txBody>
      </p:sp>
      <p:sp>
        <p:nvSpPr>
          <p:cNvPr id="91" name="Google Shape;91;p14"/>
          <p:cNvSpPr/>
          <p:nvPr/>
        </p:nvSpPr>
        <p:spPr>
          <a:xfrm>
            <a:off x="3557520" y="6189120"/>
            <a:ext cx="11172000" cy="975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Rubén Alejandro Ralda Mejia</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95" name="Shape 95"/>
        <p:cNvGrpSpPr/>
        <p:nvPr/>
      </p:nvGrpSpPr>
      <p:grpSpPr>
        <a:xfrm>
          <a:off x="0" y="0"/>
          <a:ext cx="0" cy="0"/>
          <a:chOff x="0" y="0"/>
          <a:chExt cx="0" cy="0"/>
        </a:xfrm>
      </p:grpSpPr>
      <p:sp>
        <p:nvSpPr>
          <p:cNvPr id="96" name="Google Shape;96;p15"/>
          <p:cNvSpPr/>
          <p:nvPr/>
        </p:nvSpPr>
        <p:spPr>
          <a:xfrm>
            <a:off x="8588049" y="1768245"/>
            <a:ext cx="11404113" cy="11487660"/>
          </a:xfrm>
          <a:custGeom>
            <a:rect b="b" l="l" r="r" t="t"/>
            <a:pathLst>
              <a:path extrusionOk="0" h="11487660" w="11404113">
                <a:moveTo>
                  <a:pt x="0" y="0"/>
                </a:moveTo>
                <a:lnTo>
                  <a:pt x="11404113" y="0"/>
                </a:lnTo>
                <a:lnTo>
                  <a:pt x="11404113" y="11487660"/>
                </a:lnTo>
                <a:lnTo>
                  <a:pt x="0" y="11487660"/>
                </a:lnTo>
                <a:lnTo>
                  <a:pt x="0" y="0"/>
                </a:lnTo>
                <a:close/>
              </a:path>
            </a:pathLst>
          </a:custGeom>
          <a:blipFill rotWithShape="1">
            <a:blip r:embed="rId3">
              <a:alphaModFix amt="60000"/>
            </a:blip>
            <a:stretch>
              <a:fillRect b="0" l="0" r="0" t="0"/>
            </a:stretch>
          </a:blipFill>
          <a:ln>
            <a:noFill/>
          </a:ln>
        </p:spPr>
      </p:sp>
      <p:sp>
        <p:nvSpPr>
          <p:cNvPr id="97" name="Google Shape;97;p15"/>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98" name="Google Shape;98;p15"/>
          <p:cNvGrpSpPr/>
          <p:nvPr/>
        </p:nvGrpSpPr>
        <p:grpSpPr>
          <a:xfrm rot="1383774">
            <a:off x="8485994" y="522260"/>
            <a:ext cx="11226909" cy="14341591"/>
            <a:chOff x="0" y="0"/>
            <a:chExt cx="2956881" cy="3777209"/>
          </a:xfrm>
        </p:grpSpPr>
        <p:sp>
          <p:nvSpPr>
            <p:cNvPr id="99" name="Google Shape;99;p15"/>
            <p:cNvSpPr/>
            <p:nvPr/>
          </p:nvSpPr>
          <p:spPr>
            <a:xfrm>
              <a:off x="0" y="0"/>
              <a:ext cx="2956881" cy="3777209"/>
            </a:xfrm>
            <a:custGeom>
              <a:rect b="b" l="l" r="r" t="t"/>
              <a:pathLst>
                <a:path extrusionOk="0" h="3777209" w="2956881">
                  <a:moveTo>
                    <a:pt x="0" y="0"/>
                  </a:moveTo>
                  <a:lnTo>
                    <a:pt x="2956881" y="0"/>
                  </a:lnTo>
                  <a:lnTo>
                    <a:pt x="2956881" y="3777209"/>
                  </a:lnTo>
                  <a:lnTo>
                    <a:pt x="0" y="3777209"/>
                  </a:lnTo>
                  <a:close/>
                </a:path>
              </a:pathLst>
            </a:custGeom>
            <a:gradFill>
              <a:gsLst>
                <a:gs pos="0">
                  <a:srgbClr val="141519"/>
                </a:gs>
                <a:gs pos="100000">
                  <a:srgbClr val="141519">
                    <a:alpha val="0"/>
                  </a:srgbClr>
                </a:gs>
              </a:gsLst>
              <a:lin ang="0" scaled="0"/>
            </a:gradFill>
            <a:ln>
              <a:noFill/>
            </a:ln>
          </p:spPr>
        </p:sp>
        <p:sp>
          <p:nvSpPr>
            <p:cNvPr id="100" name="Google Shape;100;p15"/>
            <p:cNvSpPr txBox="1"/>
            <p:nvPr/>
          </p:nvSpPr>
          <p:spPr>
            <a:xfrm>
              <a:off x="0" y="28575"/>
              <a:ext cx="2956881" cy="3748634"/>
            </a:xfrm>
            <a:prstGeom prst="rect">
              <a:avLst/>
            </a:prstGeom>
            <a:noFill/>
            <a:ln>
              <a:noFill/>
            </a:ln>
          </p:spPr>
          <p:txBody>
            <a:bodyPr anchorCtr="0" anchor="ctr" bIns="50800" lIns="50800" spcFirstLastPara="1" rIns="50800" wrap="square" tIns="50800">
              <a:noAutofit/>
            </a:bodyPr>
            <a:lstStyle/>
            <a:p>
              <a:pPr indent="0" lvl="0" marL="0" marR="0" rtl="0" algn="ctr">
                <a:lnSpc>
                  <a:spcPct val="125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15"/>
          <p:cNvSpPr txBox="1"/>
          <p:nvPr/>
        </p:nvSpPr>
        <p:spPr>
          <a:xfrm>
            <a:off x="2054482" y="3277263"/>
            <a:ext cx="9309363" cy="3068514"/>
          </a:xfrm>
          <a:prstGeom prst="rect">
            <a:avLst/>
          </a:prstGeom>
          <a:noFill/>
          <a:ln>
            <a:noFill/>
          </a:ln>
        </p:spPr>
        <p:txBody>
          <a:bodyPr anchorCtr="0" anchor="t" bIns="0" lIns="0" spcFirstLastPara="1" rIns="0" wrap="square" tIns="0">
            <a:spAutoFit/>
          </a:bodyPr>
          <a:lstStyle/>
          <a:p>
            <a:pPr indent="0" lvl="0" marL="0" marR="0" rtl="0" algn="l">
              <a:lnSpc>
                <a:spcPct val="88001"/>
              </a:lnSpc>
              <a:spcBef>
                <a:spcPts val="0"/>
              </a:spcBef>
              <a:spcAft>
                <a:spcPts val="0"/>
              </a:spcAft>
              <a:buNone/>
            </a:pPr>
            <a:r>
              <a:rPr b="1" i="0" lang="en-US" sz="12177" u="none" cap="none" strike="noStrike">
                <a:solidFill>
                  <a:srgbClr val="FFFFFF"/>
                </a:solidFill>
                <a:latin typeface="Arial"/>
                <a:ea typeface="Arial"/>
                <a:cs typeface="Arial"/>
                <a:sym typeface="Arial"/>
              </a:rPr>
              <a:t>Fases de la Compilación</a:t>
            </a:r>
            <a:endParaRPr/>
          </a:p>
        </p:txBody>
      </p:sp>
      <p:sp>
        <p:nvSpPr>
          <p:cNvPr id="102" name="Google Shape;102;p15"/>
          <p:cNvSpPr txBox="1"/>
          <p:nvPr/>
        </p:nvSpPr>
        <p:spPr>
          <a:xfrm>
            <a:off x="1795032" y="930452"/>
            <a:ext cx="4330517" cy="647624"/>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Organización de Lenguajes y Compiladores 2</a:t>
            </a:r>
            <a:endParaRPr/>
          </a:p>
        </p:txBody>
      </p:sp>
      <p:sp>
        <p:nvSpPr>
          <p:cNvPr id="103" name="Google Shape;103;p15"/>
          <p:cNvSpPr txBox="1"/>
          <p:nvPr/>
        </p:nvSpPr>
        <p:spPr>
          <a:xfrm>
            <a:off x="2054482" y="8596478"/>
            <a:ext cx="6970200" cy="427500"/>
          </a:xfrm>
          <a:prstGeom prst="rect">
            <a:avLst/>
          </a:prstGeom>
          <a:noFill/>
          <a:ln>
            <a:noFill/>
          </a:ln>
        </p:spPr>
        <p:txBody>
          <a:bodyPr anchorCtr="0" anchor="t" bIns="0" lIns="0" spcFirstLastPara="1" rIns="0" wrap="square" tIns="0">
            <a:spAutoFit/>
          </a:bodyPr>
          <a:lstStyle/>
          <a:p>
            <a:pPr indent="0" lvl="0" marL="0" marR="0" rtl="0" algn="l">
              <a:lnSpc>
                <a:spcPct val="87984"/>
              </a:lnSpc>
              <a:spcBef>
                <a:spcPts val="0"/>
              </a:spcBef>
              <a:spcAft>
                <a:spcPts val="0"/>
              </a:spcAft>
              <a:buNone/>
            </a:pPr>
            <a:r>
              <a:rPr b="0" i="0" lang="en-US" sz="3021" u="none" cap="none" strike="noStrike">
                <a:solidFill>
                  <a:srgbClr val="FFFFFF"/>
                </a:solidFill>
                <a:latin typeface="Arial"/>
                <a:ea typeface="Arial"/>
                <a:cs typeface="Arial"/>
                <a:sym typeface="Arial"/>
              </a:rPr>
              <a:t>Escuela de Ciencias y Sistemas</a:t>
            </a:r>
            <a:endParaRPr/>
          </a:p>
        </p:txBody>
      </p:sp>
      <p:sp>
        <p:nvSpPr>
          <p:cNvPr id="104" name="Google Shape;104;p15"/>
          <p:cNvSpPr txBox="1"/>
          <p:nvPr/>
        </p:nvSpPr>
        <p:spPr>
          <a:xfrm>
            <a:off x="2054482" y="9064947"/>
            <a:ext cx="5466900" cy="427500"/>
          </a:xfrm>
          <a:prstGeom prst="rect">
            <a:avLst/>
          </a:prstGeom>
          <a:noFill/>
          <a:ln>
            <a:noFill/>
          </a:ln>
        </p:spPr>
        <p:txBody>
          <a:bodyPr anchorCtr="0" anchor="t" bIns="0" lIns="0" spcFirstLastPara="1" rIns="0" wrap="square" tIns="0">
            <a:spAutoFit/>
          </a:bodyPr>
          <a:lstStyle/>
          <a:p>
            <a:pPr indent="0" lvl="0" marL="0" marR="0" rtl="0" algn="l">
              <a:lnSpc>
                <a:spcPct val="87984"/>
              </a:lnSpc>
              <a:spcBef>
                <a:spcPts val="0"/>
              </a:spcBef>
              <a:spcAft>
                <a:spcPts val="0"/>
              </a:spcAft>
              <a:buNone/>
            </a:pPr>
            <a:r>
              <a:rPr b="0" i="0" lang="en-US" sz="3021" u="none" cap="none" strike="noStrike">
                <a:solidFill>
                  <a:srgbClr val="FFFFFF"/>
                </a:solidFill>
                <a:latin typeface="Arial"/>
                <a:ea typeface="Arial"/>
                <a:cs typeface="Arial"/>
                <a:sym typeface="Arial"/>
              </a:rPr>
              <a:t>Facultad de Ingeniería</a:t>
            </a:r>
            <a:endParaRPr/>
          </a:p>
        </p:txBody>
      </p:sp>
      <p:sp>
        <p:nvSpPr>
          <p:cNvPr id="105" name="Google Shape;105;p15"/>
          <p:cNvSpPr txBox="1"/>
          <p:nvPr/>
        </p:nvSpPr>
        <p:spPr>
          <a:xfrm>
            <a:off x="2054482" y="9521109"/>
            <a:ext cx="7389000" cy="427500"/>
          </a:xfrm>
          <a:prstGeom prst="rect">
            <a:avLst/>
          </a:prstGeom>
          <a:noFill/>
          <a:ln>
            <a:noFill/>
          </a:ln>
        </p:spPr>
        <p:txBody>
          <a:bodyPr anchorCtr="0" anchor="t" bIns="0" lIns="0" spcFirstLastPara="1" rIns="0" wrap="square" tIns="0">
            <a:spAutoFit/>
          </a:bodyPr>
          <a:lstStyle/>
          <a:p>
            <a:pPr indent="0" lvl="0" marL="0" marR="0" rtl="0" algn="l">
              <a:lnSpc>
                <a:spcPct val="87984"/>
              </a:lnSpc>
              <a:spcBef>
                <a:spcPts val="0"/>
              </a:spcBef>
              <a:spcAft>
                <a:spcPts val="0"/>
              </a:spcAft>
              <a:buNone/>
            </a:pPr>
            <a:r>
              <a:rPr b="0" i="0" lang="en-US" sz="3021" u="none" cap="none" strike="noStrike">
                <a:solidFill>
                  <a:srgbClr val="FFFFFF"/>
                </a:solidFill>
                <a:latin typeface="Arial"/>
                <a:ea typeface="Arial"/>
                <a:cs typeface="Arial"/>
                <a:sym typeface="Arial"/>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grpSp>
        <p:nvGrpSpPr>
          <p:cNvPr id="110" name="Google Shape;110;p16"/>
          <p:cNvGrpSpPr/>
          <p:nvPr/>
        </p:nvGrpSpPr>
        <p:grpSpPr>
          <a:xfrm>
            <a:off x="176619" y="4520484"/>
            <a:ext cx="4613562" cy="845568"/>
            <a:chOff x="0" y="-76200"/>
            <a:chExt cx="1964221" cy="360000"/>
          </a:xfrm>
        </p:grpSpPr>
        <p:sp>
          <p:nvSpPr>
            <p:cNvPr id="111" name="Google Shape;111;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2" name="Google Shape;112;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1</a:t>
              </a:r>
              <a:endParaRPr b="0" i="0" sz="1400" u="none" cap="none" strike="noStrike">
                <a:solidFill>
                  <a:srgbClr val="000000"/>
                </a:solidFill>
                <a:latin typeface="Arial"/>
                <a:ea typeface="Arial"/>
                <a:cs typeface="Arial"/>
                <a:sym typeface="Arial"/>
              </a:endParaRPr>
            </a:p>
          </p:txBody>
        </p:sp>
      </p:grpSp>
      <p:sp>
        <p:nvSpPr>
          <p:cNvPr id="113" name="Google Shape;113;p16"/>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4" name="Google Shape;114;p16"/>
          <p:cNvGrpSpPr/>
          <p:nvPr/>
        </p:nvGrpSpPr>
        <p:grpSpPr>
          <a:xfrm>
            <a:off x="1866989" y="3013981"/>
            <a:ext cx="4115217" cy="1556494"/>
            <a:chOff x="0" y="-76200"/>
            <a:chExt cx="1083836" cy="409938"/>
          </a:xfrm>
        </p:grpSpPr>
        <p:sp>
          <p:nvSpPr>
            <p:cNvPr id="115" name="Google Shape;115;p16"/>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16" name="Google Shape;116;p16"/>
            <p:cNvSpPr txBox="1"/>
            <p:nvPr/>
          </p:nvSpPr>
          <p:spPr>
            <a:xfrm>
              <a:off x="0" y="-76200"/>
              <a:ext cx="969600" cy="4098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17" name="Google Shape;117;p16"/>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18" name="Google Shape;118;p16"/>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19" name="Google Shape;119;p16"/>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20" name="Google Shape;120;p16"/>
          <p:cNvGrpSpPr/>
          <p:nvPr/>
        </p:nvGrpSpPr>
        <p:grpSpPr>
          <a:xfrm>
            <a:off x="11739805" y="2798631"/>
            <a:ext cx="5353682" cy="1701155"/>
            <a:chOff x="0" y="-114300"/>
            <a:chExt cx="1410014" cy="448038"/>
          </a:xfrm>
        </p:grpSpPr>
        <p:sp>
          <p:nvSpPr>
            <p:cNvPr id="121" name="Google Shape;121;p16"/>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22" name="Google Shape;122;p16"/>
            <p:cNvSpPr txBox="1"/>
            <p:nvPr/>
          </p:nvSpPr>
          <p:spPr>
            <a:xfrm>
              <a:off x="0" y="-114300"/>
              <a:ext cx="1295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b="0" i="0" sz="1400" u="none" cap="none" strike="noStrike">
                <a:solidFill>
                  <a:srgbClr val="000000"/>
                </a:solidFill>
                <a:latin typeface="Arial"/>
                <a:ea typeface="Arial"/>
                <a:cs typeface="Arial"/>
                <a:sym typeface="Arial"/>
              </a:endParaRPr>
            </a:p>
          </p:txBody>
        </p:sp>
      </p:grpSp>
      <p:grpSp>
        <p:nvGrpSpPr>
          <p:cNvPr id="123" name="Google Shape;123;p16"/>
          <p:cNvGrpSpPr/>
          <p:nvPr/>
        </p:nvGrpSpPr>
        <p:grpSpPr>
          <a:xfrm>
            <a:off x="11739805" y="4598680"/>
            <a:ext cx="5353682" cy="1701155"/>
            <a:chOff x="0" y="-114300"/>
            <a:chExt cx="1410014" cy="448038"/>
          </a:xfrm>
        </p:grpSpPr>
        <p:sp>
          <p:nvSpPr>
            <p:cNvPr id="124" name="Google Shape;124;p16"/>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25" name="Google Shape;125;p16"/>
            <p:cNvSpPr txBox="1"/>
            <p:nvPr/>
          </p:nvSpPr>
          <p:spPr>
            <a:xfrm>
              <a:off x="0" y="-114300"/>
              <a:ext cx="1295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26" name="Google Shape;126;p16"/>
          <p:cNvGrpSpPr/>
          <p:nvPr/>
        </p:nvGrpSpPr>
        <p:grpSpPr>
          <a:xfrm>
            <a:off x="176619" y="5444302"/>
            <a:ext cx="4613562" cy="845568"/>
            <a:chOff x="0" y="-76200"/>
            <a:chExt cx="1964221" cy="360000"/>
          </a:xfrm>
        </p:grpSpPr>
        <p:sp>
          <p:nvSpPr>
            <p:cNvPr id="127" name="Google Shape;127;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8" name="Google Shape;128;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2</a:t>
              </a:r>
              <a:endParaRPr b="0" i="0" sz="1400" u="none" cap="none" strike="noStrike">
                <a:solidFill>
                  <a:srgbClr val="000000"/>
                </a:solidFill>
                <a:latin typeface="Arial"/>
                <a:ea typeface="Arial"/>
                <a:cs typeface="Arial"/>
                <a:sym typeface="Arial"/>
              </a:endParaRPr>
            </a:p>
          </p:txBody>
        </p:sp>
      </p:grpSp>
      <p:grpSp>
        <p:nvGrpSpPr>
          <p:cNvPr id="129" name="Google Shape;129;p16"/>
          <p:cNvGrpSpPr/>
          <p:nvPr/>
        </p:nvGrpSpPr>
        <p:grpSpPr>
          <a:xfrm>
            <a:off x="176619" y="6425875"/>
            <a:ext cx="4613562" cy="845568"/>
            <a:chOff x="0" y="-76200"/>
            <a:chExt cx="1964221" cy="360000"/>
          </a:xfrm>
        </p:grpSpPr>
        <p:sp>
          <p:nvSpPr>
            <p:cNvPr id="130" name="Google Shape;130;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1" name="Google Shape;131;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3</a:t>
              </a:r>
              <a:endParaRPr b="0" i="0" sz="1400" u="none" cap="none" strike="noStrike">
                <a:solidFill>
                  <a:srgbClr val="000000"/>
                </a:solidFill>
                <a:latin typeface="Arial"/>
                <a:ea typeface="Arial"/>
                <a:cs typeface="Arial"/>
                <a:sym typeface="Arial"/>
              </a:endParaRPr>
            </a:p>
          </p:txBody>
        </p:sp>
      </p:grpSp>
      <p:grpSp>
        <p:nvGrpSpPr>
          <p:cNvPr id="132" name="Google Shape;132;p16"/>
          <p:cNvGrpSpPr/>
          <p:nvPr/>
        </p:nvGrpSpPr>
        <p:grpSpPr>
          <a:xfrm>
            <a:off x="176619" y="7349457"/>
            <a:ext cx="4613562" cy="845568"/>
            <a:chOff x="0" y="-76200"/>
            <a:chExt cx="1964221" cy="360000"/>
          </a:xfrm>
        </p:grpSpPr>
        <p:sp>
          <p:nvSpPr>
            <p:cNvPr id="133" name="Google Shape;133;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4" name="Google Shape;134;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4</a:t>
              </a:r>
              <a:endParaRPr b="0" i="0" sz="1400" u="none" cap="none" strike="noStrike">
                <a:solidFill>
                  <a:srgbClr val="000000"/>
                </a:solidFill>
                <a:latin typeface="Arial"/>
                <a:ea typeface="Arial"/>
                <a:cs typeface="Arial"/>
                <a:sym typeface="Arial"/>
              </a:endParaRPr>
            </a:p>
          </p:txBody>
        </p:sp>
      </p:grpSp>
      <p:grpSp>
        <p:nvGrpSpPr>
          <p:cNvPr id="135" name="Google Shape;135;p16"/>
          <p:cNvGrpSpPr/>
          <p:nvPr/>
        </p:nvGrpSpPr>
        <p:grpSpPr>
          <a:xfrm>
            <a:off x="176619" y="8412915"/>
            <a:ext cx="4613562" cy="845568"/>
            <a:chOff x="0" y="-76200"/>
            <a:chExt cx="1964221" cy="360000"/>
          </a:xfrm>
        </p:grpSpPr>
        <p:sp>
          <p:nvSpPr>
            <p:cNvPr id="136" name="Google Shape;136;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7" name="Google Shape;137;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5</a:t>
              </a:r>
              <a:endParaRPr b="0" i="0" sz="1400" u="none" cap="none" strike="noStrike">
                <a:solidFill>
                  <a:srgbClr val="000000"/>
                </a:solidFill>
                <a:latin typeface="Arial"/>
                <a:ea typeface="Arial"/>
                <a:cs typeface="Arial"/>
                <a:sym typeface="Arial"/>
              </a:endParaRPr>
            </a:p>
          </p:txBody>
        </p:sp>
      </p:grpSp>
      <p:sp>
        <p:nvSpPr>
          <p:cNvPr id="138" name="Google Shape;138;p16"/>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39" name="Google Shape;139;p16"/>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0" name="Google Shape;140;p16"/>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1" name="Google Shape;141;p16"/>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142" name="Google Shape;142;p16"/>
          <p:cNvSpPr/>
          <p:nvPr/>
        </p:nvSpPr>
        <p:spPr>
          <a:xfrm>
            <a:off x="6488300" y="5365870"/>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43" name="Google Shape;143;p16"/>
          <p:cNvSpPr txBox="1"/>
          <p:nvPr/>
        </p:nvSpPr>
        <p:spPr>
          <a:xfrm>
            <a:off x="7087316" y="6295138"/>
            <a:ext cx="3428400" cy="3242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147" name="Shape 147"/>
        <p:cNvGrpSpPr/>
        <p:nvPr/>
      </p:nvGrpSpPr>
      <p:grpSpPr>
        <a:xfrm>
          <a:off x="0" y="0"/>
          <a:ext cx="0" cy="0"/>
          <a:chOff x="0" y="0"/>
          <a:chExt cx="0" cy="0"/>
        </a:xfrm>
      </p:grpSpPr>
      <p:sp>
        <p:nvSpPr>
          <p:cNvPr id="148" name="Google Shape;148;p17"/>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149" name="Google Shape;149;p17"/>
          <p:cNvGrpSpPr/>
          <p:nvPr/>
        </p:nvGrpSpPr>
        <p:grpSpPr>
          <a:xfrm>
            <a:off x="2054482" y="5697926"/>
            <a:ext cx="7089518" cy="3309700"/>
            <a:chOff x="0" y="0"/>
            <a:chExt cx="1867198" cy="871690"/>
          </a:xfrm>
        </p:grpSpPr>
        <p:sp>
          <p:nvSpPr>
            <p:cNvPr id="150" name="Google Shape;150;p17"/>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7"/>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 name="Google Shape;152;p17"/>
          <p:cNvGrpSpPr/>
          <p:nvPr/>
        </p:nvGrpSpPr>
        <p:grpSpPr>
          <a:xfrm>
            <a:off x="9439465" y="7136779"/>
            <a:ext cx="6583028" cy="1771650"/>
            <a:chOff x="0" y="0"/>
            <a:chExt cx="1733801" cy="466607"/>
          </a:xfrm>
        </p:grpSpPr>
        <p:sp>
          <p:nvSpPr>
            <p:cNvPr id="153" name="Google Shape;153;p17"/>
            <p:cNvSpPr/>
            <p:nvPr/>
          </p:nvSpPr>
          <p:spPr>
            <a:xfrm>
              <a:off x="0" y="0"/>
              <a:ext cx="1733801" cy="466607"/>
            </a:xfrm>
            <a:custGeom>
              <a:rect b="b" l="l" r="r" t="t"/>
              <a:pathLst>
                <a:path extrusionOk="0"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txBox="1"/>
            <p:nvPr/>
          </p:nvSpPr>
          <p:spPr>
            <a:xfrm>
              <a:off x="0" y="19050"/>
              <a:ext cx="1733800" cy="447557"/>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5" name="Google Shape;155;p17"/>
          <p:cNvGrpSpPr/>
          <p:nvPr/>
        </p:nvGrpSpPr>
        <p:grpSpPr>
          <a:xfrm>
            <a:off x="9439465" y="2343150"/>
            <a:ext cx="6583028" cy="4515361"/>
            <a:chOff x="0" y="0"/>
            <a:chExt cx="1733801" cy="1189231"/>
          </a:xfrm>
        </p:grpSpPr>
        <p:sp>
          <p:nvSpPr>
            <p:cNvPr id="156" name="Google Shape;156;p17"/>
            <p:cNvSpPr/>
            <p:nvPr/>
          </p:nvSpPr>
          <p:spPr>
            <a:xfrm>
              <a:off x="0" y="0"/>
              <a:ext cx="1733801" cy="1189231"/>
            </a:xfrm>
            <a:custGeom>
              <a:rect b="b" l="l" r="r" t="t"/>
              <a:pathLst>
                <a:path extrusionOk="0"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txBox="1"/>
            <p:nvPr/>
          </p:nvSpPr>
          <p:spPr>
            <a:xfrm>
              <a:off x="0" y="19050"/>
              <a:ext cx="1733800" cy="11701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 name="Google Shape;158;p17"/>
          <p:cNvGrpSpPr/>
          <p:nvPr/>
        </p:nvGrpSpPr>
        <p:grpSpPr>
          <a:xfrm>
            <a:off x="2714464" y="6252122"/>
            <a:ext cx="224656" cy="224656"/>
            <a:chOff x="0" y="0"/>
            <a:chExt cx="812800" cy="812800"/>
          </a:xfrm>
        </p:grpSpPr>
        <p:sp>
          <p:nvSpPr>
            <p:cNvPr id="159" name="Google Shape;159;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17"/>
          <p:cNvGrpSpPr/>
          <p:nvPr/>
        </p:nvGrpSpPr>
        <p:grpSpPr>
          <a:xfrm>
            <a:off x="10179697" y="2913029"/>
            <a:ext cx="517587" cy="517587"/>
            <a:chOff x="0" y="0"/>
            <a:chExt cx="812800" cy="812800"/>
          </a:xfrm>
        </p:grpSpPr>
        <p:sp>
          <p:nvSpPr>
            <p:cNvPr id="162" name="Google Shape;16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7"/>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17"/>
          <p:cNvSpPr/>
          <p:nvPr/>
        </p:nvSpPr>
        <p:spPr>
          <a:xfrm>
            <a:off x="10268981" y="3002943"/>
            <a:ext cx="374682" cy="348710"/>
          </a:xfrm>
          <a:custGeom>
            <a:rect b="b" l="l" r="r" t="t"/>
            <a:pathLst>
              <a:path extrusionOk="0" h="348710" w="374682">
                <a:moveTo>
                  <a:pt x="0" y="0"/>
                </a:moveTo>
                <a:lnTo>
                  <a:pt x="374683" y="0"/>
                </a:lnTo>
                <a:lnTo>
                  <a:pt x="374683" y="348710"/>
                </a:lnTo>
                <a:lnTo>
                  <a:pt x="0" y="348710"/>
                </a:lnTo>
                <a:lnTo>
                  <a:pt x="0" y="0"/>
                </a:lnTo>
                <a:close/>
              </a:path>
            </a:pathLst>
          </a:custGeom>
          <a:blipFill rotWithShape="1">
            <a:blip r:embed="rId4">
              <a:alphaModFix/>
            </a:blip>
            <a:stretch>
              <a:fillRect b="0" l="0" r="0" t="0"/>
            </a:stretch>
          </a:blipFill>
          <a:ln>
            <a:noFill/>
          </a:ln>
        </p:spPr>
      </p:sp>
      <p:sp>
        <p:nvSpPr>
          <p:cNvPr id="165" name="Google Shape;165;p17"/>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02</a:t>
            </a:r>
            <a:endParaRPr/>
          </a:p>
        </p:txBody>
      </p:sp>
      <p:sp>
        <p:nvSpPr>
          <p:cNvPr id="166" name="Google Shape;166;p17"/>
          <p:cNvSpPr txBox="1"/>
          <p:nvPr/>
        </p:nvSpPr>
        <p:spPr>
          <a:xfrm>
            <a:off x="2054482" y="2234275"/>
            <a:ext cx="7089518" cy="1119495"/>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166" u="none" cap="none" strike="noStrike">
                <a:solidFill>
                  <a:srgbClr val="FFFFFF"/>
                </a:solidFill>
                <a:latin typeface="Arial"/>
                <a:ea typeface="Arial"/>
                <a:cs typeface="Arial"/>
                <a:sym typeface="Arial"/>
              </a:rPr>
              <a:t>Análisis Léxico</a:t>
            </a:r>
            <a:endParaRPr/>
          </a:p>
        </p:txBody>
      </p:sp>
      <p:sp>
        <p:nvSpPr>
          <p:cNvPr id="167" name="Google Shape;167;p17"/>
          <p:cNvSpPr txBox="1"/>
          <p:nvPr/>
        </p:nvSpPr>
        <p:spPr>
          <a:xfrm>
            <a:off x="3127523" y="624259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Entrada</a:t>
            </a:r>
            <a:endParaRPr/>
          </a:p>
        </p:txBody>
      </p:sp>
      <p:sp>
        <p:nvSpPr>
          <p:cNvPr id="168" name="Google Shape;168;p17"/>
          <p:cNvSpPr txBox="1"/>
          <p:nvPr/>
        </p:nvSpPr>
        <p:spPr>
          <a:xfrm>
            <a:off x="11038139" y="2983893"/>
            <a:ext cx="1134758"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Tareas</a:t>
            </a:r>
            <a:endParaRPr/>
          </a:p>
        </p:txBody>
      </p:sp>
      <p:sp>
        <p:nvSpPr>
          <p:cNvPr id="169" name="Google Shape;169;p17"/>
          <p:cNvSpPr txBox="1"/>
          <p:nvPr/>
        </p:nvSpPr>
        <p:spPr>
          <a:xfrm>
            <a:off x="10179697" y="7458313"/>
            <a:ext cx="3050649" cy="436966"/>
          </a:xfrm>
          <a:prstGeom prst="rect">
            <a:avLst/>
          </a:prstGeom>
          <a:noFill/>
          <a:ln>
            <a:noFill/>
          </a:ln>
        </p:spPr>
        <p:txBody>
          <a:bodyPr anchorCtr="0" anchor="t" bIns="0" lIns="0" spcFirstLastPara="1" rIns="0" wrap="square" tIns="0">
            <a:spAutoFit/>
          </a:bodyPr>
          <a:lstStyle/>
          <a:p>
            <a:pPr indent="0" lvl="0" marL="0" marR="0" rtl="0" algn="l">
              <a:lnSpc>
                <a:spcPct val="103994"/>
              </a:lnSpc>
              <a:spcBef>
                <a:spcPts val="0"/>
              </a:spcBef>
              <a:spcAft>
                <a:spcPts val="0"/>
              </a:spcAft>
              <a:buNone/>
            </a:pPr>
            <a:r>
              <a:rPr b="1" i="0" lang="en-US" sz="2754" u="none" cap="none" strike="noStrike">
                <a:solidFill>
                  <a:srgbClr val="FFFFFF"/>
                </a:solidFill>
                <a:latin typeface="Arial"/>
                <a:ea typeface="Arial"/>
                <a:cs typeface="Arial"/>
                <a:sym typeface="Arial"/>
              </a:rPr>
              <a:t>Estructura de datos</a:t>
            </a:r>
            <a:endParaRPr/>
          </a:p>
        </p:txBody>
      </p:sp>
      <p:sp>
        <p:nvSpPr>
          <p:cNvPr id="170" name="Google Shape;170;p17"/>
          <p:cNvSpPr txBox="1"/>
          <p:nvPr/>
        </p:nvSpPr>
        <p:spPr>
          <a:xfrm>
            <a:off x="2775287" y="662356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Archivo de texto con el código fuente.</a:t>
            </a:r>
            <a:endParaRPr/>
          </a:p>
        </p:txBody>
      </p:sp>
      <p:sp>
        <p:nvSpPr>
          <p:cNvPr id="171" name="Google Shape;171;p17"/>
          <p:cNvSpPr txBox="1"/>
          <p:nvPr/>
        </p:nvSpPr>
        <p:spPr>
          <a:xfrm>
            <a:off x="10268981" y="3780894"/>
            <a:ext cx="5102560" cy="1917032"/>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Eliminación de comentarios y espacios en blanco.</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Reconocimiento de patrones mediante expresiones regulares.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Gestión de errores léxicos (símbolos no reconocidos).</a:t>
            </a:r>
            <a:endParaRPr/>
          </a:p>
        </p:txBody>
      </p:sp>
      <p:sp>
        <p:nvSpPr>
          <p:cNvPr id="172" name="Google Shape;172;p17"/>
          <p:cNvSpPr txBox="1"/>
          <p:nvPr/>
        </p:nvSpPr>
        <p:spPr>
          <a:xfrm>
            <a:off x="2054482" y="3471348"/>
            <a:ext cx="6013469" cy="695292"/>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Transforma la secuencia de caracteres del programa fuente en una secuencia de tokens</a:t>
            </a:r>
            <a:endParaRPr/>
          </a:p>
        </p:txBody>
      </p:sp>
      <p:grpSp>
        <p:nvGrpSpPr>
          <p:cNvPr id="173" name="Google Shape;173;p17"/>
          <p:cNvGrpSpPr/>
          <p:nvPr/>
        </p:nvGrpSpPr>
        <p:grpSpPr>
          <a:xfrm>
            <a:off x="2714464" y="7368142"/>
            <a:ext cx="224656" cy="224656"/>
            <a:chOff x="0" y="0"/>
            <a:chExt cx="812800" cy="812800"/>
          </a:xfrm>
        </p:grpSpPr>
        <p:sp>
          <p:nvSpPr>
            <p:cNvPr id="174" name="Google Shape;17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17"/>
          <p:cNvSpPr txBox="1"/>
          <p:nvPr/>
        </p:nvSpPr>
        <p:spPr>
          <a:xfrm>
            <a:off x="3127523" y="735861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Salida</a:t>
            </a:r>
            <a:endParaRPr/>
          </a:p>
        </p:txBody>
      </p:sp>
      <p:sp>
        <p:nvSpPr>
          <p:cNvPr id="177" name="Google Shape;177;p17"/>
          <p:cNvSpPr txBox="1"/>
          <p:nvPr/>
        </p:nvSpPr>
        <p:spPr>
          <a:xfrm>
            <a:off x="2775287" y="7739586"/>
            <a:ext cx="5708731" cy="61464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Lista de tokens (identificadores, literales, operadores, palabras reservadas, símbolos).</a:t>
            </a:r>
            <a:endParaRPr/>
          </a:p>
        </p:txBody>
      </p:sp>
      <p:sp>
        <p:nvSpPr>
          <p:cNvPr id="178" name="Google Shape;178;p17"/>
          <p:cNvSpPr txBox="1"/>
          <p:nvPr/>
        </p:nvSpPr>
        <p:spPr>
          <a:xfrm>
            <a:off x="10181561" y="7953198"/>
            <a:ext cx="5189980" cy="61464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Tabla de símbolos (inicialmente con palabras reservadas)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182" name="Shape 182"/>
        <p:cNvGrpSpPr/>
        <p:nvPr/>
      </p:nvGrpSpPr>
      <p:grpSpPr>
        <a:xfrm>
          <a:off x="0" y="0"/>
          <a:ext cx="0" cy="0"/>
          <a:chOff x="0" y="0"/>
          <a:chExt cx="0" cy="0"/>
        </a:xfrm>
      </p:grpSpPr>
      <p:sp>
        <p:nvSpPr>
          <p:cNvPr id="183" name="Google Shape;183;p18"/>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184" name="Google Shape;184;p18"/>
          <p:cNvGrpSpPr/>
          <p:nvPr/>
        </p:nvGrpSpPr>
        <p:grpSpPr>
          <a:xfrm>
            <a:off x="2054482" y="4274266"/>
            <a:ext cx="7089518" cy="3309700"/>
            <a:chOff x="0" y="0"/>
            <a:chExt cx="1867198" cy="871690"/>
          </a:xfrm>
        </p:grpSpPr>
        <p:sp>
          <p:nvSpPr>
            <p:cNvPr id="185" name="Google Shape;185;p18"/>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 name="Google Shape;187;p18"/>
          <p:cNvGrpSpPr/>
          <p:nvPr/>
        </p:nvGrpSpPr>
        <p:grpSpPr>
          <a:xfrm>
            <a:off x="9653779" y="4274266"/>
            <a:ext cx="6583028" cy="3309700"/>
            <a:chOff x="0" y="0"/>
            <a:chExt cx="1733801" cy="871690"/>
          </a:xfrm>
        </p:grpSpPr>
        <p:sp>
          <p:nvSpPr>
            <p:cNvPr id="188" name="Google Shape;188;p18"/>
            <p:cNvSpPr/>
            <p:nvPr/>
          </p:nvSpPr>
          <p:spPr>
            <a:xfrm>
              <a:off x="0" y="0"/>
              <a:ext cx="1733801" cy="871690"/>
            </a:xfrm>
            <a:custGeom>
              <a:rect b="b" l="l" r="r" t="t"/>
              <a:pathLst>
                <a:path extrusionOk="0" h="871690" w="1733801">
                  <a:moveTo>
                    <a:pt x="44690" y="0"/>
                  </a:moveTo>
                  <a:lnTo>
                    <a:pt x="1689111" y="0"/>
                  </a:lnTo>
                  <a:cubicBezTo>
                    <a:pt x="1713792" y="0"/>
                    <a:pt x="1733801" y="20008"/>
                    <a:pt x="1733801" y="44690"/>
                  </a:cubicBezTo>
                  <a:lnTo>
                    <a:pt x="1733801" y="827001"/>
                  </a:lnTo>
                  <a:cubicBezTo>
                    <a:pt x="1733801" y="838853"/>
                    <a:pt x="1729092" y="850220"/>
                    <a:pt x="1720711" y="858601"/>
                  </a:cubicBezTo>
                  <a:cubicBezTo>
                    <a:pt x="1712330" y="866982"/>
                    <a:pt x="1700963" y="871690"/>
                    <a:pt x="1689111" y="871690"/>
                  </a:cubicBezTo>
                  <a:lnTo>
                    <a:pt x="44690" y="871690"/>
                  </a:lnTo>
                  <a:cubicBezTo>
                    <a:pt x="32837" y="871690"/>
                    <a:pt x="21470" y="866982"/>
                    <a:pt x="13089" y="858601"/>
                  </a:cubicBezTo>
                  <a:cubicBezTo>
                    <a:pt x="4708" y="850220"/>
                    <a:pt x="0" y="838853"/>
                    <a:pt x="0" y="82700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
            <p:cNvSpPr txBox="1"/>
            <p:nvPr/>
          </p:nvSpPr>
          <p:spPr>
            <a:xfrm>
              <a:off x="0" y="19050"/>
              <a:ext cx="1733800"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0" name="Google Shape;190;p18"/>
          <p:cNvGrpSpPr/>
          <p:nvPr/>
        </p:nvGrpSpPr>
        <p:grpSpPr>
          <a:xfrm>
            <a:off x="2714464" y="4680727"/>
            <a:ext cx="224656" cy="224656"/>
            <a:chOff x="0" y="0"/>
            <a:chExt cx="812800" cy="812800"/>
          </a:xfrm>
        </p:grpSpPr>
        <p:sp>
          <p:nvSpPr>
            <p:cNvPr id="191" name="Google Shape;191;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8"/>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3" name="Google Shape;193;p18"/>
          <p:cNvGrpSpPr/>
          <p:nvPr/>
        </p:nvGrpSpPr>
        <p:grpSpPr>
          <a:xfrm>
            <a:off x="10409341" y="4687669"/>
            <a:ext cx="210772" cy="210772"/>
            <a:chOff x="0" y="0"/>
            <a:chExt cx="812800" cy="812800"/>
          </a:xfrm>
        </p:grpSpPr>
        <p:sp>
          <p:nvSpPr>
            <p:cNvPr id="194" name="Google Shape;194;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8"/>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18"/>
          <p:cNvGrpSpPr/>
          <p:nvPr/>
        </p:nvGrpSpPr>
        <p:grpSpPr>
          <a:xfrm>
            <a:off x="2714464" y="5796747"/>
            <a:ext cx="224656" cy="224656"/>
            <a:chOff x="0" y="0"/>
            <a:chExt cx="812800" cy="812800"/>
          </a:xfrm>
        </p:grpSpPr>
        <p:sp>
          <p:nvSpPr>
            <p:cNvPr id="197" name="Google Shape;197;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8"/>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9" name="Google Shape;199;p18"/>
          <p:cNvSpPr/>
          <p:nvPr/>
        </p:nvSpPr>
        <p:spPr>
          <a:xfrm>
            <a:off x="3127523" y="6188982"/>
            <a:ext cx="4181340" cy="988523"/>
          </a:xfrm>
          <a:custGeom>
            <a:rect b="b" l="l" r="r" t="t"/>
            <a:pathLst>
              <a:path extrusionOk="0" h="988523" w="4181340">
                <a:moveTo>
                  <a:pt x="0" y="0"/>
                </a:moveTo>
                <a:lnTo>
                  <a:pt x="4181340" y="0"/>
                </a:lnTo>
                <a:lnTo>
                  <a:pt x="4181340" y="988523"/>
                </a:lnTo>
                <a:lnTo>
                  <a:pt x="0" y="988523"/>
                </a:lnTo>
                <a:lnTo>
                  <a:pt x="0" y="0"/>
                </a:lnTo>
                <a:close/>
              </a:path>
            </a:pathLst>
          </a:custGeom>
          <a:blipFill rotWithShape="1">
            <a:blip r:embed="rId4">
              <a:alphaModFix/>
            </a:blip>
            <a:stretch>
              <a:fillRect b="0" l="0" r="0" t="0"/>
            </a:stretch>
          </a:blipFill>
          <a:ln>
            <a:noFill/>
          </a:ln>
        </p:spPr>
      </p:sp>
      <p:sp>
        <p:nvSpPr>
          <p:cNvPr id="200" name="Google Shape;200;p18"/>
          <p:cNvSpPr/>
          <p:nvPr/>
        </p:nvSpPr>
        <p:spPr>
          <a:xfrm>
            <a:off x="10514727" y="5143500"/>
            <a:ext cx="2170154" cy="2161223"/>
          </a:xfrm>
          <a:custGeom>
            <a:rect b="b" l="l" r="r" t="t"/>
            <a:pathLst>
              <a:path extrusionOk="0" h="2161223" w="2170154">
                <a:moveTo>
                  <a:pt x="0" y="0"/>
                </a:moveTo>
                <a:lnTo>
                  <a:pt x="2170154" y="0"/>
                </a:lnTo>
                <a:lnTo>
                  <a:pt x="2170154" y="2161223"/>
                </a:lnTo>
                <a:lnTo>
                  <a:pt x="0" y="2161223"/>
                </a:lnTo>
                <a:lnTo>
                  <a:pt x="0" y="0"/>
                </a:lnTo>
                <a:close/>
              </a:path>
            </a:pathLst>
          </a:custGeom>
          <a:blipFill rotWithShape="1">
            <a:blip r:embed="rId5">
              <a:alphaModFix/>
            </a:blip>
            <a:stretch>
              <a:fillRect b="0" l="0" r="0" t="0"/>
            </a:stretch>
          </a:blipFill>
          <a:ln>
            <a:noFill/>
          </a:ln>
        </p:spPr>
      </p:sp>
      <p:sp>
        <p:nvSpPr>
          <p:cNvPr id="201" name="Google Shape;201;p18"/>
          <p:cNvSpPr txBox="1"/>
          <p:nvPr/>
        </p:nvSpPr>
        <p:spPr>
          <a:xfrm>
            <a:off x="2054482" y="2234275"/>
            <a:ext cx="7089518" cy="1119495"/>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166" u="none" cap="none" strike="noStrike">
                <a:solidFill>
                  <a:srgbClr val="FFFFFF"/>
                </a:solidFill>
                <a:latin typeface="Arial"/>
                <a:ea typeface="Arial"/>
                <a:cs typeface="Arial"/>
                <a:sym typeface="Arial"/>
              </a:rPr>
              <a:t>Análisis Léxico</a:t>
            </a:r>
            <a:endParaRPr/>
          </a:p>
        </p:txBody>
      </p:sp>
      <p:sp>
        <p:nvSpPr>
          <p:cNvPr id="202" name="Google Shape;202;p18"/>
          <p:cNvSpPr txBox="1"/>
          <p:nvPr/>
        </p:nvSpPr>
        <p:spPr>
          <a:xfrm>
            <a:off x="3127523" y="4661677"/>
            <a:ext cx="1229461" cy="327492"/>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054" u="none" cap="none" strike="noStrike">
                <a:solidFill>
                  <a:srgbClr val="FFFFFF"/>
                </a:solidFill>
                <a:latin typeface="Arial"/>
                <a:ea typeface="Arial"/>
                <a:cs typeface="Arial"/>
                <a:sym typeface="Arial"/>
              </a:rPr>
              <a:t>Entrada</a:t>
            </a:r>
            <a:endParaRPr/>
          </a:p>
        </p:txBody>
      </p:sp>
      <p:sp>
        <p:nvSpPr>
          <p:cNvPr id="203" name="Google Shape;203;p18"/>
          <p:cNvSpPr txBox="1"/>
          <p:nvPr/>
        </p:nvSpPr>
        <p:spPr>
          <a:xfrm>
            <a:off x="10810613" y="4619784"/>
            <a:ext cx="2282871" cy="327493"/>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054" u="none" cap="none" strike="noStrike">
                <a:solidFill>
                  <a:srgbClr val="FFFFFF"/>
                </a:solidFill>
                <a:latin typeface="Arial"/>
                <a:ea typeface="Arial"/>
                <a:cs typeface="Arial"/>
                <a:sym typeface="Arial"/>
              </a:rPr>
              <a:t>Salida Léxica</a:t>
            </a:r>
            <a:endParaRPr/>
          </a:p>
        </p:txBody>
      </p:sp>
      <p:sp>
        <p:nvSpPr>
          <p:cNvPr id="204" name="Google Shape;204;p18"/>
          <p:cNvSpPr txBox="1"/>
          <p:nvPr/>
        </p:nvSpPr>
        <p:spPr>
          <a:xfrm>
            <a:off x="2775287" y="5052171"/>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x = 42 + y</a:t>
            </a:r>
            <a:endParaRPr/>
          </a:p>
        </p:txBody>
      </p:sp>
      <p:sp>
        <p:nvSpPr>
          <p:cNvPr id="205" name="Google Shape;205;p18"/>
          <p:cNvSpPr txBox="1"/>
          <p:nvPr/>
        </p:nvSpPr>
        <p:spPr>
          <a:xfrm>
            <a:off x="2054482" y="3442773"/>
            <a:ext cx="6947267" cy="496538"/>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576" u="none" cap="none" strike="noStrike">
                <a:solidFill>
                  <a:srgbClr val="FFFFFF"/>
                </a:solidFill>
                <a:latin typeface="Arial"/>
                <a:ea typeface="Arial"/>
                <a:cs typeface="Arial"/>
                <a:sym typeface="Arial"/>
              </a:rPr>
              <a:t>Ejemplo: Tokenización de una expresión simple</a:t>
            </a:r>
            <a:endParaRPr/>
          </a:p>
        </p:txBody>
      </p:sp>
      <p:sp>
        <p:nvSpPr>
          <p:cNvPr id="206" name="Google Shape;206;p18"/>
          <p:cNvSpPr txBox="1"/>
          <p:nvPr/>
        </p:nvSpPr>
        <p:spPr>
          <a:xfrm>
            <a:off x="3127523" y="5777697"/>
            <a:ext cx="4888113" cy="327492"/>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054" u="none" cap="none" strike="noStrike">
                <a:solidFill>
                  <a:srgbClr val="FFFFFF"/>
                </a:solidFill>
                <a:latin typeface="Arial"/>
                <a:ea typeface="Arial"/>
                <a:cs typeface="Arial"/>
                <a:sym typeface="Arial"/>
              </a:rPr>
              <a:t>Definiciones de expresiones regulares</a:t>
            </a:r>
            <a:endParaRPr/>
          </a:p>
        </p:txBody>
      </p:sp>
      <p:grpSp>
        <p:nvGrpSpPr>
          <p:cNvPr id="207" name="Google Shape;207;p18"/>
          <p:cNvGrpSpPr/>
          <p:nvPr/>
        </p:nvGrpSpPr>
        <p:grpSpPr>
          <a:xfrm>
            <a:off x="2054482" y="7793516"/>
            <a:ext cx="7089518" cy="1496087"/>
            <a:chOff x="0" y="0"/>
            <a:chExt cx="1867198" cy="394031"/>
          </a:xfrm>
        </p:grpSpPr>
        <p:sp>
          <p:nvSpPr>
            <p:cNvPr id="208" name="Google Shape;208;p18"/>
            <p:cNvSpPr/>
            <p:nvPr/>
          </p:nvSpPr>
          <p:spPr>
            <a:xfrm>
              <a:off x="0" y="0"/>
              <a:ext cx="1867198" cy="394031"/>
            </a:xfrm>
            <a:custGeom>
              <a:rect b="b" l="l" r="r" t="t"/>
              <a:pathLst>
                <a:path extrusionOk="0" h="394031" w="1867198">
                  <a:moveTo>
                    <a:pt x="41497" y="0"/>
                  </a:moveTo>
                  <a:lnTo>
                    <a:pt x="1825701" y="0"/>
                  </a:lnTo>
                  <a:cubicBezTo>
                    <a:pt x="1836707" y="0"/>
                    <a:pt x="1847262" y="4372"/>
                    <a:pt x="1855044" y="12154"/>
                  </a:cubicBezTo>
                  <a:cubicBezTo>
                    <a:pt x="1862826" y="19936"/>
                    <a:pt x="1867198" y="30491"/>
                    <a:pt x="1867198" y="41497"/>
                  </a:cubicBezTo>
                  <a:lnTo>
                    <a:pt x="1867198" y="352534"/>
                  </a:lnTo>
                  <a:cubicBezTo>
                    <a:pt x="1867198" y="375452"/>
                    <a:pt x="1848620" y="394031"/>
                    <a:pt x="1825701" y="394031"/>
                  </a:cubicBezTo>
                  <a:lnTo>
                    <a:pt x="41497" y="394031"/>
                  </a:lnTo>
                  <a:cubicBezTo>
                    <a:pt x="30491" y="394031"/>
                    <a:pt x="19936" y="389659"/>
                    <a:pt x="12154" y="381877"/>
                  </a:cubicBezTo>
                  <a:cubicBezTo>
                    <a:pt x="4372" y="374095"/>
                    <a:pt x="0" y="363540"/>
                    <a:pt x="0" y="35253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8"/>
            <p:cNvSpPr txBox="1"/>
            <p:nvPr/>
          </p:nvSpPr>
          <p:spPr>
            <a:xfrm>
              <a:off x="0" y="19050"/>
              <a:ext cx="1867198" cy="3749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18"/>
          <p:cNvGrpSpPr/>
          <p:nvPr/>
        </p:nvGrpSpPr>
        <p:grpSpPr>
          <a:xfrm>
            <a:off x="2775287" y="8196152"/>
            <a:ext cx="224656" cy="224656"/>
            <a:chOff x="0" y="0"/>
            <a:chExt cx="812800" cy="812800"/>
          </a:xfrm>
        </p:grpSpPr>
        <p:sp>
          <p:nvSpPr>
            <p:cNvPr id="211" name="Google Shape;211;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18"/>
          <p:cNvSpPr txBox="1"/>
          <p:nvPr/>
        </p:nvSpPr>
        <p:spPr>
          <a:xfrm>
            <a:off x="3188347" y="8177102"/>
            <a:ext cx="3280924" cy="327492"/>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054" u="none" cap="none" strike="noStrike">
                <a:solidFill>
                  <a:srgbClr val="FFFFFF"/>
                </a:solidFill>
                <a:latin typeface="Arial"/>
                <a:ea typeface="Arial"/>
                <a:cs typeface="Arial"/>
                <a:sym typeface="Arial"/>
              </a:rPr>
              <a:t>Herramientas habituales</a:t>
            </a:r>
            <a:endParaRPr/>
          </a:p>
        </p:txBody>
      </p:sp>
      <p:sp>
        <p:nvSpPr>
          <p:cNvPr id="214" name="Google Shape;214;p18"/>
          <p:cNvSpPr txBox="1"/>
          <p:nvPr/>
        </p:nvSpPr>
        <p:spPr>
          <a:xfrm>
            <a:off x="2836111" y="8567595"/>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flex, JFlex, ANTLR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218" name="Shape 218"/>
        <p:cNvGrpSpPr/>
        <p:nvPr/>
      </p:nvGrpSpPr>
      <p:grpSpPr>
        <a:xfrm>
          <a:off x="0" y="0"/>
          <a:ext cx="0" cy="0"/>
          <a:chOff x="0" y="0"/>
          <a:chExt cx="0" cy="0"/>
        </a:xfrm>
      </p:grpSpPr>
      <p:sp>
        <p:nvSpPr>
          <p:cNvPr id="219" name="Google Shape;219;p19"/>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220" name="Google Shape;220;p19"/>
          <p:cNvGrpSpPr/>
          <p:nvPr/>
        </p:nvGrpSpPr>
        <p:grpSpPr>
          <a:xfrm>
            <a:off x="2054482" y="5697926"/>
            <a:ext cx="7089518" cy="3309700"/>
            <a:chOff x="0" y="0"/>
            <a:chExt cx="1867198" cy="871690"/>
          </a:xfrm>
        </p:grpSpPr>
        <p:sp>
          <p:nvSpPr>
            <p:cNvPr id="221" name="Google Shape;221;p19"/>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3" name="Google Shape;223;p19"/>
          <p:cNvGrpSpPr/>
          <p:nvPr/>
        </p:nvGrpSpPr>
        <p:grpSpPr>
          <a:xfrm>
            <a:off x="9439465" y="7136779"/>
            <a:ext cx="6583028" cy="1771650"/>
            <a:chOff x="0" y="0"/>
            <a:chExt cx="1733801" cy="466607"/>
          </a:xfrm>
        </p:grpSpPr>
        <p:sp>
          <p:nvSpPr>
            <p:cNvPr id="224" name="Google Shape;224;p19"/>
            <p:cNvSpPr/>
            <p:nvPr/>
          </p:nvSpPr>
          <p:spPr>
            <a:xfrm>
              <a:off x="0" y="0"/>
              <a:ext cx="1733801" cy="466607"/>
            </a:xfrm>
            <a:custGeom>
              <a:rect b="b" l="l" r="r" t="t"/>
              <a:pathLst>
                <a:path extrusionOk="0"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txBox="1"/>
            <p:nvPr/>
          </p:nvSpPr>
          <p:spPr>
            <a:xfrm>
              <a:off x="0" y="19050"/>
              <a:ext cx="1733800" cy="447557"/>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6" name="Google Shape;226;p19"/>
          <p:cNvGrpSpPr/>
          <p:nvPr/>
        </p:nvGrpSpPr>
        <p:grpSpPr>
          <a:xfrm>
            <a:off x="9439465" y="2343150"/>
            <a:ext cx="6583028" cy="4515361"/>
            <a:chOff x="0" y="0"/>
            <a:chExt cx="1733801" cy="1189231"/>
          </a:xfrm>
        </p:grpSpPr>
        <p:sp>
          <p:nvSpPr>
            <p:cNvPr id="227" name="Google Shape;227;p19"/>
            <p:cNvSpPr/>
            <p:nvPr/>
          </p:nvSpPr>
          <p:spPr>
            <a:xfrm>
              <a:off x="0" y="0"/>
              <a:ext cx="1733801" cy="1189231"/>
            </a:xfrm>
            <a:custGeom>
              <a:rect b="b" l="l" r="r" t="t"/>
              <a:pathLst>
                <a:path extrusionOk="0"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txBox="1"/>
            <p:nvPr/>
          </p:nvSpPr>
          <p:spPr>
            <a:xfrm>
              <a:off x="0" y="19050"/>
              <a:ext cx="1733800" cy="11701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9" name="Google Shape;229;p19"/>
          <p:cNvGrpSpPr/>
          <p:nvPr/>
        </p:nvGrpSpPr>
        <p:grpSpPr>
          <a:xfrm>
            <a:off x="2714464" y="6252122"/>
            <a:ext cx="224656" cy="224656"/>
            <a:chOff x="0" y="0"/>
            <a:chExt cx="812800" cy="812800"/>
          </a:xfrm>
        </p:grpSpPr>
        <p:sp>
          <p:nvSpPr>
            <p:cNvPr id="230" name="Google Shape;230;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2" name="Google Shape;232;p19"/>
          <p:cNvGrpSpPr/>
          <p:nvPr/>
        </p:nvGrpSpPr>
        <p:grpSpPr>
          <a:xfrm>
            <a:off x="10179697" y="2913029"/>
            <a:ext cx="517587" cy="517587"/>
            <a:chOff x="0" y="0"/>
            <a:chExt cx="812800" cy="812800"/>
          </a:xfrm>
        </p:grpSpPr>
        <p:sp>
          <p:nvSpPr>
            <p:cNvPr id="233" name="Google Shape;233;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5" name="Google Shape;235;p19"/>
          <p:cNvSpPr/>
          <p:nvPr/>
        </p:nvSpPr>
        <p:spPr>
          <a:xfrm>
            <a:off x="10268981" y="3002943"/>
            <a:ext cx="374682" cy="348710"/>
          </a:xfrm>
          <a:custGeom>
            <a:rect b="b" l="l" r="r" t="t"/>
            <a:pathLst>
              <a:path extrusionOk="0" h="348710" w="374682">
                <a:moveTo>
                  <a:pt x="0" y="0"/>
                </a:moveTo>
                <a:lnTo>
                  <a:pt x="374683" y="0"/>
                </a:lnTo>
                <a:lnTo>
                  <a:pt x="374683" y="348710"/>
                </a:lnTo>
                <a:lnTo>
                  <a:pt x="0" y="348710"/>
                </a:lnTo>
                <a:lnTo>
                  <a:pt x="0" y="0"/>
                </a:lnTo>
                <a:close/>
              </a:path>
            </a:pathLst>
          </a:custGeom>
          <a:blipFill rotWithShape="1">
            <a:blip r:embed="rId4">
              <a:alphaModFix/>
            </a:blip>
            <a:stretch>
              <a:fillRect b="0" l="0" r="0" t="0"/>
            </a:stretch>
          </a:blipFill>
          <a:ln>
            <a:noFill/>
          </a:ln>
        </p:spPr>
      </p:sp>
      <p:sp>
        <p:nvSpPr>
          <p:cNvPr id="236" name="Google Shape;236;p19"/>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03</a:t>
            </a:r>
            <a:endParaRPr/>
          </a:p>
        </p:txBody>
      </p:sp>
      <p:sp>
        <p:nvSpPr>
          <p:cNvPr id="237" name="Google Shape;237;p19"/>
          <p:cNvSpPr txBox="1"/>
          <p:nvPr/>
        </p:nvSpPr>
        <p:spPr>
          <a:xfrm>
            <a:off x="2054482" y="2234275"/>
            <a:ext cx="7089518" cy="2064788"/>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166" u="none" cap="none" strike="noStrike">
                <a:solidFill>
                  <a:srgbClr val="FFFFFF"/>
                </a:solidFill>
                <a:latin typeface="Arial"/>
                <a:ea typeface="Arial"/>
                <a:cs typeface="Arial"/>
                <a:sym typeface="Arial"/>
              </a:rPr>
              <a:t>Análisis Sintáctico</a:t>
            </a:r>
            <a:endParaRPr/>
          </a:p>
        </p:txBody>
      </p:sp>
      <p:sp>
        <p:nvSpPr>
          <p:cNvPr id="238" name="Google Shape;238;p19"/>
          <p:cNvSpPr txBox="1"/>
          <p:nvPr/>
        </p:nvSpPr>
        <p:spPr>
          <a:xfrm>
            <a:off x="3127523" y="624259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Entrada</a:t>
            </a:r>
            <a:endParaRPr/>
          </a:p>
        </p:txBody>
      </p:sp>
      <p:sp>
        <p:nvSpPr>
          <p:cNvPr id="239" name="Google Shape;239;p19"/>
          <p:cNvSpPr txBox="1"/>
          <p:nvPr/>
        </p:nvSpPr>
        <p:spPr>
          <a:xfrm>
            <a:off x="11038139" y="2983893"/>
            <a:ext cx="1134758"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Tareas</a:t>
            </a:r>
            <a:endParaRPr/>
          </a:p>
        </p:txBody>
      </p:sp>
      <p:sp>
        <p:nvSpPr>
          <p:cNvPr id="240" name="Google Shape;240;p19"/>
          <p:cNvSpPr txBox="1"/>
          <p:nvPr/>
        </p:nvSpPr>
        <p:spPr>
          <a:xfrm>
            <a:off x="10179697" y="7458313"/>
            <a:ext cx="3050649" cy="436966"/>
          </a:xfrm>
          <a:prstGeom prst="rect">
            <a:avLst/>
          </a:prstGeom>
          <a:noFill/>
          <a:ln>
            <a:noFill/>
          </a:ln>
        </p:spPr>
        <p:txBody>
          <a:bodyPr anchorCtr="0" anchor="t" bIns="0" lIns="0" spcFirstLastPara="1" rIns="0" wrap="square" tIns="0">
            <a:spAutoFit/>
          </a:bodyPr>
          <a:lstStyle/>
          <a:p>
            <a:pPr indent="0" lvl="0" marL="0" marR="0" rtl="0" algn="l">
              <a:lnSpc>
                <a:spcPct val="103994"/>
              </a:lnSpc>
              <a:spcBef>
                <a:spcPts val="0"/>
              </a:spcBef>
              <a:spcAft>
                <a:spcPts val="0"/>
              </a:spcAft>
              <a:buNone/>
            </a:pPr>
            <a:r>
              <a:rPr b="1" i="0" lang="en-US" sz="2754" u="none" cap="none" strike="noStrike">
                <a:solidFill>
                  <a:srgbClr val="FFFFFF"/>
                </a:solidFill>
                <a:latin typeface="Arial"/>
                <a:ea typeface="Arial"/>
                <a:cs typeface="Arial"/>
                <a:sym typeface="Arial"/>
              </a:rPr>
              <a:t>Estructura de datos</a:t>
            </a:r>
            <a:endParaRPr/>
          </a:p>
        </p:txBody>
      </p:sp>
      <p:sp>
        <p:nvSpPr>
          <p:cNvPr id="241" name="Google Shape;241;p19"/>
          <p:cNvSpPr txBox="1"/>
          <p:nvPr/>
        </p:nvSpPr>
        <p:spPr>
          <a:xfrm>
            <a:off x="2775287" y="662356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Lista de tokens.</a:t>
            </a:r>
            <a:endParaRPr/>
          </a:p>
        </p:txBody>
      </p:sp>
      <p:sp>
        <p:nvSpPr>
          <p:cNvPr id="242" name="Google Shape;242;p19"/>
          <p:cNvSpPr txBox="1"/>
          <p:nvPr/>
        </p:nvSpPr>
        <p:spPr>
          <a:xfrm>
            <a:off x="10268981" y="3780894"/>
            <a:ext cx="5102560" cy="1602707"/>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Aplicar reglas de gramática libre de contexto (apto para análisis sintáctico LL descendente o LR ascendente).</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Detectar y reportar errores de sintaxis (desbordes, tokens inesperados).</a:t>
            </a:r>
            <a:endParaRPr/>
          </a:p>
        </p:txBody>
      </p:sp>
      <p:sp>
        <p:nvSpPr>
          <p:cNvPr id="243" name="Google Shape;243;p19"/>
          <p:cNvSpPr txBox="1"/>
          <p:nvPr/>
        </p:nvSpPr>
        <p:spPr>
          <a:xfrm>
            <a:off x="2054482" y="4391764"/>
            <a:ext cx="6013469" cy="695292"/>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Verifica que la secuencia de tokens cumple la gramática del lenguaje y construye una representación jerárquica</a:t>
            </a:r>
            <a:endParaRPr/>
          </a:p>
        </p:txBody>
      </p:sp>
      <p:grpSp>
        <p:nvGrpSpPr>
          <p:cNvPr id="244" name="Google Shape;244;p19"/>
          <p:cNvGrpSpPr/>
          <p:nvPr/>
        </p:nvGrpSpPr>
        <p:grpSpPr>
          <a:xfrm>
            <a:off x="2714464" y="7368142"/>
            <a:ext cx="224656" cy="224656"/>
            <a:chOff x="0" y="0"/>
            <a:chExt cx="812800" cy="812800"/>
          </a:xfrm>
        </p:grpSpPr>
        <p:sp>
          <p:nvSpPr>
            <p:cNvPr id="245" name="Google Shape;245;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7" name="Google Shape;247;p19"/>
          <p:cNvSpPr txBox="1"/>
          <p:nvPr/>
        </p:nvSpPr>
        <p:spPr>
          <a:xfrm>
            <a:off x="3127523" y="735861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Salida</a:t>
            </a:r>
            <a:endParaRPr/>
          </a:p>
        </p:txBody>
      </p:sp>
      <p:sp>
        <p:nvSpPr>
          <p:cNvPr id="248" name="Google Shape;248;p19"/>
          <p:cNvSpPr txBox="1"/>
          <p:nvPr/>
        </p:nvSpPr>
        <p:spPr>
          <a:xfrm>
            <a:off x="2775287" y="773958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Árbol sintáctico abstracto.</a:t>
            </a:r>
            <a:endParaRPr/>
          </a:p>
        </p:txBody>
      </p:sp>
      <p:sp>
        <p:nvSpPr>
          <p:cNvPr id="249" name="Google Shape;249;p19"/>
          <p:cNvSpPr txBox="1"/>
          <p:nvPr/>
        </p:nvSpPr>
        <p:spPr>
          <a:xfrm>
            <a:off x="10181561" y="7953198"/>
            <a:ext cx="5189980"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Árbol de análisis abstracto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253" name="Shape 253"/>
        <p:cNvGrpSpPr/>
        <p:nvPr/>
      </p:nvGrpSpPr>
      <p:grpSpPr>
        <a:xfrm>
          <a:off x="0" y="0"/>
          <a:ext cx="0" cy="0"/>
          <a:chOff x="0" y="0"/>
          <a:chExt cx="0" cy="0"/>
        </a:xfrm>
      </p:grpSpPr>
      <p:sp>
        <p:nvSpPr>
          <p:cNvPr id="254" name="Google Shape;254;p20"/>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255" name="Google Shape;255;p20"/>
          <p:cNvGrpSpPr/>
          <p:nvPr/>
        </p:nvGrpSpPr>
        <p:grpSpPr>
          <a:xfrm>
            <a:off x="2054482" y="4836522"/>
            <a:ext cx="7089518" cy="3309700"/>
            <a:chOff x="0" y="0"/>
            <a:chExt cx="1867198" cy="871690"/>
          </a:xfrm>
        </p:grpSpPr>
        <p:sp>
          <p:nvSpPr>
            <p:cNvPr id="256" name="Google Shape;256;p20"/>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0"/>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20"/>
          <p:cNvGrpSpPr/>
          <p:nvPr/>
        </p:nvGrpSpPr>
        <p:grpSpPr>
          <a:xfrm>
            <a:off x="9447763" y="2885820"/>
            <a:ext cx="6583028" cy="5260402"/>
            <a:chOff x="0" y="0"/>
            <a:chExt cx="1733801" cy="1385456"/>
          </a:xfrm>
        </p:grpSpPr>
        <p:sp>
          <p:nvSpPr>
            <p:cNvPr id="259" name="Google Shape;259;p20"/>
            <p:cNvSpPr/>
            <p:nvPr/>
          </p:nvSpPr>
          <p:spPr>
            <a:xfrm>
              <a:off x="0" y="0"/>
              <a:ext cx="1733801" cy="1385456"/>
            </a:xfrm>
            <a:custGeom>
              <a:rect b="b" l="l" r="r" t="t"/>
              <a:pathLst>
                <a:path extrusionOk="0" h="1385456" w="1733801">
                  <a:moveTo>
                    <a:pt x="44690" y="0"/>
                  </a:moveTo>
                  <a:lnTo>
                    <a:pt x="1689111" y="0"/>
                  </a:lnTo>
                  <a:cubicBezTo>
                    <a:pt x="1713792" y="0"/>
                    <a:pt x="1733801" y="20008"/>
                    <a:pt x="1733801" y="44690"/>
                  </a:cubicBezTo>
                  <a:lnTo>
                    <a:pt x="1733801" y="1340766"/>
                  </a:lnTo>
                  <a:cubicBezTo>
                    <a:pt x="1733801" y="1352619"/>
                    <a:pt x="1729092" y="1363986"/>
                    <a:pt x="1720711" y="1372366"/>
                  </a:cubicBezTo>
                  <a:cubicBezTo>
                    <a:pt x="1712330" y="1380747"/>
                    <a:pt x="1700963" y="1385456"/>
                    <a:pt x="1689111" y="1385456"/>
                  </a:cubicBezTo>
                  <a:lnTo>
                    <a:pt x="44690" y="1385456"/>
                  </a:lnTo>
                  <a:cubicBezTo>
                    <a:pt x="32837" y="1385456"/>
                    <a:pt x="21470" y="1380747"/>
                    <a:pt x="13089" y="1372366"/>
                  </a:cubicBezTo>
                  <a:cubicBezTo>
                    <a:pt x="4708" y="1363986"/>
                    <a:pt x="0" y="1352619"/>
                    <a:pt x="0" y="1340766"/>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0"/>
            <p:cNvSpPr txBox="1"/>
            <p:nvPr/>
          </p:nvSpPr>
          <p:spPr>
            <a:xfrm>
              <a:off x="0" y="19050"/>
              <a:ext cx="1733800" cy="1366406"/>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20"/>
          <p:cNvGrpSpPr/>
          <p:nvPr/>
        </p:nvGrpSpPr>
        <p:grpSpPr>
          <a:xfrm>
            <a:off x="2446072" y="5151424"/>
            <a:ext cx="224656" cy="224656"/>
            <a:chOff x="0" y="0"/>
            <a:chExt cx="812800" cy="812800"/>
          </a:xfrm>
        </p:grpSpPr>
        <p:sp>
          <p:nvSpPr>
            <p:cNvPr id="262" name="Google Shape;262;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20"/>
          <p:cNvGrpSpPr/>
          <p:nvPr/>
        </p:nvGrpSpPr>
        <p:grpSpPr>
          <a:xfrm>
            <a:off x="10091552" y="3250089"/>
            <a:ext cx="216568" cy="216568"/>
            <a:chOff x="0" y="0"/>
            <a:chExt cx="812800" cy="812800"/>
          </a:xfrm>
        </p:grpSpPr>
        <p:sp>
          <p:nvSpPr>
            <p:cNvPr id="265" name="Google Shape;265;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20"/>
          <p:cNvSpPr/>
          <p:nvPr/>
        </p:nvSpPr>
        <p:spPr>
          <a:xfrm>
            <a:off x="2670728" y="5625425"/>
            <a:ext cx="2279234" cy="2269855"/>
          </a:xfrm>
          <a:custGeom>
            <a:rect b="b" l="l" r="r" t="t"/>
            <a:pathLst>
              <a:path extrusionOk="0" h="2269855" w="2279234">
                <a:moveTo>
                  <a:pt x="0" y="0"/>
                </a:moveTo>
                <a:lnTo>
                  <a:pt x="2279235" y="0"/>
                </a:lnTo>
                <a:lnTo>
                  <a:pt x="2279235" y="2269855"/>
                </a:lnTo>
                <a:lnTo>
                  <a:pt x="0" y="2269855"/>
                </a:lnTo>
                <a:lnTo>
                  <a:pt x="0" y="0"/>
                </a:lnTo>
                <a:close/>
              </a:path>
            </a:pathLst>
          </a:custGeom>
          <a:blipFill rotWithShape="1">
            <a:blip r:embed="rId4">
              <a:alphaModFix/>
            </a:blip>
            <a:stretch>
              <a:fillRect b="0" l="0" r="0" t="0"/>
            </a:stretch>
          </a:blipFill>
          <a:ln>
            <a:noFill/>
          </a:ln>
        </p:spPr>
      </p:sp>
      <p:sp>
        <p:nvSpPr>
          <p:cNvPr id="268" name="Google Shape;268;p20"/>
          <p:cNvSpPr/>
          <p:nvPr/>
        </p:nvSpPr>
        <p:spPr>
          <a:xfrm>
            <a:off x="10667439" y="3936466"/>
            <a:ext cx="2941728" cy="3773731"/>
          </a:xfrm>
          <a:custGeom>
            <a:rect b="b" l="l" r="r" t="t"/>
            <a:pathLst>
              <a:path extrusionOk="0" h="3773731" w="2941728">
                <a:moveTo>
                  <a:pt x="0" y="0"/>
                </a:moveTo>
                <a:lnTo>
                  <a:pt x="2941728" y="0"/>
                </a:lnTo>
                <a:lnTo>
                  <a:pt x="2941728" y="3773732"/>
                </a:lnTo>
                <a:lnTo>
                  <a:pt x="0" y="3773732"/>
                </a:lnTo>
                <a:lnTo>
                  <a:pt x="0" y="0"/>
                </a:lnTo>
                <a:close/>
              </a:path>
            </a:pathLst>
          </a:custGeom>
          <a:blipFill rotWithShape="1">
            <a:blip r:embed="rId5">
              <a:alphaModFix/>
            </a:blip>
            <a:stretch>
              <a:fillRect b="0" l="0" r="0" t="0"/>
            </a:stretch>
          </a:blipFill>
          <a:ln>
            <a:noFill/>
          </a:ln>
        </p:spPr>
      </p:sp>
      <p:sp>
        <p:nvSpPr>
          <p:cNvPr id="269" name="Google Shape;269;p20"/>
          <p:cNvSpPr txBox="1"/>
          <p:nvPr/>
        </p:nvSpPr>
        <p:spPr>
          <a:xfrm>
            <a:off x="2054482" y="2234275"/>
            <a:ext cx="7089518" cy="2064788"/>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166" u="none" cap="none" strike="noStrike">
                <a:solidFill>
                  <a:srgbClr val="FFFFFF"/>
                </a:solidFill>
                <a:latin typeface="Arial"/>
                <a:ea typeface="Arial"/>
                <a:cs typeface="Arial"/>
                <a:sym typeface="Arial"/>
              </a:rPr>
              <a:t>Análisis Sintáctico</a:t>
            </a:r>
            <a:endParaRPr/>
          </a:p>
        </p:txBody>
      </p:sp>
      <p:sp>
        <p:nvSpPr>
          <p:cNvPr id="270" name="Google Shape;270;p20"/>
          <p:cNvSpPr txBox="1"/>
          <p:nvPr/>
        </p:nvSpPr>
        <p:spPr>
          <a:xfrm>
            <a:off x="2859131" y="5141899"/>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Entrada</a:t>
            </a:r>
            <a:endParaRPr/>
          </a:p>
        </p:txBody>
      </p:sp>
      <p:sp>
        <p:nvSpPr>
          <p:cNvPr id="271" name="Google Shape;271;p20"/>
          <p:cNvSpPr txBox="1"/>
          <p:nvPr/>
        </p:nvSpPr>
        <p:spPr>
          <a:xfrm>
            <a:off x="10667439" y="3213689"/>
            <a:ext cx="1134758"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Salida</a:t>
            </a:r>
            <a:endParaRPr/>
          </a:p>
        </p:txBody>
      </p:sp>
      <p:sp>
        <p:nvSpPr>
          <p:cNvPr id="272" name="Google Shape;272;p20"/>
          <p:cNvSpPr txBox="1"/>
          <p:nvPr/>
        </p:nvSpPr>
        <p:spPr>
          <a:xfrm>
            <a:off x="2054482" y="4194288"/>
            <a:ext cx="7089518" cy="496538"/>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576" u="none" cap="none" strike="noStrike">
                <a:solidFill>
                  <a:srgbClr val="FFFFFF"/>
                </a:solidFill>
                <a:latin typeface="Arial"/>
                <a:ea typeface="Arial"/>
                <a:cs typeface="Arial"/>
                <a:sym typeface="Arial"/>
              </a:rPr>
              <a:t>Ejemplo: Parseo de una asignación simple</a:t>
            </a:r>
            <a:endParaRPr/>
          </a:p>
        </p:txBody>
      </p:sp>
      <p:grpSp>
        <p:nvGrpSpPr>
          <p:cNvPr id="273" name="Google Shape;273;p20"/>
          <p:cNvGrpSpPr/>
          <p:nvPr/>
        </p:nvGrpSpPr>
        <p:grpSpPr>
          <a:xfrm>
            <a:off x="2054482" y="8393872"/>
            <a:ext cx="7089518" cy="1360833"/>
            <a:chOff x="0" y="0"/>
            <a:chExt cx="1867198" cy="358409"/>
          </a:xfrm>
        </p:grpSpPr>
        <p:sp>
          <p:nvSpPr>
            <p:cNvPr id="274" name="Google Shape;274;p20"/>
            <p:cNvSpPr/>
            <p:nvPr/>
          </p:nvSpPr>
          <p:spPr>
            <a:xfrm>
              <a:off x="0" y="0"/>
              <a:ext cx="1867198" cy="358409"/>
            </a:xfrm>
            <a:custGeom>
              <a:rect b="b" l="l" r="r" t="t"/>
              <a:pathLst>
                <a:path extrusionOk="0" h="358409" w="1867198">
                  <a:moveTo>
                    <a:pt x="41497" y="0"/>
                  </a:moveTo>
                  <a:lnTo>
                    <a:pt x="1825701" y="0"/>
                  </a:lnTo>
                  <a:cubicBezTo>
                    <a:pt x="1836707" y="0"/>
                    <a:pt x="1847262" y="4372"/>
                    <a:pt x="1855044" y="12154"/>
                  </a:cubicBezTo>
                  <a:cubicBezTo>
                    <a:pt x="1862826" y="19936"/>
                    <a:pt x="1867198" y="30491"/>
                    <a:pt x="1867198" y="41497"/>
                  </a:cubicBezTo>
                  <a:lnTo>
                    <a:pt x="1867198" y="316912"/>
                  </a:lnTo>
                  <a:cubicBezTo>
                    <a:pt x="1867198" y="339830"/>
                    <a:pt x="1848620" y="358409"/>
                    <a:pt x="1825701" y="358409"/>
                  </a:cubicBezTo>
                  <a:lnTo>
                    <a:pt x="41497" y="358409"/>
                  </a:lnTo>
                  <a:cubicBezTo>
                    <a:pt x="30491" y="358409"/>
                    <a:pt x="19936" y="354037"/>
                    <a:pt x="12154" y="346255"/>
                  </a:cubicBezTo>
                  <a:cubicBezTo>
                    <a:pt x="4372" y="338472"/>
                    <a:pt x="0" y="327917"/>
                    <a:pt x="0" y="316912"/>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txBox="1"/>
            <p:nvPr/>
          </p:nvSpPr>
          <p:spPr>
            <a:xfrm>
              <a:off x="0" y="19050"/>
              <a:ext cx="1867198" cy="339359"/>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20"/>
          <p:cNvGrpSpPr/>
          <p:nvPr/>
        </p:nvGrpSpPr>
        <p:grpSpPr>
          <a:xfrm>
            <a:off x="2446072" y="8728881"/>
            <a:ext cx="224656" cy="224656"/>
            <a:chOff x="0" y="0"/>
            <a:chExt cx="812800" cy="812800"/>
          </a:xfrm>
        </p:grpSpPr>
        <p:sp>
          <p:nvSpPr>
            <p:cNvPr id="277" name="Google Shape;277;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20"/>
          <p:cNvSpPr txBox="1"/>
          <p:nvPr/>
        </p:nvSpPr>
        <p:spPr>
          <a:xfrm>
            <a:off x="2859131" y="8709831"/>
            <a:ext cx="3280924" cy="327492"/>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054" u="none" cap="none" strike="noStrike">
                <a:solidFill>
                  <a:srgbClr val="FFFFFF"/>
                </a:solidFill>
                <a:latin typeface="Arial"/>
                <a:ea typeface="Arial"/>
                <a:cs typeface="Arial"/>
                <a:sym typeface="Arial"/>
              </a:rPr>
              <a:t>Herramientas habituales</a:t>
            </a:r>
            <a:endParaRPr/>
          </a:p>
        </p:txBody>
      </p:sp>
      <p:sp>
        <p:nvSpPr>
          <p:cNvPr id="280" name="Google Shape;280;p20"/>
          <p:cNvSpPr txBox="1"/>
          <p:nvPr/>
        </p:nvSpPr>
        <p:spPr>
          <a:xfrm>
            <a:off x="2506895" y="9100324"/>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ANTLR, Bison, YACC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284" name="Shape 284"/>
        <p:cNvGrpSpPr/>
        <p:nvPr/>
      </p:nvGrpSpPr>
      <p:grpSpPr>
        <a:xfrm>
          <a:off x="0" y="0"/>
          <a:ext cx="0" cy="0"/>
          <a:chOff x="0" y="0"/>
          <a:chExt cx="0" cy="0"/>
        </a:xfrm>
      </p:grpSpPr>
      <p:sp>
        <p:nvSpPr>
          <p:cNvPr id="285" name="Google Shape;285;p21"/>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286" name="Google Shape;286;p21"/>
          <p:cNvGrpSpPr/>
          <p:nvPr/>
        </p:nvGrpSpPr>
        <p:grpSpPr>
          <a:xfrm>
            <a:off x="2054482" y="5697926"/>
            <a:ext cx="7089518" cy="3309700"/>
            <a:chOff x="0" y="0"/>
            <a:chExt cx="1867198" cy="871690"/>
          </a:xfrm>
        </p:grpSpPr>
        <p:sp>
          <p:nvSpPr>
            <p:cNvPr id="287" name="Google Shape;287;p21"/>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1"/>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9" name="Google Shape;289;p21"/>
          <p:cNvGrpSpPr/>
          <p:nvPr/>
        </p:nvGrpSpPr>
        <p:grpSpPr>
          <a:xfrm>
            <a:off x="9439465" y="7136779"/>
            <a:ext cx="6583028" cy="1771650"/>
            <a:chOff x="0" y="0"/>
            <a:chExt cx="1733801" cy="466607"/>
          </a:xfrm>
        </p:grpSpPr>
        <p:sp>
          <p:nvSpPr>
            <p:cNvPr id="290" name="Google Shape;290;p21"/>
            <p:cNvSpPr/>
            <p:nvPr/>
          </p:nvSpPr>
          <p:spPr>
            <a:xfrm>
              <a:off x="0" y="0"/>
              <a:ext cx="1733801" cy="466607"/>
            </a:xfrm>
            <a:custGeom>
              <a:rect b="b" l="l" r="r" t="t"/>
              <a:pathLst>
                <a:path extrusionOk="0"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1"/>
            <p:cNvSpPr txBox="1"/>
            <p:nvPr/>
          </p:nvSpPr>
          <p:spPr>
            <a:xfrm>
              <a:off x="0" y="19050"/>
              <a:ext cx="1733800" cy="447557"/>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p21"/>
          <p:cNvGrpSpPr/>
          <p:nvPr/>
        </p:nvGrpSpPr>
        <p:grpSpPr>
          <a:xfrm>
            <a:off x="9439465" y="2343150"/>
            <a:ext cx="6583028" cy="4515361"/>
            <a:chOff x="0" y="0"/>
            <a:chExt cx="1733801" cy="1189231"/>
          </a:xfrm>
        </p:grpSpPr>
        <p:sp>
          <p:nvSpPr>
            <p:cNvPr id="293" name="Google Shape;293;p21"/>
            <p:cNvSpPr/>
            <p:nvPr/>
          </p:nvSpPr>
          <p:spPr>
            <a:xfrm>
              <a:off x="0" y="0"/>
              <a:ext cx="1733801" cy="1189231"/>
            </a:xfrm>
            <a:custGeom>
              <a:rect b="b" l="l" r="r" t="t"/>
              <a:pathLst>
                <a:path extrusionOk="0"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1"/>
            <p:cNvSpPr txBox="1"/>
            <p:nvPr/>
          </p:nvSpPr>
          <p:spPr>
            <a:xfrm>
              <a:off x="0" y="19050"/>
              <a:ext cx="1733800" cy="11701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21"/>
          <p:cNvGrpSpPr/>
          <p:nvPr/>
        </p:nvGrpSpPr>
        <p:grpSpPr>
          <a:xfrm>
            <a:off x="2714464" y="6252122"/>
            <a:ext cx="224656" cy="224656"/>
            <a:chOff x="0" y="0"/>
            <a:chExt cx="812800" cy="812800"/>
          </a:xfrm>
        </p:grpSpPr>
        <p:sp>
          <p:nvSpPr>
            <p:cNvPr id="296" name="Google Shape;296;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8" name="Google Shape;298;p21"/>
          <p:cNvGrpSpPr/>
          <p:nvPr/>
        </p:nvGrpSpPr>
        <p:grpSpPr>
          <a:xfrm>
            <a:off x="10179697" y="2913029"/>
            <a:ext cx="517587" cy="517587"/>
            <a:chOff x="0" y="0"/>
            <a:chExt cx="812800" cy="812800"/>
          </a:xfrm>
        </p:grpSpPr>
        <p:sp>
          <p:nvSpPr>
            <p:cNvPr id="299" name="Google Shape;29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21"/>
          <p:cNvSpPr/>
          <p:nvPr/>
        </p:nvSpPr>
        <p:spPr>
          <a:xfrm>
            <a:off x="10268981" y="3002943"/>
            <a:ext cx="374682" cy="348710"/>
          </a:xfrm>
          <a:custGeom>
            <a:rect b="b" l="l" r="r" t="t"/>
            <a:pathLst>
              <a:path extrusionOk="0" h="348710" w="374682">
                <a:moveTo>
                  <a:pt x="0" y="0"/>
                </a:moveTo>
                <a:lnTo>
                  <a:pt x="374683" y="0"/>
                </a:lnTo>
                <a:lnTo>
                  <a:pt x="374683" y="348710"/>
                </a:lnTo>
                <a:lnTo>
                  <a:pt x="0" y="348710"/>
                </a:lnTo>
                <a:lnTo>
                  <a:pt x="0" y="0"/>
                </a:lnTo>
                <a:close/>
              </a:path>
            </a:pathLst>
          </a:custGeom>
          <a:blipFill rotWithShape="1">
            <a:blip r:embed="rId4">
              <a:alphaModFix/>
            </a:blip>
            <a:stretch>
              <a:fillRect b="0" l="0" r="0" t="0"/>
            </a:stretch>
          </a:blipFill>
          <a:ln>
            <a:noFill/>
          </a:ln>
        </p:spPr>
      </p:sp>
      <p:sp>
        <p:nvSpPr>
          <p:cNvPr id="302" name="Google Shape;302;p21"/>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04</a:t>
            </a:r>
            <a:endParaRPr/>
          </a:p>
        </p:txBody>
      </p:sp>
      <p:sp>
        <p:nvSpPr>
          <p:cNvPr id="303" name="Google Shape;303;p21"/>
          <p:cNvSpPr txBox="1"/>
          <p:nvPr/>
        </p:nvSpPr>
        <p:spPr>
          <a:xfrm>
            <a:off x="2054482" y="2234275"/>
            <a:ext cx="7089518" cy="2064788"/>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166" u="none" cap="none" strike="noStrike">
                <a:solidFill>
                  <a:srgbClr val="FFFFFF"/>
                </a:solidFill>
                <a:latin typeface="Arial"/>
                <a:ea typeface="Arial"/>
                <a:cs typeface="Arial"/>
                <a:sym typeface="Arial"/>
              </a:rPr>
              <a:t>Análisis Semántico</a:t>
            </a:r>
            <a:endParaRPr/>
          </a:p>
        </p:txBody>
      </p:sp>
      <p:sp>
        <p:nvSpPr>
          <p:cNvPr id="304" name="Google Shape;304;p21"/>
          <p:cNvSpPr txBox="1"/>
          <p:nvPr/>
        </p:nvSpPr>
        <p:spPr>
          <a:xfrm>
            <a:off x="3127523" y="624259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Entrada</a:t>
            </a:r>
            <a:endParaRPr/>
          </a:p>
        </p:txBody>
      </p:sp>
      <p:sp>
        <p:nvSpPr>
          <p:cNvPr id="305" name="Google Shape;305;p21"/>
          <p:cNvSpPr txBox="1"/>
          <p:nvPr/>
        </p:nvSpPr>
        <p:spPr>
          <a:xfrm>
            <a:off x="11038139" y="2983893"/>
            <a:ext cx="1134758"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Tareas</a:t>
            </a:r>
            <a:endParaRPr/>
          </a:p>
        </p:txBody>
      </p:sp>
      <p:sp>
        <p:nvSpPr>
          <p:cNvPr id="306" name="Google Shape;306;p21"/>
          <p:cNvSpPr txBox="1"/>
          <p:nvPr/>
        </p:nvSpPr>
        <p:spPr>
          <a:xfrm>
            <a:off x="10179702" y="7458325"/>
            <a:ext cx="5102700" cy="423900"/>
          </a:xfrm>
          <a:prstGeom prst="rect">
            <a:avLst/>
          </a:prstGeom>
          <a:noFill/>
          <a:ln>
            <a:noFill/>
          </a:ln>
        </p:spPr>
        <p:txBody>
          <a:bodyPr anchorCtr="0" anchor="t" bIns="0" lIns="0" spcFirstLastPara="1" rIns="0" wrap="square" tIns="0">
            <a:spAutoFit/>
          </a:bodyPr>
          <a:lstStyle/>
          <a:p>
            <a:pPr indent="0" lvl="0" marL="0" marR="0" rtl="0" algn="l">
              <a:lnSpc>
                <a:spcPct val="103994"/>
              </a:lnSpc>
              <a:spcBef>
                <a:spcPts val="0"/>
              </a:spcBef>
              <a:spcAft>
                <a:spcPts val="0"/>
              </a:spcAft>
              <a:buNone/>
            </a:pPr>
            <a:r>
              <a:rPr b="1" i="0" lang="en-US" sz="2754" u="none" cap="none" strike="noStrike">
                <a:solidFill>
                  <a:srgbClr val="FFFFFF"/>
                </a:solidFill>
                <a:latin typeface="Arial"/>
                <a:ea typeface="Arial"/>
                <a:cs typeface="Arial"/>
                <a:sym typeface="Arial"/>
              </a:rPr>
              <a:t>Estructura de datos</a:t>
            </a:r>
            <a:endParaRPr/>
          </a:p>
        </p:txBody>
      </p:sp>
      <p:sp>
        <p:nvSpPr>
          <p:cNvPr id="307" name="Google Shape;307;p21"/>
          <p:cNvSpPr txBox="1"/>
          <p:nvPr/>
        </p:nvSpPr>
        <p:spPr>
          <a:xfrm>
            <a:off x="2775287" y="662356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AST y tabla de símbolos.</a:t>
            </a:r>
            <a:endParaRPr/>
          </a:p>
        </p:txBody>
      </p:sp>
      <p:sp>
        <p:nvSpPr>
          <p:cNvPr id="308" name="Google Shape;308;p21"/>
          <p:cNvSpPr txBox="1"/>
          <p:nvPr/>
        </p:nvSpPr>
        <p:spPr>
          <a:xfrm>
            <a:off x="10268981" y="3780894"/>
            <a:ext cx="5102560" cy="2860007"/>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Comprobación de tipos: coherencia en operaciones y asignaciones.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Verificación de declaraciones: uso de variables y funciones.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Comprobación de reglas semánticas (alcance, conversión de tipos).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Gestión de errores semánticos (uso de variables no declaradas, incompatibilidades de tipo).</a:t>
            </a:r>
            <a:endParaRPr/>
          </a:p>
        </p:txBody>
      </p:sp>
      <p:sp>
        <p:nvSpPr>
          <p:cNvPr id="309" name="Google Shape;309;p21"/>
          <p:cNvSpPr txBox="1"/>
          <p:nvPr/>
        </p:nvSpPr>
        <p:spPr>
          <a:xfrm>
            <a:off x="2054482" y="4391764"/>
            <a:ext cx="6013469" cy="695292"/>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Comprueba la coherencia de tipos y uso correcto de declaraciones</a:t>
            </a:r>
            <a:endParaRPr/>
          </a:p>
        </p:txBody>
      </p:sp>
      <p:grpSp>
        <p:nvGrpSpPr>
          <p:cNvPr id="310" name="Google Shape;310;p21"/>
          <p:cNvGrpSpPr/>
          <p:nvPr/>
        </p:nvGrpSpPr>
        <p:grpSpPr>
          <a:xfrm>
            <a:off x="2714464" y="7368142"/>
            <a:ext cx="224656" cy="224656"/>
            <a:chOff x="0" y="0"/>
            <a:chExt cx="812800" cy="812800"/>
          </a:xfrm>
        </p:grpSpPr>
        <p:sp>
          <p:nvSpPr>
            <p:cNvPr id="311" name="Google Shape;31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1"/>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3" name="Google Shape;313;p21"/>
          <p:cNvSpPr txBox="1"/>
          <p:nvPr/>
        </p:nvSpPr>
        <p:spPr>
          <a:xfrm>
            <a:off x="3127523" y="735861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Salida</a:t>
            </a:r>
            <a:endParaRPr/>
          </a:p>
        </p:txBody>
      </p:sp>
      <p:sp>
        <p:nvSpPr>
          <p:cNvPr id="314" name="Google Shape;314;p21"/>
          <p:cNvSpPr txBox="1"/>
          <p:nvPr/>
        </p:nvSpPr>
        <p:spPr>
          <a:xfrm>
            <a:off x="2775287" y="7739586"/>
            <a:ext cx="5708731" cy="61464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AST anotado y tabla de símbolos completa (con información de tipos, espacios de nombres, etc.).</a:t>
            </a:r>
            <a:endParaRPr/>
          </a:p>
        </p:txBody>
      </p:sp>
      <p:sp>
        <p:nvSpPr>
          <p:cNvPr id="315" name="Google Shape;315;p21"/>
          <p:cNvSpPr txBox="1"/>
          <p:nvPr/>
        </p:nvSpPr>
        <p:spPr>
          <a:xfrm>
            <a:off x="10181561" y="7953198"/>
            <a:ext cx="5189980" cy="61464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AST anotado y tabla de símbolos enriquecida con tipos y ámbitos.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319" name="Shape 319"/>
        <p:cNvGrpSpPr/>
        <p:nvPr/>
      </p:nvGrpSpPr>
      <p:grpSpPr>
        <a:xfrm>
          <a:off x="0" y="0"/>
          <a:ext cx="0" cy="0"/>
          <a:chOff x="0" y="0"/>
          <a:chExt cx="0" cy="0"/>
        </a:xfrm>
      </p:grpSpPr>
      <p:sp>
        <p:nvSpPr>
          <p:cNvPr id="320" name="Google Shape;320;p22"/>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321" name="Google Shape;321;p22"/>
          <p:cNvGrpSpPr/>
          <p:nvPr/>
        </p:nvGrpSpPr>
        <p:grpSpPr>
          <a:xfrm>
            <a:off x="2054482" y="4836522"/>
            <a:ext cx="7089518" cy="4632745"/>
            <a:chOff x="0" y="0"/>
            <a:chExt cx="1867198" cy="1220147"/>
          </a:xfrm>
        </p:grpSpPr>
        <p:sp>
          <p:nvSpPr>
            <p:cNvPr id="322" name="Google Shape;322;p22"/>
            <p:cNvSpPr/>
            <p:nvPr/>
          </p:nvSpPr>
          <p:spPr>
            <a:xfrm>
              <a:off x="0" y="0"/>
              <a:ext cx="1867198" cy="1220147"/>
            </a:xfrm>
            <a:custGeom>
              <a:rect b="b" l="l" r="r" t="t"/>
              <a:pathLst>
                <a:path extrusionOk="0" h="1220147" w="1867198">
                  <a:moveTo>
                    <a:pt x="41497" y="0"/>
                  </a:moveTo>
                  <a:lnTo>
                    <a:pt x="1825701" y="0"/>
                  </a:lnTo>
                  <a:cubicBezTo>
                    <a:pt x="1836707" y="0"/>
                    <a:pt x="1847262" y="4372"/>
                    <a:pt x="1855044" y="12154"/>
                  </a:cubicBezTo>
                  <a:cubicBezTo>
                    <a:pt x="1862826" y="19936"/>
                    <a:pt x="1867198" y="30491"/>
                    <a:pt x="1867198" y="41497"/>
                  </a:cubicBezTo>
                  <a:lnTo>
                    <a:pt x="1867198" y="1178650"/>
                  </a:lnTo>
                  <a:cubicBezTo>
                    <a:pt x="1867198" y="1201568"/>
                    <a:pt x="1848620" y="1220147"/>
                    <a:pt x="1825701" y="1220147"/>
                  </a:cubicBezTo>
                  <a:lnTo>
                    <a:pt x="41497" y="1220147"/>
                  </a:lnTo>
                  <a:cubicBezTo>
                    <a:pt x="30491" y="1220147"/>
                    <a:pt x="19936" y="1215775"/>
                    <a:pt x="12154" y="1207993"/>
                  </a:cubicBezTo>
                  <a:cubicBezTo>
                    <a:pt x="4372" y="1200210"/>
                    <a:pt x="0" y="1189655"/>
                    <a:pt x="0" y="1178650"/>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txBox="1"/>
            <p:nvPr/>
          </p:nvSpPr>
          <p:spPr>
            <a:xfrm>
              <a:off x="0" y="19050"/>
              <a:ext cx="1867198" cy="1201097"/>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22"/>
          <p:cNvGrpSpPr/>
          <p:nvPr/>
        </p:nvGrpSpPr>
        <p:grpSpPr>
          <a:xfrm>
            <a:off x="9447763" y="2885820"/>
            <a:ext cx="6583028" cy="5260402"/>
            <a:chOff x="0" y="0"/>
            <a:chExt cx="1733801" cy="1385456"/>
          </a:xfrm>
        </p:grpSpPr>
        <p:sp>
          <p:nvSpPr>
            <p:cNvPr id="325" name="Google Shape;325;p22"/>
            <p:cNvSpPr/>
            <p:nvPr/>
          </p:nvSpPr>
          <p:spPr>
            <a:xfrm>
              <a:off x="0" y="0"/>
              <a:ext cx="1733801" cy="1385456"/>
            </a:xfrm>
            <a:custGeom>
              <a:rect b="b" l="l" r="r" t="t"/>
              <a:pathLst>
                <a:path extrusionOk="0" h="1385456" w="1733801">
                  <a:moveTo>
                    <a:pt x="44690" y="0"/>
                  </a:moveTo>
                  <a:lnTo>
                    <a:pt x="1689111" y="0"/>
                  </a:lnTo>
                  <a:cubicBezTo>
                    <a:pt x="1713792" y="0"/>
                    <a:pt x="1733801" y="20008"/>
                    <a:pt x="1733801" y="44690"/>
                  </a:cubicBezTo>
                  <a:lnTo>
                    <a:pt x="1733801" y="1340766"/>
                  </a:lnTo>
                  <a:cubicBezTo>
                    <a:pt x="1733801" y="1352619"/>
                    <a:pt x="1729092" y="1363986"/>
                    <a:pt x="1720711" y="1372366"/>
                  </a:cubicBezTo>
                  <a:cubicBezTo>
                    <a:pt x="1712330" y="1380747"/>
                    <a:pt x="1700963" y="1385456"/>
                    <a:pt x="1689111" y="1385456"/>
                  </a:cubicBezTo>
                  <a:lnTo>
                    <a:pt x="44690" y="1385456"/>
                  </a:lnTo>
                  <a:cubicBezTo>
                    <a:pt x="32837" y="1385456"/>
                    <a:pt x="21470" y="1380747"/>
                    <a:pt x="13089" y="1372366"/>
                  </a:cubicBezTo>
                  <a:cubicBezTo>
                    <a:pt x="4708" y="1363986"/>
                    <a:pt x="0" y="1352619"/>
                    <a:pt x="0" y="1340766"/>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txBox="1"/>
            <p:nvPr/>
          </p:nvSpPr>
          <p:spPr>
            <a:xfrm>
              <a:off x="0" y="19050"/>
              <a:ext cx="1733800" cy="1366406"/>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7" name="Google Shape;327;p22"/>
          <p:cNvGrpSpPr/>
          <p:nvPr/>
        </p:nvGrpSpPr>
        <p:grpSpPr>
          <a:xfrm>
            <a:off x="2446072" y="5151424"/>
            <a:ext cx="224656" cy="224656"/>
            <a:chOff x="0" y="0"/>
            <a:chExt cx="812800" cy="812800"/>
          </a:xfrm>
        </p:grpSpPr>
        <p:sp>
          <p:nvSpPr>
            <p:cNvPr id="328" name="Google Shape;328;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22"/>
          <p:cNvGrpSpPr/>
          <p:nvPr/>
        </p:nvGrpSpPr>
        <p:grpSpPr>
          <a:xfrm>
            <a:off x="10091552" y="3250089"/>
            <a:ext cx="216568" cy="216568"/>
            <a:chOff x="0" y="0"/>
            <a:chExt cx="812800" cy="812800"/>
          </a:xfrm>
        </p:grpSpPr>
        <p:sp>
          <p:nvSpPr>
            <p:cNvPr id="331" name="Google Shape;331;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22"/>
          <p:cNvSpPr/>
          <p:nvPr/>
        </p:nvSpPr>
        <p:spPr>
          <a:xfrm>
            <a:off x="2859131" y="5695536"/>
            <a:ext cx="2625999" cy="3368706"/>
          </a:xfrm>
          <a:custGeom>
            <a:rect b="b" l="l" r="r" t="t"/>
            <a:pathLst>
              <a:path extrusionOk="0" h="3368706" w="2625999">
                <a:moveTo>
                  <a:pt x="0" y="0"/>
                </a:moveTo>
                <a:lnTo>
                  <a:pt x="2626000" y="0"/>
                </a:lnTo>
                <a:lnTo>
                  <a:pt x="2626000" y="3368706"/>
                </a:lnTo>
                <a:lnTo>
                  <a:pt x="0" y="3368706"/>
                </a:lnTo>
                <a:lnTo>
                  <a:pt x="0" y="0"/>
                </a:lnTo>
                <a:close/>
              </a:path>
            </a:pathLst>
          </a:custGeom>
          <a:blipFill rotWithShape="1">
            <a:blip r:embed="rId4">
              <a:alphaModFix/>
            </a:blip>
            <a:stretch>
              <a:fillRect b="0" l="0" r="0" t="0"/>
            </a:stretch>
          </a:blipFill>
          <a:ln>
            <a:noFill/>
          </a:ln>
        </p:spPr>
      </p:sp>
      <p:sp>
        <p:nvSpPr>
          <p:cNvPr id="334" name="Google Shape;334;p22"/>
          <p:cNvSpPr/>
          <p:nvPr/>
        </p:nvSpPr>
        <p:spPr>
          <a:xfrm>
            <a:off x="10667439" y="3758695"/>
            <a:ext cx="3642859" cy="3848627"/>
          </a:xfrm>
          <a:custGeom>
            <a:rect b="b" l="l" r="r" t="t"/>
            <a:pathLst>
              <a:path extrusionOk="0" h="3848627" w="3642859">
                <a:moveTo>
                  <a:pt x="0" y="0"/>
                </a:moveTo>
                <a:lnTo>
                  <a:pt x="3642859" y="0"/>
                </a:lnTo>
                <a:lnTo>
                  <a:pt x="3642859" y="3848628"/>
                </a:lnTo>
                <a:lnTo>
                  <a:pt x="0" y="3848628"/>
                </a:lnTo>
                <a:lnTo>
                  <a:pt x="0" y="0"/>
                </a:lnTo>
                <a:close/>
              </a:path>
            </a:pathLst>
          </a:custGeom>
          <a:blipFill rotWithShape="1">
            <a:blip r:embed="rId5">
              <a:alphaModFix/>
            </a:blip>
            <a:stretch>
              <a:fillRect b="0" l="0" r="0" t="0"/>
            </a:stretch>
          </a:blipFill>
          <a:ln>
            <a:noFill/>
          </a:ln>
        </p:spPr>
      </p:sp>
      <p:sp>
        <p:nvSpPr>
          <p:cNvPr id="335" name="Google Shape;335;p22"/>
          <p:cNvSpPr txBox="1"/>
          <p:nvPr/>
        </p:nvSpPr>
        <p:spPr>
          <a:xfrm>
            <a:off x="2054482" y="2234275"/>
            <a:ext cx="7089518" cy="2064788"/>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166" u="none" cap="none" strike="noStrike">
                <a:solidFill>
                  <a:srgbClr val="FFFFFF"/>
                </a:solidFill>
                <a:latin typeface="Arial"/>
                <a:ea typeface="Arial"/>
                <a:cs typeface="Arial"/>
                <a:sym typeface="Arial"/>
              </a:rPr>
              <a:t>Análisis Semántico</a:t>
            </a:r>
            <a:endParaRPr/>
          </a:p>
        </p:txBody>
      </p:sp>
      <p:sp>
        <p:nvSpPr>
          <p:cNvPr id="336" name="Google Shape;336;p22"/>
          <p:cNvSpPr txBox="1"/>
          <p:nvPr/>
        </p:nvSpPr>
        <p:spPr>
          <a:xfrm>
            <a:off x="2859131" y="5141899"/>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Entrada</a:t>
            </a:r>
            <a:endParaRPr/>
          </a:p>
        </p:txBody>
      </p:sp>
      <p:sp>
        <p:nvSpPr>
          <p:cNvPr id="337" name="Google Shape;337;p22"/>
          <p:cNvSpPr txBox="1"/>
          <p:nvPr/>
        </p:nvSpPr>
        <p:spPr>
          <a:xfrm>
            <a:off x="10667439" y="3213689"/>
            <a:ext cx="1134758"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Salida</a:t>
            </a:r>
            <a:endParaRPr/>
          </a:p>
        </p:txBody>
      </p:sp>
      <p:sp>
        <p:nvSpPr>
          <p:cNvPr id="338" name="Google Shape;338;p22"/>
          <p:cNvSpPr txBox="1"/>
          <p:nvPr/>
        </p:nvSpPr>
        <p:spPr>
          <a:xfrm>
            <a:off x="2054482" y="4194288"/>
            <a:ext cx="7089518" cy="496538"/>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0" i="0" lang="en-US" sz="2576" u="none" cap="none" strike="noStrike">
                <a:solidFill>
                  <a:srgbClr val="FFFFFF"/>
                </a:solidFill>
                <a:latin typeface="Arial"/>
                <a:ea typeface="Arial"/>
                <a:cs typeface="Arial"/>
                <a:sym typeface="Arial"/>
              </a:rPr>
              <a:t>Ejemplo: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342" name="Shape 342"/>
        <p:cNvGrpSpPr/>
        <p:nvPr/>
      </p:nvGrpSpPr>
      <p:grpSpPr>
        <a:xfrm>
          <a:off x="0" y="0"/>
          <a:ext cx="0" cy="0"/>
          <a:chOff x="0" y="0"/>
          <a:chExt cx="0" cy="0"/>
        </a:xfrm>
      </p:grpSpPr>
      <p:sp>
        <p:nvSpPr>
          <p:cNvPr id="343" name="Google Shape;343;p23"/>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344" name="Google Shape;344;p23"/>
          <p:cNvGrpSpPr/>
          <p:nvPr/>
        </p:nvGrpSpPr>
        <p:grpSpPr>
          <a:xfrm>
            <a:off x="2054482" y="5697926"/>
            <a:ext cx="7089518" cy="3309700"/>
            <a:chOff x="0" y="0"/>
            <a:chExt cx="1867198" cy="871690"/>
          </a:xfrm>
        </p:grpSpPr>
        <p:sp>
          <p:nvSpPr>
            <p:cNvPr id="345" name="Google Shape;345;p23"/>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p23"/>
          <p:cNvGrpSpPr/>
          <p:nvPr/>
        </p:nvGrpSpPr>
        <p:grpSpPr>
          <a:xfrm>
            <a:off x="9439465" y="7136779"/>
            <a:ext cx="6583028" cy="1771650"/>
            <a:chOff x="0" y="0"/>
            <a:chExt cx="1733801" cy="466607"/>
          </a:xfrm>
        </p:grpSpPr>
        <p:sp>
          <p:nvSpPr>
            <p:cNvPr id="348" name="Google Shape;348;p23"/>
            <p:cNvSpPr/>
            <p:nvPr/>
          </p:nvSpPr>
          <p:spPr>
            <a:xfrm>
              <a:off x="0" y="0"/>
              <a:ext cx="1733801" cy="466607"/>
            </a:xfrm>
            <a:custGeom>
              <a:rect b="b" l="l" r="r" t="t"/>
              <a:pathLst>
                <a:path extrusionOk="0"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3"/>
            <p:cNvSpPr txBox="1"/>
            <p:nvPr/>
          </p:nvSpPr>
          <p:spPr>
            <a:xfrm>
              <a:off x="0" y="19050"/>
              <a:ext cx="1733800" cy="447557"/>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0" name="Google Shape;350;p23"/>
          <p:cNvGrpSpPr/>
          <p:nvPr/>
        </p:nvGrpSpPr>
        <p:grpSpPr>
          <a:xfrm>
            <a:off x="9439465" y="2343150"/>
            <a:ext cx="6583028" cy="4515361"/>
            <a:chOff x="0" y="0"/>
            <a:chExt cx="1733801" cy="1189231"/>
          </a:xfrm>
        </p:grpSpPr>
        <p:sp>
          <p:nvSpPr>
            <p:cNvPr id="351" name="Google Shape;351;p23"/>
            <p:cNvSpPr/>
            <p:nvPr/>
          </p:nvSpPr>
          <p:spPr>
            <a:xfrm>
              <a:off x="0" y="0"/>
              <a:ext cx="1733801" cy="1189231"/>
            </a:xfrm>
            <a:custGeom>
              <a:rect b="b" l="l" r="r" t="t"/>
              <a:pathLst>
                <a:path extrusionOk="0"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3"/>
            <p:cNvSpPr txBox="1"/>
            <p:nvPr/>
          </p:nvSpPr>
          <p:spPr>
            <a:xfrm>
              <a:off x="0" y="19050"/>
              <a:ext cx="1733800" cy="11701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3" name="Google Shape;353;p23"/>
          <p:cNvGrpSpPr/>
          <p:nvPr/>
        </p:nvGrpSpPr>
        <p:grpSpPr>
          <a:xfrm>
            <a:off x="2714464" y="6252122"/>
            <a:ext cx="224656" cy="224656"/>
            <a:chOff x="0" y="0"/>
            <a:chExt cx="812800" cy="812800"/>
          </a:xfrm>
        </p:grpSpPr>
        <p:sp>
          <p:nvSpPr>
            <p:cNvPr id="354" name="Google Shape;354;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6" name="Google Shape;356;p23"/>
          <p:cNvGrpSpPr/>
          <p:nvPr/>
        </p:nvGrpSpPr>
        <p:grpSpPr>
          <a:xfrm>
            <a:off x="10179697" y="2913029"/>
            <a:ext cx="517587" cy="517587"/>
            <a:chOff x="0" y="0"/>
            <a:chExt cx="812800" cy="812800"/>
          </a:xfrm>
        </p:grpSpPr>
        <p:sp>
          <p:nvSpPr>
            <p:cNvPr id="357" name="Google Shape;357;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3"/>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9" name="Google Shape;359;p23"/>
          <p:cNvSpPr/>
          <p:nvPr/>
        </p:nvSpPr>
        <p:spPr>
          <a:xfrm>
            <a:off x="10268981" y="3002943"/>
            <a:ext cx="374682" cy="348710"/>
          </a:xfrm>
          <a:custGeom>
            <a:rect b="b" l="l" r="r" t="t"/>
            <a:pathLst>
              <a:path extrusionOk="0" h="348710" w="374682">
                <a:moveTo>
                  <a:pt x="0" y="0"/>
                </a:moveTo>
                <a:lnTo>
                  <a:pt x="374683" y="0"/>
                </a:lnTo>
                <a:lnTo>
                  <a:pt x="374683" y="348710"/>
                </a:lnTo>
                <a:lnTo>
                  <a:pt x="0" y="348710"/>
                </a:lnTo>
                <a:lnTo>
                  <a:pt x="0" y="0"/>
                </a:lnTo>
                <a:close/>
              </a:path>
            </a:pathLst>
          </a:custGeom>
          <a:blipFill rotWithShape="1">
            <a:blip r:embed="rId4">
              <a:alphaModFix/>
            </a:blip>
            <a:stretch>
              <a:fillRect b="0" l="0" r="0" t="0"/>
            </a:stretch>
          </a:blipFill>
          <a:ln>
            <a:noFill/>
          </a:ln>
        </p:spPr>
      </p:sp>
      <p:sp>
        <p:nvSpPr>
          <p:cNvPr id="360" name="Google Shape;360;p23"/>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05</a:t>
            </a:r>
            <a:endParaRPr/>
          </a:p>
        </p:txBody>
      </p:sp>
      <p:sp>
        <p:nvSpPr>
          <p:cNvPr id="361" name="Google Shape;361;p23"/>
          <p:cNvSpPr txBox="1"/>
          <p:nvPr/>
        </p:nvSpPr>
        <p:spPr>
          <a:xfrm>
            <a:off x="2054482" y="2234275"/>
            <a:ext cx="7384983" cy="2020020"/>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066" u="none" cap="none" strike="noStrike">
                <a:solidFill>
                  <a:srgbClr val="FFFFFF"/>
                </a:solidFill>
                <a:latin typeface="Arial"/>
                <a:ea typeface="Arial"/>
                <a:cs typeface="Arial"/>
                <a:sym typeface="Arial"/>
              </a:rPr>
              <a:t>Generación de Código Intermedio</a:t>
            </a:r>
            <a:endParaRPr/>
          </a:p>
        </p:txBody>
      </p:sp>
      <p:sp>
        <p:nvSpPr>
          <p:cNvPr id="362" name="Google Shape;362;p23"/>
          <p:cNvSpPr txBox="1"/>
          <p:nvPr/>
        </p:nvSpPr>
        <p:spPr>
          <a:xfrm>
            <a:off x="3127523" y="6242597"/>
            <a:ext cx="4670094"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Ejemplo: Código de tres direcciones</a:t>
            </a:r>
            <a:endParaRPr/>
          </a:p>
        </p:txBody>
      </p:sp>
      <p:sp>
        <p:nvSpPr>
          <p:cNvPr id="363" name="Google Shape;363;p23"/>
          <p:cNvSpPr txBox="1"/>
          <p:nvPr/>
        </p:nvSpPr>
        <p:spPr>
          <a:xfrm>
            <a:off x="11038139" y="2983893"/>
            <a:ext cx="2129789"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Características</a:t>
            </a:r>
            <a:endParaRPr/>
          </a:p>
        </p:txBody>
      </p:sp>
      <p:sp>
        <p:nvSpPr>
          <p:cNvPr id="364" name="Google Shape;364;p23"/>
          <p:cNvSpPr txBox="1"/>
          <p:nvPr/>
        </p:nvSpPr>
        <p:spPr>
          <a:xfrm>
            <a:off x="2775287" y="662356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1" i="0" lang="en-US" sz="1676" u="none" cap="none" strike="noStrike">
                <a:solidFill>
                  <a:srgbClr val="FFFFFF"/>
                </a:solidFill>
                <a:latin typeface="Arial"/>
                <a:ea typeface="Arial"/>
                <a:cs typeface="Arial"/>
                <a:sym typeface="Arial"/>
              </a:rPr>
              <a:t>Expresión original</a:t>
            </a:r>
            <a:r>
              <a:rPr b="1" i="1" lang="en-US" sz="1676" u="none" cap="none" strike="noStrike">
                <a:solidFill>
                  <a:srgbClr val="FFFFFF"/>
                </a:solidFill>
                <a:latin typeface="Arial"/>
                <a:ea typeface="Arial"/>
                <a:cs typeface="Arial"/>
                <a:sym typeface="Arial"/>
              </a:rPr>
              <a:t>: </a:t>
            </a:r>
            <a:r>
              <a:rPr b="0" i="1" lang="en-US" sz="1676" u="none" cap="none" strike="noStrike">
                <a:solidFill>
                  <a:srgbClr val="FFFFFF"/>
                </a:solidFill>
                <a:latin typeface="Arial"/>
                <a:ea typeface="Arial"/>
                <a:cs typeface="Arial"/>
                <a:sym typeface="Arial"/>
              </a:rPr>
              <a:t>(a + b) * c</a:t>
            </a:r>
            <a:endParaRPr/>
          </a:p>
        </p:txBody>
      </p:sp>
      <p:sp>
        <p:nvSpPr>
          <p:cNvPr id="365" name="Google Shape;365;p23"/>
          <p:cNvSpPr txBox="1"/>
          <p:nvPr/>
        </p:nvSpPr>
        <p:spPr>
          <a:xfrm>
            <a:off x="10268981" y="3780894"/>
            <a:ext cx="5102560" cy="1602707"/>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Un solo operador por instrucción.</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Nombres temporales para valores intermedios.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Etiquetas para saltos condicionales e incondicionales.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Sirve de base para la optimización.</a:t>
            </a:r>
            <a:endParaRPr/>
          </a:p>
        </p:txBody>
      </p:sp>
      <p:sp>
        <p:nvSpPr>
          <p:cNvPr id="366" name="Google Shape;366;p23"/>
          <p:cNvSpPr txBox="1"/>
          <p:nvPr/>
        </p:nvSpPr>
        <p:spPr>
          <a:xfrm>
            <a:off x="2054482" y="4391764"/>
            <a:ext cx="6013469" cy="695292"/>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Traduce el AST anotado a una representación neutral (IR).</a:t>
            </a:r>
            <a:endParaRPr/>
          </a:p>
        </p:txBody>
      </p:sp>
      <p:sp>
        <p:nvSpPr>
          <p:cNvPr id="367" name="Google Shape;367;p23"/>
          <p:cNvSpPr txBox="1"/>
          <p:nvPr/>
        </p:nvSpPr>
        <p:spPr>
          <a:xfrm>
            <a:off x="2826792" y="7085813"/>
            <a:ext cx="5708731" cy="61464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t1 = a + b  </a:t>
            </a:r>
            <a:endParaRPr/>
          </a:p>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t2 = t1 * c  </a:t>
            </a:r>
            <a:endParaRPr/>
          </a:p>
        </p:txBody>
      </p:sp>
      <p:sp>
        <p:nvSpPr>
          <p:cNvPr id="368" name="Google Shape;368;p23"/>
          <p:cNvSpPr txBox="1"/>
          <p:nvPr/>
        </p:nvSpPr>
        <p:spPr>
          <a:xfrm>
            <a:off x="10179697" y="7369295"/>
            <a:ext cx="3050649" cy="436966"/>
          </a:xfrm>
          <a:prstGeom prst="rect">
            <a:avLst/>
          </a:prstGeom>
          <a:noFill/>
          <a:ln>
            <a:noFill/>
          </a:ln>
        </p:spPr>
        <p:txBody>
          <a:bodyPr anchorCtr="0" anchor="t" bIns="0" lIns="0" spcFirstLastPara="1" rIns="0" wrap="square" tIns="0">
            <a:spAutoFit/>
          </a:bodyPr>
          <a:lstStyle/>
          <a:p>
            <a:pPr indent="0" lvl="0" marL="0" marR="0" rtl="0" algn="l">
              <a:lnSpc>
                <a:spcPct val="103994"/>
              </a:lnSpc>
              <a:spcBef>
                <a:spcPts val="0"/>
              </a:spcBef>
              <a:spcAft>
                <a:spcPts val="0"/>
              </a:spcAft>
              <a:buNone/>
            </a:pPr>
            <a:r>
              <a:rPr b="1" i="0" lang="en-US" sz="2754" u="none" cap="none" strike="noStrike">
                <a:solidFill>
                  <a:srgbClr val="FFFFFF"/>
                </a:solidFill>
                <a:latin typeface="Arial"/>
                <a:ea typeface="Arial"/>
                <a:cs typeface="Arial"/>
                <a:sym typeface="Arial"/>
              </a:rPr>
              <a:t>Propósito</a:t>
            </a:r>
            <a:endParaRPr/>
          </a:p>
        </p:txBody>
      </p:sp>
      <p:sp>
        <p:nvSpPr>
          <p:cNvPr id="369" name="Google Shape;369;p23"/>
          <p:cNvSpPr txBox="1"/>
          <p:nvPr/>
        </p:nvSpPr>
        <p:spPr>
          <a:xfrm>
            <a:off x="10179697" y="7856410"/>
            <a:ext cx="5189980" cy="956277"/>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Desacoplar front-end (análisis léxico, etc.) y back-end.</a:t>
            </a:r>
            <a:endParaRPr/>
          </a:p>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Simplificar la generación de código máquina</a:t>
            </a:r>
            <a:endParaRPr/>
          </a:p>
        </p:txBody>
      </p:sp>
      <p:sp>
        <p:nvSpPr>
          <p:cNvPr id="370" name="Google Shape;370;p23"/>
          <p:cNvSpPr txBox="1"/>
          <p:nvPr/>
        </p:nvSpPr>
        <p:spPr>
          <a:xfrm>
            <a:off x="2826792" y="7843336"/>
            <a:ext cx="5708731" cy="909922"/>
          </a:xfrm>
          <a:prstGeom prst="rect">
            <a:avLst/>
          </a:prstGeom>
          <a:noFill/>
          <a:ln>
            <a:noFill/>
          </a:ln>
        </p:spPr>
        <p:txBody>
          <a:bodyPr anchorCtr="0" anchor="t" bIns="0" lIns="0" spcFirstLastPara="1" rIns="0" wrap="square" tIns="0">
            <a:spAutoFit/>
          </a:bodyPr>
          <a:lstStyle/>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t1 = a + b calcula la subexpresión (a + b)</a:t>
            </a:r>
            <a:endParaRPr/>
          </a:p>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t2 = t1 * c multiplica ese resultado por c, reproduciendo (a + b) * 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374" name="Shape 374"/>
        <p:cNvGrpSpPr/>
        <p:nvPr/>
      </p:nvGrpSpPr>
      <p:grpSpPr>
        <a:xfrm>
          <a:off x="0" y="0"/>
          <a:ext cx="0" cy="0"/>
          <a:chOff x="0" y="0"/>
          <a:chExt cx="0" cy="0"/>
        </a:xfrm>
      </p:grpSpPr>
      <p:sp>
        <p:nvSpPr>
          <p:cNvPr id="375" name="Google Shape;375;p24"/>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376" name="Google Shape;376;p24"/>
          <p:cNvGrpSpPr/>
          <p:nvPr/>
        </p:nvGrpSpPr>
        <p:grpSpPr>
          <a:xfrm>
            <a:off x="2054482" y="5697926"/>
            <a:ext cx="7089518" cy="3309700"/>
            <a:chOff x="0" y="0"/>
            <a:chExt cx="1867198" cy="871690"/>
          </a:xfrm>
        </p:grpSpPr>
        <p:sp>
          <p:nvSpPr>
            <p:cNvPr id="377" name="Google Shape;377;p24"/>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4"/>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9" name="Google Shape;379;p24"/>
          <p:cNvGrpSpPr/>
          <p:nvPr/>
        </p:nvGrpSpPr>
        <p:grpSpPr>
          <a:xfrm>
            <a:off x="9439465" y="7136779"/>
            <a:ext cx="6583028" cy="1771650"/>
            <a:chOff x="0" y="0"/>
            <a:chExt cx="1733801" cy="466607"/>
          </a:xfrm>
        </p:grpSpPr>
        <p:sp>
          <p:nvSpPr>
            <p:cNvPr id="380" name="Google Shape;380;p24"/>
            <p:cNvSpPr/>
            <p:nvPr/>
          </p:nvSpPr>
          <p:spPr>
            <a:xfrm>
              <a:off x="0" y="0"/>
              <a:ext cx="1733801" cy="466607"/>
            </a:xfrm>
            <a:custGeom>
              <a:rect b="b" l="l" r="r" t="t"/>
              <a:pathLst>
                <a:path extrusionOk="0"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4"/>
            <p:cNvSpPr txBox="1"/>
            <p:nvPr/>
          </p:nvSpPr>
          <p:spPr>
            <a:xfrm>
              <a:off x="0" y="19050"/>
              <a:ext cx="1733800" cy="447557"/>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2" name="Google Shape;382;p24"/>
          <p:cNvGrpSpPr/>
          <p:nvPr/>
        </p:nvGrpSpPr>
        <p:grpSpPr>
          <a:xfrm>
            <a:off x="9439465" y="2343150"/>
            <a:ext cx="6583028" cy="4515361"/>
            <a:chOff x="0" y="0"/>
            <a:chExt cx="1733801" cy="1189231"/>
          </a:xfrm>
        </p:grpSpPr>
        <p:sp>
          <p:nvSpPr>
            <p:cNvPr id="383" name="Google Shape;383;p24"/>
            <p:cNvSpPr/>
            <p:nvPr/>
          </p:nvSpPr>
          <p:spPr>
            <a:xfrm>
              <a:off x="0" y="0"/>
              <a:ext cx="1733801" cy="1189231"/>
            </a:xfrm>
            <a:custGeom>
              <a:rect b="b" l="l" r="r" t="t"/>
              <a:pathLst>
                <a:path extrusionOk="0"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txBox="1"/>
            <p:nvPr/>
          </p:nvSpPr>
          <p:spPr>
            <a:xfrm>
              <a:off x="0" y="19050"/>
              <a:ext cx="1733800" cy="11701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5" name="Google Shape;385;p24"/>
          <p:cNvGrpSpPr/>
          <p:nvPr/>
        </p:nvGrpSpPr>
        <p:grpSpPr>
          <a:xfrm>
            <a:off x="2714464" y="6252122"/>
            <a:ext cx="224656" cy="224656"/>
            <a:chOff x="0" y="0"/>
            <a:chExt cx="812800" cy="812800"/>
          </a:xfrm>
        </p:grpSpPr>
        <p:sp>
          <p:nvSpPr>
            <p:cNvPr id="386" name="Google Shape;386;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4"/>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p24"/>
          <p:cNvGrpSpPr/>
          <p:nvPr/>
        </p:nvGrpSpPr>
        <p:grpSpPr>
          <a:xfrm>
            <a:off x="10179697" y="2913029"/>
            <a:ext cx="517587" cy="517587"/>
            <a:chOff x="0" y="0"/>
            <a:chExt cx="812800" cy="812800"/>
          </a:xfrm>
        </p:grpSpPr>
        <p:sp>
          <p:nvSpPr>
            <p:cNvPr id="389" name="Google Shape;389;p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4"/>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1" name="Google Shape;391;p24"/>
          <p:cNvSpPr/>
          <p:nvPr/>
        </p:nvSpPr>
        <p:spPr>
          <a:xfrm>
            <a:off x="10268981" y="3002943"/>
            <a:ext cx="374682" cy="348710"/>
          </a:xfrm>
          <a:custGeom>
            <a:rect b="b" l="l" r="r" t="t"/>
            <a:pathLst>
              <a:path extrusionOk="0" h="348710" w="374682">
                <a:moveTo>
                  <a:pt x="0" y="0"/>
                </a:moveTo>
                <a:lnTo>
                  <a:pt x="374683" y="0"/>
                </a:lnTo>
                <a:lnTo>
                  <a:pt x="374683" y="348710"/>
                </a:lnTo>
                <a:lnTo>
                  <a:pt x="0" y="348710"/>
                </a:lnTo>
                <a:lnTo>
                  <a:pt x="0" y="0"/>
                </a:lnTo>
                <a:close/>
              </a:path>
            </a:pathLst>
          </a:custGeom>
          <a:blipFill rotWithShape="1">
            <a:blip r:embed="rId4">
              <a:alphaModFix/>
            </a:blip>
            <a:stretch>
              <a:fillRect b="0" l="0" r="0" t="0"/>
            </a:stretch>
          </a:blipFill>
          <a:ln>
            <a:noFill/>
          </a:ln>
        </p:spPr>
      </p:sp>
      <p:sp>
        <p:nvSpPr>
          <p:cNvPr id="392" name="Google Shape;392;p24"/>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05</a:t>
            </a:r>
            <a:endParaRPr/>
          </a:p>
        </p:txBody>
      </p:sp>
      <p:sp>
        <p:nvSpPr>
          <p:cNvPr id="393" name="Google Shape;393;p24"/>
          <p:cNvSpPr txBox="1"/>
          <p:nvPr/>
        </p:nvSpPr>
        <p:spPr>
          <a:xfrm>
            <a:off x="2054482" y="2234275"/>
            <a:ext cx="7384983" cy="2020020"/>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066" u="none" cap="none" strike="noStrike">
                <a:solidFill>
                  <a:srgbClr val="FFFFFF"/>
                </a:solidFill>
                <a:latin typeface="Arial"/>
                <a:ea typeface="Arial"/>
                <a:cs typeface="Arial"/>
                <a:sym typeface="Arial"/>
              </a:rPr>
              <a:t>Generación de Código Intermedio</a:t>
            </a:r>
            <a:endParaRPr/>
          </a:p>
        </p:txBody>
      </p:sp>
      <p:sp>
        <p:nvSpPr>
          <p:cNvPr id="394" name="Google Shape;394;p24"/>
          <p:cNvSpPr txBox="1"/>
          <p:nvPr/>
        </p:nvSpPr>
        <p:spPr>
          <a:xfrm>
            <a:off x="3127523" y="6242597"/>
            <a:ext cx="4670094"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Ejemplo: Código de tres direcciones</a:t>
            </a:r>
            <a:endParaRPr/>
          </a:p>
        </p:txBody>
      </p:sp>
      <p:sp>
        <p:nvSpPr>
          <p:cNvPr id="395" name="Google Shape;395;p24"/>
          <p:cNvSpPr txBox="1"/>
          <p:nvPr/>
        </p:nvSpPr>
        <p:spPr>
          <a:xfrm>
            <a:off x="11038139" y="2983893"/>
            <a:ext cx="2129789"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Características </a:t>
            </a:r>
            <a:endParaRPr/>
          </a:p>
        </p:txBody>
      </p:sp>
      <p:sp>
        <p:nvSpPr>
          <p:cNvPr id="396" name="Google Shape;396;p24"/>
          <p:cNvSpPr txBox="1"/>
          <p:nvPr/>
        </p:nvSpPr>
        <p:spPr>
          <a:xfrm>
            <a:off x="2775287" y="662356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1" i="0" lang="en-US" sz="1676" u="none" cap="none" strike="noStrike">
                <a:solidFill>
                  <a:srgbClr val="FFFFFF"/>
                </a:solidFill>
                <a:latin typeface="Arial"/>
                <a:ea typeface="Arial"/>
                <a:cs typeface="Arial"/>
                <a:sym typeface="Arial"/>
              </a:rPr>
              <a:t>Expresión original</a:t>
            </a:r>
            <a:r>
              <a:rPr b="1" i="1" lang="en-US" sz="1676" u="none" cap="none" strike="noStrike">
                <a:solidFill>
                  <a:srgbClr val="FFFFFF"/>
                </a:solidFill>
                <a:latin typeface="Arial"/>
                <a:ea typeface="Arial"/>
                <a:cs typeface="Arial"/>
                <a:sym typeface="Arial"/>
              </a:rPr>
              <a:t>: </a:t>
            </a:r>
            <a:r>
              <a:rPr b="0" i="1" lang="en-US" sz="1676" u="none" cap="none" strike="noStrike">
                <a:solidFill>
                  <a:srgbClr val="FFFFFF"/>
                </a:solidFill>
                <a:latin typeface="Arial"/>
                <a:ea typeface="Arial"/>
                <a:cs typeface="Arial"/>
                <a:sym typeface="Arial"/>
              </a:rPr>
              <a:t>(a + b) * c</a:t>
            </a:r>
            <a:endParaRPr/>
          </a:p>
        </p:txBody>
      </p:sp>
      <p:sp>
        <p:nvSpPr>
          <p:cNvPr id="397" name="Google Shape;397;p24"/>
          <p:cNvSpPr txBox="1"/>
          <p:nvPr/>
        </p:nvSpPr>
        <p:spPr>
          <a:xfrm>
            <a:off x="10268981" y="3780894"/>
            <a:ext cx="5102560" cy="1602707"/>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Un solo operador por instrucción.</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Nombres temporales para valores intermedios.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Etiquetas para saltos condicionales e incondicionales.</a:t>
            </a:r>
            <a:endParaRPr/>
          </a:p>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Sirve de base para la optimización.</a:t>
            </a:r>
            <a:endParaRPr/>
          </a:p>
        </p:txBody>
      </p:sp>
      <p:sp>
        <p:nvSpPr>
          <p:cNvPr id="398" name="Google Shape;398;p24"/>
          <p:cNvSpPr txBox="1"/>
          <p:nvPr/>
        </p:nvSpPr>
        <p:spPr>
          <a:xfrm>
            <a:off x="2054482" y="4391764"/>
            <a:ext cx="6013469" cy="695292"/>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Traduce el AST anotado a una representación neutral (IR).</a:t>
            </a:r>
            <a:endParaRPr/>
          </a:p>
        </p:txBody>
      </p:sp>
      <p:sp>
        <p:nvSpPr>
          <p:cNvPr id="399" name="Google Shape;399;p24"/>
          <p:cNvSpPr txBox="1"/>
          <p:nvPr/>
        </p:nvSpPr>
        <p:spPr>
          <a:xfrm>
            <a:off x="2826792" y="7085813"/>
            <a:ext cx="5708731" cy="61464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t1 = a + b  </a:t>
            </a:r>
            <a:endParaRPr/>
          </a:p>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t2 = t1 * c  </a:t>
            </a:r>
            <a:endParaRPr/>
          </a:p>
        </p:txBody>
      </p:sp>
      <p:sp>
        <p:nvSpPr>
          <p:cNvPr id="400" name="Google Shape;400;p24"/>
          <p:cNvSpPr txBox="1"/>
          <p:nvPr/>
        </p:nvSpPr>
        <p:spPr>
          <a:xfrm>
            <a:off x="10179697" y="7369295"/>
            <a:ext cx="3050649" cy="436966"/>
          </a:xfrm>
          <a:prstGeom prst="rect">
            <a:avLst/>
          </a:prstGeom>
          <a:noFill/>
          <a:ln>
            <a:noFill/>
          </a:ln>
        </p:spPr>
        <p:txBody>
          <a:bodyPr anchorCtr="0" anchor="t" bIns="0" lIns="0" spcFirstLastPara="1" rIns="0" wrap="square" tIns="0">
            <a:spAutoFit/>
          </a:bodyPr>
          <a:lstStyle/>
          <a:p>
            <a:pPr indent="0" lvl="0" marL="0" marR="0" rtl="0" algn="l">
              <a:lnSpc>
                <a:spcPct val="103994"/>
              </a:lnSpc>
              <a:spcBef>
                <a:spcPts val="0"/>
              </a:spcBef>
              <a:spcAft>
                <a:spcPts val="0"/>
              </a:spcAft>
              <a:buNone/>
            </a:pPr>
            <a:r>
              <a:rPr b="1" i="0" lang="en-US" sz="2754" u="none" cap="none" strike="noStrike">
                <a:solidFill>
                  <a:srgbClr val="FFFFFF"/>
                </a:solidFill>
                <a:latin typeface="Arial"/>
                <a:ea typeface="Arial"/>
                <a:cs typeface="Arial"/>
                <a:sym typeface="Arial"/>
              </a:rPr>
              <a:t>Propósito</a:t>
            </a:r>
            <a:endParaRPr/>
          </a:p>
        </p:txBody>
      </p:sp>
      <p:sp>
        <p:nvSpPr>
          <p:cNvPr id="401" name="Google Shape;401;p24"/>
          <p:cNvSpPr txBox="1"/>
          <p:nvPr/>
        </p:nvSpPr>
        <p:spPr>
          <a:xfrm>
            <a:off x="10179697" y="7856410"/>
            <a:ext cx="5189980" cy="956277"/>
          </a:xfrm>
          <a:prstGeom prst="rect">
            <a:avLst/>
          </a:prstGeom>
          <a:noFill/>
          <a:ln>
            <a:noFill/>
          </a:ln>
        </p:spPr>
        <p:txBody>
          <a:bodyPr anchorCtr="0" anchor="t" bIns="0" lIns="0" spcFirstLastPara="1" rIns="0" wrap="square" tIns="0">
            <a:spAutoFit/>
          </a:bodyPr>
          <a:lstStyle/>
          <a:p>
            <a:pPr indent="-191750" lvl="1" marL="383500" marR="0" rtl="0" algn="l">
              <a:lnSpc>
                <a:spcPct val="139977"/>
              </a:lnSpc>
              <a:spcBef>
                <a:spcPts val="0"/>
              </a:spcBef>
              <a:spcAft>
                <a:spcPts val="0"/>
              </a:spcAft>
              <a:buClr>
                <a:srgbClr val="FFFFFF"/>
              </a:buClr>
              <a:buSzPts val="1776"/>
              <a:buFont typeface="Arial"/>
              <a:buChar char="•"/>
            </a:pPr>
            <a:r>
              <a:rPr b="0" i="0" lang="en-US" sz="1776" u="none" cap="none" strike="noStrike">
                <a:solidFill>
                  <a:srgbClr val="FFFFFF"/>
                </a:solidFill>
                <a:latin typeface="Arial"/>
                <a:ea typeface="Arial"/>
                <a:cs typeface="Arial"/>
                <a:sym typeface="Arial"/>
              </a:rPr>
              <a:t>Desacoplar front-end (análisis léxico, etc.) y back-end.</a:t>
            </a:r>
            <a:endParaRPr/>
          </a:p>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Simplificar la generación de código máquina</a:t>
            </a:r>
            <a:endParaRPr/>
          </a:p>
        </p:txBody>
      </p:sp>
      <p:sp>
        <p:nvSpPr>
          <p:cNvPr id="402" name="Google Shape;402;p24"/>
          <p:cNvSpPr txBox="1"/>
          <p:nvPr/>
        </p:nvSpPr>
        <p:spPr>
          <a:xfrm>
            <a:off x="2826792" y="7843336"/>
            <a:ext cx="5708731" cy="909922"/>
          </a:xfrm>
          <a:prstGeom prst="rect">
            <a:avLst/>
          </a:prstGeom>
          <a:noFill/>
          <a:ln>
            <a:noFill/>
          </a:ln>
        </p:spPr>
        <p:txBody>
          <a:bodyPr anchorCtr="0" anchor="t" bIns="0" lIns="0" spcFirstLastPara="1" rIns="0" wrap="square" tIns="0">
            <a:spAutoFit/>
          </a:bodyPr>
          <a:lstStyle/>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t1 = a + b calcula la subexpresión (a + b)</a:t>
            </a:r>
            <a:endParaRPr/>
          </a:p>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t2 = t1 * c multiplica ese resultado por c, reproduciendo (a + b) * 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406" name="Shape 406"/>
        <p:cNvGrpSpPr/>
        <p:nvPr/>
      </p:nvGrpSpPr>
      <p:grpSpPr>
        <a:xfrm>
          <a:off x="0" y="0"/>
          <a:ext cx="0" cy="0"/>
          <a:chOff x="0" y="0"/>
          <a:chExt cx="0" cy="0"/>
        </a:xfrm>
      </p:grpSpPr>
      <p:sp>
        <p:nvSpPr>
          <p:cNvPr id="407" name="Google Shape;407;p25"/>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408" name="Google Shape;408;p25"/>
          <p:cNvGrpSpPr/>
          <p:nvPr/>
        </p:nvGrpSpPr>
        <p:grpSpPr>
          <a:xfrm>
            <a:off x="2054482" y="5697926"/>
            <a:ext cx="7089518" cy="3309700"/>
            <a:chOff x="0" y="0"/>
            <a:chExt cx="1867198" cy="871690"/>
          </a:xfrm>
        </p:grpSpPr>
        <p:sp>
          <p:nvSpPr>
            <p:cNvPr id="409" name="Google Shape;409;p25"/>
            <p:cNvSpPr/>
            <p:nvPr/>
          </p:nvSpPr>
          <p:spPr>
            <a:xfrm>
              <a:off x="0" y="0"/>
              <a:ext cx="1867198" cy="871690"/>
            </a:xfrm>
            <a:custGeom>
              <a:rect b="b" l="l" r="r" t="t"/>
              <a:pathLst>
                <a:path extrusionOk="0"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txBox="1"/>
            <p:nvPr/>
          </p:nvSpPr>
          <p:spPr>
            <a:xfrm>
              <a:off x="0" y="19050"/>
              <a:ext cx="1867198" cy="85264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1" name="Google Shape;411;p25"/>
          <p:cNvGrpSpPr/>
          <p:nvPr/>
        </p:nvGrpSpPr>
        <p:grpSpPr>
          <a:xfrm>
            <a:off x="9439465" y="2343150"/>
            <a:ext cx="6583028" cy="4515361"/>
            <a:chOff x="0" y="0"/>
            <a:chExt cx="1733801" cy="1189231"/>
          </a:xfrm>
        </p:grpSpPr>
        <p:sp>
          <p:nvSpPr>
            <p:cNvPr id="412" name="Google Shape;412;p25"/>
            <p:cNvSpPr/>
            <p:nvPr/>
          </p:nvSpPr>
          <p:spPr>
            <a:xfrm>
              <a:off x="0" y="0"/>
              <a:ext cx="1733801" cy="1189231"/>
            </a:xfrm>
            <a:custGeom>
              <a:rect b="b" l="l" r="r" t="t"/>
              <a:pathLst>
                <a:path extrusionOk="0"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5"/>
            <p:cNvSpPr txBox="1"/>
            <p:nvPr/>
          </p:nvSpPr>
          <p:spPr>
            <a:xfrm>
              <a:off x="0" y="19050"/>
              <a:ext cx="1733800" cy="117018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4" name="Google Shape;414;p25"/>
          <p:cNvGrpSpPr/>
          <p:nvPr/>
        </p:nvGrpSpPr>
        <p:grpSpPr>
          <a:xfrm>
            <a:off x="9876611" y="2917491"/>
            <a:ext cx="224656" cy="224656"/>
            <a:chOff x="0" y="0"/>
            <a:chExt cx="812800" cy="812800"/>
          </a:xfrm>
        </p:grpSpPr>
        <p:sp>
          <p:nvSpPr>
            <p:cNvPr id="415" name="Google Shape;415;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aphicFrame>
        <p:nvGraphicFramePr>
          <p:cNvPr id="417" name="Google Shape;417;p25"/>
          <p:cNvGraphicFramePr/>
          <p:nvPr/>
        </p:nvGraphicFramePr>
        <p:xfrm>
          <a:off x="9920321" y="3427372"/>
          <a:ext cx="3000000" cy="3000000"/>
        </p:xfrm>
        <a:graphic>
          <a:graphicData uri="http://schemas.openxmlformats.org/drawingml/2006/table">
            <a:tbl>
              <a:tblPr>
                <a:noFill/>
                <a:tableStyleId>{22798444-9E47-4F36-A902-9AB2E26042AE}</a:tableStyleId>
              </a:tblPr>
              <a:tblGrid>
                <a:gridCol w="2854375"/>
                <a:gridCol w="2854375"/>
              </a:tblGrid>
              <a:tr h="781050">
                <a:tc>
                  <a:txBody>
                    <a:bodyPr/>
                    <a:lstStyle/>
                    <a:p>
                      <a:pPr indent="0" lvl="0" marL="0" marR="0" rtl="0" algn="ctr">
                        <a:lnSpc>
                          <a:spcPct val="139978"/>
                        </a:lnSpc>
                        <a:spcBef>
                          <a:spcPts val="0"/>
                        </a:spcBef>
                        <a:spcAft>
                          <a:spcPts val="0"/>
                        </a:spcAft>
                        <a:buNone/>
                      </a:pPr>
                      <a:r>
                        <a:rPr b="1" lang="en-US" sz="1876" u="none" cap="none" strike="noStrike">
                          <a:solidFill>
                            <a:srgbClr val="FFFFFF"/>
                          </a:solidFill>
                          <a:latin typeface="Arial"/>
                          <a:ea typeface="Arial"/>
                          <a:cs typeface="Arial"/>
                          <a:sym typeface="Arial"/>
                        </a:rPr>
                        <a:t>t1 = a + b</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78"/>
                        </a:lnSpc>
                        <a:spcBef>
                          <a:spcPts val="0"/>
                        </a:spcBef>
                        <a:spcAft>
                          <a:spcPts val="0"/>
                        </a:spcAft>
                        <a:buNone/>
                      </a:pPr>
                      <a:r>
                        <a:rPr lang="en-US" sz="1876" u="none" cap="none" strike="noStrike">
                          <a:solidFill>
                            <a:srgbClr val="FFFFFF"/>
                          </a:solidFill>
                          <a:latin typeface="Arial"/>
                          <a:ea typeface="Arial"/>
                          <a:cs typeface="Arial"/>
                          <a:sym typeface="Arial"/>
                        </a:rPr>
                        <a:t>MOV EAX, [a]</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781050">
                <a:tc>
                  <a:txBody>
                    <a:bodyPr/>
                    <a:lstStyle/>
                    <a:p>
                      <a:pPr indent="0" lvl="0" marL="0" marR="0" rtl="0" algn="ctr">
                        <a:lnSpc>
                          <a:spcPct val="200545"/>
                        </a:lnSpc>
                        <a:spcBef>
                          <a:spcPts val="0"/>
                        </a:spcBef>
                        <a:spcAft>
                          <a:spcPts val="0"/>
                        </a:spcAft>
                        <a:buNone/>
                      </a:pPr>
                      <a:r>
                        <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78"/>
                        </a:lnSpc>
                        <a:spcBef>
                          <a:spcPts val="0"/>
                        </a:spcBef>
                        <a:spcAft>
                          <a:spcPts val="0"/>
                        </a:spcAft>
                        <a:buNone/>
                      </a:pPr>
                      <a:r>
                        <a:rPr lang="en-US" sz="1876" u="none" cap="none" strike="noStrike">
                          <a:solidFill>
                            <a:srgbClr val="FFFFFF"/>
                          </a:solidFill>
                          <a:latin typeface="Arial"/>
                          <a:ea typeface="Arial"/>
                          <a:cs typeface="Arial"/>
                          <a:sym typeface="Arial"/>
                        </a:rPr>
                        <a:t>ADD EAX, [b]</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781050">
                <a:tc>
                  <a:txBody>
                    <a:bodyPr/>
                    <a:lstStyle/>
                    <a:p>
                      <a:pPr indent="0" lvl="0" marL="0" marR="0" rtl="0" algn="ctr">
                        <a:lnSpc>
                          <a:spcPct val="139978"/>
                        </a:lnSpc>
                        <a:spcBef>
                          <a:spcPts val="0"/>
                        </a:spcBef>
                        <a:spcAft>
                          <a:spcPts val="0"/>
                        </a:spcAft>
                        <a:buNone/>
                      </a:pPr>
                      <a:r>
                        <a:rPr b="1" lang="en-US" sz="1876" u="none" cap="none" strike="noStrike">
                          <a:solidFill>
                            <a:srgbClr val="FFFFFF"/>
                          </a:solidFill>
                          <a:latin typeface="Arial"/>
                          <a:ea typeface="Arial"/>
                          <a:cs typeface="Arial"/>
                          <a:sym typeface="Arial"/>
                        </a:rPr>
                        <a:t>t2 = t1 * c</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78"/>
                        </a:lnSpc>
                        <a:spcBef>
                          <a:spcPts val="0"/>
                        </a:spcBef>
                        <a:spcAft>
                          <a:spcPts val="0"/>
                        </a:spcAft>
                        <a:buNone/>
                      </a:pPr>
                      <a:r>
                        <a:rPr lang="en-US" sz="1876" u="none" cap="none" strike="noStrike">
                          <a:solidFill>
                            <a:srgbClr val="FFFFFF"/>
                          </a:solidFill>
                          <a:latin typeface="Arial"/>
                          <a:ea typeface="Arial"/>
                          <a:cs typeface="Arial"/>
                          <a:sym typeface="Arial"/>
                        </a:rPr>
                        <a:t>IMUL EAX, [c]</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781050">
                <a:tc>
                  <a:txBody>
                    <a:bodyPr/>
                    <a:lstStyle/>
                    <a:p>
                      <a:pPr indent="0" lvl="0" marL="0" marR="0" rtl="0" algn="ctr">
                        <a:lnSpc>
                          <a:spcPct val="200545"/>
                        </a:lnSpc>
                        <a:spcBef>
                          <a:spcPts val="0"/>
                        </a:spcBef>
                        <a:spcAft>
                          <a:spcPts val="0"/>
                        </a:spcAft>
                        <a:buNone/>
                      </a:pPr>
                      <a:r>
                        <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39978"/>
                        </a:lnSpc>
                        <a:spcBef>
                          <a:spcPts val="0"/>
                        </a:spcBef>
                        <a:spcAft>
                          <a:spcPts val="0"/>
                        </a:spcAft>
                        <a:buNone/>
                      </a:pPr>
                      <a:r>
                        <a:rPr lang="en-US" sz="1876" u="none" cap="none" strike="noStrike">
                          <a:solidFill>
                            <a:srgbClr val="FFFFFF"/>
                          </a:solidFill>
                          <a:latin typeface="Arial"/>
                          <a:ea typeface="Arial"/>
                          <a:cs typeface="Arial"/>
                          <a:sym typeface="Arial"/>
                        </a:rPr>
                        <a:t>MOV [t2], EAX</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418" name="Google Shape;418;p25"/>
          <p:cNvSpPr txBox="1"/>
          <p:nvPr/>
        </p:nvSpPr>
        <p:spPr>
          <a:xfrm>
            <a:off x="2054482" y="2234275"/>
            <a:ext cx="7384983" cy="2020020"/>
          </a:xfrm>
          <a:prstGeom prst="rect">
            <a:avLst/>
          </a:prstGeom>
          <a:noFill/>
          <a:ln>
            <a:noFill/>
          </a:ln>
        </p:spPr>
        <p:txBody>
          <a:bodyPr anchorCtr="0" anchor="t" bIns="0" lIns="0" spcFirstLastPara="1" rIns="0" wrap="square" tIns="0">
            <a:spAutoFit/>
          </a:bodyPr>
          <a:lstStyle/>
          <a:p>
            <a:pPr indent="0" lvl="0" marL="0" marR="0" rtl="0" algn="l">
              <a:lnSpc>
                <a:spcPct val="104005"/>
              </a:lnSpc>
              <a:spcBef>
                <a:spcPts val="0"/>
              </a:spcBef>
              <a:spcAft>
                <a:spcPts val="0"/>
              </a:spcAft>
              <a:buNone/>
            </a:pPr>
            <a:r>
              <a:rPr b="1" i="0" lang="en-US" sz="7066" u="none" cap="none" strike="noStrike">
                <a:solidFill>
                  <a:srgbClr val="FFFFFF"/>
                </a:solidFill>
                <a:latin typeface="Arial"/>
                <a:ea typeface="Arial"/>
                <a:cs typeface="Arial"/>
                <a:sym typeface="Arial"/>
              </a:rPr>
              <a:t>Generación de Código Objetivo</a:t>
            </a:r>
            <a:endParaRPr/>
          </a:p>
        </p:txBody>
      </p:sp>
      <p:sp>
        <p:nvSpPr>
          <p:cNvPr id="419" name="Google Shape;419;p25"/>
          <p:cNvSpPr txBox="1"/>
          <p:nvPr/>
        </p:nvSpPr>
        <p:spPr>
          <a:xfrm>
            <a:off x="10289671" y="2898441"/>
            <a:ext cx="1229461" cy="404327"/>
          </a:xfrm>
          <a:prstGeom prst="rect">
            <a:avLst/>
          </a:prstGeom>
          <a:noFill/>
          <a:ln>
            <a:noFill/>
          </a:ln>
        </p:spPr>
        <p:txBody>
          <a:bodyPr anchorCtr="0" anchor="t" bIns="0" lIns="0" spcFirstLastPara="1" rIns="0" wrap="square" tIns="0">
            <a:spAutoFit/>
          </a:bodyPr>
          <a:lstStyle/>
          <a:p>
            <a:pPr indent="0" lvl="0" marL="0" marR="0" rtl="0" algn="l">
              <a:lnSpc>
                <a:spcPct val="103993"/>
              </a:lnSpc>
              <a:spcBef>
                <a:spcPts val="0"/>
              </a:spcBef>
              <a:spcAft>
                <a:spcPts val="0"/>
              </a:spcAft>
              <a:buNone/>
            </a:pPr>
            <a:r>
              <a:rPr b="1" i="0" lang="en-US" sz="2554" u="none" cap="none" strike="noStrike">
                <a:solidFill>
                  <a:srgbClr val="FFFFFF"/>
                </a:solidFill>
                <a:latin typeface="Arial"/>
                <a:ea typeface="Arial"/>
                <a:cs typeface="Arial"/>
                <a:sym typeface="Arial"/>
              </a:rPr>
              <a:t>Ejemplo</a:t>
            </a:r>
            <a:endParaRPr/>
          </a:p>
        </p:txBody>
      </p:sp>
      <p:sp>
        <p:nvSpPr>
          <p:cNvPr id="420" name="Google Shape;420;p25"/>
          <p:cNvSpPr txBox="1"/>
          <p:nvPr/>
        </p:nvSpPr>
        <p:spPr>
          <a:xfrm>
            <a:off x="2054482" y="4391764"/>
            <a:ext cx="6013469" cy="1028667"/>
          </a:xfrm>
          <a:prstGeom prst="rect">
            <a:avLst/>
          </a:prstGeom>
          <a:noFill/>
          <a:ln>
            <a:noFill/>
          </a:ln>
        </p:spPr>
        <p:txBody>
          <a:bodyPr anchorCtr="0" anchor="t" bIns="0" lIns="0" spcFirstLastPara="1" rIns="0" wrap="square" tIns="0">
            <a:spAutoFit/>
          </a:bodyPr>
          <a:lstStyle/>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Toma el IR optimizado y lo convierte en instrucciones de ensamblador o máquina específicas de la arquitectura destino</a:t>
            </a:r>
            <a:endParaRPr/>
          </a:p>
        </p:txBody>
      </p:sp>
      <p:grpSp>
        <p:nvGrpSpPr>
          <p:cNvPr id="421" name="Google Shape;421;p25"/>
          <p:cNvGrpSpPr/>
          <p:nvPr/>
        </p:nvGrpSpPr>
        <p:grpSpPr>
          <a:xfrm>
            <a:off x="2714464" y="6252122"/>
            <a:ext cx="224656" cy="224656"/>
            <a:chOff x="0" y="0"/>
            <a:chExt cx="812800" cy="812800"/>
          </a:xfrm>
        </p:grpSpPr>
        <p:sp>
          <p:nvSpPr>
            <p:cNvPr id="422" name="Google Shape;422;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4" name="Google Shape;424;p25"/>
          <p:cNvSpPr txBox="1"/>
          <p:nvPr/>
        </p:nvSpPr>
        <p:spPr>
          <a:xfrm>
            <a:off x="3127523" y="624259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Entrada</a:t>
            </a:r>
            <a:endParaRPr/>
          </a:p>
        </p:txBody>
      </p:sp>
      <p:sp>
        <p:nvSpPr>
          <p:cNvPr id="425" name="Google Shape;425;p25"/>
          <p:cNvSpPr txBox="1"/>
          <p:nvPr/>
        </p:nvSpPr>
        <p:spPr>
          <a:xfrm>
            <a:off x="2775287" y="6623566"/>
            <a:ext cx="5708731" cy="319372"/>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IR ya optimizado</a:t>
            </a:r>
            <a:endParaRPr/>
          </a:p>
        </p:txBody>
      </p:sp>
      <p:grpSp>
        <p:nvGrpSpPr>
          <p:cNvPr id="426" name="Google Shape;426;p25"/>
          <p:cNvGrpSpPr/>
          <p:nvPr/>
        </p:nvGrpSpPr>
        <p:grpSpPr>
          <a:xfrm>
            <a:off x="2714464" y="7368142"/>
            <a:ext cx="224656" cy="224656"/>
            <a:chOff x="0" y="0"/>
            <a:chExt cx="812800" cy="812800"/>
          </a:xfrm>
        </p:grpSpPr>
        <p:sp>
          <p:nvSpPr>
            <p:cNvPr id="427" name="Google Shape;427;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5"/>
            <p:cNvSpPr txBox="1"/>
            <p:nvPr/>
          </p:nvSpPr>
          <p:spPr>
            <a:xfrm>
              <a:off x="76200" y="95250"/>
              <a:ext cx="660400" cy="64135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25"/>
          <p:cNvSpPr txBox="1"/>
          <p:nvPr/>
        </p:nvSpPr>
        <p:spPr>
          <a:xfrm>
            <a:off x="3127523" y="7358617"/>
            <a:ext cx="1229461" cy="350606"/>
          </a:xfrm>
          <a:prstGeom prst="rect">
            <a:avLst/>
          </a:prstGeom>
          <a:noFill/>
          <a:ln>
            <a:noFill/>
          </a:ln>
        </p:spPr>
        <p:txBody>
          <a:bodyPr anchorCtr="0" anchor="t" bIns="0" lIns="0" spcFirstLastPara="1" rIns="0" wrap="square" tIns="0">
            <a:spAutoFit/>
          </a:bodyPr>
          <a:lstStyle/>
          <a:p>
            <a:pPr indent="0" lvl="0" marL="0" marR="0" rtl="0" algn="l">
              <a:lnSpc>
                <a:spcPct val="103992"/>
              </a:lnSpc>
              <a:spcBef>
                <a:spcPts val="0"/>
              </a:spcBef>
              <a:spcAft>
                <a:spcPts val="0"/>
              </a:spcAft>
              <a:buNone/>
            </a:pPr>
            <a:r>
              <a:rPr b="1" i="0" lang="en-US" sz="2254" u="none" cap="none" strike="noStrike">
                <a:solidFill>
                  <a:srgbClr val="FFFFFF"/>
                </a:solidFill>
                <a:latin typeface="Arial"/>
                <a:ea typeface="Arial"/>
                <a:cs typeface="Arial"/>
                <a:sym typeface="Arial"/>
              </a:rPr>
              <a:t>Salida</a:t>
            </a:r>
            <a:endParaRPr/>
          </a:p>
        </p:txBody>
      </p:sp>
      <p:sp>
        <p:nvSpPr>
          <p:cNvPr id="430" name="Google Shape;430;p25"/>
          <p:cNvSpPr txBox="1"/>
          <p:nvPr/>
        </p:nvSpPr>
        <p:spPr>
          <a:xfrm>
            <a:off x="2775287" y="7739586"/>
            <a:ext cx="5708731" cy="614647"/>
          </a:xfrm>
          <a:prstGeom prst="rect">
            <a:avLst/>
          </a:prstGeom>
          <a:noFill/>
          <a:ln>
            <a:noFill/>
          </a:ln>
        </p:spPr>
        <p:txBody>
          <a:bodyPr anchorCtr="0" anchor="t" bIns="0" lIns="0" spcFirstLastPara="1" rIns="0" wrap="square" tIns="0">
            <a:spAutoFit/>
          </a:bodyPr>
          <a:lstStyle/>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Ensamblador (.s) listo para ensamblar</a:t>
            </a:r>
            <a:endParaRPr/>
          </a:p>
          <a:p>
            <a:pPr indent="-180955" lvl="1" marL="361910" marR="0" rtl="0" algn="l">
              <a:lnSpc>
                <a:spcPct val="139976"/>
              </a:lnSpc>
              <a:spcBef>
                <a:spcPts val="0"/>
              </a:spcBef>
              <a:spcAft>
                <a:spcPts val="0"/>
              </a:spcAft>
              <a:buClr>
                <a:srgbClr val="FFFFFF"/>
              </a:buClr>
              <a:buSzPts val="1676"/>
              <a:buFont typeface="Arial"/>
              <a:buChar char="•"/>
            </a:pPr>
            <a:r>
              <a:rPr b="0" i="0" lang="en-US" sz="1676" u="none" cap="none" strike="noStrike">
                <a:solidFill>
                  <a:srgbClr val="FFFFFF"/>
                </a:solidFill>
                <a:latin typeface="Arial"/>
                <a:ea typeface="Arial"/>
                <a:cs typeface="Arial"/>
                <a:sym typeface="Arial"/>
              </a:rPr>
              <a:t>Binario objeto (.o) tras el assembler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434" name="Shape 434"/>
        <p:cNvGrpSpPr/>
        <p:nvPr/>
      </p:nvGrpSpPr>
      <p:grpSpPr>
        <a:xfrm>
          <a:off x="0" y="0"/>
          <a:ext cx="0" cy="0"/>
          <a:chOff x="0" y="0"/>
          <a:chExt cx="0" cy="0"/>
        </a:xfrm>
      </p:grpSpPr>
      <p:sp>
        <p:nvSpPr>
          <p:cNvPr id="435" name="Google Shape;435;p26"/>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436" name="Google Shape;436;p26"/>
          <p:cNvGrpSpPr/>
          <p:nvPr/>
        </p:nvGrpSpPr>
        <p:grpSpPr>
          <a:xfrm>
            <a:off x="2054482" y="2262850"/>
            <a:ext cx="6964686" cy="6645580"/>
            <a:chOff x="0" y="0"/>
            <a:chExt cx="1834320" cy="1750276"/>
          </a:xfrm>
        </p:grpSpPr>
        <p:sp>
          <p:nvSpPr>
            <p:cNvPr id="437" name="Google Shape;437;p26"/>
            <p:cNvSpPr/>
            <p:nvPr/>
          </p:nvSpPr>
          <p:spPr>
            <a:xfrm>
              <a:off x="0" y="0"/>
              <a:ext cx="1834320" cy="1750276"/>
            </a:xfrm>
            <a:custGeom>
              <a:rect b="b" l="l" r="r" t="t"/>
              <a:pathLst>
                <a:path extrusionOk="0" h="1750276" w="1834320">
                  <a:moveTo>
                    <a:pt x="56691" y="0"/>
                  </a:moveTo>
                  <a:lnTo>
                    <a:pt x="1777629" y="0"/>
                  </a:lnTo>
                  <a:cubicBezTo>
                    <a:pt x="1808939" y="0"/>
                    <a:pt x="1834320" y="25382"/>
                    <a:pt x="1834320" y="56691"/>
                  </a:cubicBezTo>
                  <a:lnTo>
                    <a:pt x="1834320" y="1693585"/>
                  </a:lnTo>
                  <a:cubicBezTo>
                    <a:pt x="1834320" y="1708620"/>
                    <a:pt x="1828348" y="1723040"/>
                    <a:pt x="1817716" y="1733672"/>
                  </a:cubicBezTo>
                  <a:cubicBezTo>
                    <a:pt x="1807084" y="1744303"/>
                    <a:pt x="1792664" y="1750276"/>
                    <a:pt x="1777629" y="1750276"/>
                  </a:cubicBezTo>
                  <a:lnTo>
                    <a:pt x="56691" y="1750276"/>
                  </a:lnTo>
                  <a:cubicBezTo>
                    <a:pt x="41656" y="1750276"/>
                    <a:pt x="27236" y="1744303"/>
                    <a:pt x="16605" y="1733672"/>
                  </a:cubicBezTo>
                  <a:cubicBezTo>
                    <a:pt x="5973" y="1723040"/>
                    <a:pt x="0" y="1708620"/>
                    <a:pt x="0" y="1693585"/>
                  </a:cubicBezTo>
                  <a:lnTo>
                    <a:pt x="0" y="56691"/>
                  </a:lnTo>
                  <a:cubicBezTo>
                    <a:pt x="0" y="41656"/>
                    <a:pt x="5973" y="27236"/>
                    <a:pt x="16605" y="16605"/>
                  </a:cubicBezTo>
                  <a:cubicBezTo>
                    <a:pt x="27236" y="5973"/>
                    <a:pt x="41656" y="0"/>
                    <a:pt x="56691"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6"/>
            <p:cNvSpPr txBox="1"/>
            <p:nvPr/>
          </p:nvSpPr>
          <p:spPr>
            <a:xfrm>
              <a:off x="0" y="19050"/>
              <a:ext cx="1834320" cy="1731226"/>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9" name="Google Shape;439;p26"/>
          <p:cNvGrpSpPr/>
          <p:nvPr/>
        </p:nvGrpSpPr>
        <p:grpSpPr>
          <a:xfrm>
            <a:off x="9410514" y="5233653"/>
            <a:ext cx="5434050" cy="3674777"/>
            <a:chOff x="0" y="0"/>
            <a:chExt cx="1417549" cy="958618"/>
          </a:xfrm>
        </p:grpSpPr>
        <p:sp>
          <p:nvSpPr>
            <p:cNvPr id="440" name="Google Shape;440;p26"/>
            <p:cNvSpPr/>
            <p:nvPr/>
          </p:nvSpPr>
          <p:spPr>
            <a:xfrm>
              <a:off x="0" y="0"/>
              <a:ext cx="1417549" cy="958618"/>
            </a:xfrm>
            <a:custGeom>
              <a:rect b="b" l="l" r="r" t="t"/>
              <a:pathLst>
                <a:path extrusionOk="0" h="958618" w="1417549">
                  <a:moveTo>
                    <a:pt x="29919" y="0"/>
                  </a:moveTo>
                  <a:lnTo>
                    <a:pt x="1387630" y="0"/>
                  </a:lnTo>
                  <a:cubicBezTo>
                    <a:pt x="1404154" y="0"/>
                    <a:pt x="1417549" y="13395"/>
                    <a:pt x="1417549" y="29919"/>
                  </a:cubicBezTo>
                  <a:lnTo>
                    <a:pt x="1417549" y="928699"/>
                  </a:lnTo>
                  <a:cubicBezTo>
                    <a:pt x="1417549" y="945223"/>
                    <a:pt x="1404154" y="958618"/>
                    <a:pt x="1387630" y="958618"/>
                  </a:cubicBezTo>
                  <a:lnTo>
                    <a:pt x="29919" y="958618"/>
                  </a:lnTo>
                  <a:cubicBezTo>
                    <a:pt x="13395" y="958618"/>
                    <a:pt x="0" y="945223"/>
                    <a:pt x="0" y="928699"/>
                  </a:cubicBezTo>
                  <a:lnTo>
                    <a:pt x="0" y="29919"/>
                  </a:lnTo>
                  <a:cubicBezTo>
                    <a:pt x="0" y="13395"/>
                    <a:pt x="13395" y="0"/>
                    <a:pt x="29919" y="0"/>
                  </a:cubicBezTo>
                  <a:close/>
                </a:path>
              </a:pathLst>
            </a:custGeom>
            <a:solidFill>
              <a:srgbClr val="000000">
                <a:alpha val="0"/>
              </a:srgbClr>
            </a:solid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txBox="1"/>
            <p:nvPr/>
          </p:nvSpPr>
          <p:spPr>
            <a:xfrm>
              <a:off x="0" y="19050"/>
              <a:ext cx="1417549" cy="939568"/>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2" name="Google Shape;442;p26"/>
          <p:cNvGrpSpPr/>
          <p:nvPr/>
        </p:nvGrpSpPr>
        <p:grpSpPr>
          <a:xfrm>
            <a:off x="9410514" y="2262850"/>
            <a:ext cx="5434050" cy="2523128"/>
            <a:chOff x="0" y="0"/>
            <a:chExt cx="1417549" cy="658194"/>
          </a:xfrm>
        </p:grpSpPr>
        <p:sp>
          <p:nvSpPr>
            <p:cNvPr id="443" name="Google Shape;443;p26"/>
            <p:cNvSpPr/>
            <p:nvPr/>
          </p:nvSpPr>
          <p:spPr>
            <a:xfrm>
              <a:off x="0" y="0"/>
              <a:ext cx="1417549" cy="658194"/>
            </a:xfrm>
            <a:custGeom>
              <a:rect b="b" l="l" r="r" t="t"/>
              <a:pathLst>
                <a:path extrusionOk="0" h="658194" w="1417549">
                  <a:moveTo>
                    <a:pt x="29919" y="0"/>
                  </a:moveTo>
                  <a:lnTo>
                    <a:pt x="1387630" y="0"/>
                  </a:lnTo>
                  <a:cubicBezTo>
                    <a:pt x="1404154" y="0"/>
                    <a:pt x="1417549" y="13395"/>
                    <a:pt x="1417549" y="29919"/>
                  </a:cubicBezTo>
                  <a:lnTo>
                    <a:pt x="1417549" y="628275"/>
                  </a:lnTo>
                  <a:cubicBezTo>
                    <a:pt x="1417549" y="644799"/>
                    <a:pt x="1404154" y="658194"/>
                    <a:pt x="1387630" y="658194"/>
                  </a:cubicBezTo>
                  <a:lnTo>
                    <a:pt x="29919" y="658194"/>
                  </a:lnTo>
                  <a:cubicBezTo>
                    <a:pt x="13395" y="658194"/>
                    <a:pt x="0" y="644799"/>
                    <a:pt x="0" y="628275"/>
                  </a:cubicBezTo>
                  <a:lnTo>
                    <a:pt x="0" y="29919"/>
                  </a:lnTo>
                  <a:cubicBezTo>
                    <a:pt x="0" y="13395"/>
                    <a:pt x="13395" y="0"/>
                    <a:pt x="29919"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6"/>
            <p:cNvSpPr txBox="1"/>
            <p:nvPr/>
          </p:nvSpPr>
          <p:spPr>
            <a:xfrm>
              <a:off x="0" y="19050"/>
              <a:ext cx="1417549" cy="639144"/>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5" name="Google Shape;445;p26"/>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07</a:t>
            </a:r>
            <a:endParaRPr/>
          </a:p>
        </p:txBody>
      </p:sp>
      <p:sp>
        <p:nvSpPr>
          <p:cNvPr id="446" name="Google Shape;446;p26"/>
          <p:cNvSpPr txBox="1"/>
          <p:nvPr/>
        </p:nvSpPr>
        <p:spPr>
          <a:xfrm>
            <a:off x="9725387" y="5551016"/>
            <a:ext cx="3088392" cy="349250"/>
          </a:xfrm>
          <a:prstGeom prst="rect">
            <a:avLst/>
          </a:prstGeom>
          <a:noFill/>
          <a:ln>
            <a:noFill/>
          </a:ln>
        </p:spPr>
        <p:txBody>
          <a:bodyPr anchorCtr="0" anchor="t" bIns="0" lIns="0" spcFirstLastPara="1" rIns="0" wrap="square" tIns="0">
            <a:spAutoFit/>
          </a:bodyPr>
          <a:lstStyle/>
          <a:p>
            <a:pPr indent="0" lvl="0" marL="0" marR="0" rtl="0" algn="l">
              <a:lnSpc>
                <a:spcPct val="87995"/>
              </a:lnSpc>
              <a:spcBef>
                <a:spcPts val="0"/>
              </a:spcBef>
              <a:spcAft>
                <a:spcPts val="0"/>
              </a:spcAft>
              <a:buNone/>
            </a:pPr>
            <a:r>
              <a:rPr b="1" i="0" lang="en-US" sz="2499" u="none" cap="none" strike="noStrike">
                <a:solidFill>
                  <a:srgbClr val="FFFFFF"/>
                </a:solidFill>
                <a:latin typeface="Arial"/>
                <a:ea typeface="Arial"/>
                <a:cs typeface="Arial"/>
                <a:sym typeface="Arial"/>
              </a:rPr>
              <a:t>Ejemplo</a:t>
            </a:r>
            <a:endParaRPr/>
          </a:p>
        </p:txBody>
      </p:sp>
      <p:sp>
        <p:nvSpPr>
          <p:cNvPr id="447" name="Google Shape;447;p26"/>
          <p:cNvSpPr txBox="1"/>
          <p:nvPr/>
        </p:nvSpPr>
        <p:spPr>
          <a:xfrm>
            <a:off x="2628225" y="2687470"/>
            <a:ext cx="5817198" cy="1645313"/>
          </a:xfrm>
          <a:prstGeom prst="rect">
            <a:avLst/>
          </a:prstGeom>
          <a:noFill/>
          <a:ln>
            <a:noFill/>
          </a:ln>
        </p:spPr>
        <p:txBody>
          <a:bodyPr anchorCtr="0" anchor="t" bIns="0" lIns="0" spcFirstLastPara="1" rIns="0" wrap="square" tIns="0">
            <a:spAutoFit/>
          </a:bodyPr>
          <a:lstStyle/>
          <a:p>
            <a:pPr indent="0" lvl="0" marL="0" marR="0" rtl="0" algn="l">
              <a:lnSpc>
                <a:spcPct val="103989"/>
              </a:lnSpc>
              <a:spcBef>
                <a:spcPts val="0"/>
              </a:spcBef>
              <a:spcAft>
                <a:spcPts val="0"/>
              </a:spcAft>
              <a:buNone/>
            </a:pPr>
            <a:r>
              <a:rPr b="1" i="0" lang="en-US" sz="5690" u="none" cap="none" strike="noStrike">
                <a:solidFill>
                  <a:srgbClr val="FFFFFF"/>
                </a:solidFill>
                <a:latin typeface="Arial"/>
                <a:ea typeface="Arial"/>
                <a:cs typeface="Arial"/>
                <a:sym typeface="Arial"/>
              </a:rPr>
              <a:t>Gramáticas Libres de Contexto</a:t>
            </a:r>
            <a:endParaRPr/>
          </a:p>
        </p:txBody>
      </p:sp>
      <p:sp>
        <p:nvSpPr>
          <p:cNvPr id="448" name="Google Shape;448;p26"/>
          <p:cNvSpPr txBox="1"/>
          <p:nvPr/>
        </p:nvSpPr>
        <p:spPr>
          <a:xfrm>
            <a:off x="2628225" y="6016153"/>
            <a:ext cx="4399170" cy="339902"/>
          </a:xfrm>
          <a:prstGeom prst="rect">
            <a:avLst/>
          </a:prstGeom>
          <a:noFill/>
          <a:ln>
            <a:noFill/>
          </a:ln>
        </p:spPr>
        <p:txBody>
          <a:bodyPr anchorCtr="0" anchor="t" bIns="0" lIns="0" spcFirstLastPara="1" rIns="0" wrap="square" tIns="0">
            <a:spAutoFit/>
          </a:bodyPr>
          <a:lstStyle/>
          <a:p>
            <a:pPr indent="0" lvl="0" marL="0" marR="0" rtl="0" algn="l">
              <a:lnSpc>
                <a:spcPct val="104007"/>
              </a:lnSpc>
              <a:spcBef>
                <a:spcPts val="0"/>
              </a:spcBef>
              <a:spcAft>
                <a:spcPts val="0"/>
              </a:spcAft>
              <a:buNone/>
            </a:pPr>
            <a:r>
              <a:rPr b="1" i="0" lang="en-US" sz="2196" u="none" cap="none" strike="noStrike">
                <a:solidFill>
                  <a:srgbClr val="FFFFFF"/>
                </a:solidFill>
                <a:latin typeface="Arial"/>
                <a:ea typeface="Arial"/>
                <a:cs typeface="Arial"/>
                <a:sym typeface="Arial"/>
              </a:rPr>
              <a:t>Definición</a:t>
            </a:r>
            <a:endParaRPr/>
          </a:p>
        </p:txBody>
      </p:sp>
      <p:sp>
        <p:nvSpPr>
          <p:cNvPr id="449" name="Google Shape;449;p26"/>
          <p:cNvSpPr txBox="1"/>
          <p:nvPr/>
        </p:nvSpPr>
        <p:spPr>
          <a:xfrm>
            <a:off x="2628225" y="4365630"/>
            <a:ext cx="5817198" cy="1345723"/>
          </a:xfrm>
          <a:prstGeom prst="rect">
            <a:avLst/>
          </a:prstGeom>
          <a:noFill/>
          <a:ln>
            <a:noFill/>
          </a:ln>
        </p:spPr>
        <p:txBody>
          <a:bodyPr anchorCtr="0" anchor="t" bIns="0" lIns="0" spcFirstLastPara="1" rIns="0" wrap="square" tIns="0">
            <a:spAutoFit/>
          </a:bodyPr>
          <a:lstStyle/>
          <a:p>
            <a:pPr indent="0" lvl="0" marL="0" marR="0" rtl="0" algn="l">
              <a:lnSpc>
                <a:spcPct val="159009"/>
              </a:lnSpc>
              <a:spcBef>
                <a:spcPts val="0"/>
              </a:spcBef>
              <a:spcAft>
                <a:spcPts val="0"/>
              </a:spcAft>
              <a:buNone/>
            </a:pPr>
            <a:r>
              <a:rPr b="0" i="0" lang="en-US" sz="1676" u="none" cap="none" strike="noStrike">
                <a:solidFill>
                  <a:srgbClr val="FFFFFF"/>
                </a:solidFill>
                <a:latin typeface="Arial"/>
                <a:ea typeface="Arial"/>
                <a:cs typeface="Arial"/>
                <a:sym typeface="Arial"/>
              </a:rPr>
              <a:t>Una GLC es un conjunto de reglas que se utilizan para describir la estructura de un lenguaje formal. En esencia, permite definir cómo se pueden construir frases válidas en ese lenguaje</a:t>
            </a:r>
            <a:endParaRPr/>
          </a:p>
        </p:txBody>
      </p:sp>
      <p:grpSp>
        <p:nvGrpSpPr>
          <p:cNvPr id="450" name="Google Shape;450;p26"/>
          <p:cNvGrpSpPr/>
          <p:nvPr/>
        </p:nvGrpSpPr>
        <p:grpSpPr>
          <a:xfrm rot="-4011154">
            <a:off x="13539775" y="1196864"/>
            <a:ext cx="17403374" cy="18180272"/>
            <a:chOff x="0" y="0"/>
            <a:chExt cx="4583605" cy="4788220"/>
          </a:xfrm>
        </p:grpSpPr>
        <p:sp>
          <p:nvSpPr>
            <p:cNvPr id="451" name="Google Shape;451;p26"/>
            <p:cNvSpPr/>
            <p:nvPr/>
          </p:nvSpPr>
          <p:spPr>
            <a:xfrm>
              <a:off x="0" y="0"/>
              <a:ext cx="4583605" cy="4788220"/>
            </a:xfrm>
            <a:custGeom>
              <a:rect b="b" l="l" r="r" t="t"/>
              <a:pathLst>
                <a:path extrusionOk="0" h="4788220" w="4583605">
                  <a:moveTo>
                    <a:pt x="0" y="0"/>
                  </a:moveTo>
                  <a:lnTo>
                    <a:pt x="4583605" y="0"/>
                  </a:lnTo>
                  <a:lnTo>
                    <a:pt x="4583605" y="4788220"/>
                  </a:lnTo>
                  <a:lnTo>
                    <a:pt x="0" y="4788220"/>
                  </a:lnTo>
                  <a:close/>
                </a:path>
              </a:pathLst>
            </a:custGeom>
            <a:gradFill>
              <a:gsLst>
                <a:gs pos="0">
                  <a:srgbClr val="27DDDF">
                    <a:alpha val="0"/>
                  </a:srgbClr>
                </a:gs>
                <a:gs pos="100000">
                  <a:srgbClr val="27DDDF"/>
                </a:gs>
              </a:gsLst>
              <a:lin ang="5400000" scaled="0"/>
            </a:gradFill>
            <a:ln>
              <a:noFill/>
            </a:ln>
          </p:spPr>
        </p:sp>
        <p:sp>
          <p:nvSpPr>
            <p:cNvPr id="452" name="Google Shape;452;p26"/>
            <p:cNvSpPr txBox="1"/>
            <p:nvPr/>
          </p:nvSpPr>
          <p:spPr>
            <a:xfrm>
              <a:off x="0" y="19050"/>
              <a:ext cx="4583605" cy="476917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3" name="Google Shape;453;p26"/>
          <p:cNvSpPr txBox="1"/>
          <p:nvPr/>
        </p:nvSpPr>
        <p:spPr>
          <a:xfrm>
            <a:off x="2628225" y="6501442"/>
            <a:ext cx="4804304" cy="1902724"/>
          </a:xfrm>
          <a:prstGeom prst="rect">
            <a:avLst/>
          </a:prstGeom>
          <a:noFill/>
          <a:ln>
            <a:noFill/>
          </a:ln>
        </p:spPr>
        <p:txBody>
          <a:bodyPr anchorCtr="0" anchor="t" bIns="0" lIns="0" spcFirstLastPara="1" rIns="0" wrap="square" tIns="0">
            <a:spAutoFit/>
          </a:bodyPr>
          <a:lstStyle/>
          <a:p>
            <a:pPr indent="0" lvl="0" marL="0" marR="0" rtl="0" algn="l">
              <a:lnSpc>
                <a:spcPct val="159027"/>
              </a:lnSpc>
              <a:spcBef>
                <a:spcPts val="0"/>
              </a:spcBef>
              <a:spcAft>
                <a:spcPts val="0"/>
              </a:spcAft>
              <a:buNone/>
            </a:pPr>
            <a:r>
              <a:rPr b="0" i="0" lang="en-US" sz="1584" u="none" cap="none" strike="noStrike">
                <a:solidFill>
                  <a:srgbClr val="FFFFFF"/>
                </a:solidFill>
                <a:latin typeface="Arial"/>
                <a:ea typeface="Arial"/>
                <a:cs typeface="Arial"/>
                <a:sym typeface="Arial"/>
              </a:rPr>
              <a:t>G=(N,Σ,P,S) donde:</a:t>
            </a:r>
            <a:endParaRPr/>
          </a:p>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N: no terminales</a:t>
            </a:r>
            <a:endParaRPr/>
          </a:p>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Σ: terminales</a:t>
            </a:r>
            <a:endParaRPr/>
          </a:p>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P: producciones de la forma A→α (un solo no terminal a la izquierda)</a:t>
            </a:r>
            <a:endParaRPr/>
          </a:p>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S: símbolo inicial, de donde parte toda derivación.</a:t>
            </a:r>
            <a:endParaRPr/>
          </a:p>
        </p:txBody>
      </p:sp>
      <p:sp>
        <p:nvSpPr>
          <p:cNvPr id="454" name="Google Shape;454;p26"/>
          <p:cNvSpPr txBox="1"/>
          <p:nvPr/>
        </p:nvSpPr>
        <p:spPr>
          <a:xfrm>
            <a:off x="9715226" y="2541331"/>
            <a:ext cx="4399170" cy="384098"/>
          </a:xfrm>
          <a:prstGeom prst="rect">
            <a:avLst/>
          </a:prstGeom>
          <a:noFill/>
          <a:ln>
            <a:noFill/>
          </a:ln>
        </p:spPr>
        <p:txBody>
          <a:bodyPr anchorCtr="0" anchor="t" bIns="0" lIns="0" spcFirstLastPara="1" rIns="0" wrap="square" tIns="0">
            <a:spAutoFit/>
          </a:bodyPr>
          <a:lstStyle/>
          <a:p>
            <a:pPr indent="0" lvl="0" marL="0" marR="0" rtl="0" algn="l">
              <a:lnSpc>
                <a:spcPct val="104006"/>
              </a:lnSpc>
              <a:spcBef>
                <a:spcPts val="0"/>
              </a:spcBef>
              <a:spcAft>
                <a:spcPts val="0"/>
              </a:spcAft>
              <a:buNone/>
            </a:pPr>
            <a:r>
              <a:rPr b="1" i="0" lang="en-US" sz="2496" u="none" cap="none" strike="noStrike">
                <a:solidFill>
                  <a:srgbClr val="FFFFFF"/>
                </a:solidFill>
                <a:latin typeface="Arial"/>
                <a:ea typeface="Arial"/>
                <a:cs typeface="Arial"/>
                <a:sym typeface="Arial"/>
              </a:rPr>
              <a:t>Características</a:t>
            </a:r>
            <a:endParaRPr/>
          </a:p>
        </p:txBody>
      </p:sp>
      <p:sp>
        <p:nvSpPr>
          <p:cNvPr id="455" name="Google Shape;455;p26"/>
          <p:cNvSpPr txBox="1"/>
          <p:nvPr/>
        </p:nvSpPr>
        <p:spPr>
          <a:xfrm>
            <a:off x="9725387" y="2933713"/>
            <a:ext cx="4804304" cy="1678697"/>
          </a:xfrm>
          <a:prstGeom prst="rect">
            <a:avLst/>
          </a:prstGeom>
          <a:noFill/>
          <a:ln>
            <a:noFill/>
          </a:ln>
        </p:spPr>
        <p:txBody>
          <a:bodyPr anchorCtr="0" anchor="t" bIns="0" lIns="0" spcFirstLastPara="1" rIns="0" wrap="square" tIns="0">
            <a:spAutoFit/>
          </a:bodyPr>
          <a:lstStyle/>
          <a:p>
            <a:pPr indent="-181831" lvl="1" marL="363662" marR="0" rtl="0" algn="l">
              <a:lnSpc>
                <a:spcPct val="159026"/>
              </a:lnSpc>
              <a:spcBef>
                <a:spcPts val="0"/>
              </a:spcBef>
              <a:spcAft>
                <a:spcPts val="0"/>
              </a:spcAft>
              <a:buClr>
                <a:srgbClr val="FFFFFF"/>
              </a:buClr>
              <a:buSzPts val="1684"/>
              <a:buFont typeface="Arial"/>
              <a:buChar char="•"/>
            </a:pPr>
            <a:r>
              <a:rPr b="0" i="0" lang="en-US" sz="1684" u="none" cap="none" strike="noStrike">
                <a:solidFill>
                  <a:srgbClr val="FFFFFF"/>
                </a:solidFill>
                <a:latin typeface="Arial"/>
                <a:ea typeface="Arial"/>
                <a:cs typeface="Arial"/>
                <a:sym typeface="Arial"/>
              </a:rPr>
              <a:t>Generan lenguajes con estructura anidada (bloques, expresiones…)</a:t>
            </a:r>
            <a:endParaRPr/>
          </a:p>
          <a:p>
            <a:pPr indent="-181831" lvl="1" marL="363662" marR="0" rtl="0" algn="l">
              <a:lnSpc>
                <a:spcPct val="159026"/>
              </a:lnSpc>
              <a:spcBef>
                <a:spcPts val="0"/>
              </a:spcBef>
              <a:spcAft>
                <a:spcPts val="0"/>
              </a:spcAft>
              <a:buClr>
                <a:srgbClr val="FFFFFF"/>
              </a:buClr>
              <a:buSzPts val="1684"/>
              <a:buFont typeface="Arial"/>
              <a:buChar char="•"/>
            </a:pPr>
            <a:r>
              <a:rPr b="0" i="0" lang="en-US" sz="1684" u="none" cap="none" strike="noStrike">
                <a:solidFill>
                  <a:srgbClr val="FFFFFF"/>
                </a:solidFill>
                <a:latin typeface="Arial"/>
                <a:ea typeface="Arial"/>
                <a:cs typeface="Arial"/>
                <a:sym typeface="Arial"/>
              </a:rPr>
              <a:t>Equivalentes a autómatas de pila (PDA)</a:t>
            </a:r>
            <a:endParaRPr/>
          </a:p>
          <a:p>
            <a:pPr indent="-181831" lvl="1" marL="363662" marR="0" rtl="0" algn="l">
              <a:lnSpc>
                <a:spcPct val="159026"/>
              </a:lnSpc>
              <a:spcBef>
                <a:spcPts val="0"/>
              </a:spcBef>
              <a:spcAft>
                <a:spcPts val="0"/>
              </a:spcAft>
              <a:buClr>
                <a:srgbClr val="FFFFFF"/>
              </a:buClr>
              <a:buSzPts val="1684"/>
              <a:buFont typeface="Arial"/>
              <a:buChar char="•"/>
            </a:pPr>
            <a:r>
              <a:rPr b="0" i="0" lang="en-US" sz="1684" u="none" cap="none" strike="noStrike">
                <a:solidFill>
                  <a:srgbClr val="FFFFFF"/>
                </a:solidFill>
                <a:latin typeface="Arial"/>
                <a:ea typeface="Arial"/>
                <a:cs typeface="Arial"/>
                <a:sym typeface="Arial"/>
              </a:rPr>
              <a:t>Pueden ser ambiguas, recursivas (izquierda/derecha) o factorizables</a:t>
            </a:r>
            <a:endParaRPr/>
          </a:p>
        </p:txBody>
      </p:sp>
      <p:sp>
        <p:nvSpPr>
          <p:cNvPr id="456" name="Google Shape;456;p26"/>
          <p:cNvSpPr txBox="1"/>
          <p:nvPr/>
        </p:nvSpPr>
        <p:spPr>
          <a:xfrm>
            <a:off x="9725387" y="6072054"/>
            <a:ext cx="4804304" cy="1011947"/>
          </a:xfrm>
          <a:prstGeom prst="rect">
            <a:avLst/>
          </a:prstGeom>
          <a:noFill/>
          <a:ln>
            <a:noFill/>
          </a:ln>
        </p:spPr>
        <p:txBody>
          <a:bodyPr anchorCtr="0" anchor="t" bIns="0" lIns="0" spcFirstLastPara="1" rIns="0" wrap="square" tIns="0">
            <a:spAutoFit/>
          </a:bodyPr>
          <a:lstStyle/>
          <a:p>
            <a:pPr indent="0" lvl="0" marL="0" marR="0" rtl="0" algn="l">
              <a:lnSpc>
                <a:spcPct val="159026"/>
              </a:lnSpc>
              <a:spcBef>
                <a:spcPts val="0"/>
              </a:spcBef>
              <a:spcAft>
                <a:spcPts val="0"/>
              </a:spcAft>
              <a:buNone/>
            </a:pPr>
            <a:r>
              <a:rPr b="0" i="0" lang="en-US" sz="1684" u="none" cap="none" strike="noStrike">
                <a:solidFill>
                  <a:srgbClr val="FFFFFF"/>
                </a:solidFill>
                <a:latin typeface="Arial"/>
                <a:ea typeface="Arial"/>
                <a:cs typeface="Arial"/>
                <a:sym typeface="Arial"/>
              </a:rPr>
              <a:t>E → E + T  |  T  </a:t>
            </a:r>
            <a:endParaRPr/>
          </a:p>
          <a:p>
            <a:pPr indent="0" lvl="0" marL="0" marR="0" rtl="0" algn="l">
              <a:lnSpc>
                <a:spcPct val="159026"/>
              </a:lnSpc>
              <a:spcBef>
                <a:spcPts val="0"/>
              </a:spcBef>
              <a:spcAft>
                <a:spcPts val="0"/>
              </a:spcAft>
              <a:buNone/>
            </a:pPr>
            <a:r>
              <a:rPr b="0" i="0" lang="en-US" sz="1684" u="none" cap="none" strike="noStrike">
                <a:solidFill>
                  <a:srgbClr val="FFFFFF"/>
                </a:solidFill>
                <a:latin typeface="Arial"/>
                <a:ea typeface="Arial"/>
                <a:cs typeface="Arial"/>
                <a:sym typeface="Arial"/>
              </a:rPr>
              <a:t>T → T * F  |  F  </a:t>
            </a:r>
            <a:endParaRPr/>
          </a:p>
          <a:p>
            <a:pPr indent="0" lvl="0" marL="0" marR="0" rtl="0" algn="l">
              <a:lnSpc>
                <a:spcPct val="159026"/>
              </a:lnSpc>
              <a:spcBef>
                <a:spcPts val="0"/>
              </a:spcBef>
              <a:spcAft>
                <a:spcPts val="0"/>
              </a:spcAft>
              <a:buNone/>
            </a:pPr>
            <a:r>
              <a:rPr b="0" i="0" lang="en-US" sz="1684" u="none" cap="none" strike="noStrike">
                <a:solidFill>
                  <a:srgbClr val="FFFFFF"/>
                </a:solidFill>
                <a:latin typeface="Arial"/>
                <a:ea typeface="Arial"/>
                <a:cs typeface="Arial"/>
                <a:sym typeface="Arial"/>
              </a:rPr>
              <a:t>F → ( E )  |  id</a:t>
            </a:r>
            <a:endParaRPr/>
          </a:p>
        </p:txBody>
      </p:sp>
      <p:sp>
        <p:nvSpPr>
          <p:cNvPr id="457" name="Google Shape;457;p26"/>
          <p:cNvSpPr txBox="1"/>
          <p:nvPr/>
        </p:nvSpPr>
        <p:spPr>
          <a:xfrm>
            <a:off x="9715226" y="7255450"/>
            <a:ext cx="4804304" cy="1345322"/>
          </a:xfrm>
          <a:prstGeom prst="rect">
            <a:avLst/>
          </a:prstGeom>
          <a:noFill/>
          <a:ln>
            <a:noFill/>
          </a:ln>
        </p:spPr>
        <p:txBody>
          <a:bodyPr anchorCtr="0" anchor="t" bIns="0" lIns="0" spcFirstLastPara="1" rIns="0" wrap="square" tIns="0">
            <a:spAutoFit/>
          </a:bodyPr>
          <a:lstStyle/>
          <a:p>
            <a:pPr indent="0" lvl="0" marL="0" marR="0" rtl="0" algn="l">
              <a:lnSpc>
                <a:spcPct val="159026"/>
              </a:lnSpc>
              <a:spcBef>
                <a:spcPts val="0"/>
              </a:spcBef>
              <a:spcAft>
                <a:spcPts val="0"/>
              </a:spcAft>
              <a:buNone/>
            </a:pPr>
            <a:r>
              <a:rPr b="0" i="0" lang="en-US" sz="1684" u="none" cap="none" strike="noStrike">
                <a:solidFill>
                  <a:srgbClr val="FFFFFF"/>
                </a:solidFill>
                <a:latin typeface="Arial"/>
                <a:ea typeface="Arial"/>
                <a:cs typeface="Arial"/>
                <a:sym typeface="Arial"/>
              </a:rPr>
              <a:t>Estas producciones son la regla de expansión de cada no terminal, y al aplicarlas sucesivamente genera todas las cadenas válidas del lenguaje, por ejemplo: </a:t>
            </a:r>
            <a:r>
              <a:rPr b="1" i="1" lang="en-US" sz="1684" u="none" cap="none" strike="noStrike">
                <a:solidFill>
                  <a:srgbClr val="FFFFFF"/>
                </a:solidFill>
                <a:latin typeface="Arial"/>
                <a:ea typeface="Arial"/>
                <a:cs typeface="Arial"/>
                <a:sym typeface="Arial"/>
              </a:rPr>
              <a:t>id + id * id.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461" name="Shape 461"/>
        <p:cNvGrpSpPr/>
        <p:nvPr/>
      </p:nvGrpSpPr>
      <p:grpSpPr>
        <a:xfrm>
          <a:off x="0" y="0"/>
          <a:ext cx="0" cy="0"/>
          <a:chOff x="0" y="0"/>
          <a:chExt cx="0" cy="0"/>
        </a:xfrm>
      </p:grpSpPr>
      <p:sp>
        <p:nvSpPr>
          <p:cNvPr id="462" name="Google Shape;462;p27"/>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463" name="Google Shape;463;p27"/>
          <p:cNvGrpSpPr/>
          <p:nvPr/>
        </p:nvGrpSpPr>
        <p:grpSpPr>
          <a:xfrm>
            <a:off x="2054482" y="2262850"/>
            <a:ext cx="6964686" cy="6645580"/>
            <a:chOff x="0" y="0"/>
            <a:chExt cx="1834320" cy="1750276"/>
          </a:xfrm>
        </p:grpSpPr>
        <p:sp>
          <p:nvSpPr>
            <p:cNvPr id="464" name="Google Shape;464;p27"/>
            <p:cNvSpPr/>
            <p:nvPr/>
          </p:nvSpPr>
          <p:spPr>
            <a:xfrm>
              <a:off x="0" y="0"/>
              <a:ext cx="1834320" cy="1750276"/>
            </a:xfrm>
            <a:custGeom>
              <a:rect b="b" l="l" r="r" t="t"/>
              <a:pathLst>
                <a:path extrusionOk="0" h="1750276" w="1834320">
                  <a:moveTo>
                    <a:pt x="56691" y="0"/>
                  </a:moveTo>
                  <a:lnTo>
                    <a:pt x="1777629" y="0"/>
                  </a:lnTo>
                  <a:cubicBezTo>
                    <a:pt x="1808939" y="0"/>
                    <a:pt x="1834320" y="25382"/>
                    <a:pt x="1834320" y="56691"/>
                  </a:cubicBezTo>
                  <a:lnTo>
                    <a:pt x="1834320" y="1693585"/>
                  </a:lnTo>
                  <a:cubicBezTo>
                    <a:pt x="1834320" y="1708620"/>
                    <a:pt x="1828348" y="1723040"/>
                    <a:pt x="1817716" y="1733672"/>
                  </a:cubicBezTo>
                  <a:cubicBezTo>
                    <a:pt x="1807084" y="1744303"/>
                    <a:pt x="1792664" y="1750276"/>
                    <a:pt x="1777629" y="1750276"/>
                  </a:cubicBezTo>
                  <a:lnTo>
                    <a:pt x="56691" y="1750276"/>
                  </a:lnTo>
                  <a:cubicBezTo>
                    <a:pt x="41656" y="1750276"/>
                    <a:pt x="27236" y="1744303"/>
                    <a:pt x="16605" y="1733672"/>
                  </a:cubicBezTo>
                  <a:cubicBezTo>
                    <a:pt x="5973" y="1723040"/>
                    <a:pt x="0" y="1708620"/>
                    <a:pt x="0" y="1693585"/>
                  </a:cubicBezTo>
                  <a:lnTo>
                    <a:pt x="0" y="56691"/>
                  </a:lnTo>
                  <a:cubicBezTo>
                    <a:pt x="0" y="41656"/>
                    <a:pt x="5973" y="27236"/>
                    <a:pt x="16605" y="16605"/>
                  </a:cubicBezTo>
                  <a:cubicBezTo>
                    <a:pt x="27236" y="5973"/>
                    <a:pt x="41656" y="0"/>
                    <a:pt x="56691"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7"/>
            <p:cNvSpPr txBox="1"/>
            <p:nvPr/>
          </p:nvSpPr>
          <p:spPr>
            <a:xfrm>
              <a:off x="0" y="19050"/>
              <a:ext cx="1834320" cy="1731226"/>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6" name="Google Shape;466;p27"/>
          <p:cNvGrpSpPr/>
          <p:nvPr/>
        </p:nvGrpSpPr>
        <p:grpSpPr>
          <a:xfrm>
            <a:off x="9410514" y="3029276"/>
            <a:ext cx="5434050" cy="5879153"/>
            <a:chOff x="0" y="0"/>
            <a:chExt cx="1417549" cy="1533661"/>
          </a:xfrm>
        </p:grpSpPr>
        <p:sp>
          <p:nvSpPr>
            <p:cNvPr id="467" name="Google Shape;467;p27"/>
            <p:cNvSpPr/>
            <p:nvPr/>
          </p:nvSpPr>
          <p:spPr>
            <a:xfrm>
              <a:off x="0" y="0"/>
              <a:ext cx="1417549" cy="1533661"/>
            </a:xfrm>
            <a:custGeom>
              <a:rect b="b" l="l" r="r" t="t"/>
              <a:pathLst>
                <a:path extrusionOk="0" h="1533661" w="1417549">
                  <a:moveTo>
                    <a:pt x="29919" y="0"/>
                  </a:moveTo>
                  <a:lnTo>
                    <a:pt x="1387630" y="0"/>
                  </a:lnTo>
                  <a:cubicBezTo>
                    <a:pt x="1404154" y="0"/>
                    <a:pt x="1417549" y="13395"/>
                    <a:pt x="1417549" y="29919"/>
                  </a:cubicBezTo>
                  <a:lnTo>
                    <a:pt x="1417549" y="1503742"/>
                  </a:lnTo>
                  <a:cubicBezTo>
                    <a:pt x="1417549" y="1520265"/>
                    <a:pt x="1404154" y="1533661"/>
                    <a:pt x="1387630" y="1533661"/>
                  </a:cubicBezTo>
                  <a:lnTo>
                    <a:pt x="29919" y="1533661"/>
                  </a:lnTo>
                  <a:cubicBezTo>
                    <a:pt x="13395" y="1533661"/>
                    <a:pt x="0" y="1520265"/>
                    <a:pt x="0" y="1503742"/>
                  </a:cubicBezTo>
                  <a:lnTo>
                    <a:pt x="0" y="29919"/>
                  </a:lnTo>
                  <a:cubicBezTo>
                    <a:pt x="0" y="13395"/>
                    <a:pt x="13395" y="0"/>
                    <a:pt x="29919" y="0"/>
                  </a:cubicBezTo>
                  <a:close/>
                </a:path>
              </a:pathLst>
            </a:custGeom>
            <a:solidFill>
              <a:srgbClr val="000000">
                <a:alpha val="0"/>
              </a:srgbClr>
            </a:solid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7"/>
            <p:cNvSpPr txBox="1"/>
            <p:nvPr/>
          </p:nvSpPr>
          <p:spPr>
            <a:xfrm>
              <a:off x="0" y="19050"/>
              <a:ext cx="1417549" cy="1514611"/>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27"/>
          <p:cNvGrpSpPr/>
          <p:nvPr/>
        </p:nvGrpSpPr>
        <p:grpSpPr>
          <a:xfrm>
            <a:off x="9410514" y="2262850"/>
            <a:ext cx="5434050" cy="662579"/>
            <a:chOff x="0" y="0"/>
            <a:chExt cx="1417549" cy="172843"/>
          </a:xfrm>
        </p:grpSpPr>
        <p:sp>
          <p:nvSpPr>
            <p:cNvPr id="470" name="Google Shape;470;p27"/>
            <p:cNvSpPr/>
            <p:nvPr/>
          </p:nvSpPr>
          <p:spPr>
            <a:xfrm>
              <a:off x="0" y="0"/>
              <a:ext cx="1417549" cy="172843"/>
            </a:xfrm>
            <a:custGeom>
              <a:rect b="b" l="l" r="r" t="t"/>
              <a:pathLst>
                <a:path extrusionOk="0" h="172843" w="1417549">
                  <a:moveTo>
                    <a:pt x="29919" y="0"/>
                  </a:moveTo>
                  <a:lnTo>
                    <a:pt x="1387630" y="0"/>
                  </a:lnTo>
                  <a:cubicBezTo>
                    <a:pt x="1404154" y="0"/>
                    <a:pt x="1417549" y="13395"/>
                    <a:pt x="1417549" y="29919"/>
                  </a:cubicBezTo>
                  <a:lnTo>
                    <a:pt x="1417549" y="142924"/>
                  </a:lnTo>
                  <a:cubicBezTo>
                    <a:pt x="1417549" y="159448"/>
                    <a:pt x="1404154" y="172843"/>
                    <a:pt x="1387630" y="172843"/>
                  </a:cubicBezTo>
                  <a:lnTo>
                    <a:pt x="29919" y="172843"/>
                  </a:lnTo>
                  <a:cubicBezTo>
                    <a:pt x="13395" y="172843"/>
                    <a:pt x="0" y="159448"/>
                    <a:pt x="0" y="142924"/>
                  </a:cubicBezTo>
                  <a:lnTo>
                    <a:pt x="0" y="29919"/>
                  </a:lnTo>
                  <a:cubicBezTo>
                    <a:pt x="0" y="13395"/>
                    <a:pt x="13395" y="0"/>
                    <a:pt x="29919"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7"/>
            <p:cNvSpPr txBox="1"/>
            <p:nvPr/>
          </p:nvSpPr>
          <p:spPr>
            <a:xfrm>
              <a:off x="0" y="19050"/>
              <a:ext cx="1417549" cy="153793"/>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2" name="Google Shape;472;p27"/>
          <p:cNvGrpSpPr/>
          <p:nvPr/>
        </p:nvGrpSpPr>
        <p:grpSpPr>
          <a:xfrm rot="-4011154">
            <a:off x="13539775" y="1196864"/>
            <a:ext cx="17403374" cy="18180272"/>
            <a:chOff x="0" y="0"/>
            <a:chExt cx="4583605" cy="4788220"/>
          </a:xfrm>
        </p:grpSpPr>
        <p:sp>
          <p:nvSpPr>
            <p:cNvPr id="473" name="Google Shape;473;p27"/>
            <p:cNvSpPr/>
            <p:nvPr/>
          </p:nvSpPr>
          <p:spPr>
            <a:xfrm>
              <a:off x="0" y="0"/>
              <a:ext cx="4583605" cy="4788220"/>
            </a:xfrm>
            <a:custGeom>
              <a:rect b="b" l="l" r="r" t="t"/>
              <a:pathLst>
                <a:path extrusionOk="0" h="4788220" w="4583605">
                  <a:moveTo>
                    <a:pt x="0" y="0"/>
                  </a:moveTo>
                  <a:lnTo>
                    <a:pt x="4583605" y="0"/>
                  </a:lnTo>
                  <a:lnTo>
                    <a:pt x="4583605" y="4788220"/>
                  </a:lnTo>
                  <a:lnTo>
                    <a:pt x="0" y="4788220"/>
                  </a:lnTo>
                  <a:close/>
                </a:path>
              </a:pathLst>
            </a:custGeom>
            <a:gradFill>
              <a:gsLst>
                <a:gs pos="0">
                  <a:srgbClr val="27DDDF">
                    <a:alpha val="0"/>
                  </a:srgbClr>
                </a:gs>
                <a:gs pos="100000">
                  <a:srgbClr val="27DDDF"/>
                </a:gs>
              </a:gsLst>
              <a:lin ang="5400000" scaled="0"/>
            </a:gradFill>
            <a:ln>
              <a:noFill/>
            </a:ln>
          </p:spPr>
        </p:sp>
        <p:sp>
          <p:nvSpPr>
            <p:cNvPr id="474" name="Google Shape;474;p27"/>
            <p:cNvSpPr txBox="1"/>
            <p:nvPr/>
          </p:nvSpPr>
          <p:spPr>
            <a:xfrm>
              <a:off x="0" y="19050"/>
              <a:ext cx="4583605" cy="476917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5" name="Google Shape;475;p27"/>
          <p:cNvSpPr/>
          <p:nvPr/>
        </p:nvSpPr>
        <p:spPr>
          <a:xfrm>
            <a:off x="10032242" y="3370297"/>
            <a:ext cx="4190595" cy="5197112"/>
          </a:xfrm>
          <a:custGeom>
            <a:rect b="b" l="l" r="r" t="t"/>
            <a:pathLst>
              <a:path extrusionOk="0" h="5197112" w="4190595">
                <a:moveTo>
                  <a:pt x="0" y="0"/>
                </a:moveTo>
                <a:lnTo>
                  <a:pt x="4190595" y="0"/>
                </a:lnTo>
                <a:lnTo>
                  <a:pt x="4190595" y="5197112"/>
                </a:lnTo>
                <a:lnTo>
                  <a:pt x="0" y="5197112"/>
                </a:lnTo>
                <a:lnTo>
                  <a:pt x="0" y="0"/>
                </a:lnTo>
                <a:close/>
              </a:path>
            </a:pathLst>
          </a:custGeom>
          <a:blipFill rotWithShape="1">
            <a:blip r:embed="rId4">
              <a:alphaModFix/>
            </a:blip>
            <a:stretch>
              <a:fillRect b="0" l="0" r="0" t="0"/>
            </a:stretch>
          </a:blipFill>
          <a:ln>
            <a:noFill/>
          </a:ln>
        </p:spPr>
      </p:sp>
      <p:sp>
        <p:nvSpPr>
          <p:cNvPr id="476" name="Google Shape;476;p27"/>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08</a:t>
            </a:r>
            <a:endParaRPr/>
          </a:p>
        </p:txBody>
      </p:sp>
      <p:sp>
        <p:nvSpPr>
          <p:cNvPr id="477" name="Google Shape;477;p27"/>
          <p:cNvSpPr txBox="1"/>
          <p:nvPr/>
        </p:nvSpPr>
        <p:spPr>
          <a:xfrm>
            <a:off x="2628225" y="2687470"/>
            <a:ext cx="5817198" cy="1645313"/>
          </a:xfrm>
          <a:prstGeom prst="rect">
            <a:avLst/>
          </a:prstGeom>
          <a:noFill/>
          <a:ln>
            <a:noFill/>
          </a:ln>
        </p:spPr>
        <p:txBody>
          <a:bodyPr anchorCtr="0" anchor="t" bIns="0" lIns="0" spcFirstLastPara="1" rIns="0" wrap="square" tIns="0">
            <a:spAutoFit/>
          </a:bodyPr>
          <a:lstStyle/>
          <a:p>
            <a:pPr indent="0" lvl="0" marL="0" marR="0" rtl="0" algn="l">
              <a:lnSpc>
                <a:spcPct val="103989"/>
              </a:lnSpc>
              <a:spcBef>
                <a:spcPts val="0"/>
              </a:spcBef>
              <a:spcAft>
                <a:spcPts val="0"/>
              </a:spcAft>
              <a:buNone/>
            </a:pPr>
            <a:r>
              <a:rPr b="1" i="0" lang="en-US" sz="5690" u="none" cap="none" strike="noStrike">
                <a:solidFill>
                  <a:srgbClr val="FFFFFF"/>
                </a:solidFill>
                <a:latin typeface="Arial"/>
                <a:ea typeface="Arial"/>
                <a:cs typeface="Arial"/>
                <a:sym typeface="Arial"/>
              </a:rPr>
              <a:t>Árboles de Derivación</a:t>
            </a:r>
            <a:endParaRPr/>
          </a:p>
        </p:txBody>
      </p:sp>
      <p:sp>
        <p:nvSpPr>
          <p:cNvPr id="478" name="Google Shape;478;p27"/>
          <p:cNvSpPr txBox="1"/>
          <p:nvPr/>
        </p:nvSpPr>
        <p:spPr>
          <a:xfrm>
            <a:off x="2628225" y="6016153"/>
            <a:ext cx="4399170" cy="339902"/>
          </a:xfrm>
          <a:prstGeom prst="rect">
            <a:avLst/>
          </a:prstGeom>
          <a:noFill/>
          <a:ln>
            <a:noFill/>
          </a:ln>
        </p:spPr>
        <p:txBody>
          <a:bodyPr anchorCtr="0" anchor="t" bIns="0" lIns="0" spcFirstLastPara="1" rIns="0" wrap="square" tIns="0">
            <a:spAutoFit/>
          </a:bodyPr>
          <a:lstStyle/>
          <a:p>
            <a:pPr indent="0" lvl="0" marL="0" marR="0" rtl="0" algn="l">
              <a:lnSpc>
                <a:spcPct val="104007"/>
              </a:lnSpc>
              <a:spcBef>
                <a:spcPts val="0"/>
              </a:spcBef>
              <a:spcAft>
                <a:spcPts val="0"/>
              </a:spcAft>
              <a:buNone/>
            </a:pPr>
            <a:r>
              <a:rPr b="1" i="0" lang="en-US" sz="2196" u="none" cap="none" strike="noStrike">
                <a:solidFill>
                  <a:srgbClr val="FFFFFF"/>
                </a:solidFill>
                <a:latin typeface="Arial"/>
                <a:ea typeface="Arial"/>
                <a:cs typeface="Arial"/>
                <a:sym typeface="Arial"/>
              </a:rPr>
              <a:t>Estructura</a:t>
            </a:r>
            <a:endParaRPr/>
          </a:p>
        </p:txBody>
      </p:sp>
      <p:sp>
        <p:nvSpPr>
          <p:cNvPr id="479" name="Google Shape;479;p27"/>
          <p:cNvSpPr txBox="1"/>
          <p:nvPr/>
        </p:nvSpPr>
        <p:spPr>
          <a:xfrm>
            <a:off x="2628225" y="4365630"/>
            <a:ext cx="5817198" cy="1345723"/>
          </a:xfrm>
          <a:prstGeom prst="rect">
            <a:avLst/>
          </a:prstGeom>
          <a:noFill/>
          <a:ln>
            <a:noFill/>
          </a:ln>
        </p:spPr>
        <p:txBody>
          <a:bodyPr anchorCtr="0" anchor="t" bIns="0" lIns="0" spcFirstLastPara="1" rIns="0" wrap="square" tIns="0">
            <a:spAutoFit/>
          </a:bodyPr>
          <a:lstStyle/>
          <a:p>
            <a:pPr indent="0" lvl="0" marL="0" marR="0" rtl="0" algn="l">
              <a:lnSpc>
                <a:spcPct val="159009"/>
              </a:lnSpc>
              <a:spcBef>
                <a:spcPts val="0"/>
              </a:spcBef>
              <a:spcAft>
                <a:spcPts val="0"/>
              </a:spcAft>
              <a:buNone/>
            </a:pPr>
            <a:r>
              <a:rPr b="0" i="0" lang="en-US" sz="1676" u="none" cap="none" strike="noStrike">
                <a:solidFill>
                  <a:srgbClr val="FFFFFF"/>
                </a:solidFill>
                <a:latin typeface="Arial"/>
                <a:ea typeface="Arial"/>
                <a:cs typeface="Arial"/>
                <a:sym typeface="Arial"/>
              </a:rPr>
              <a:t>Representación jerárquica de cómo una cadena se genera aplicando producciones de la gramática</a:t>
            </a:r>
            <a:endParaRPr/>
          </a:p>
          <a:p>
            <a:pPr indent="0" lvl="0" marL="0" marR="0" rtl="0" algn="l">
              <a:lnSpc>
                <a:spcPct val="159009"/>
              </a:lnSpc>
              <a:spcBef>
                <a:spcPts val="0"/>
              </a:spcBef>
              <a:spcAft>
                <a:spcPts val="0"/>
              </a:spcAft>
              <a:buNone/>
            </a:pPr>
            <a:r>
              <a:rPr b="0" i="0" lang="en-US" sz="1676" u="none" cap="none" strike="noStrike">
                <a:solidFill>
                  <a:srgbClr val="FFFFFF"/>
                </a:solidFill>
                <a:latin typeface="Arial"/>
                <a:ea typeface="Arial"/>
                <a:cs typeface="Arial"/>
                <a:sym typeface="Arial"/>
              </a:rPr>
              <a:t>Cada vez que se aplica una regla, “expande” un nodo del árbol.</a:t>
            </a:r>
            <a:endParaRPr/>
          </a:p>
        </p:txBody>
      </p:sp>
      <p:sp>
        <p:nvSpPr>
          <p:cNvPr id="480" name="Google Shape;480;p27"/>
          <p:cNvSpPr txBox="1"/>
          <p:nvPr/>
        </p:nvSpPr>
        <p:spPr>
          <a:xfrm>
            <a:off x="2628225" y="6501442"/>
            <a:ext cx="4804304" cy="959749"/>
          </a:xfrm>
          <a:prstGeom prst="rect">
            <a:avLst/>
          </a:prstGeom>
          <a:noFill/>
          <a:ln>
            <a:noFill/>
          </a:ln>
        </p:spPr>
        <p:txBody>
          <a:bodyPr anchorCtr="0" anchor="t" bIns="0" lIns="0" spcFirstLastPara="1" rIns="0" wrap="square" tIns="0">
            <a:spAutoFit/>
          </a:bodyPr>
          <a:lstStyle/>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Raíz: símbolo inicial 𝑆</a:t>
            </a:r>
            <a:endParaRPr/>
          </a:p>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Nodos interiores: no terminales que se expanden</a:t>
            </a:r>
            <a:endParaRPr/>
          </a:p>
          <a:p>
            <a:pPr indent="-171037" lvl="1" marL="342073" marR="0" rtl="0" algn="l">
              <a:lnSpc>
                <a:spcPct val="159027"/>
              </a:lnSpc>
              <a:spcBef>
                <a:spcPts val="0"/>
              </a:spcBef>
              <a:spcAft>
                <a:spcPts val="0"/>
              </a:spcAft>
              <a:buClr>
                <a:srgbClr val="FFFFFF"/>
              </a:buClr>
              <a:buSzPts val="1584"/>
              <a:buFont typeface="Arial"/>
              <a:buChar char="•"/>
            </a:pPr>
            <a:r>
              <a:rPr b="0" i="0" lang="en-US" sz="1584" u="none" cap="none" strike="noStrike">
                <a:solidFill>
                  <a:srgbClr val="FFFFFF"/>
                </a:solidFill>
                <a:latin typeface="Arial"/>
                <a:ea typeface="Arial"/>
                <a:cs typeface="Arial"/>
                <a:sym typeface="Arial"/>
              </a:rPr>
              <a:t>Hojas: símbolos terminales o 𝜀</a:t>
            </a:r>
            <a:endParaRPr/>
          </a:p>
        </p:txBody>
      </p:sp>
      <p:sp>
        <p:nvSpPr>
          <p:cNvPr id="481" name="Google Shape;481;p27"/>
          <p:cNvSpPr txBox="1"/>
          <p:nvPr/>
        </p:nvSpPr>
        <p:spPr>
          <a:xfrm>
            <a:off x="9761151" y="2397328"/>
            <a:ext cx="4399170" cy="384098"/>
          </a:xfrm>
          <a:prstGeom prst="rect">
            <a:avLst/>
          </a:prstGeom>
          <a:noFill/>
          <a:ln>
            <a:noFill/>
          </a:ln>
        </p:spPr>
        <p:txBody>
          <a:bodyPr anchorCtr="0" anchor="t" bIns="0" lIns="0" spcFirstLastPara="1" rIns="0" wrap="square" tIns="0">
            <a:spAutoFit/>
          </a:bodyPr>
          <a:lstStyle/>
          <a:p>
            <a:pPr indent="0" lvl="0" marL="0" marR="0" rtl="0" algn="l">
              <a:lnSpc>
                <a:spcPct val="104006"/>
              </a:lnSpc>
              <a:spcBef>
                <a:spcPts val="0"/>
              </a:spcBef>
              <a:spcAft>
                <a:spcPts val="0"/>
              </a:spcAft>
              <a:buNone/>
            </a:pPr>
            <a:r>
              <a:rPr b="1" i="0" lang="en-US" sz="2496" u="none" cap="none" strike="noStrike">
                <a:solidFill>
                  <a:srgbClr val="FFFFFF"/>
                </a:solidFill>
                <a:latin typeface="Arial"/>
                <a:ea typeface="Arial"/>
                <a:cs typeface="Arial"/>
                <a:sym typeface="Arial"/>
              </a:rPr>
              <a:t>Árbol resultante</a:t>
            </a:r>
            <a:endParaRPr/>
          </a:p>
        </p:txBody>
      </p:sp>
      <p:sp>
        <p:nvSpPr>
          <p:cNvPr id="482" name="Google Shape;482;p27"/>
          <p:cNvSpPr txBox="1"/>
          <p:nvPr/>
        </p:nvSpPr>
        <p:spPr>
          <a:xfrm>
            <a:off x="2628225" y="7604066"/>
            <a:ext cx="5817198" cy="678572"/>
          </a:xfrm>
          <a:prstGeom prst="rect">
            <a:avLst/>
          </a:prstGeom>
          <a:noFill/>
          <a:ln>
            <a:noFill/>
          </a:ln>
        </p:spPr>
        <p:txBody>
          <a:bodyPr anchorCtr="0" anchor="t" bIns="0" lIns="0" spcFirstLastPara="1" rIns="0" wrap="square" tIns="0">
            <a:spAutoFit/>
          </a:bodyPr>
          <a:lstStyle/>
          <a:p>
            <a:pPr indent="0" lvl="0" marL="0" marR="0" rtl="0" algn="l">
              <a:lnSpc>
                <a:spcPct val="159026"/>
              </a:lnSpc>
              <a:spcBef>
                <a:spcPts val="0"/>
              </a:spcBef>
              <a:spcAft>
                <a:spcPts val="0"/>
              </a:spcAft>
              <a:buNone/>
            </a:pPr>
            <a:r>
              <a:rPr b="1" i="0" lang="en-US" sz="1684" u="none" cap="none" strike="noStrike">
                <a:solidFill>
                  <a:srgbClr val="FFFFFF"/>
                </a:solidFill>
                <a:latin typeface="Arial"/>
                <a:ea typeface="Arial"/>
                <a:cs typeface="Arial"/>
                <a:sym typeface="Arial"/>
              </a:rPr>
              <a:t>Del la gramática anterior con la entrada “id + id * id” se obtiene: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486" name="Shape 486"/>
        <p:cNvGrpSpPr/>
        <p:nvPr/>
      </p:nvGrpSpPr>
      <p:grpSpPr>
        <a:xfrm>
          <a:off x="0" y="0"/>
          <a:ext cx="0" cy="0"/>
          <a:chOff x="0" y="0"/>
          <a:chExt cx="0" cy="0"/>
        </a:xfrm>
      </p:grpSpPr>
      <p:sp>
        <p:nvSpPr>
          <p:cNvPr id="487" name="Google Shape;487;p28"/>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488" name="Google Shape;488;p28"/>
          <p:cNvGrpSpPr/>
          <p:nvPr/>
        </p:nvGrpSpPr>
        <p:grpSpPr>
          <a:xfrm>
            <a:off x="2054482" y="4424481"/>
            <a:ext cx="3707086" cy="2794649"/>
            <a:chOff x="0" y="0"/>
            <a:chExt cx="976352" cy="736039"/>
          </a:xfrm>
        </p:grpSpPr>
        <p:sp>
          <p:nvSpPr>
            <p:cNvPr id="489" name="Google Shape;489;p28"/>
            <p:cNvSpPr/>
            <p:nvPr/>
          </p:nvSpPr>
          <p:spPr>
            <a:xfrm>
              <a:off x="0" y="0"/>
              <a:ext cx="976352" cy="736039"/>
            </a:xfrm>
            <a:custGeom>
              <a:rect b="b" l="l" r="r" t="t"/>
              <a:pathLst>
                <a:path extrusionOk="0" h="736039" w="976352">
                  <a:moveTo>
                    <a:pt x="73094" y="0"/>
                  </a:moveTo>
                  <a:lnTo>
                    <a:pt x="903258" y="0"/>
                  </a:lnTo>
                  <a:cubicBezTo>
                    <a:pt x="943627" y="0"/>
                    <a:pt x="976352" y="32725"/>
                    <a:pt x="976352" y="73094"/>
                  </a:cubicBezTo>
                  <a:lnTo>
                    <a:pt x="976352" y="662945"/>
                  </a:lnTo>
                  <a:cubicBezTo>
                    <a:pt x="976352" y="682331"/>
                    <a:pt x="968651" y="700922"/>
                    <a:pt x="954943" y="714630"/>
                  </a:cubicBezTo>
                  <a:cubicBezTo>
                    <a:pt x="941235" y="728338"/>
                    <a:pt x="922643" y="736039"/>
                    <a:pt x="903258" y="736039"/>
                  </a:cubicBezTo>
                  <a:lnTo>
                    <a:pt x="73094" y="736039"/>
                  </a:lnTo>
                  <a:cubicBezTo>
                    <a:pt x="32725" y="736039"/>
                    <a:pt x="0" y="703314"/>
                    <a:pt x="0" y="662945"/>
                  </a:cubicBezTo>
                  <a:lnTo>
                    <a:pt x="0" y="73094"/>
                  </a:lnTo>
                  <a:cubicBezTo>
                    <a:pt x="0" y="32725"/>
                    <a:pt x="32725" y="0"/>
                    <a:pt x="73094"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8"/>
            <p:cNvSpPr txBox="1"/>
            <p:nvPr/>
          </p:nvSpPr>
          <p:spPr>
            <a:xfrm>
              <a:off x="0" y="19050"/>
              <a:ext cx="976352" cy="716989"/>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1" name="Google Shape;491;p28"/>
          <p:cNvGrpSpPr/>
          <p:nvPr/>
        </p:nvGrpSpPr>
        <p:grpSpPr>
          <a:xfrm>
            <a:off x="2054482" y="2262850"/>
            <a:ext cx="13884881" cy="1811493"/>
            <a:chOff x="0" y="0"/>
            <a:chExt cx="3656923" cy="477101"/>
          </a:xfrm>
        </p:grpSpPr>
        <p:sp>
          <p:nvSpPr>
            <p:cNvPr id="492" name="Google Shape;492;p28"/>
            <p:cNvSpPr/>
            <p:nvPr/>
          </p:nvSpPr>
          <p:spPr>
            <a:xfrm>
              <a:off x="0" y="0"/>
              <a:ext cx="3656923" cy="477101"/>
            </a:xfrm>
            <a:custGeom>
              <a:rect b="b" l="l" r="r" t="t"/>
              <a:pathLst>
                <a:path extrusionOk="0" h="477101" w="3656923">
                  <a:moveTo>
                    <a:pt x="19515" y="0"/>
                  </a:moveTo>
                  <a:lnTo>
                    <a:pt x="3637408" y="0"/>
                  </a:lnTo>
                  <a:cubicBezTo>
                    <a:pt x="3642584" y="0"/>
                    <a:pt x="3647548" y="2056"/>
                    <a:pt x="3651207" y="5716"/>
                  </a:cubicBezTo>
                  <a:cubicBezTo>
                    <a:pt x="3654867" y="9376"/>
                    <a:pt x="3656923" y="14339"/>
                    <a:pt x="3656923" y="19515"/>
                  </a:cubicBezTo>
                  <a:lnTo>
                    <a:pt x="3656923" y="457586"/>
                  </a:lnTo>
                  <a:cubicBezTo>
                    <a:pt x="3656923" y="462761"/>
                    <a:pt x="3654867" y="467725"/>
                    <a:pt x="3651207" y="471385"/>
                  </a:cubicBezTo>
                  <a:cubicBezTo>
                    <a:pt x="3647548" y="475045"/>
                    <a:pt x="3642584" y="477101"/>
                    <a:pt x="3637408" y="477101"/>
                  </a:cubicBezTo>
                  <a:lnTo>
                    <a:pt x="19515" y="477101"/>
                  </a:lnTo>
                  <a:cubicBezTo>
                    <a:pt x="14339" y="477101"/>
                    <a:pt x="9376" y="475045"/>
                    <a:pt x="5716" y="471385"/>
                  </a:cubicBezTo>
                  <a:cubicBezTo>
                    <a:pt x="2056" y="467725"/>
                    <a:pt x="0" y="462761"/>
                    <a:pt x="0" y="457586"/>
                  </a:cubicBezTo>
                  <a:lnTo>
                    <a:pt x="0" y="19515"/>
                  </a:lnTo>
                  <a:cubicBezTo>
                    <a:pt x="0" y="14339"/>
                    <a:pt x="2056" y="9376"/>
                    <a:pt x="5716" y="5716"/>
                  </a:cubicBezTo>
                  <a:cubicBezTo>
                    <a:pt x="9376" y="2056"/>
                    <a:pt x="14339" y="0"/>
                    <a:pt x="19515"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8"/>
            <p:cNvSpPr txBox="1"/>
            <p:nvPr/>
          </p:nvSpPr>
          <p:spPr>
            <a:xfrm>
              <a:off x="0" y="19050"/>
              <a:ext cx="3656923" cy="458051"/>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4" name="Google Shape;494;p28"/>
          <p:cNvGrpSpPr/>
          <p:nvPr/>
        </p:nvGrpSpPr>
        <p:grpSpPr>
          <a:xfrm>
            <a:off x="6520573" y="4424481"/>
            <a:ext cx="9418789" cy="721344"/>
            <a:chOff x="0" y="0"/>
            <a:chExt cx="2480669" cy="189984"/>
          </a:xfrm>
        </p:grpSpPr>
        <p:sp>
          <p:nvSpPr>
            <p:cNvPr id="495" name="Google Shape;495;p28"/>
            <p:cNvSpPr/>
            <p:nvPr/>
          </p:nvSpPr>
          <p:spPr>
            <a:xfrm>
              <a:off x="0" y="0"/>
              <a:ext cx="2480669" cy="189984"/>
            </a:xfrm>
            <a:custGeom>
              <a:rect b="b" l="l" r="r" t="t"/>
              <a:pathLst>
                <a:path extrusionOk="0" h="189984" w="2480669">
                  <a:moveTo>
                    <a:pt x="28769" y="0"/>
                  </a:moveTo>
                  <a:lnTo>
                    <a:pt x="2451900" y="0"/>
                  </a:lnTo>
                  <a:cubicBezTo>
                    <a:pt x="2459530" y="0"/>
                    <a:pt x="2466847" y="3031"/>
                    <a:pt x="2472243" y="8426"/>
                  </a:cubicBezTo>
                  <a:cubicBezTo>
                    <a:pt x="2477638" y="13821"/>
                    <a:pt x="2480669" y="21139"/>
                    <a:pt x="2480669" y="28769"/>
                  </a:cubicBezTo>
                  <a:lnTo>
                    <a:pt x="2480669" y="161215"/>
                  </a:lnTo>
                  <a:cubicBezTo>
                    <a:pt x="2480669" y="168845"/>
                    <a:pt x="2477638" y="176162"/>
                    <a:pt x="2472243" y="181557"/>
                  </a:cubicBezTo>
                  <a:cubicBezTo>
                    <a:pt x="2466847" y="186953"/>
                    <a:pt x="2459530" y="189984"/>
                    <a:pt x="2451900" y="189984"/>
                  </a:cubicBezTo>
                  <a:lnTo>
                    <a:pt x="28769" y="189984"/>
                  </a:lnTo>
                  <a:cubicBezTo>
                    <a:pt x="21139" y="189984"/>
                    <a:pt x="13821" y="186953"/>
                    <a:pt x="8426" y="181557"/>
                  </a:cubicBezTo>
                  <a:cubicBezTo>
                    <a:pt x="3031" y="176162"/>
                    <a:pt x="0" y="168845"/>
                    <a:pt x="0" y="161215"/>
                  </a:cubicBezTo>
                  <a:lnTo>
                    <a:pt x="0" y="28769"/>
                  </a:lnTo>
                  <a:cubicBezTo>
                    <a:pt x="0" y="21139"/>
                    <a:pt x="3031" y="13821"/>
                    <a:pt x="8426" y="8426"/>
                  </a:cubicBezTo>
                  <a:cubicBezTo>
                    <a:pt x="13821" y="3031"/>
                    <a:pt x="21139" y="0"/>
                    <a:pt x="28769"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8"/>
            <p:cNvSpPr txBox="1"/>
            <p:nvPr/>
          </p:nvSpPr>
          <p:spPr>
            <a:xfrm>
              <a:off x="0" y="19050"/>
              <a:ext cx="2480669" cy="170934"/>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7" name="Google Shape;497;p28"/>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09</a:t>
            </a:r>
            <a:endParaRPr/>
          </a:p>
        </p:txBody>
      </p:sp>
      <p:sp>
        <p:nvSpPr>
          <p:cNvPr id="498" name="Google Shape;498;p28"/>
          <p:cNvSpPr txBox="1"/>
          <p:nvPr/>
        </p:nvSpPr>
        <p:spPr>
          <a:xfrm>
            <a:off x="2583650" y="2401421"/>
            <a:ext cx="12183601" cy="1588071"/>
          </a:xfrm>
          <a:prstGeom prst="rect">
            <a:avLst/>
          </a:prstGeom>
          <a:noFill/>
          <a:ln>
            <a:noFill/>
          </a:ln>
        </p:spPr>
        <p:txBody>
          <a:bodyPr anchorCtr="0" anchor="t" bIns="0" lIns="0" spcFirstLastPara="1" rIns="0" wrap="square" tIns="0">
            <a:spAutoFit/>
          </a:bodyPr>
          <a:lstStyle/>
          <a:p>
            <a:pPr indent="0" lvl="0" marL="0" marR="0" rtl="0" algn="l">
              <a:lnSpc>
                <a:spcPct val="104002"/>
              </a:lnSpc>
              <a:spcBef>
                <a:spcPts val="0"/>
              </a:spcBef>
              <a:spcAft>
                <a:spcPts val="0"/>
              </a:spcAft>
              <a:buNone/>
            </a:pPr>
            <a:r>
              <a:rPr b="1" i="0" lang="en-US" sz="5496" u="none" cap="none" strike="noStrike">
                <a:solidFill>
                  <a:srgbClr val="FFFFFF"/>
                </a:solidFill>
                <a:latin typeface="Arial"/>
                <a:ea typeface="Arial"/>
                <a:cs typeface="Arial"/>
                <a:sym typeface="Arial"/>
              </a:rPr>
              <a:t>Práctica: Gramáticas y árboles de derivación</a:t>
            </a:r>
            <a:endParaRPr/>
          </a:p>
        </p:txBody>
      </p:sp>
      <p:sp>
        <p:nvSpPr>
          <p:cNvPr id="499" name="Google Shape;499;p28"/>
          <p:cNvSpPr txBox="1"/>
          <p:nvPr/>
        </p:nvSpPr>
        <p:spPr>
          <a:xfrm>
            <a:off x="2320173" y="4714507"/>
            <a:ext cx="2104383" cy="431318"/>
          </a:xfrm>
          <a:prstGeom prst="rect">
            <a:avLst/>
          </a:prstGeom>
          <a:noFill/>
          <a:ln>
            <a:noFill/>
          </a:ln>
        </p:spPr>
        <p:txBody>
          <a:bodyPr anchorCtr="0" anchor="t" bIns="0" lIns="0" spcFirstLastPara="1" rIns="0" wrap="square" tIns="0">
            <a:spAutoFit/>
          </a:bodyPr>
          <a:lstStyle/>
          <a:p>
            <a:pPr indent="0" lvl="0" marL="0" marR="0" rtl="0" algn="l">
              <a:lnSpc>
                <a:spcPct val="103988"/>
              </a:lnSpc>
              <a:spcBef>
                <a:spcPts val="0"/>
              </a:spcBef>
              <a:spcAft>
                <a:spcPts val="0"/>
              </a:spcAft>
              <a:buNone/>
            </a:pPr>
            <a:r>
              <a:rPr b="1" i="0" lang="en-US" sz="2708" u="none" cap="none" strike="noStrike">
                <a:solidFill>
                  <a:srgbClr val="FFFFFF"/>
                </a:solidFill>
                <a:latin typeface="Arial"/>
                <a:ea typeface="Arial"/>
                <a:cs typeface="Arial"/>
                <a:sym typeface="Arial"/>
              </a:rPr>
              <a:t>Competencia</a:t>
            </a:r>
            <a:endParaRPr/>
          </a:p>
        </p:txBody>
      </p:sp>
      <p:sp>
        <p:nvSpPr>
          <p:cNvPr id="500" name="Google Shape;500;p28"/>
          <p:cNvSpPr txBox="1"/>
          <p:nvPr/>
        </p:nvSpPr>
        <p:spPr>
          <a:xfrm>
            <a:off x="2320173" y="5275407"/>
            <a:ext cx="3158096" cy="1205197"/>
          </a:xfrm>
          <a:prstGeom prst="rect">
            <a:avLst/>
          </a:prstGeom>
          <a:noFill/>
          <a:ln>
            <a:noFill/>
          </a:ln>
        </p:spPr>
        <p:txBody>
          <a:bodyPr anchorCtr="0" anchor="t" bIns="0" lIns="0" spcFirstLastPara="1" rIns="0" wrap="square" tIns="0">
            <a:spAutoFit/>
          </a:bodyPr>
          <a:lstStyle/>
          <a:p>
            <a:pPr indent="0" lvl="0" marL="0" marR="0" rtl="0" algn="l">
              <a:lnSpc>
                <a:spcPct val="139976"/>
              </a:lnSpc>
              <a:spcBef>
                <a:spcPts val="0"/>
              </a:spcBef>
              <a:spcAft>
                <a:spcPts val="0"/>
              </a:spcAft>
              <a:buNone/>
            </a:pPr>
            <a:r>
              <a:rPr b="0" i="0" lang="en-US" sz="1676" u="none" cap="none" strike="noStrike">
                <a:solidFill>
                  <a:srgbClr val="FFFFFF"/>
                </a:solidFill>
                <a:latin typeface="Arial"/>
                <a:ea typeface="Arial"/>
                <a:cs typeface="Arial"/>
                <a:sym typeface="Arial"/>
              </a:rPr>
              <a:t>El estudiante definirá gramáticas libres de contexto y construirá sus árboles de derivación de forma clara y precisa.</a:t>
            </a:r>
            <a:endParaRPr/>
          </a:p>
        </p:txBody>
      </p:sp>
      <p:sp>
        <p:nvSpPr>
          <p:cNvPr id="501" name="Google Shape;501;p28"/>
          <p:cNvSpPr txBox="1"/>
          <p:nvPr/>
        </p:nvSpPr>
        <p:spPr>
          <a:xfrm>
            <a:off x="6784051" y="4583515"/>
            <a:ext cx="5668591" cy="394938"/>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1" i="0" lang="en-US" sz="2076" u="none" cap="none" strike="noStrike">
                <a:solidFill>
                  <a:srgbClr val="FFFFFF"/>
                </a:solidFill>
                <a:latin typeface="Arial"/>
                <a:ea typeface="Arial"/>
                <a:cs typeface="Arial"/>
                <a:sym typeface="Arial"/>
              </a:rPr>
              <a:t>Instrucciones</a:t>
            </a:r>
            <a:endParaRPr/>
          </a:p>
        </p:txBody>
      </p:sp>
      <p:grpSp>
        <p:nvGrpSpPr>
          <p:cNvPr id="502" name="Google Shape;502;p28"/>
          <p:cNvGrpSpPr/>
          <p:nvPr/>
        </p:nvGrpSpPr>
        <p:grpSpPr>
          <a:xfrm>
            <a:off x="6520573" y="5498251"/>
            <a:ext cx="9418789" cy="3296220"/>
            <a:chOff x="0" y="0"/>
            <a:chExt cx="2480669" cy="868140"/>
          </a:xfrm>
        </p:grpSpPr>
        <p:sp>
          <p:nvSpPr>
            <p:cNvPr id="503" name="Google Shape;503;p28"/>
            <p:cNvSpPr/>
            <p:nvPr/>
          </p:nvSpPr>
          <p:spPr>
            <a:xfrm>
              <a:off x="0" y="0"/>
              <a:ext cx="2480669" cy="868140"/>
            </a:xfrm>
            <a:custGeom>
              <a:rect b="b" l="l" r="r" t="t"/>
              <a:pathLst>
                <a:path extrusionOk="0" h="868140" w="2480669">
                  <a:moveTo>
                    <a:pt x="28769" y="0"/>
                  </a:moveTo>
                  <a:lnTo>
                    <a:pt x="2451900" y="0"/>
                  </a:lnTo>
                  <a:cubicBezTo>
                    <a:pt x="2459530" y="0"/>
                    <a:pt x="2466847" y="3031"/>
                    <a:pt x="2472243" y="8426"/>
                  </a:cubicBezTo>
                  <a:cubicBezTo>
                    <a:pt x="2477638" y="13821"/>
                    <a:pt x="2480669" y="21139"/>
                    <a:pt x="2480669" y="28769"/>
                  </a:cubicBezTo>
                  <a:lnTo>
                    <a:pt x="2480669" y="839371"/>
                  </a:lnTo>
                  <a:cubicBezTo>
                    <a:pt x="2480669" y="847001"/>
                    <a:pt x="2477638" y="854319"/>
                    <a:pt x="2472243" y="859714"/>
                  </a:cubicBezTo>
                  <a:cubicBezTo>
                    <a:pt x="2466847" y="865109"/>
                    <a:pt x="2459530" y="868140"/>
                    <a:pt x="2451900" y="868140"/>
                  </a:cubicBezTo>
                  <a:lnTo>
                    <a:pt x="28769" y="868140"/>
                  </a:lnTo>
                  <a:cubicBezTo>
                    <a:pt x="21139" y="868140"/>
                    <a:pt x="13821" y="865109"/>
                    <a:pt x="8426" y="859714"/>
                  </a:cubicBezTo>
                  <a:cubicBezTo>
                    <a:pt x="3031" y="854319"/>
                    <a:pt x="0" y="847001"/>
                    <a:pt x="0" y="839371"/>
                  </a:cubicBezTo>
                  <a:lnTo>
                    <a:pt x="0" y="28769"/>
                  </a:lnTo>
                  <a:cubicBezTo>
                    <a:pt x="0" y="21139"/>
                    <a:pt x="3031" y="13821"/>
                    <a:pt x="8426" y="8426"/>
                  </a:cubicBezTo>
                  <a:cubicBezTo>
                    <a:pt x="13821" y="3031"/>
                    <a:pt x="21139" y="0"/>
                    <a:pt x="28769"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8"/>
            <p:cNvSpPr txBox="1"/>
            <p:nvPr/>
          </p:nvSpPr>
          <p:spPr>
            <a:xfrm>
              <a:off x="0" y="19050"/>
              <a:ext cx="2480669" cy="849090"/>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5" name="Google Shape;505;p28"/>
          <p:cNvSpPr txBox="1"/>
          <p:nvPr/>
        </p:nvSpPr>
        <p:spPr>
          <a:xfrm>
            <a:off x="6784051" y="5773607"/>
            <a:ext cx="8847891" cy="2731102"/>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1" i="0" lang="en-US" sz="2076" u="none" cap="none" strike="noStrike">
                <a:solidFill>
                  <a:srgbClr val="FFFFFF"/>
                </a:solidFill>
                <a:latin typeface="Arial"/>
                <a:ea typeface="Arial"/>
                <a:cs typeface="Arial"/>
                <a:sym typeface="Arial"/>
              </a:rPr>
              <a:t>1. Expresiones aritméticas</a:t>
            </a:r>
            <a:endParaRPr/>
          </a:p>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Expresiones formadas por identificadores </a:t>
            </a:r>
            <a:r>
              <a:rPr b="1" i="0" lang="en-US" sz="1876" u="sng" cap="none" strike="noStrike">
                <a:solidFill>
                  <a:srgbClr val="FFFFFF"/>
                </a:solidFill>
                <a:latin typeface="Arial"/>
                <a:ea typeface="Arial"/>
                <a:cs typeface="Arial"/>
                <a:sym typeface="Arial"/>
              </a:rPr>
              <a:t>(id)</a:t>
            </a:r>
            <a:r>
              <a:rPr b="0" i="0" lang="en-US" sz="1876" u="none" cap="none" strike="noStrike">
                <a:solidFill>
                  <a:srgbClr val="FFFFFF"/>
                </a:solidFill>
                <a:latin typeface="Arial"/>
                <a:ea typeface="Arial"/>
                <a:cs typeface="Arial"/>
                <a:sym typeface="Arial"/>
              </a:rPr>
              <a:t>, operadores</a:t>
            </a:r>
            <a:r>
              <a:rPr b="0" i="0" lang="en-US" sz="1876" u="sng" cap="none" strike="noStrike">
                <a:solidFill>
                  <a:srgbClr val="FFFFFF"/>
                </a:solidFill>
                <a:latin typeface="Arial"/>
                <a:ea typeface="Arial"/>
                <a:cs typeface="Arial"/>
                <a:sym typeface="Arial"/>
              </a:rPr>
              <a:t> </a:t>
            </a:r>
            <a:r>
              <a:rPr b="1" i="0" lang="en-US" sz="1876" u="sng" cap="none" strike="noStrike">
                <a:solidFill>
                  <a:srgbClr val="FFFFFF"/>
                </a:solidFill>
                <a:latin typeface="Arial"/>
                <a:ea typeface="Arial"/>
                <a:cs typeface="Arial"/>
                <a:sym typeface="Arial"/>
              </a:rPr>
              <a:t>+</a:t>
            </a:r>
            <a:r>
              <a:rPr b="0" i="0" lang="en-US" sz="1876" u="none" cap="none" strike="noStrike">
                <a:solidFill>
                  <a:srgbClr val="FFFFFF"/>
                </a:solidFill>
                <a:latin typeface="Arial"/>
                <a:ea typeface="Arial"/>
                <a:cs typeface="Arial"/>
                <a:sym typeface="Arial"/>
              </a:rPr>
              <a:t> , </a:t>
            </a:r>
            <a:r>
              <a:rPr b="1" i="0" lang="en-US" sz="1876" u="sng" cap="none" strike="noStrike">
                <a:solidFill>
                  <a:srgbClr val="FFFFFF"/>
                </a:solidFill>
                <a:latin typeface="Arial"/>
                <a:ea typeface="Arial"/>
                <a:cs typeface="Arial"/>
                <a:sym typeface="Arial"/>
              </a:rPr>
              <a:t>*</a:t>
            </a:r>
            <a:r>
              <a:rPr b="0" i="0" lang="en-US" sz="1876" u="none" cap="none" strike="noStrike">
                <a:solidFill>
                  <a:srgbClr val="FFFFFF"/>
                </a:solidFill>
                <a:latin typeface="Arial"/>
                <a:ea typeface="Arial"/>
                <a:cs typeface="Arial"/>
                <a:sym typeface="Arial"/>
              </a:rPr>
              <a:t> y </a:t>
            </a:r>
            <a:r>
              <a:rPr b="1" i="0" lang="en-US" sz="1876" u="sng" cap="none" strike="noStrike">
                <a:solidFill>
                  <a:srgbClr val="FFFFFF"/>
                </a:solidFill>
                <a:latin typeface="Arial"/>
                <a:ea typeface="Arial"/>
                <a:cs typeface="Arial"/>
                <a:sym typeface="Arial"/>
              </a:rPr>
              <a:t>paréntesis</a:t>
            </a:r>
            <a:r>
              <a:rPr b="0" i="0" lang="en-US" sz="1876" u="none" cap="none" strike="noStrike">
                <a:solidFill>
                  <a:srgbClr val="FFFFFF"/>
                </a:solidFill>
                <a:latin typeface="Arial"/>
                <a:ea typeface="Arial"/>
                <a:cs typeface="Arial"/>
                <a:sym typeface="Arial"/>
              </a:rPr>
              <a:t>.</a:t>
            </a:r>
            <a:endParaRPr/>
          </a:p>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Cadena de ejemplo: id + id * id</a:t>
            </a:r>
            <a:endParaRPr/>
          </a:p>
          <a:p>
            <a:pPr indent="0" lvl="0" marL="0" marR="0" rtl="0" algn="l">
              <a:lnSpc>
                <a:spcPct val="139978"/>
              </a:lnSpc>
              <a:spcBef>
                <a:spcPts val="0"/>
              </a:spcBef>
              <a:spcAft>
                <a:spcPts val="0"/>
              </a:spcAft>
              <a:buNone/>
            </a:pPr>
            <a:r>
              <a:rPr b="1" i="0" lang="en-US" sz="1876" u="none" cap="none" strike="noStrike">
                <a:solidFill>
                  <a:srgbClr val="FFFFFF"/>
                </a:solidFill>
                <a:latin typeface="Arial"/>
                <a:ea typeface="Arial"/>
                <a:cs typeface="Arial"/>
                <a:sym typeface="Arial"/>
              </a:rPr>
              <a:t>Tareas:</a:t>
            </a:r>
            <a:endParaRPr/>
          </a:p>
          <a:p>
            <a:pPr indent="-202545" lvl="1" marL="40508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Definir dos gramáticas libres de contexto:</a:t>
            </a:r>
            <a:endParaRPr/>
          </a:p>
          <a:p>
            <a:pPr indent="-270060" lvl="2" marL="81017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Una  de tipo LL.</a:t>
            </a:r>
            <a:endParaRPr/>
          </a:p>
          <a:p>
            <a:pPr indent="-270060" lvl="2" marL="81017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Otra de tipo LR.</a:t>
            </a:r>
            <a:endParaRPr/>
          </a:p>
          <a:p>
            <a:pPr indent="-202545" lvl="1" marL="40508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Construir y dibujar el árbol de derivación de la cadena de ejemplo.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509" name="Shape 509"/>
        <p:cNvGrpSpPr/>
        <p:nvPr/>
      </p:nvGrpSpPr>
      <p:grpSpPr>
        <a:xfrm>
          <a:off x="0" y="0"/>
          <a:ext cx="0" cy="0"/>
          <a:chOff x="0" y="0"/>
          <a:chExt cx="0" cy="0"/>
        </a:xfrm>
      </p:grpSpPr>
      <p:sp>
        <p:nvSpPr>
          <p:cNvPr id="510" name="Google Shape;510;p29"/>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511" name="Google Shape;511;p29"/>
          <p:cNvGrpSpPr/>
          <p:nvPr/>
        </p:nvGrpSpPr>
        <p:grpSpPr>
          <a:xfrm>
            <a:off x="2054482" y="2262850"/>
            <a:ext cx="13884881" cy="1811493"/>
            <a:chOff x="0" y="0"/>
            <a:chExt cx="3656923" cy="477101"/>
          </a:xfrm>
        </p:grpSpPr>
        <p:sp>
          <p:nvSpPr>
            <p:cNvPr id="512" name="Google Shape;512;p29"/>
            <p:cNvSpPr/>
            <p:nvPr/>
          </p:nvSpPr>
          <p:spPr>
            <a:xfrm>
              <a:off x="0" y="0"/>
              <a:ext cx="3656923" cy="477101"/>
            </a:xfrm>
            <a:custGeom>
              <a:rect b="b" l="l" r="r" t="t"/>
              <a:pathLst>
                <a:path extrusionOk="0" h="477101" w="3656923">
                  <a:moveTo>
                    <a:pt x="19515" y="0"/>
                  </a:moveTo>
                  <a:lnTo>
                    <a:pt x="3637408" y="0"/>
                  </a:lnTo>
                  <a:cubicBezTo>
                    <a:pt x="3642584" y="0"/>
                    <a:pt x="3647548" y="2056"/>
                    <a:pt x="3651207" y="5716"/>
                  </a:cubicBezTo>
                  <a:cubicBezTo>
                    <a:pt x="3654867" y="9376"/>
                    <a:pt x="3656923" y="14339"/>
                    <a:pt x="3656923" y="19515"/>
                  </a:cubicBezTo>
                  <a:lnTo>
                    <a:pt x="3656923" y="457586"/>
                  </a:lnTo>
                  <a:cubicBezTo>
                    <a:pt x="3656923" y="462761"/>
                    <a:pt x="3654867" y="467725"/>
                    <a:pt x="3651207" y="471385"/>
                  </a:cubicBezTo>
                  <a:cubicBezTo>
                    <a:pt x="3647548" y="475045"/>
                    <a:pt x="3642584" y="477101"/>
                    <a:pt x="3637408" y="477101"/>
                  </a:cubicBezTo>
                  <a:lnTo>
                    <a:pt x="19515" y="477101"/>
                  </a:lnTo>
                  <a:cubicBezTo>
                    <a:pt x="14339" y="477101"/>
                    <a:pt x="9376" y="475045"/>
                    <a:pt x="5716" y="471385"/>
                  </a:cubicBezTo>
                  <a:cubicBezTo>
                    <a:pt x="2056" y="467725"/>
                    <a:pt x="0" y="462761"/>
                    <a:pt x="0" y="457586"/>
                  </a:cubicBezTo>
                  <a:lnTo>
                    <a:pt x="0" y="19515"/>
                  </a:lnTo>
                  <a:cubicBezTo>
                    <a:pt x="0" y="14339"/>
                    <a:pt x="2056" y="9376"/>
                    <a:pt x="5716" y="5716"/>
                  </a:cubicBezTo>
                  <a:cubicBezTo>
                    <a:pt x="9376" y="2056"/>
                    <a:pt x="14339" y="0"/>
                    <a:pt x="19515" y="0"/>
                  </a:cubicBezTo>
                  <a:close/>
                </a:path>
              </a:pathLst>
            </a:custGeom>
            <a:gradFill>
              <a:gsLst>
                <a:gs pos="0">
                  <a:srgbClr val="0C4A5B"/>
                </a:gs>
                <a:gs pos="100000">
                  <a:srgbClr val="27DDDF"/>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9"/>
            <p:cNvSpPr txBox="1"/>
            <p:nvPr/>
          </p:nvSpPr>
          <p:spPr>
            <a:xfrm>
              <a:off x="0" y="19050"/>
              <a:ext cx="3656923" cy="458051"/>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4" name="Google Shape;514;p29"/>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10</a:t>
            </a:r>
            <a:endParaRPr/>
          </a:p>
        </p:txBody>
      </p:sp>
      <p:sp>
        <p:nvSpPr>
          <p:cNvPr id="515" name="Google Shape;515;p29"/>
          <p:cNvSpPr txBox="1"/>
          <p:nvPr/>
        </p:nvSpPr>
        <p:spPr>
          <a:xfrm>
            <a:off x="2583650" y="2401421"/>
            <a:ext cx="12183601" cy="1588071"/>
          </a:xfrm>
          <a:prstGeom prst="rect">
            <a:avLst/>
          </a:prstGeom>
          <a:noFill/>
          <a:ln>
            <a:noFill/>
          </a:ln>
        </p:spPr>
        <p:txBody>
          <a:bodyPr anchorCtr="0" anchor="t" bIns="0" lIns="0" spcFirstLastPara="1" rIns="0" wrap="square" tIns="0">
            <a:spAutoFit/>
          </a:bodyPr>
          <a:lstStyle/>
          <a:p>
            <a:pPr indent="0" lvl="0" marL="0" marR="0" rtl="0" algn="l">
              <a:lnSpc>
                <a:spcPct val="104002"/>
              </a:lnSpc>
              <a:spcBef>
                <a:spcPts val="0"/>
              </a:spcBef>
              <a:spcAft>
                <a:spcPts val="0"/>
              </a:spcAft>
              <a:buNone/>
            </a:pPr>
            <a:r>
              <a:rPr b="1" i="0" lang="en-US" sz="5496" u="none" cap="none" strike="noStrike">
                <a:solidFill>
                  <a:srgbClr val="FFFFFF"/>
                </a:solidFill>
                <a:latin typeface="Arial"/>
                <a:ea typeface="Arial"/>
                <a:cs typeface="Arial"/>
                <a:sym typeface="Arial"/>
              </a:rPr>
              <a:t>Práctica: Gramáticas y árboles de derivación</a:t>
            </a:r>
            <a:endParaRPr/>
          </a:p>
        </p:txBody>
      </p:sp>
      <p:grpSp>
        <p:nvGrpSpPr>
          <p:cNvPr id="516" name="Google Shape;516;p29"/>
          <p:cNvGrpSpPr/>
          <p:nvPr/>
        </p:nvGrpSpPr>
        <p:grpSpPr>
          <a:xfrm>
            <a:off x="2054482" y="4797991"/>
            <a:ext cx="6801576" cy="4017295"/>
            <a:chOff x="0" y="0"/>
            <a:chExt cx="1791362" cy="1058053"/>
          </a:xfrm>
        </p:grpSpPr>
        <p:sp>
          <p:nvSpPr>
            <p:cNvPr id="517" name="Google Shape;517;p29"/>
            <p:cNvSpPr/>
            <p:nvPr/>
          </p:nvSpPr>
          <p:spPr>
            <a:xfrm>
              <a:off x="0" y="0"/>
              <a:ext cx="1791362" cy="1058053"/>
            </a:xfrm>
            <a:custGeom>
              <a:rect b="b" l="l" r="r" t="t"/>
              <a:pathLst>
                <a:path extrusionOk="0" h="1058053" w="1791362">
                  <a:moveTo>
                    <a:pt x="39839" y="0"/>
                  </a:moveTo>
                  <a:lnTo>
                    <a:pt x="1751523" y="0"/>
                  </a:lnTo>
                  <a:cubicBezTo>
                    <a:pt x="1762089" y="0"/>
                    <a:pt x="1772222" y="4197"/>
                    <a:pt x="1779693" y="11669"/>
                  </a:cubicBezTo>
                  <a:cubicBezTo>
                    <a:pt x="1787164" y="19140"/>
                    <a:pt x="1791362" y="29273"/>
                    <a:pt x="1791362" y="39839"/>
                  </a:cubicBezTo>
                  <a:lnTo>
                    <a:pt x="1791362" y="1018214"/>
                  </a:lnTo>
                  <a:cubicBezTo>
                    <a:pt x="1791362" y="1028780"/>
                    <a:pt x="1787164" y="1038913"/>
                    <a:pt x="1779693" y="1046384"/>
                  </a:cubicBezTo>
                  <a:cubicBezTo>
                    <a:pt x="1772222" y="1053856"/>
                    <a:pt x="1762089" y="1058053"/>
                    <a:pt x="1751523" y="1058053"/>
                  </a:cubicBezTo>
                  <a:lnTo>
                    <a:pt x="39839" y="1058053"/>
                  </a:lnTo>
                  <a:cubicBezTo>
                    <a:pt x="17836" y="1058053"/>
                    <a:pt x="0" y="1040216"/>
                    <a:pt x="0" y="1018214"/>
                  </a:cubicBezTo>
                  <a:lnTo>
                    <a:pt x="0" y="39839"/>
                  </a:lnTo>
                  <a:cubicBezTo>
                    <a:pt x="0" y="29273"/>
                    <a:pt x="4197" y="19140"/>
                    <a:pt x="11669" y="11669"/>
                  </a:cubicBezTo>
                  <a:cubicBezTo>
                    <a:pt x="19140" y="4197"/>
                    <a:pt x="29273" y="0"/>
                    <a:pt x="39839"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9"/>
            <p:cNvSpPr txBox="1"/>
            <p:nvPr/>
          </p:nvSpPr>
          <p:spPr>
            <a:xfrm>
              <a:off x="0" y="19050"/>
              <a:ext cx="1791362" cy="1039003"/>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9" name="Google Shape;519;p29"/>
          <p:cNvSpPr txBox="1"/>
          <p:nvPr/>
        </p:nvSpPr>
        <p:spPr>
          <a:xfrm>
            <a:off x="2317960" y="5073347"/>
            <a:ext cx="6357491" cy="3397852"/>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1" i="0" lang="en-US" sz="2076" u="none" cap="none" strike="noStrike">
                <a:solidFill>
                  <a:srgbClr val="FFFFFF"/>
                </a:solidFill>
                <a:latin typeface="Arial"/>
                <a:ea typeface="Arial"/>
                <a:cs typeface="Arial"/>
                <a:sym typeface="Arial"/>
              </a:rPr>
              <a:t>2. Sentencia condicional simple</a:t>
            </a:r>
            <a:endParaRPr/>
          </a:p>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Sentencias de la forma: </a:t>
            </a:r>
            <a:r>
              <a:rPr b="1" i="0" lang="en-US" sz="1876" u="none" cap="none" strike="noStrike">
                <a:solidFill>
                  <a:srgbClr val="FFFFFF"/>
                </a:solidFill>
                <a:latin typeface="Arial"/>
                <a:ea typeface="Arial"/>
                <a:cs typeface="Arial"/>
                <a:sym typeface="Arial"/>
              </a:rPr>
              <a:t>if ( C ) S else other, </a:t>
            </a:r>
            <a:r>
              <a:rPr b="0" i="0" lang="en-US" sz="1876" u="none" cap="none" strike="noStrike">
                <a:solidFill>
                  <a:srgbClr val="FFFFFF"/>
                </a:solidFill>
                <a:latin typeface="Arial"/>
                <a:ea typeface="Arial"/>
                <a:cs typeface="Arial"/>
                <a:sym typeface="Arial"/>
              </a:rPr>
              <a:t>donde C y other son símbolos atómicos.</a:t>
            </a:r>
            <a:endParaRPr/>
          </a:p>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Cadena de ejemplo: if (c) if (d) other else other</a:t>
            </a:r>
            <a:endParaRPr/>
          </a:p>
          <a:p>
            <a:pPr indent="0" lvl="0" marL="0" marR="0" rtl="0" algn="l">
              <a:lnSpc>
                <a:spcPct val="139978"/>
              </a:lnSpc>
              <a:spcBef>
                <a:spcPts val="0"/>
              </a:spcBef>
              <a:spcAft>
                <a:spcPts val="0"/>
              </a:spcAft>
              <a:buNone/>
            </a:pPr>
            <a:r>
              <a:rPr b="1" i="0" lang="en-US" sz="1876" u="none" cap="none" strike="noStrike">
                <a:solidFill>
                  <a:srgbClr val="FFFFFF"/>
                </a:solidFill>
                <a:latin typeface="Arial"/>
                <a:ea typeface="Arial"/>
                <a:cs typeface="Arial"/>
                <a:sym typeface="Arial"/>
              </a:rPr>
              <a:t>Tareas</a:t>
            </a:r>
            <a:r>
              <a:rPr b="0" i="0" lang="en-US" sz="1876" u="none" cap="none" strike="noStrike">
                <a:solidFill>
                  <a:srgbClr val="FFFFFF"/>
                </a:solidFill>
                <a:latin typeface="Arial"/>
                <a:ea typeface="Arial"/>
                <a:cs typeface="Arial"/>
                <a:sym typeface="Arial"/>
              </a:rPr>
              <a:t>:</a:t>
            </a:r>
            <a:endParaRPr/>
          </a:p>
          <a:p>
            <a:pPr indent="-202545" lvl="1" marL="40508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Definir dos gramáticas libres de contexto:</a:t>
            </a:r>
            <a:endParaRPr/>
          </a:p>
          <a:p>
            <a:pPr indent="-270060" lvl="2" marL="81017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Una ambigua (dangling‐else).</a:t>
            </a:r>
            <a:endParaRPr/>
          </a:p>
          <a:p>
            <a:pPr indent="-270060" lvl="2" marL="81017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Otra no ambigua.</a:t>
            </a:r>
            <a:endParaRPr/>
          </a:p>
          <a:p>
            <a:pPr indent="-202545" lvl="1" marL="40508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Construir y dibujar el árbol de derivación de la cadena de ejemplo.</a:t>
            </a:r>
            <a:endParaRPr/>
          </a:p>
        </p:txBody>
      </p:sp>
      <p:grpSp>
        <p:nvGrpSpPr>
          <p:cNvPr id="520" name="Google Shape;520;p29"/>
          <p:cNvGrpSpPr/>
          <p:nvPr/>
        </p:nvGrpSpPr>
        <p:grpSpPr>
          <a:xfrm>
            <a:off x="9137787" y="4797991"/>
            <a:ext cx="6801576" cy="4017295"/>
            <a:chOff x="0" y="0"/>
            <a:chExt cx="1791362" cy="1058053"/>
          </a:xfrm>
        </p:grpSpPr>
        <p:sp>
          <p:nvSpPr>
            <p:cNvPr id="521" name="Google Shape;521;p29"/>
            <p:cNvSpPr/>
            <p:nvPr/>
          </p:nvSpPr>
          <p:spPr>
            <a:xfrm>
              <a:off x="0" y="0"/>
              <a:ext cx="1791362" cy="1058053"/>
            </a:xfrm>
            <a:custGeom>
              <a:rect b="b" l="l" r="r" t="t"/>
              <a:pathLst>
                <a:path extrusionOk="0" h="1058053" w="1791362">
                  <a:moveTo>
                    <a:pt x="39839" y="0"/>
                  </a:moveTo>
                  <a:lnTo>
                    <a:pt x="1751523" y="0"/>
                  </a:lnTo>
                  <a:cubicBezTo>
                    <a:pt x="1762089" y="0"/>
                    <a:pt x="1772222" y="4197"/>
                    <a:pt x="1779693" y="11669"/>
                  </a:cubicBezTo>
                  <a:cubicBezTo>
                    <a:pt x="1787164" y="19140"/>
                    <a:pt x="1791362" y="29273"/>
                    <a:pt x="1791362" y="39839"/>
                  </a:cubicBezTo>
                  <a:lnTo>
                    <a:pt x="1791362" y="1018214"/>
                  </a:lnTo>
                  <a:cubicBezTo>
                    <a:pt x="1791362" y="1028780"/>
                    <a:pt x="1787164" y="1038913"/>
                    <a:pt x="1779693" y="1046384"/>
                  </a:cubicBezTo>
                  <a:cubicBezTo>
                    <a:pt x="1772222" y="1053856"/>
                    <a:pt x="1762089" y="1058053"/>
                    <a:pt x="1751523" y="1058053"/>
                  </a:cubicBezTo>
                  <a:lnTo>
                    <a:pt x="39839" y="1058053"/>
                  </a:lnTo>
                  <a:cubicBezTo>
                    <a:pt x="17836" y="1058053"/>
                    <a:pt x="0" y="1040216"/>
                    <a:pt x="0" y="1018214"/>
                  </a:cubicBezTo>
                  <a:lnTo>
                    <a:pt x="0" y="39839"/>
                  </a:lnTo>
                  <a:cubicBezTo>
                    <a:pt x="0" y="29273"/>
                    <a:pt x="4197" y="19140"/>
                    <a:pt x="11669" y="11669"/>
                  </a:cubicBezTo>
                  <a:cubicBezTo>
                    <a:pt x="19140" y="4197"/>
                    <a:pt x="29273" y="0"/>
                    <a:pt x="39839" y="0"/>
                  </a:cubicBezTo>
                  <a:close/>
                </a:path>
              </a:pathLst>
            </a:custGeom>
            <a:solidFill>
              <a:srgbClr val="202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9"/>
            <p:cNvSpPr txBox="1"/>
            <p:nvPr/>
          </p:nvSpPr>
          <p:spPr>
            <a:xfrm>
              <a:off x="0" y="19050"/>
              <a:ext cx="1791362" cy="1039003"/>
            </a:xfrm>
            <a:prstGeom prst="rect">
              <a:avLst/>
            </a:prstGeom>
            <a:noFill/>
            <a:ln>
              <a:noFill/>
            </a:ln>
          </p:spPr>
          <p:txBody>
            <a:bodyPr anchorCtr="0" anchor="ctr" bIns="50800" lIns="50800" spcFirstLastPara="1" rIns="50800" wrap="square" tIns="50800">
              <a:noAutofit/>
            </a:bodyPr>
            <a:lstStyle/>
            <a:p>
              <a:pPr indent="0" lvl="0" marL="0" marR="0" rtl="0" algn="l">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3" name="Google Shape;523;p29"/>
          <p:cNvSpPr txBox="1"/>
          <p:nvPr/>
        </p:nvSpPr>
        <p:spPr>
          <a:xfrm>
            <a:off x="9373480" y="5073347"/>
            <a:ext cx="6265808" cy="3397852"/>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1" i="0" lang="en-US" sz="2076" u="none" cap="none" strike="noStrike">
                <a:solidFill>
                  <a:srgbClr val="FFFFFF"/>
                </a:solidFill>
                <a:latin typeface="Arial"/>
                <a:ea typeface="Arial"/>
                <a:cs typeface="Arial"/>
                <a:sym typeface="Arial"/>
              </a:rPr>
              <a:t>3. Secuencias de asignaciones</a:t>
            </a:r>
            <a:endParaRPr/>
          </a:p>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Secuencias de asignaciones simples (id = id) separadas por punto y coma.</a:t>
            </a:r>
            <a:endParaRPr/>
          </a:p>
          <a:p>
            <a:pPr indent="0" lvl="0" marL="0" marR="0" rtl="0" algn="l">
              <a:lnSpc>
                <a:spcPct val="139978"/>
              </a:lnSpc>
              <a:spcBef>
                <a:spcPts val="0"/>
              </a:spcBef>
              <a:spcAft>
                <a:spcPts val="0"/>
              </a:spcAft>
              <a:buNone/>
            </a:pPr>
            <a:r>
              <a:rPr b="0" i="0" lang="en-US" sz="1876" u="none" cap="none" strike="noStrike">
                <a:solidFill>
                  <a:srgbClr val="FFFFFF"/>
                </a:solidFill>
                <a:latin typeface="Arial"/>
                <a:ea typeface="Arial"/>
                <a:cs typeface="Arial"/>
                <a:sym typeface="Arial"/>
              </a:rPr>
              <a:t>Cadena de ejemplo: id = id ; id = id</a:t>
            </a:r>
            <a:endParaRPr/>
          </a:p>
          <a:p>
            <a:pPr indent="0" lvl="0" marL="0" marR="0" rtl="0" algn="l">
              <a:lnSpc>
                <a:spcPct val="139978"/>
              </a:lnSpc>
              <a:spcBef>
                <a:spcPts val="0"/>
              </a:spcBef>
              <a:spcAft>
                <a:spcPts val="0"/>
              </a:spcAft>
              <a:buNone/>
            </a:pPr>
            <a:r>
              <a:rPr b="1" i="0" lang="en-US" sz="1876" u="none" cap="none" strike="noStrike">
                <a:solidFill>
                  <a:srgbClr val="FFFFFF"/>
                </a:solidFill>
                <a:latin typeface="Arial"/>
                <a:ea typeface="Arial"/>
                <a:cs typeface="Arial"/>
                <a:sym typeface="Arial"/>
              </a:rPr>
              <a:t>Tareas:</a:t>
            </a:r>
            <a:endParaRPr/>
          </a:p>
          <a:p>
            <a:pPr indent="-202545" lvl="1" marL="40508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Definir dos gramáticas libres de contexto :</a:t>
            </a:r>
            <a:endParaRPr/>
          </a:p>
          <a:p>
            <a:pPr indent="-270060" lvl="2" marL="81017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Una de tipo LL.</a:t>
            </a:r>
            <a:endParaRPr/>
          </a:p>
          <a:p>
            <a:pPr indent="-270060" lvl="2" marL="81017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Otra de tipo LR.</a:t>
            </a:r>
            <a:endParaRPr/>
          </a:p>
          <a:p>
            <a:pPr indent="-202545" lvl="1" marL="405089" marR="0" rtl="0" algn="l">
              <a:lnSpc>
                <a:spcPct val="139978"/>
              </a:lnSpc>
              <a:spcBef>
                <a:spcPts val="0"/>
              </a:spcBef>
              <a:spcAft>
                <a:spcPts val="0"/>
              </a:spcAft>
              <a:buClr>
                <a:srgbClr val="FFFFFF"/>
              </a:buClr>
              <a:buSzPts val="1876"/>
              <a:buFont typeface="Arial"/>
              <a:buChar char="•"/>
            </a:pPr>
            <a:r>
              <a:rPr b="0" i="0" lang="en-US" sz="1876" u="none" cap="none" strike="noStrike">
                <a:solidFill>
                  <a:srgbClr val="FFFFFF"/>
                </a:solidFill>
                <a:latin typeface="Arial"/>
                <a:ea typeface="Arial"/>
                <a:cs typeface="Arial"/>
                <a:sym typeface="Arial"/>
              </a:rPr>
              <a:t>Construir y dibujar el árbol de derivación de la cadena de ejemplo.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519"/>
        </a:solidFill>
      </p:bgPr>
    </p:bg>
    <p:spTree>
      <p:nvGrpSpPr>
        <p:cNvPr id="527" name="Shape 527"/>
        <p:cNvGrpSpPr/>
        <p:nvPr/>
      </p:nvGrpSpPr>
      <p:grpSpPr>
        <a:xfrm>
          <a:off x="0" y="0"/>
          <a:ext cx="0" cy="0"/>
          <a:chOff x="0" y="0"/>
          <a:chExt cx="0" cy="0"/>
        </a:xfrm>
      </p:grpSpPr>
      <p:sp>
        <p:nvSpPr>
          <p:cNvPr id="528" name="Google Shape;528;p30"/>
          <p:cNvSpPr/>
          <p:nvPr/>
        </p:nvSpPr>
        <p:spPr>
          <a:xfrm>
            <a:off x="1074577" y="845799"/>
            <a:ext cx="499539" cy="503199"/>
          </a:xfrm>
          <a:custGeom>
            <a:rect b="b" l="l" r="r" t="t"/>
            <a:pathLst>
              <a:path extrusionOk="0" h="503199" w="499539">
                <a:moveTo>
                  <a:pt x="0" y="0"/>
                </a:moveTo>
                <a:lnTo>
                  <a:pt x="499540" y="0"/>
                </a:lnTo>
                <a:lnTo>
                  <a:pt x="499540" y="503199"/>
                </a:lnTo>
                <a:lnTo>
                  <a:pt x="0" y="503199"/>
                </a:lnTo>
                <a:lnTo>
                  <a:pt x="0" y="0"/>
                </a:lnTo>
                <a:close/>
              </a:path>
            </a:pathLst>
          </a:custGeom>
          <a:blipFill rotWithShape="1">
            <a:blip r:embed="rId3">
              <a:alphaModFix/>
            </a:blip>
            <a:stretch>
              <a:fillRect b="0" l="0" r="0" t="0"/>
            </a:stretch>
          </a:blipFill>
          <a:ln>
            <a:noFill/>
          </a:ln>
        </p:spPr>
      </p:sp>
      <p:grpSp>
        <p:nvGrpSpPr>
          <p:cNvPr id="529" name="Google Shape;529;p30"/>
          <p:cNvGrpSpPr/>
          <p:nvPr/>
        </p:nvGrpSpPr>
        <p:grpSpPr>
          <a:xfrm rot="374770">
            <a:off x="-1666180" y="6478089"/>
            <a:ext cx="20251759" cy="18180272"/>
            <a:chOff x="0" y="0"/>
            <a:chExt cx="5333797" cy="4788220"/>
          </a:xfrm>
        </p:grpSpPr>
        <p:sp>
          <p:nvSpPr>
            <p:cNvPr id="530" name="Google Shape;530;p30"/>
            <p:cNvSpPr/>
            <p:nvPr/>
          </p:nvSpPr>
          <p:spPr>
            <a:xfrm>
              <a:off x="0" y="0"/>
              <a:ext cx="5333797" cy="4788220"/>
            </a:xfrm>
            <a:custGeom>
              <a:rect b="b" l="l" r="r" t="t"/>
              <a:pathLst>
                <a:path extrusionOk="0" h="4788220" w="5333797">
                  <a:moveTo>
                    <a:pt x="0" y="0"/>
                  </a:moveTo>
                  <a:lnTo>
                    <a:pt x="5333797" y="0"/>
                  </a:lnTo>
                  <a:lnTo>
                    <a:pt x="5333797" y="4788220"/>
                  </a:lnTo>
                  <a:lnTo>
                    <a:pt x="0" y="4788220"/>
                  </a:lnTo>
                  <a:close/>
                </a:path>
              </a:pathLst>
            </a:custGeom>
            <a:gradFill>
              <a:gsLst>
                <a:gs pos="0">
                  <a:srgbClr val="27DDDF">
                    <a:alpha val="0"/>
                  </a:srgbClr>
                </a:gs>
                <a:gs pos="100000">
                  <a:srgbClr val="27DDDF"/>
                </a:gs>
              </a:gsLst>
              <a:lin ang="5400000" scaled="0"/>
            </a:gradFill>
            <a:ln>
              <a:noFill/>
            </a:ln>
          </p:spPr>
        </p:sp>
        <p:sp>
          <p:nvSpPr>
            <p:cNvPr id="531" name="Google Shape;531;p30"/>
            <p:cNvSpPr txBox="1"/>
            <p:nvPr/>
          </p:nvSpPr>
          <p:spPr>
            <a:xfrm>
              <a:off x="0" y="19050"/>
              <a:ext cx="5333797" cy="4769170"/>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2" name="Google Shape;532;p30"/>
          <p:cNvGrpSpPr/>
          <p:nvPr/>
        </p:nvGrpSpPr>
        <p:grpSpPr>
          <a:xfrm>
            <a:off x="2266343" y="8553082"/>
            <a:ext cx="13735267" cy="705218"/>
            <a:chOff x="0" y="0"/>
            <a:chExt cx="3583040" cy="183966"/>
          </a:xfrm>
        </p:grpSpPr>
        <p:sp>
          <p:nvSpPr>
            <p:cNvPr id="533" name="Google Shape;533;p30"/>
            <p:cNvSpPr/>
            <p:nvPr/>
          </p:nvSpPr>
          <p:spPr>
            <a:xfrm>
              <a:off x="0" y="0"/>
              <a:ext cx="3583039" cy="183966"/>
            </a:xfrm>
            <a:custGeom>
              <a:rect b="b" l="l" r="r" t="t"/>
              <a:pathLst>
                <a:path extrusionOk="0" h="183966" w="3583039">
                  <a:moveTo>
                    <a:pt x="11837" y="0"/>
                  </a:moveTo>
                  <a:lnTo>
                    <a:pt x="3571203" y="0"/>
                  </a:lnTo>
                  <a:cubicBezTo>
                    <a:pt x="3574342" y="0"/>
                    <a:pt x="3577353" y="1247"/>
                    <a:pt x="3579573" y="3467"/>
                  </a:cubicBezTo>
                  <a:cubicBezTo>
                    <a:pt x="3581792" y="5687"/>
                    <a:pt x="3583039" y="8697"/>
                    <a:pt x="3583039" y="11837"/>
                  </a:cubicBezTo>
                  <a:lnTo>
                    <a:pt x="3583039" y="172129"/>
                  </a:lnTo>
                  <a:cubicBezTo>
                    <a:pt x="3583039" y="175269"/>
                    <a:pt x="3581792" y="178279"/>
                    <a:pt x="3579573" y="180499"/>
                  </a:cubicBezTo>
                  <a:cubicBezTo>
                    <a:pt x="3577353" y="182719"/>
                    <a:pt x="3574342" y="183966"/>
                    <a:pt x="3571203" y="183966"/>
                  </a:cubicBezTo>
                  <a:lnTo>
                    <a:pt x="11837" y="183966"/>
                  </a:lnTo>
                  <a:cubicBezTo>
                    <a:pt x="8697" y="183966"/>
                    <a:pt x="5687" y="182719"/>
                    <a:pt x="3467" y="180499"/>
                  </a:cubicBezTo>
                  <a:cubicBezTo>
                    <a:pt x="1247" y="178279"/>
                    <a:pt x="0" y="175269"/>
                    <a:pt x="0" y="172129"/>
                  </a:cubicBezTo>
                  <a:lnTo>
                    <a:pt x="0" y="11837"/>
                  </a:lnTo>
                  <a:cubicBezTo>
                    <a:pt x="0" y="8697"/>
                    <a:pt x="1247" y="5687"/>
                    <a:pt x="3467" y="3467"/>
                  </a:cubicBezTo>
                  <a:cubicBezTo>
                    <a:pt x="5687" y="1247"/>
                    <a:pt x="8697" y="0"/>
                    <a:pt x="11837" y="0"/>
                  </a:cubicBezTo>
                  <a:close/>
                </a:path>
              </a:pathLst>
            </a:custGeom>
            <a:solidFill>
              <a:srgbClr val="000000">
                <a:alpha val="0"/>
              </a:srgbClr>
            </a:solid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0"/>
            <p:cNvSpPr txBox="1"/>
            <p:nvPr/>
          </p:nvSpPr>
          <p:spPr>
            <a:xfrm>
              <a:off x="0" y="19050"/>
              <a:ext cx="3583040" cy="164916"/>
            </a:xfrm>
            <a:prstGeom prst="rect">
              <a:avLst/>
            </a:prstGeom>
            <a:noFill/>
            <a:ln>
              <a:noFill/>
            </a:ln>
          </p:spPr>
          <p:txBody>
            <a:bodyPr anchorCtr="0" anchor="ctr" bIns="50800" lIns="50800" spcFirstLastPara="1" rIns="50800" wrap="square" tIns="50800">
              <a:noAutofit/>
            </a:bodyPr>
            <a:lstStyle/>
            <a:p>
              <a:pPr indent="0" lvl="0" marL="0" marR="0" rtl="0" algn="ctr">
                <a:lnSpc>
                  <a:spcPct val="77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5" name="Google Shape;535;p30"/>
          <p:cNvSpPr txBox="1"/>
          <p:nvPr/>
        </p:nvSpPr>
        <p:spPr>
          <a:xfrm>
            <a:off x="1795032" y="930452"/>
            <a:ext cx="1302079" cy="362467"/>
          </a:xfrm>
          <a:prstGeom prst="rect">
            <a:avLst/>
          </a:prstGeom>
          <a:noFill/>
          <a:ln>
            <a:noFill/>
          </a:ln>
        </p:spPr>
        <p:txBody>
          <a:bodyPr anchorCtr="0" anchor="t" bIns="0" lIns="0" spcFirstLastPara="1" rIns="0" wrap="square" tIns="0">
            <a:spAutoFit/>
          </a:bodyPr>
          <a:lstStyle/>
          <a:p>
            <a:pPr indent="0" lvl="0" marL="0" marR="0" rtl="0" algn="l">
              <a:lnSpc>
                <a:spcPct val="88004"/>
              </a:lnSpc>
              <a:spcBef>
                <a:spcPts val="0"/>
              </a:spcBef>
              <a:spcAft>
                <a:spcPts val="0"/>
              </a:spcAft>
              <a:buNone/>
            </a:pPr>
            <a:r>
              <a:rPr b="1" i="0" lang="en-US" sz="2576" u="none" cap="none" strike="noStrike">
                <a:solidFill>
                  <a:srgbClr val="FFFFFF"/>
                </a:solidFill>
                <a:latin typeface="Arial"/>
                <a:ea typeface="Arial"/>
                <a:cs typeface="Arial"/>
                <a:sym typeface="Arial"/>
              </a:rPr>
              <a:t>11</a:t>
            </a:r>
            <a:endParaRPr/>
          </a:p>
        </p:txBody>
      </p:sp>
      <p:sp>
        <p:nvSpPr>
          <p:cNvPr id="536" name="Google Shape;536;p30"/>
          <p:cNvSpPr txBox="1"/>
          <p:nvPr/>
        </p:nvSpPr>
        <p:spPr>
          <a:xfrm>
            <a:off x="2080871" y="2411882"/>
            <a:ext cx="14126257" cy="3596876"/>
          </a:xfrm>
          <a:prstGeom prst="rect">
            <a:avLst/>
          </a:prstGeom>
          <a:noFill/>
          <a:ln>
            <a:noFill/>
          </a:ln>
        </p:spPr>
        <p:txBody>
          <a:bodyPr anchorCtr="0" anchor="t" bIns="0" lIns="0" spcFirstLastPara="1" rIns="0" wrap="square" tIns="0">
            <a:spAutoFit/>
          </a:bodyPr>
          <a:lstStyle/>
          <a:p>
            <a:pPr indent="0" lvl="0" marL="0" marR="0" rtl="0" algn="ctr">
              <a:lnSpc>
                <a:spcPct val="103998"/>
              </a:lnSpc>
              <a:spcBef>
                <a:spcPts val="0"/>
              </a:spcBef>
              <a:spcAft>
                <a:spcPts val="0"/>
              </a:spcAft>
              <a:buNone/>
            </a:pPr>
            <a:r>
              <a:rPr b="1" i="0" lang="en-US" sz="12480" u="none" cap="none" strike="noStrike">
                <a:solidFill>
                  <a:srgbClr val="FFFFFF"/>
                </a:solidFill>
                <a:latin typeface="Arial"/>
                <a:ea typeface="Arial"/>
                <a:cs typeface="Arial"/>
                <a:sym typeface="Arial"/>
              </a:rPr>
              <a:t>¡Gracias por su atención!</a:t>
            </a:r>
            <a:endParaRPr/>
          </a:p>
        </p:txBody>
      </p:sp>
      <p:sp>
        <p:nvSpPr>
          <p:cNvPr id="537" name="Google Shape;537;p30"/>
          <p:cNvSpPr txBox="1"/>
          <p:nvPr/>
        </p:nvSpPr>
        <p:spPr>
          <a:xfrm>
            <a:off x="2080871" y="6688163"/>
            <a:ext cx="14126257" cy="97596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b="0" i="0" lang="en-US" sz="5076" u="none" cap="none" strike="noStrike">
                <a:solidFill>
                  <a:srgbClr val="FFFFFF"/>
                </a:solidFill>
                <a:latin typeface="Arial"/>
                <a:ea typeface="Arial"/>
                <a:cs typeface="Arial"/>
                <a:sym typeface="Arial"/>
              </a:rPr>
              <a:t>¿Dudas?</a:t>
            </a:r>
            <a:endParaRPr/>
          </a:p>
        </p:txBody>
      </p:sp>
      <p:sp>
        <p:nvSpPr>
          <p:cNvPr id="538" name="Google Shape;538;p30"/>
          <p:cNvSpPr txBox="1"/>
          <p:nvPr/>
        </p:nvSpPr>
        <p:spPr>
          <a:xfrm>
            <a:off x="2411098" y="8556695"/>
            <a:ext cx="13465804" cy="650367"/>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1800" u="none" cap="none" strike="noStrike">
                <a:solidFill>
                  <a:srgbClr val="FFFFFF"/>
                </a:solidFill>
                <a:latin typeface="Arial"/>
                <a:ea typeface="Arial"/>
                <a:cs typeface="Arial"/>
                <a:sym typeface="Arial"/>
              </a:rPr>
              <a:t>RECUERDA QUE TENEMOS NUESTRO FORO SEMANAL DONDE PUEDES CONSULTAR CUALQUIER DUDA QUE TE SURJA EN LA SEMANA</a:t>
            </a:r>
            <a:endParaRPr/>
          </a:p>
        </p:txBody>
      </p:sp>
      <p:sp>
        <p:nvSpPr>
          <p:cNvPr id="539" name="Google Shape;539;p30"/>
          <p:cNvSpPr/>
          <p:nvPr/>
        </p:nvSpPr>
        <p:spPr>
          <a:xfrm>
            <a:off x="16426204" y="0"/>
            <a:ext cx="1861796" cy="2546280"/>
          </a:xfrm>
          <a:custGeom>
            <a:rect b="b" l="l" r="r" t="t"/>
            <a:pathLst>
              <a:path extrusionOk="0" h="2546280" w="1861796">
                <a:moveTo>
                  <a:pt x="0" y="0"/>
                </a:moveTo>
                <a:lnTo>
                  <a:pt x="1861796" y="0"/>
                </a:lnTo>
                <a:lnTo>
                  <a:pt x="1861796" y="2546280"/>
                </a:lnTo>
                <a:lnTo>
                  <a:pt x="0" y="2546280"/>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