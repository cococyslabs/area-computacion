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embeddedFontLst>
    <p:embeddedFont>
      <p:font typeface="Roboto"/>
      <p:regular r:id="rId21"/>
      <p:bold r:id="rId22"/>
      <p:italic r:id="rId23"/>
      <p:boldItalic r:id="rId24"/>
    </p:embeddedFont>
    <p:embeddedFont>
      <p:font typeface="Lato"/>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213F24C-3FFB-49AF-A25E-30C9332FBAFB}">
  <a:tblStyle styleId="{3213F24C-3FFB-49AF-A25E-30C9332FBAF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Roboto-bold.fntdata"/><Relationship Id="rId21" Type="http://schemas.openxmlformats.org/officeDocument/2006/relationships/font" Target="fonts/Roboto-regular.fntdata"/><Relationship Id="rId24" Type="http://schemas.openxmlformats.org/officeDocument/2006/relationships/font" Target="fonts/Roboto-boldItalic.fntdata"/><Relationship Id="rId23" Type="http://schemas.openxmlformats.org/officeDocument/2006/relationships/font" Target="fonts/Robo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Lato-bold.fntdata"/><Relationship Id="rId25" Type="http://schemas.openxmlformats.org/officeDocument/2006/relationships/font" Target="fonts/Lato-regular.fntdata"/><Relationship Id="rId28" Type="http://schemas.openxmlformats.org/officeDocument/2006/relationships/font" Target="fonts/Lato-boldItalic.fntdata"/><Relationship Id="rId27" Type="http://schemas.openxmlformats.org/officeDocument/2006/relationships/font" Target="fonts/Lato-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d633baebf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d633baebf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c6f73a04f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c6f73a04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d633baebfa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d633baebfa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c6f73a04f_0_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c6f73a04f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c6f73a04f_0_1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c6f73a04f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c6f73a04f_0_2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c6f73a04f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d86e7acbf8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d86e7acbf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d633baebfa_0_13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d633baebfa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d633baebfa_0_22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d633baebfa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d633baebfa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d633baebfa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d633baebfa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d633baebfa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c6f73a04f_0_4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c6f73a04f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d86e7acbf8_0_1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d86e7acbf8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c6f73a04f_0_4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c6f73a04f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1600"/>
              </a:spcBef>
              <a:spcAft>
                <a:spcPts val="0"/>
              </a:spcAft>
              <a:buClr>
                <a:schemeClr val="lt1"/>
              </a:buClr>
              <a:buSzPts val="1200"/>
              <a:buChar char="○"/>
              <a:defRPr sz="1200">
                <a:solidFill>
                  <a:schemeClr val="lt1"/>
                </a:solidFill>
              </a:defRPr>
            </a:lvl2pPr>
            <a:lvl3pPr indent="-304800" lvl="2" marL="1371600">
              <a:spcBef>
                <a:spcPts val="1600"/>
              </a:spcBef>
              <a:spcAft>
                <a:spcPts val="0"/>
              </a:spcAft>
              <a:buClr>
                <a:schemeClr val="lt1"/>
              </a:buClr>
              <a:buSzPts val="1200"/>
              <a:buChar char="■"/>
              <a:defRPr sz="1200">
                <a:solidFill>
                  <a:schemeClr val="lt1"/>
                </a:solidFill>
              </a:defRPr>
            </a:lvl3pPr>
            <a:lvl4pPr indent="-304800" lvl="3" marL="1828800">
              <a:spcBef>
                <a:spcPts val="1600"/>
              </a:spcBef>
              <a:spcAft>
                <a:spcPts val="0"/>
              </a:spcAft>
              <a:buClr>
                <a:schemeClr val="lt1"/>
              </a:buClr>
              <a:buSzPts val="1200"/>
              <a:buChar char="●"/>
              <a:defRPr sz="1200">
                <a:solidFill>
                  <a:schemeClr val="lt1"/>
                </a:solidFill>
              </a:defRPr>
            </a:lvl4pPr>
            <a:lvl5pPr indent="-304800" lvl="4" marL="2286000">
              <a:spcBef>
                <a:spcPts val="1600"/>
              </a:spcBef>
              <a:spcAft>
                <a:spcPts val="0"/>
              </a:spcAft>
              <a:buClr>
                <a:schemeClr val="lt1"/>
              </a:buClr>
              <a:buSzPts val="1200"/>
              <a:buChar char="○"/>
              <a:defRPr sz="1200">
                <a:solidFill>
                  <a:schemeClr val="lt1"/>
                </a:solidFill>
              </a:defRPr>
            </a:lvl5pPr>
            <a:lvl6pPr indent="-304800" lvl="5" marL="2743200">
              <a:spcBef>
                <a:spcPts val="1600"/>
              </a:spcBef>
              <a:spcAft>
                <a:spcPts val="0"/>
              </a:spcAft>
              <a:buClr>
                <a:schemeClr val="lt1"/>
              </a:buClr>
              <a:buSzPts val="1200"/>
              <a:buChar char="■"/>
              <a:defRPr sz="1200">
                <a:solidFill>
                  <a:schemeClr val="lt1"/>
                </a:solidFill>
              </a:defRPr>
            </a:lvl6pPr>
            <a:lvl7pPr indent="-304800" lvl="6" marL="3200400">
              <a:spcBef>
                <a:spcPts val="1600"/>
              </a:spcBef>
              <a:spcAft>
                <a:spcPts val="0"/>
              </a:spcAft>
              <a:buClr>
                <a:schemeClr val="lt1"/>
              </a:buClr>
              <a:buSzPts val="1200"/>
              <a:buChar char="●"/>
              <a:defRPr sz="1200">
                <a:solidFill>
                  <a:schemeClr val="lt1"/>
                </a:solidFill>
              </a:defRPr>
            </a:lvl7pPr>
            <a:lvl8pPr indent="-304800" lvl="7" marL="3657600">
              <a:spcBef>
                <a:spcPts val="1600"/>
              </a:spcBef>
              <a:spcAft>
                <a:spcPts val="0"/>
              </a:spcAft>
              <a:buClr>
                <a:schemeClr val="lt1"/>
              </a:buClr>
              <a:buSzPts val="1200"/>
              <a:buChar char="○"/>
              <a:defRPr sz="1200">
                <a:solidFill>
                  <a:schemeClr val="lt1"/>
                </a:solidFill>
              </a:defRPr>
            </a:lvl8pPr>
            <a:lvl9pPr indent="-304800" lvl="8" marL="4114800">
              <a:spcBef>
                <a:spcPts val="1600"/>
              </a:spcBef>
              <a:spcAft>
                <a:spcPts val="160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1600"/>
              </a:spcBef>
              <a:spcAft>
                <a:spcPts val="160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pic>
        <p:nvPicPr>
          <p:cNvPr id="67" name="Google Shape;67;p13"/>
          <p:cNvPicPr preferRelativeResize="0"/>
          <p:nvPr/>
        </p:nvPicPr>
        <p:blipFill rotWithShape="1">
          <a:blip r:embed="rId3">
            <a:alphaModFix amt="62000"/>
          </a:blip>
          <a:srcRect b="0" l="0" r="0" t="0"/>
          <a:stretch/>
        </p:blipFill>
        <p:spPr>
          <a:xfrm>
            <a:off x="0" y="0"/>
            <a:ext cx="9144000" cy="5153076"/>
          </a:xfrm>
          <a:prstGeom prst="rect">
            <a:avLst/>
          </a:prstGeom>
          <a:noFill/>
          <a:ln>
            <a:noFill/>
          </a:ln>
        </p:spPr>
      </p:pic>
      <p:sp>
        <p:nvSpPr>
          <p:cNvPr id="68" name="Google Shape;68;p13"/>
          <p:cNvSpPr/>
          <p:nvPr/>
        </p:nvSpPr>
        <p:spPr>
          <a:xfrm>
            <a:off x="1266200" y="2220250"/>
            <a:ext cx="5441700" cy="1046700"/>
          </a:xfrm>
          <a:prstGeom prst="rect">
            <a:avLst/>
          </a:prstGeom>
          <a:noFill/>
          <a:ln>
            <a:noFill/>
          </a:ln>
        </p:spPr>
        <p:txBody>
          <a:bodyPr anchorCtr="0" anchor="t" bIns="101325" lIns="101325" spcFirstLastPara="1" rIns="101325" wrap="square" tIns="101325">
            <a:noAutofit/>
          </a:bodyPr>
          <a:lstStyle/>
          <a:p>
            <a:pPr indent="0" lvl="0" marL="0" marR="0" rtl="0" algn="l">
              <a:lnSpc>
                <a:spcPct val="100000"/>
              </a:lnSpc>
              <a:spcBef>
                <a:spcPts val="0"/>
              </a:spcBef>
              <a:spcAft>
                <a:spcPts val="0"/>
              </a:spcAft>
              <a:buNone/>
            </a:pPr>
            <a:r>
              <a:rPr b="0" i="0" lang="es" sz="2771" u="none" cap="none" strike="noStrike">
                <a:solidFill>
                  <a:srgbClr val="000000"/>
                </a:solidFill>
                <a:latin typeface="Arial"/>
                <a:ea typeface="Arial"/>
                <a:cs typeface="Arial"/>
                <a:sym typeface="Arial"/>
              </a:rPr>
              <a:t>Organización de Lenguajes y Compiladores 2</a:t>
            </a:r>
            <a:r>
              <a:rPr lang="es" sz="2771"/>
              <a:t> Sección N</a:t>
            </a:r>
            <a:endParaRPr b="0" i="0" sz="2771" u="none" cap="none" strike="noStrike">
              <a:solidFill>
                <a:srgbClr val="000000"/>
              </a:solidFill>
              <a:latin typeface="Arial"/>
              <a:ea typeface="Arial"/>
              <a:cs typeface="Arial"/>
              <a:sym typeface="Arial"/>
            </a:endParaRPr>
          </a:p>
        </p:txBody>
      </p:sp>
      <p:sp>
        <p:nvSpPr>
          <p:cNvPr id="69" name="Google Shape;69;p13"/>
          <p:cNvSpPr/>
          <p:nvPr/>
        </p:nvSpPr>
        <p:spPr>
          <a:xfrm>
            <a:off x="1574556" y="3147171"/>
            <a:ext cx="5084700" cy="540600"/>
          </a:xfrm>
          <a:prstGeom prst="rect">
            <a:avLst/>
          </a:prstGeom>
          <a:noFill/>
          <a:ln>
            <a:noFill/>
          </a:ln>
        </p:spPr>
        <p:txBody>
          <a:bodyPr anchorCtr="0" anchor="t" bIns="101325" lIns="101325" spcFirstLastPara="1" rIns="101325" wrap="square" tIns="101325">
            <a:noAutofit/>
          </a:bodyPr>
          <a:lstStyle/>
          <a:p>
            <a:pPr indent="0" lvl="0" marL="0" marR="0" rtl="0" algn="l">
              <a:lnSpc>
                <a:spcPct val="100000"/>
              </a:lnSpc>
              <a:spcBef>
                <a:spcPts val="0"/>
              </a:spcBef>
              <a:spcAft>
                <a:spcPts val="0"/>
              </a:spcAft>
              <a:buNone/>
            </a:pPr>
            <a:r>
              <a:rPr lang="es" sz="2217"/>
              <a:t>Omar Alejandro Vides Esteban</a:t>
            </a:r>
            <a:endParaRPr b="0" i="0" sz="2217" u="none" cap="none" strike="noStrike">
              <a:solidFill>
                <a:srgbClr val="000000"/>
              </a:solidFill>
              <a:latin typeface="Arial"/>
              <a:ea typeface="Arial"/>
              <a:cs typeface="Arial"/>
              <a:sym typeface="Arial"/>
            </a:endParaRPr>
          </a:p>
        </p:txBody>
      </p:sp>
      <p:graphicFrame>
        <p:nvGraphicFramePr>
          <p:cNvPr id="70" name="Google Shape;70;p13"/>
          <p:cNvGraphicFramePr/>
          <p:nvPr/>
        </p:nvGraphicFramePr>
        <p:xfrm>
          <a:off x="5231045" y="1013300"/>
          <a:ext cx="3000000" cy="3000000"/>
        </p:xfrm>
        <a:graphic>
          <a:graphicData uri="http://schemas.openxmlformats.org/drawingml/2006/table">
            <a:tbl>
              <a:tblPr>
                <a:noFill/>
                <a:tableStyleId>{3213F24C-3FFB-49AF-A25E-30C9332FBAFB}</a:tableStyleId>
              </a:tblPr>
              <a:tblGrid>
                <a:gridCol w="1504050"/>
                <a:gridCol w="2152100"/>
              </a:tblGrid>
              <a:tr h="385950">
                <a:tc>
                  <a:txBody>
                    <a:bodyPr/>
                    <a:lstStyle/>
                    <a:p>
                      <a:pPr indent="0" lvl="0" marL="0" marR="0" rtl="0" algn="l">
                        <a:lnSpc>
                          <a:spcPct val="100000"/>
                        </a:lnSpc>
                        <a:spcBef>
                          <a:spcPts val="0"/>
                        </a:spcBef>
                        <a:spcAft>
                          <a:spcPts val="0"/>
                        </a:spcAft>
                        <a:buNone/>
                      </a:pPr>
                      <a:r>
                        <a:rPr b="1" lang="es" sz="1200" u="none" cap="none" strike="noStrike">
                          <a:solidFill>
                            <a:srgbClr val="000000"/>
                          </a:solidFill>
                          <a:latin typeface="Arial"/>
                          <a:ea typeface="Arial"/>
                          <a:cs typeface="Arial"/>
                          <a:sym typeface="Arial"/>
                        </a:rPr>
                        <a:t>Día, Fecha:</a:t>
                      </a:r>
                      <a:endParaRPr b="0" sz="12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s" sz="1200" u="none" cap="none" strike="noStrike">
                          <a:solidFill>
                            <a:srgbClr val="000000"/>
                          </a:solidFill>
                          <a:latin typeface="Arial"/>
                          <a:ea typeface="Arial"/>
                          <a:cs typeface="Arial"/>
                          <a:sym typeface="Arial"/>
                        </a:rPr>
                        <a:t>Martes, </a:t>
                      </a:r>
                      <a:r>
                        <a:rPr lang="es" sz="1200"/>
                        <a:t>21</a:t>
                      </a:r>
                      <a:r>
                        <a:rPr b="0" lang="es" sz="1200" u="none" cap="none" strike="noStrike">
                          <a:solidFill>
                            <a:srgbClr val="000000"/>
                          </a:solidFill>
                          <a:latin typeface="Arial"/>
                          <a:ea typeface="Arial"/>
                          <a:cs typeface="Arial"/>
                          <a:sym typeface="Arial"/>
                        </a:rPr>
                        <a:t>/</a:t>
                      </a:r>
                      <a:r>
                        <a:rPr lang="es" sz="1200"/>
                        <a:t>04</a:t>
                      </a:r>
                      <a:r>
                        <a:rPr b="0" lang="es" sz="1200" u="none" cap="none" strike="noStrike">
                          <a:solidFill>
                            <a:srgbClr val="000000"/>
                          </a:solidFill>
                          <a:latin typeface="Arial"/>
                          <a:ea typeface="Arial"/>
                          <a:cs typeface="Arial"/>
                          <a:sym typeface="Arial"/>
                        </a:rPr>
                        <a:t>/202</a:t>
                      </a:r>
                      <a:r>
                        <a:rPr lang="es" sz="1200"/>
                        <a:t>6</a:t>
                      </a:r>
                      <a:endParaRPr b="0" sz="12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5950">
                <a:tc>
                  <a:txBody>
                    <a:bodyPr/>
                    <a:lstStyle/>
                    <a:p>
                      <a:pPr indent="0" lvl="0" marL="0" marR="0" rtl="0" algn="l">
                        <a:lnSpc>
                          <a:spcPct val="100000"/>
                        </a:lnSpc>
                        <a:spcBef>
                          <a:spcPts val="0"/>
                        </a:spcBef>
                        <a:spcAft>
                          <a:spcPts val="0"/>
                        </a:spcAft>
                        <a:buNone/>
                      </a:pPr>
                      <a:r>
                        <a:rPr b="1" lang="es" sz="1200" u="none" cap="none" strike="noStrike">
                          <a:solidFill>
                            <a:srgbClr val="000000"/>
                          </a:solidFill>
                          <a:latin typeface="Arial"/>
                          <a:ea typeface="Arial"/>
                          <a:cs typeface="Arial"/>
                          <a:sym typeface="Arial"/>
                        </a:rPr>
                        <a:t>Hora de inicio:</a:t>
                      </a:r>
                      <a:endParaRPr b="0" sz="12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s" sz="1200"/>
                        <a:t>17</a:t>
                      </a:r>
                      <a:r>
                        <a:rPr b="0" lang="es" sz="1200" u="none" cap="none" strike="noStrike">
                          <a:solidFill>
                            <a:srgbClr val="000000"/>
                          </a:solidFill>
                          <a:latin typeface="Arial"/>
                          <a:ea typeface="Arial"/>
                          <a:cs typeface="Arial"/>
                          <a:sym typeface="Arial"/>
                        </a:rPr>
                        <a:t>:</a:t>
                      </a:r>
                      <a:r>
                        <a:rPr lang="es" sz="1200"/>
                        <a:t>20</a:t>
                      </a:r>
                      <a:endParaRPr b="0" sz="12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4"/>
          <p:cNvSpPr txBox="1"/>
          <p:nvPr>
            <p:ph type="ctrTitle"/>
          </p:nvPr>
        </p:nvSpPr>
        <p:spPr>
          <a:xfrm>
            <a:off x="390525" y="1819275"/>
            <a:ext cx="8222100" cy="933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Optimizaci</a:t>
            </a:r>
            <a:r>
              <a:rPr lang="es"/>
              <a:t>ón de Código</a:t>
            </a:r>
            <a:endParaRPr/>
          </a:p>
        </p:txBody>
      </p:sp>
      <p:sp>
        <p:nvSpPr>
          <p:cNvPr id="76" name="Google Shape;76;p14"/>
          <p:cNvSpPr txBox="1"/>
          <p:nvPr>
            <p:ph idx="1" type="subTitle"/>
          </p:nvPr>
        </p:nvSpPr>
        <p:spPr>
          <a:xfrm>
            <a:off x="390525" y="2789130"/>
            <a:ext cx="8222100" cy="43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400"/>
              <a:t>Organización</a:t>
            </a:r>
            <a:r>
              <a:rPr lang="es" sz="2400"/>
              <a:t> de Lenguajes y Compiladores 2</a:t>
            </a:r>
            <a:endParaRPr sz="2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5"/>
          <p:cNvSpPr txBox="1"/>
          <p:nvPr>
            <p:ph idx="1" type="body"/>
          </p:nvPr>
        </p:nvSpPr>
        <p:spPr>
          <a:xfrm>
            <a:off x="471900" y="1919075"/>
            <a:ext cx="3999900" cy="2710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s"/>
              <a:t>Optimizaci</a:t>
            </a:r>
            <a:r>
              <a:rPr lang="es"/>
              <a:t>ón de Código</a:t>
            </a:r>
            <a:endParaRPr/>
          </a:p>
          <a:p>
            <a:pPr indent="0" lvl="0" marL="0" rtl="0" algn="l">
              <a:lnSpc>
                <a:spcPct val="100000"/>
              </a:lnSpc>
              <a:spcBef>
                <a:spcPts val="1600"/>
              </a:spcBef>
              <a:spcAft>
                <a:spcPts val="0"/>
              </a:spcAft>
              <a:buNone/>
            </a:pPr>
            <a:r>
              <a:rPr lang="es"/>
              <a:t>En donde se realiza y ¿por qué?</a:t>
            </a:r>
            <a:endParaRPr/>
          </a:p>
          <a:p>
            <a:pPr indent="0" lvl="0" marL="0" rtl="0" algn="l">
              <a:lnSpc>
                <a:spcPct val="100000"/>
              </a:lnSpc>
              <a:spcBef>
                <a:spcPts val="1600"/>
              </a:spcBef>
              <a:spcAft>
                <a:spcPts val="0"/>
              </a:spcAft>
              <a:buNone/>
            </a:pPr>
            <a:r>
              <a:rPr lang="es"/>
              <a:t>Propagación de Constantes</a:t>
            </a:r>
            <a:endParaRPr/>
          </a:p>
          <a:p>
            <a:pPr indent="0" lvl="0" marL="0" rtl="0" algn="l">
              <a:lnSpc>
                <a:spcPct val="100000"/>
              </a:lnSpc>
              <a:spcBef>
                <a:spcPts val="1600"/>
              </a:spcBef>
              <a:spcAft>
                <a:spcPts val="0"/>
              </a:spcAft>
              <a:buNone/>
            </a:pPr>
            <a:r>
              <a:rPr lang="es"/>
              <a:t>Eliminación de Código muerto</a:t>
            </a:r>
            <a:endParaRPr/>
          </a:p>
          <a:p>
            <a:pPr indent="0" lvl="0" marL="0" rtl="0" algn="l">
              <a:lnSpc>
                <a:spcPct val="100000"/>
              </a:lnSpc>
              <a:spcBef>
                <a:spcPts val="1600"/>
              </a:spcBef>
              <a:spcAft>
                <a:spcPts val="0"/>
              </a:spcAft>
              <a:buNone/>
            </a:pPr>
            <a:r>
              <a:rPr lang="es"/>
              <a:t>Dudas</a:t>
            </a:r>
            <a:endParaRPr/>
          </a:p>
          <a:p>
            <a:pPr indent="0" lvl="0" marL="0" rtl="0" algn="l">
              <a:lnSpc>
                <a:spcPct val="100000"/>
              </a:lnSpc>
              <a:spcBef>
                <a:spcPts val="1600"/>
              </a:spcBef>
              <a:spcAft>
                <a:spcPts val="0"/>
              </a:spcAft>
              <a:buNone/>
            </a:pPr>
            <a:r>
              <a:rPr lang="es"/>
              <a:t>Ejemplo</a:t>
            </a:r>
            <a:endParaRPr/>
          </a:p>
          <a:p>
            <a:pPr indent="0" lvl="0" marL="0" rtl="0" algn="l">
              <a:lnSpc>
                <a:spcPct val="100000"/>
              </a:lnSpc>
              <a:spcBef>
                <a:spcPts val="1600"/>
              </a:spcBef>
              <a:spcAft>
                <a:spcPts val="1600"/>
              </a:spcAft>
              <a:buNone/>
            </a:pPr>
            <a:r>
              <a:t/>
            </a:r>
            <a:endParaRPr/>
          </a:p>
        </p:txBody>
      </p:sp>
      <p:sp>
        <p:nvSpPr>
          <p:cNvPr id="82" name="Google Shape;82;p15"/>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Agenda</a:t>
            </a:r>
            <a:endParaRPr/>
          </a:p>
        </p:txBody>
      </p:sp>
      <p:sp>
        <p:nvSpPr>
          <p:cNvPr id="83" name="Google Shape;83;p15"/>
          <p:cNvSpPr/>
          <p:nvPr/>
        </p:nvSpPr>
        <p:spPr>
          <a:xfrm>
            <a:off x="1994229" y="633485"/>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3">
              <a:alphaModFix/>
            </a:blip>
            <a:stretch>
              <a:fillRect b="0" l="0" r="0" t="0"/>
            </a:stretch>
          </a:blipFill>
          <a:ln>
            <a:noFill/>
          </a:ln>
        </p:spPr>
      </p:sp>
      <p:sp>
        <p:nvSpPr>
          <p:cNvPr id="84" name="Google Shape;84;p15"/>
          <p:cNvSpPr txBox="1"/>
          <p:nvPr/>
        </p:nvSpPr>
        <p:spPr>
          <a:xfrm>
            <a:off x="5075775" y="3355875"/>
            <a:ext cx="3362400" cy="16248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0"/>
              </a:spcAft>
              <a:buNone/>
            </a:pPr>
            <a:r>
              <a:rPr lang="es" sz="1600">
                <a:solidFill>
                  <a:srgbClr val="595959"/>
                </a:solidFill>
                <a:latin typeface="Lato"/>
                <a:ea typeface="Lato"/>
                <a:cs typeface="Lato"/>
                <a:sym typeface="Lato"/>
              </a:rPr>
              <a:t>Valor:</a:t>
            </a:r>
            <a:endParaRPr sz="1600">
              <a:solidFill>
                <a:srgbClr val="595959"/>
              </a:solidFill>
              <a:latin typeface="Lato"/>
              <a:ea typeface="Lato"/>
              <a:cs typeface="Lato"/>
              <a:sym typeface="Lato"/>
            </a:endParaRPr>
          </a:p>
          <a:p>
            <a:pPr indent="0" lvl="0" marL="0" rtl="0" algn="ctr">
              <a:lnSpc>
                <a:spcPct val="115000"/>
              </a:lnSpc>
              <a:spcBef>
                <a:spcPts val="1200"/>
              </a:spcBef>
              <a:spcAft>
                <a:spcPts val="0"/>
              </a:spcAft>
              <a:buNone/>
            </a:pPr>
            <a:r>
              <a:rPr i="1" lang="es" sz="1600">
                <a:solidFill>
                  <a:srgbClr val="595959"/>
                </a:solidFill>
                <a:latin typeface="Lato"/>
                <a:ea typeface="Lato"/>
                <a:cs typeface="Lato"/>
                <a:sym typeface="Lato"/>
              </a:rPr>
              <a:t>Precisión</a:t>
            </a:r>
            <a:endParaRPr i="1" sz="1600">
              <a:solidFill>
                <a:srgbClr val="595959"/>
              </a:solidFill>
              <a:latin typeface="Lato"/>
              <a:ea typeface="Lato"/>
              <a:cs typeface="Lato"/>
              <a:sym typeface="Lato"/>
            </a:endParaRPr>
          </a:p>
          <a:p>
            <a:pPr indent="0" lvl="0" marL="0" rtl="0" algn="l">
              <a:lnSpc>
                <a:spcPct val="115000"/>
              </a:lnSpc>
              <a:spcBef>
                <a:spcPts val="1200"/>
              </a:spcBef>
              <a:spcAft>
                <a:spcPts val="1200"/>
              </a:spcAft>
              <a:buNone/>
            </a:pPr>
            <a:r>
              <a:t/>
            </a:r>
            <a:endParaRPr i="1">
              <a:solidFill>
                <a:srgbClr val="595959"/>
              </a:solidFill>
              <a:latin typeface="Lato"/>
              <a:ea typeface="Lato"/>
              <a:cs typeface="Lato"/>
              <a:sym typeface="Lato"/>
            </a:endParaRPr>
          </a:p>
        </p:txBody>
      </p:sp>
      <p:sp>
        <p:nvSpPr>
          <p:cNvPr id="85" name="Google Shape;85;p15"/>
          <p:cNvSpPr txBox="1"/>
          <p:nvPr/>
        </p:nvSpPr>
        <p:spPr>
          <a:xfrm>
            <a:off x="5193675" y="71300"/>
            <a:ext cx="3126600" cy="157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lt1"/>
                </a:solidFill>
                <a:latin typeface="Roboto"/>
                <a:ea typeface="Roboto"/>
                <a:cs typeface="Roboto"/>
                <a:sym typeface="Roboto"/>
              </a:rPr>
              <a:t>Recordatorios:</a:t>
            </a:r>
            <a:endParaRPr>
              <a:solidFill>
                <a:schemeClr val="lt1"/>
              </a:solidFill>
              <a:latin typeface="Roboto"/>
              <a:ea typeface="Roboto"/>
              <a:cs typeface="Roboto"/>
              <a:sym typeface="Roboto"/>
            </a:endParaRPr>
          </a:p>
          <a:p>
            <a:pPr indent="0" lvl="0" marL="0" rtl="0" algn="l">
              <a:spcBef>
                <a:spcPts val="1600"/>
              </a:spcBef>
              <a:spcAft>
                <a:spcPts val="0"/>
              </a:spcAft>
              <a:buNone/>
            </a:pPr>
            <a:r>
              <a:rPr lang="es">
                <a:solidFill>
                  <a:schemeClr val="lt1"/>
                </a:solidFill>
                <a:latin typeface="Roboto"/>
                <a:ea typeface="Roboto"/>
                <a:cs typeface="Roboto"/>
                <a:sym typeface="Roboto"/>
              </a:rPr>
              <a:t>Foro de esta semana</a:t>
            </a:r>
            <a:endParaRPr>
              <a:solidFill>
                <a:schemeClr val="lt1"/>
              </a:solidFill>
              <a:latin typeface="Roboto"/>
              <a:ea typeface="Roboto"/>
              <a:cs typeface="Roboto"/>
              <a:sym typeface="Roboto"/>
            </a:endParaRPr>
          </a:p>
          <a:p>
            <a:pPr indent="0" lvl="0" marL="0" rtl="0" algn="l">
              <a:spcBef>
                <a:spcPts val="1600"/>
              </a:spcBef>
              <a:spcAft>
                <a:spcPts val="0"/>
              </a:spcAft>
              <a:buNone/>
            </a:pPr>
            <a:r>
              <a:rPr lang="es">
                <a:solidFill>
                  <a:schemeClr val="lt1"/>
                </a:solidFill>
                <a:latin typeface="Roboto"/>
                <a:ea typeface="Roboto"/>
                <a:cs typeface="Roboto"/>
                <a:sym typeface="Roboto"/>
              </a:rPr>
              <a:t>Evaluación Docente</a:t>
            </a:r>
            <a:endParaRPr>
              <a:solidFill>
                <a:schemeClr val="lt1"/>
              </a:solidFill>
              <a:latin typeface="Roboto"/>
              <a:ea typeface="Roboto"/>
              <a:cs typeface="Roboto"/>
              <a:sym typeface="Roboto"/>
            </a:endParaRPr>
          </a:p>
          <a:p>
            <a:pPr indent="0" lvl="0" marL="0" rtl="0" algn="l">
              <a:spcBef>
                <a:spcPts val="1600"/>
              </a:spcBef>
              <a:spcAft>
                <a:spcPts val="0"/>
              </a:spcAft>
              <a:buNone/>
            </a:pPr>
            <a:r>
              <a:t/>
            </a:r>
            <a:endParaRPr sz="1800">
              <a:solidFill>
                <a:schemeClr val="lt2"/>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6"/>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Optimizaci</a:t>
            </a:r>
            <a:r>
              <a:rPr lang="es"/>
              <a:t>ón de Código</a:t>
            </a:r>
            <a:endParaRPr/>
          </a:p>
        </p:txBody>
      </p:sp>
      <p:sp>
        <p:nvSpPr>
          <p:cNvPr id="91" name="Google Shape;91;p16"/>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s">
                <a:solidFill>
                  <a:srgbClr val="595959"/>
                </a:solidFill>
                <a:latin typeface="Lato"/>
                <a:ea typeface="Lato"/>
                <a:cs typeface="Lato"/>
                <a:sym typeface="Lato"/>
              </a:rPr>
              <a:t>Comprendemos el código como una serie de instrucciones secuenciales que generan un resultado específico, pero estas instrucciones no siempre son las optimas cuando tomamos en cuenta el desempeño de su entorno de ejecución, por eso es que existe la optimización.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7"/>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Donde Optimizar</a:t>
            </a:r>
            <a:endParaRPr/>
          </a:p>
        </p:txBody>
      </p:sp>
      <p:sp>
        <p:nvSpPr>
          <p:cNvPr id="97" name="Google Shape;97;p17"/>
          <p:cNvSpPr txBox="1"/>
          <p:nvPr/>
        </p:nvSpPr>
        <p:spPr>
          <a:xfrm>
            <a:off x="311700" y="1727100"/>
            <a:ext cx="81630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Clr>
                <a:srgbClr val="595959"/>
              </a:buClr>
              <a:buSzPts val="1800"/>
              <a:buFont typeface="Lato"/>
              <a:buChar char="●"/>
            </a:pPr>
            <a:r>
              <a:rPr lang="es" sz="1800">
                <a:solidFill>
                  <a:srgbClr val="595959"/>
                </a:solidFill>
                <a:latin typeface="Lato"/>
                <a:ea typeface="Lato"/>
                <a:cs typeface="Lato"/>
                <a:sym typeface="Lato"/>
              </a:rPr>
              <a:t>Cuando hablamos de compiladores, el punto donde se realiza la mayor optimizacion es durante la representación intermedia, por ejemplo C3D, ya que al ser una estructura conocida con un set de instrucciones limitadas, podemos analizar a profundidad la lógica y suplantarla con una que dé el mismo resultado pero más eficiente.</a:t>
            </a:r>
            <a:endParaRPr sz="1800">
              <a:solidFill>
                <a:srgbClr val="595959"/>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8"/>
          <p:cNvSpPr txBox="1"/>
          <p:nvPr>
            <p:ph type="title"/>
          </p:nvPr>
        </p:nvSpPr>
        <p:spPr>
          <a:xfrm>
            <a:off x="226075" y="357800"/>
            <a:ext cx="3026400" cy="953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Tipo de Optimizaci</a:t>
            </a:r>
            <a:r>
              <a:rPr lang="es"/>
              <a:t>ón</a:t>
            </a:r>
            <a:endParaRPr/>
          </a:p>
        </p:txBody>
      </p:sp>
      <p:sp>
        <p:nvSpPr>
          <p:cNvPr id="103" name="Google Shape;103;p18"/>
          <p:cNvSpPr txBox="1"/>
          <p:nvPr>
            <p:ph idx="1" type="body"/>
          </p:nvPr>
        </p:nvSpPr>
        <p:spPr>
          <a:xfrm>
            <a:off x="226075" y="1465800"/>
            <a:ext cx="2808000" cy="31635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Se pueden tomar bastantes aproximaciones al momento de optimizar, entre las cuales tenemos…</a:t>
            </a:r>
            <a:endParaRPr/>
          </a:p>
        </p:txBody>
      </p:sp>
      <p:sp>
        <p:nvSpPr>
          <p:cNvPr id="104" name="Google Shape;104;p18"/>
          <p:cNvSpPr txBox="1"/>
          <p:nvPr/>
        </p:nvSpPr>
        <p:spPr>
          <a:xfrm>
            <a:off x="3863925" y="216525"/>
            <a:ext cx="4332900" cy="39096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SzPts val="1100"/>
              <a:buChar char="●"/>
            </a:pPr>
            <a:r>
              <a:rPr lang="es" sz="1100"/>
              <a:t>Optimizaciones Locales:</a:t>
            </a:r>
            <a:endParaRPr sz="1100"/>
          </a:p>
          <a:p>
            <a:pPr indent="-298450" lvl="1" marL="914400" rtl="0" algn="l">
              <a:spcBef>
                <a:spcPts val="0"/>
              </a:spcBef>
              <a:spcAft>
                <a:spcPts val="0"/>
              </a:spcAft>
              <a:buSzPts val="1100"/>
              <a:buChar char="○"/>
            </a:pPr>
            <a:r>
              <a:rPr lang="es" sz="1100"/>
              <a:t>Propagacion de constantes</a:t>
            </a:r>
            <a:endParaRPr sz="1100"/>
          </a:p>
          <a:p>
            <a:pPr indent="-298450" lvl="1" marL="914400" rtl="0" algn="l">
              <a:spcBef>
                <a:spcPts val="0"/>
              </a:spcBef>
              <a:spcAft>
                <a:spcPts val="0"/>
              </a:spcAft>
              <a:buSzPts val="1100"/>
              <a:buChar char="○"/>
            </a:pPr>
            <a:r>
              <a:rPr lang="es" sz="1100"/>
              <a:t>Plegado de Constantes</a:t>
            </a:r>
            <a:endParaRPr sz="1100"/>
          </a:p>
          <a:p>
            <a:pPr indent="-298450" lvl="1" marL="914400" rtl="0" algn="l">
              <a:spcBef>
                <a:spcPts val="0"/>
              </a:spcBef>
              <a:spcAft>
                <a:spcPts val="0"/>
              </a:spcAft>
              <a:buSzPts val="1100"/>
              <a:buChar char="○"/>
            </a:pPr>
            <a:r>
              <a:rPr lang="es" sz="1100"/>
              <a:t>Eliminacion de subexpresiones comunes</a:t>
            </a:r>
            <a:endParaRPr sz="1100"/>
          </a:p>
          <a:p>
            <a:pPr indent="-298450" lvl="1" marL="914400" rtl="0" algn="l">
              <a:spcBef>
                <a:spcPts val="0"/>
              </a:spcBef>
              <a:spcAft>
                <a:spcPts val="0"/>
              </a:spcAft>
              <a:buSzPts val="1100"/>
              <a:buChar char="○"/>
            </a:pPr>
            <a:r>
              <a:rPr lang="es" sz="1100"/>
              <a:t>REduccion de fuerza</a:t>
            </a:r>
            <a:endParaRPr sz="1100"/>
          </a:p>
          <a:p>
            <a:pPr indent="-298450" lvl="1" marL="914400" rtl="0" algn="l">
              <a:spcBef>
                <a:spcPts val="0"/>
              </a:spcBef>
              <a:spcAft>
                <a:spcPts val="0"/>
              </a:spcAft>
              <a:buSzPts val="1100"/>
              <a:buChar char="○"/>
            </a:pPr>
            <a:r>
              <a:rPr lang="es" sz="1100"/>
              <a:t>Eliminacion de codigo muerto</a:t>
            </a:r>
            <a:endParaRPr sz="1100"/>
          </a:p>
          <a:p>
            <a:pPr indent="-298450" lvl="0" marL="457200" rtl="0" algn="l">
              <a:spcBef>
                <a:spcPts val="0"/>
              </a:spcBef>
              <a:spcAft>
                <a:spcPts val="0"/>
              </a:spcAft>
              <a:buSzPts val="1100"/>
              <a:buChar char="●"/>
            </a:pPr>
            <a:r>
              <a:rPr lang="es" sz="1100"/>
              <a:t>Optimizaciones de Bucles</a:t>
            </a:r>
            <a:endParaRPr sz="1100"/>
          </a:p>
          <a:p>
            <a:pPr indent="-298450" lvl="1" marL="914400" rtl="0" algn="l">
              <a:spcBef>
                <a:spcPts val="0"/>
              </a:spcBef>
              <a:spcAft>
                <a:spcPts val="0"/>
              </a:spcAft>
              <a:buSzPts val="1100"/>
              <a:buChar char="○"/>
            </a:pPr>
            <a:r>
              <a:rPr lang="es" sz="1100"/>
              <a:t>movimiento de codigo invariante</a:t>
            </a:r>
            <a:endParaRPr sz="1100"/>
          </a:p>
          <a:p>
            <a:pPr indent="-298450" lvl="1" marL="914400" rtl="0" algn="l">
              <a:spcBef>
                <a:spcPts val="0"/>
              </a:spcBef>
              <a:spcAft>
                <a:spcPts val="0"/>
              </a:spcAft>
              <a:buSzPts val="1100"/>
              <a:buChar char="○"/>
            </a:pPr>
            <a:r>
              <a:rPr lang="es" sz="1100"/>
              <a:t>replicar el cuerpo del bucle para reducir saltos</a:t>
            </a:r>
            <a:endParaRPr sz="1100"/>
          </a:p>
          <a:p>
            <a:pPr indent="-298450" lvl="1" marL="914400" rtl="0" algn="l">
              <a:spcBef>
                <a:spcPts val="0"/>
              </a:spcBef>
              <a:spcAft>
                <a:spcPts val="0"/>
              </a:spcAft>
              <a:buSzPts val="1100"/>
              <a:buChar char="○"/>
            </a:pPr>
            <a:r>
              <a:rPr lang="es" sz="1100"/>
              <a:t>fusion de bucles</a:t>
            </a:r>
            <a:endParaRPr sz="1100"/>
          </a:p>
          <a:p>
            <a:pPr indent="-298450" lvl="1" marL="914400" rtl="0" algn="l">
              <a:spcBef>
                <a:spcPts val="0"/>
              </a:spcBef>
              <a:spcAft>
                <a:spcPts val="0"/>
              </a:spcAft>
              <a:buSzPts val="1100"/>
              <a:buChar char="○"/>
            </a:pPr>
            <a:r>
              <a:rPr lang="es" sz="1100"/>
              <a:t>inversion de bucle</a:t>
            </a:r>
            <a:endParaRPr sz="1100"/>
          </a:p>
          <a:p>
            <a:pPr indent="-298450" lvl="1" marL="914400" rtl="0" algn="l">
              <a:spcBef>
                <a:spcPts val="0"/>
              </a:spcBef>
              <a:spcAft>
                <a:spcPts val="0"/>
              </a:spcAft>
              <a:buSzPts val="1100"/>
              <a:buChar char="○"/>
            </a:pPr>
            <a:r>
              <a:rPr lang="es" sz="1100"/>
              <a:t>vectorizacion</a:t>
            </a:r>
            <a:endParaRPr sz="1100"/>
          </a:p>
          <a:p>
            <a:pPr indent="-298450" lvl="0" marL="457200" rtl="0" algn="l">
              <a:spcBef>
                <a:spcPts val="0"/>
              </a:spcBef>
              <a:spcAft>
                <a:spcPts val="0"/>
              </a:spcAft>
              <a:buSzPts val="1100"/>
              <a:buChar char="●"/>
            </a:pPr>
            <a:r>
              <a:rPr lang="es" sz="1100"/>
              <a:t>Optimizaciones Globales</a:t>
            </a:r>
            <a:endParaRPr sz="1100"/>
          </a:p>
          <a:p>
            <a:pPr indent="-298450" lvl="1" marL="914400" rtl="0" algn="l">
              <a:spcBef>
                <a:spcPts val="0"/>
              </a:spcBef>
              <a:spcAft>
                <a:spcPts val="0"/>
              </a:spcAft>
              <a:buSzPts val="1100"/>
              <a:buChar char="○"/>
            </a:pPr>
            <a:r>
              <a:rPr lang="es" sz="1100"/>
              <a:t>analisis de flujo de datos</a:t>
            </a:r>
            <a:endParaRPr sz="1100"/>
          </a:p>
          <a:p>
            <a:pPr indent="-298450" lvl="1" marL="914400" rtl="0" algn="l">
              <a:spcBef>
                <a:spcPts val="0"/>
              </a:spcBef>
              <a:spcAft>
                <a:spcPts val="0"/>
              </a:spcAft>
              <a:buSzPts val="1100"/>
              <a:buChar char="○"/>
            </a:pPr>
            <a:r>
              <a:rPr lang="es" sz="1100"/>
              <a:t>Eliminacion de codigo muerto</a:t>
            </a:r>
            <a:endParaRPr sz="1100"/>
          </a:p>
          <a:p>
            <a:pPr indent="-298450" lvl="1" marL="914400" rtl="0" algn="l">
              <a:spcBef>
                <a:spcPts val="0"/>
              </a:spcBef>
              <a:spcAft>
                <a:spcPts val="0"/>
              </a:spcAft>
              <a:buSzPts val="1100"/>
              <a:buChar char="○"/>
            </a:pPr>
            <a:r>
              <a:rPr lang="es" sz="1100"/>
              <a:t>propagacion de copias</a:t>
            </a:r>
            <a:endParaRPr sz="1100"/>
          </a:p>
          <a:p>
            <a:pPr indent="-298450" lvl="1" marL="914400" rtl="0" algn="l">
              <a:spcBef>
                <a:spcPts val="0"/>
              </a:spcBef>
              <a:spcAft>
                <a:spcPts val="0"/>
              </a:spcAft>
              <a:buSzPts val="1100"/>
              <a:buChar char="○"/>
            </a:pPr>
            <a:r>
              <a:rPr lang="es" sz="1100"/>
              <a:t>numeracion de valores</a:t>
            </a:r>
            <a:endParaRPr sz="1100"/>
          </a:p>
          <a:p>
            <a:pPr indent="-298450" lvl="0" marL="457200" rtl="0" algn="l">
              <a:spcBef>
                <a:spcPts val="0"/>
              </a:spcBef>
              <a:spcAft>
                <a:spcPts val="0"/>
              </a:spcAft>
              <a:buSzPts val="1100"/>
              <a:buChar char="●"/>
            </a:pPr>
            <a:r>
              <a:rPr lang="es" sz="1100"/>
              <a:t>Optimizacion de Procedimientos</a:t>
            </a:r>
            <a:endParaRPr sz="1100"/>
          </a:p>
          <a:p>
            <a:pPr indent="-298450" lvl="1" marL="914400" rtl="0" algn="l">
              <a:spcBef>
                <a:spcPts val="0"/>
              </a:spcBef>
              <a:spcAft>
                <a:spcPts val="0"/>
              </a:spcAft>
              <a:buSzPts val="1100"/>
              <a:buChar char="○"/>
            </a:pPr>
            <a:r>
              <a:rPr lang="es" sz="1100"/>
              <a:t>inlining</a:t>
            </a:r>
            <a:endParaRPr sz="1100"/>
          </a:p>
          <a:p>
            <a:pPr indent="-298450" lvl="1" marL="914400" rtl="0" algn="l">
              <a:spcBef>
                <a:spcPts val="0"/>
              </a:spcBef>
              <a:spcAft>
                <a:spcPts val="0"/>
              </a:spcAft>
              <a:buSzPts val="1100"/>
              <a:buChar char="○"/>
            </a:pPr>
            <a:r>
              <a:rPr lang="es" sz="1100"/>
              <a:t>eliminacion de recursion de cola</a:t>
            </a:r>
            <a:endParaRPr sz="1100"/>
          </a:p>
          <a:p>
            <a:pPr indent="-298450" lvl="1" marL="914400" rtl="0" algn="l">
              <a:spcBef>
                <a:spcPts val="0"/>
              </a:spcBef>
              <a:spcAft>
                <a:spcPts val="0"/>
              </a:spcAft>
              <a:buSzPts val="1100"/>
              <a:buChar char="○"/>
            </a:pPr>
            <a:r>
              <a:rPr lang="es" sz="1100"/>
              <a:t>especializacion de funciones</a:t>
            </a:r>
            <a:endParaRPr sz="1100"/>
          </a:p>
          <a:p>
            <a:pPr indent="-298450" lvl="1" marL="914400" rtl="0" algn="l">
              <a:spcBef>
                <a:spcPts val="0"/>
              </a:spcBef>
              <a:spcAft>
                <a:spcPts val="0"/>
              </a:spcAft>
              <a:buSzPts val="1100"/>
              <a:buChar char="○"/>
            </a:pPr>
            <a:r>
              <a:rPr lang="es" sz="1100"/>
              <a:t>analisis de alias</a:t>
            </a:r>
            <a:endParaRPr sz="11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9"/>
          <p:cNvSpPr txBox="1"/>
          <p:nvPr>
            <p:ph type="title"/>
          </p:nvPr>
        </p:nvSpPr>
        <p:spPr>
          <a:xfrm>
            <a:off x="226075" y="357800"/>
            <a:ext cx="3026400" cy="953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Tipo de Optimización</a:t>
            </a:r>
            <a:endParaRPr/>
          </a:p>
        </p:txBody>
      </p:sp>
      <p:sp>
        <p:nvSpPr>
          <p:cNvPr id="110" name="Google Shape;110;p19"/>
          <p:cNvSpPr txBox="1"/>
          <p:nvPr>
            <p:ph idx="1" type="body"/>
          </p:nvPr>
        </p:nvSpPr>
        <p:spPr>
          <a:xfrm>
            <a:off x="226075" y="1465800"/>
            <a:ext cx="2808000" cy="31635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Algunas trabajan directamente en el codigo final o son elecciones hechas previamente.</a:t>
            </a:r>
            <a:endParaRPr/>
          </a:p>
        </p:txBody>
      </p:sp>
      <p:sp>
        <p:nvSpPr>
          <p:cNvPr id="111" name="Google Shape;111;p19"/>
          <p:cNvSpPr txBox="1"/>
          <p:nvPr/>
        </p:nvSpPr>
        <p:spPr>
          <a:xfrm>
            <a:off x="3863925" y="216525"/>
            <a:ext cx="4332900" cy="1877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SzPts val="1100"/>
              <a:buChar char="●"/>
            </a:pPr>
            <a:r>
              <a:rPr lang="es" sz="1100"/>
              <a:t>Optimizacion de Memoria y Cache</a:t>
            </a:r>
            <a:endParaRPr sz="1100"/>
          </a:p>
          <a:p>
            <a:pPr indent="-298450" lvl="1" marL="914400" rtl="0" algn="l">
              <a:spcBef>
                <a:spcPts val="0"/>
              </a:spcBef>
              <a:spcAft>
                <a:spcPts val="0"/>
              </a:spcAft>
              <a:buSzPts val="1100"/>
              <a:buChar char="○"/>
            </a:pPr>
            <a:r>
              <a:rPr lang="es" sz="1100"/>
              <a:t>Asignacion de registros</a:t>
            </a:r>
            <a:endParaRPr sz="1100"/>
          </a:p>
          <a:p>
            <a:pPr indent="-298450" lvl="1" marL="914400" rtl="0" algn="l">
              <a:spcBef>
                <a:spcPts val="0"/>
              </a:spcBef>
              <a:spcAft>
                <a:spcPts val="0"/>
              </a:spcAft>
              <a:buSzPts val="1100"/>
              <a:buChar char="○"/>
            </a:pPr>
            <a:r>
              <a:rPr lang="es" sz="1100"/>
              <a:t>Blocking/Tiling</a:t>
            </a:r>
            <a:endParaRPr sz="1100"/>
          </a:p>
          <a:p>
            <a:pPr indent="-298450" lvl="1" marL="914400" rtl="0" algn="l">
              <a:spcBef>
                <a:spcPts val="0"/>
              </a:spcBef>
              <a:spcAft>
                <a:spcPts val="0"/>
              </a:spcAft>
              <a:buSzPts val="1100"/>
              <a:buChar char="○"/>
            </a:pPr>
            <a:r>
              <a:rPr lang="es" sz="1100"/>
              <a:t>Prefetching</a:t>
            </a:r>
            <a:endParaRPr sz="1100"/>
          </a:p>
          <a:p>
            <a:pPr indent="-298450" lvl="1" marL="914400" rtl="0" algn="l">
              <a:spcBef>
                <a:spcPts val="0"/>
              </a:spcBef>
              <a:spcAft>
                <a:spcPts val="0"/>
              </a:spcAft>
              <a:buSzPts val="1100"/>
              <a:buChar char="○"/>
            </a:pPr>
            <a:r>
              <a:rPr lang="es" sz="1100"/>
              <a:t>Eliminacion de cargas redundantes</a:t>
            </a:r>
            <a:endParaRPr sz="1100"/>
          </a:p>
          <a:p>
            <a:pPr indent="-298450" lvl="0" marL="457200" rtl="0" algn="l">
              <a:spcBef>
                <a:spcPts val="0"/>
              </a:spcBef>
              <a:spcAft>
                <a:spcPts val="0"/>
              </a:spcAft>
              <a:buSzPts val="1100"/>
              <a:buChar char="●"/>
            </a:pPr>
            <a:r>
              <a:rPr lang="es" sz="1100"/>
              <a:t>Optimizacion de Codigo Máquina</a:t>
            </a:r>
            <a:endParaRPr sz="1100"/>
          </a:p>
          <a:p>
            <a:pPr indent="-298450" lvl="1" marL="914400" rtl="0" algn="l">
              <a:spcBef>
                <a:spcPts val="0"/>
              </a:spcBef>
              <a:spcAft>
                <a:spcPts val="0"/>
              </a:spcAft>
              <a:buSzPts val="1100"/>
              <a:buChar char="○"/>
            </a:pPr>
            <a:r>
              <a:rPr lang="es" sz="1100"/>
              <a:t>Seleccion de instrucciones</a:t>
            </a:r>
            <a:endParaRPr sz="1100"/>
          </a:p>
          <a:p>
            <a:pPr indent="-298450" lvl="1" marL="914400" rtl="0" algn="l">
              <a:spcBef>
                <a:spcPts val="0"/>
              </a:spcBef>
              <a:spcAft>
                <a:spcPts val="0"/>
              </a:spcAft>
              <a:buSzPts val="1100"/>
              <a:buChar char="○"/>
            </a:pPr>
            <a:r>
              <a:rPr lang="es" sz="1100"/>
              <a:t>Planificacion de instrucciones</a:t>
            </a:r>
            <a:endParaRPr sz="1100"/>
          </a:p>
          <a:p>
            <a:pPr indent="-298450" lvl="1" marL="914400" rtl="0" algn="l">
              <a:spcBef>
                <a:spcPts val="0"/>
              </a:spcBef>
              <a:spcAft>
                <a:spcPts val="0"/>
              </a:spcAft>
              <a:buSzPts val="1100"/>
              <a:buChar char="○"/>
            </a:pPr>
            <a:r>
              <a:rPr lang="es" sz="1100"/>
              <a:t>optimizacion de mirilla</a:t>
            </a:r>
            <a:endParaRPr sz="1100"/>
          </a:p>
          <a:p>
            <a:pPr indent="-298450" lvl="1" marL="914400" rtl="0" algn="l">
              <a:spcBef>
                <a:spcPts val="0"/>
              </a:spcBef>
              <a:spcAft>
                <a:spcPts val="0"/>
              </a:spcAft>
              <a:buSzPts val="1100"/>
              <a:buChar char="○"/>
            </a:pPr>
            <a:r>
              <a:rPr lang="es" sz="1100"/>
              <a:t>Eliminacion de saltos redundantes</a:t>
            </a:r>
            <a:endParaRPr sz="11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0"/>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Propagaci</a:t>
            </a:r>
            <a:r>
              <a:rPr lang="es"/>
              <a:t>ón de Constantes</a:t>
            </a:r>
            <a:endParaRPr/>
          </a:p>
        </p:txBody>
      </p:sp>
      <p:sp>
        <p:nvSpPr>
          <p:cNvPr id="117" name="Google Shape;117;p20"/>
          <p:cNvSpPr txBox="1"/>
          <p:nvPr/>
        </p:nvSpPr>
        <p:spPr>
          <a:xfrm>
            <a:off x="311700" y="1727100"/>
            <a:ext cx="7613100" cy="10563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Clr>
                <a:srgbClr val="595959"/>
              </a:buClr>
              <a:buSzPts val="1800"/>
              <a:buFont typeface="Lato"/>
              <a:buChar char="●"/>
            </a:pPr>
            <a:r>
              <a:rPr lang="es" sz="1800">
                <a:solidFill>
                  <a:srgbClr val="595959"/>
                </a:solidFill>
                <a:latin typeface="Lato"/>
                <a:ea typeface="Lato"/>
                <a:cs typeface="Lato"/>
                <a:sym typeface="Lato"/>
              </a:rPr>
              <a:t>Si una variable siempre tiene un valor constante conocido en tiempo de compilación, se sustituye directamente.</a:t>
            </a:r>
            <a:endParaRPr sz="1800">
              <a:solidFill>
                <a:srgbClr val="595959"/>
              </a:solidFill>
              <a:latin typeface="Lato"/>
              <a:ea typeface="Lato"/>
              <a:cs typeface="Lato"/>
              <a:sym typeface="Lato"/>
            </a:endParaRPr>
          </a:p>
        </p:txBody>
      </p:sp>
      <p:sp>
        <p:nvSpPr>
          <p:cNvPr id="118" name="Google Shape;118;p20"/>
          <p:cNvSpPr txBox="1"/>
          <p:nvPr/>
        </p:nvSpPr>
        <p:spPr>
          <a:xfrm>
            <a:off x="715550" y="2777200"/>
            <a:ext cx="4279200" cy="167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lt2"/>
                </a:solidFill>
                <a:latin typeface="Roboto"/>
                <a:ea typeface="Roboto"/>
                <a:cs typeface="Roboto"/>
                <a:sym typeface="Roboto"/>
              </a:rPr>
              <a:t>Un ejemplo:</a:t>
            </a:r>
            <a:endParaRPr sz="1800">
              <a:solidFill>
                <a:schemeClr val="lt2"/>
              </a:solidFill>
              <a:latin typeface="Roboto"/>
              <a:ea typeface="Roboto"/>
              <a:cs typeface="Roboto"/>
              <a:sym typeface="Roboto"/>
            </a:endParaRPr>
          </a:p>
          <a:p>
            <a:pPr indent="0" lvl="0" marL="0" rtl="0" algn="l">
              <a:spcBef>
                <a:spcPts val="0"/>
              </a:spcBef>
              <a:spcAft>
                <a:spcPts val="0"/>
              </a:spcAft>
              <a:buNone/>
            </a:pPr>
            <a:r>
              <a:t/>
            </a:r>
            <a:endParaRPr sz="1800">
              <a:solidFill>
                <a:schemeClr val="lt2"/>
              </a:solidFill>
              <a:latin typeface="Roboto"/>
              <a:ea typeface="Roboto"/>
              <a:cs typeface="Roboto"/>
              <a:sym typeface="Roboto"/>
            </a:endParaRPr>
          </a:p>
          <a:p>
            <a:pPr indent="0" lvl="0" marL="0" rtl="0" algn="l">
              <a:spcBef>
                <a:spcPts val="0"/>
              </a:spcBef>
              <a:spcAft>
                <a:spcPts val="0"/>
              </a:spcAft>
              <a:buNone/>
            </a:pPr>
            <a:r>
              <a:rPr lang="es" sz="1800">
                <a:solidFill>
                  <a:schemeClr val="lt2"/>
                </a:solidFill>
                <a:latin typeface="Roboto"/>
                <a:ea typeface="Roboto"/>
                <a:cs typeface="Roboto"/>
                <a:sym typeface="Roboto"/>
              </a:rPr>
              <a:t>x = 5</a:t>
            </a:r>
            <a:endParaRPr sz="1800">
              <a:solidFill>
                <a:schemeClr val="lt2"/>
              </a:solidFill>
              <a:latin typeface="Roboto"/>
              <a:ea typeface="Roboto"/>
              <a:cs typeface="Roboto"/>
              <a:sym typeface="Roboto"/>
            </a:endParaRPr>
          </a:p>
          <a:p>
            <a:pPr indent="0" lvl="0" marL="0" rtl="0" algn="l">
              <a:spcBef>
                <a:spcPts val="0"/>
              </a:spcBef>
              <a:spcAft>
                <a:spcPts val="0"/>
              </a:spcAft>
              <a:buNone/>
            </a:pPr>
            <a:r>
              <a:rPr lang="es" sz="1800">
                <a:solidFill>
                  <a:schemeClr val="lt2"/>
                </a:solidFill>
                <a:latin typeface="Roboto"/>
                <a:ea typeface="Roboto"/>
                <a:cs typeface="Roboto"/>
                <a:sym typeface="Roboto"/>
              </a:rPr>
              <a:t>y = x + 3   →   y = 8</a:t>
            </a:r>
            <a:endParaRPr sz="1800">
              <a:solidFill>
                <a:schemeClr val="lt2"/>
              </a:solidFill>
              <a:latin typeface="Roboto"/>
              <a:ea typeface="Roboto"/>
              <a:cs typeface="Roboto"/>
              <a:sym typeface="Roboto"/>
            </a:endParaRPr>
          </a:p>
          <a:p>
            <a:pPr indent="0" lvl="0" marL="0" rtl="0" algn="l">
              <a:spcBef>
                <a:spcPts val="0"/>
              </a:spcBef>
              <a:spcAft>
                <a:spcPts val="0"/>
              </a:spcAft>
              <a:buNone/>
            </a:pPr>
            <a:r>
              <a:t/>
            </a:r>
            <a:endParaRPr sz="1800">
              <a:solidFill>
                <a:schemeClr val="lt2"/>
              </a:solidFill>
              <a:latin typeface="Roboto"/>
              <a:ea typeface="Roboto"/>
              <a:cs typeface="Roboto"/>
              <a:sym typeface="Roboto"/>
            </a:endParaRPr>
          </a:p>
        </p:txBody>
      </p:sp>
      <p:sp>
        <p:nvSpPr>
          <p:cNvPr id="119" name="Google Shape;119;p20"/>
          <p:cNvSpPr txBox="1"/>
          <p:nvPr/>
        </p:nvSpPr>
        <p:spPr>
          <a:xfrm>
            <a:off x="4385425" y="2840975"/>
            <a:ext cx="4158600" cy="136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lt2"/>
                </a:solidFill>
                <a:latin typeface="Roboto"/>
                <a:ea typeface="Roboto"/>
                <a:cs typeface="Roboto"/>
                <a:sym typeface="Roboto"/>
              </a:rPr>
              <a:t>Es aplicable si en todos los caminos que llevan a un punto, el valor de la variable es el mismo.</a:t>
            </a:r>
            <a:endParaRPr sz="1800">
              <a:solidFill>
                <a:schemeClr val="lt2"/>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1"/>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Eliminaci</a:t>
            </a:r>
            <a:r>
              <a:rPr lang="es"/>
              <a:t>ón de Código Muerto</a:t>
            </a:r>
            <a:endParaRPr/>
          </a:p>
        </p:txBody>
      </p:sp>
      <p:sp>
        <p:nvSpPr>
          <p:cNvPr id="125" name="Google Shape;125;p21"/>
          <p:cNvSpPr txBox="1"/>
          <p:nvPr>
            <p:ph idx="1" type="body"/>
          </p:nvPr>
        </p:nvSpPr>
        <p:spPr>
          <a:xfrm>
            <a:off x="471900" y="1919075"/>
            <a:ext cx="79353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Es la eliminaci</a:t>
            </a:r>
            <a:r>
              <a:rPr lang="es"/>
              <a:t>ón de de código que nunca se ejecuta o cuyo resultado  nunca se usa. Puede ser:</a:t>
            </a:r>
            <a:endParaRPr/>
          </a:p>
          <a:p>
            <a:pPr indent="-317500" lvl="0" marL="457200" rtl="0" algn="l">
              <a:spcBef>
                <a:spcPts val="1600"/>
              </a:spcBef>
              <a:spcAft>
                <a:spcPts val="0"/>
              </a:spcAft>
              <a:buSzPts val="1400"/>
              <a:buChar char="●"/>
            </a:pPr>
            <a:r>
              <a:rPr lang="es"/>
              <a:t>Código inalcanzable: bloques de codigo que existen despues de un return o ifs siempre falsos.</a:t>
            </a:r>
            <a:endParaRPr/>
          </a:p>
          <a:p>
            <a:pPr indent="-317500" lvl="0" marL="457200" rtl="0" algn="l">
              <a:spcBef>
                <a:spcPts val="0"/>
              </a:spcBef>
              <a:spcAft>
                <a:spcPts val="0"/>
              </a:spcAft>
              <a:buSzPts val="1400"/>
              <a:buChar char="●"/>
            </a:pPr>
            <a:r>
              <a:rPr lang="es"/>
              <a:t>Variables muertas: Variables que nunca se usan.</a:t>
            </a:r>
            <a:endParaRPr/>
          </a:p>
        </p:txBody>
      </p:sp>
      <p:sp>
        <p:nvSpPr>
          <p:cNvPr id="126" name="Google Shape;126;p21"/>
          <p:cNvSpPr txBox="1"/>
          <p:nvPr/>
        </p:nvSpPr>
        <p:spPr>
          <a:xfrm>
            <a:off x="750975" y="3216450"/>
            <a:ext cx="4279200" cy="167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lt2"/>
                </a:solidFill>
                <a:latin typeface="Roboto"/>
                <a:ea typeface="Roboto"/>
                <a:cs typeface="Roboto"/>
                <a:sym typeface="Roboto"/>
              </a:rPr>
              <a:t>Un ejemplo:</a:t>
            </a:r>
            <a:endParaRPr sz="1800">
              <a:solidFill>
                <a:schemeClr val="lt2"/>
              </a:solidFill>
              <a:latin typeface="Roboto"/>
              <a:ea typeface="Roboto"/>
              <a:cs typeface="Roboto"/>
              <a:sym typeface="Roboto"/>
            </a:endParaRPr>
          </a:p>
          <a:p>
            <a:pPr indent="0" lvl="0" marL="0" rtl="0" algn="l">
              <a:spcBef>
                <a:spcPts val="0"/>
              </a:spcBef>
              <a:spcAft>
                <a:spcPts val="0"/>
              </a:spcAft>
              <a:buNone/>
            </a:pPr>
            <a:r>
              <a:t/>
            </a:r>
            <a:endParaRPr sz="1800">
              <a:solidFill>
                <a:schemeClr val="lt2"/>
              </a:solidFill>
              <a:latin typeface="Roboto"/>
              <a:ea typeface="Roboto"/>
              <a:cs typeface="Roboto"/>
              <a:sym typeface="Roboto"/>
            </a:endParaRPr>
          </a:p>
          <a:p>
            <a:pPr indent="0" lvl="0" marL="0" rtl="0" algn="l">
              <a:spcBef>
                <a:spcPts val="0"/>
              </a:spcBef>
              <a:spcAft>
                <a:spcPts val="0"/>
              </a:spcAft>
              <a:buNone/>
            </a:pPr>
            <a:r>
              <a:rPr lang="es" sz="1800">
                <a:solidFill>
                  <a:schemeClr val="lt2"/>
                </a:solidFill>
                <a:latin typeface="Roboto"/>
                <a:ea typeface="Roboto"/>
                <a:cs typeface="Roboto"/>
                <a:sym typeface="Roboto"/>
              </a:rPr>
              <a:t>x = 5</a:t>
            </a:r>
            <a:endParaRPr sz="1800">
              <a:solidFill>
                <a:schemeClr val="lt2"/>
              </a:solidFill>
              <a:latin typeface="Roboto"/>
              <a:ea typeface="Roboto"/>
              <a:cs typeface="Roboto"/>
              <a:sym typeface="Roboto"/>
            </a:endParaRPr>
          </a:p>
          <a:p>
            <a:pPr indent="0" lvl="0" marL="0" rtl="0" algn="l">
              <a:spcBef>
                <a:spcPts val="0"/>
              </a:spcBef>
              <a:spcAft>
                <a:spcPts val="0"/>
              </a:spcAft>
              <a:buNone/>
            </a:pPr>
            <a:r>
              <a:rPr lang="es" sz="1800">
                <a:solidFill>
                  <a:schemeClr val="lt2"/>
                </a:solidFill>
                <a:latin typeface="Roboto"/>
                <a:ea typeface="Roboto"/>
                <a:cs typeface="Roboto"/>
                <a:sym typeface="Roboto"/>
              </a:rPr>
              <a:t>y = x + 3   →   y = 8</a:t>
            </a:r>
            <a:endParaRPr sz="1800">
              <a:solidFill>
                <a:schemeClr val="lt2"/>
              </a:solidFill>
              <a:latin typeface="Roboto"/>
              <a:ea typeface="Roboto"/>
              <a:cs typeface="Roboto"/>
              <a:sym typeface="Roboto"/>
            </a:endParaRPr>
          </a:p>
          <a:p>
            <a:pPr indent="0" lvl="0" marL="0" rtl="0" algn="l">
              <a:spcBef>
                <a:spcPts val="0"/>
              </a:spcBef>
              <a:spcAft>
                <a:spcPts val="0"/>
              </a:spcAft>
              <a:buNone/>
            </a:pPr>
            <a:r>
              <a:t/>
            </a:r>
            <a:endParaRPr sz="1800">
              <a:solidFill>
                <a:schemeClr val="lt2"/>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2"/>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Optimizaci</a:t>
            </a:r>
            <a:r>
              <a:rPr lang="es"/>
              <a:t>ón Iterativa</a:t>
            </a:r>
            <a:endParaRPr/>
          </a:p>
        </p:txBody>
      </p:sp>
      <p:sp>
        <p:nvSpPr>
          <p:cNvPr id="132" name="Google Shape;132;p22"/>
          <p:cNvSpPr txBox="1"/>
          <p:nvPr/>
        </p:nvSpPr>
        <p:spPr>
          <a:xfrm>
            <a:off x="304650" y="1813675"/>
            <a:ext cx="8389500" cy="315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lt2"/>
                </a:solidFill>
                <a:latin typeface="Roboto"/>
                <a:ea typeface="Roboto"/>
                <a:cs typeface="Roboto"/>
                <a:sym typeface="Roboto"/>
              </a:rPr>
              <a:t>La optimización debe realizarse de manera interativa dado que cada fase puede desarrollar efectos no esperados en el código, que deben ser resueltos en las fases posteriores.</a:t>
            </a:r>
            <a:endParaRPr sz="1800">
              <a:solidFill>
                <a:schemeClr val="lt2"/>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3"/>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Un ejemplo de optimizaci</a:t>
            </a:r>
            <a:r>
              <a:rPr lang="es"/>
              <a:t>ón……</a:t>
            </a:r>
            <a:endParaRPr/>
          </a:p>
        </p:txBody>
      </p:sp>
      <p:sp>
        <p:nvSpPr>
          <p:cNvPr id="138" name="Google Shape;138;p23"/>
          <p:cNvSpPr txBox="1"/>
          <p:nvPr/>
        </p:nvSpPr>
        <p:spPr>
          <a:xfrm>
            <a:off x="453425" y="1941200"/>
            <a:ext cx="8222100" cy="280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lt2"/>
                </a:solidFill>
                <a:latin typeface="Roboto"/>
                <a:ea typeface="Roboto"/>
                <a:cs typeface="Roboto"/>
                <a:sym typeface="Roboto"/>
              </a:rPr>
              <a:t>// Antes</a:t>
            </a:r>
            <a:endParaRPr sz="1800">
              <a:solidFill>
                <a:schemeClr val="lt2"/>
              </a:solidFill>
              <a:latin typeface="Roboto"/>
              <a:ea typeface="Roboto"/>
              <a:cs typeface="Roboto"/>
              <a:sym typeface="Roboto"/>
            </a:endParaRPr>
          </a:p>
          <a:p>
            <a:pPr indent="0" lvl="0" marL="0" rtl="0" algn="l">
              <a:spcBef>
                <a:spcPts val="0"/>
              </a:spcBef>
              <a:spcAft>
                <a:spcPts val="0"/>
              </a:spcAft>
              <a:buNone/>
            </a:pPr>
            <a:r>
              <a:rPr lang="es" sz="1800">
                <a:solidFill>
                  <a:schemeClr val="accent3"/>
                </a:solidFill>
                <a:latin typeface="Roboto"/>
                <a:ea typeface="Roboto"/>
                <a:cs typeface="Roboto"/>
                <a:sym typeface="Roboto"/>
              </a:rPr>
              <a:t>a = 10</a:t>
            </a:r>
            <a:endParaRPr sz="1800">
              <a:solidFill>
                <a:schemeClr val="accent3"/>
              </a:solidFill>
              <a:latin typeface="Roboto"/>
              <a:ea typeface="Roboto"/>
              <a:cs typeface="Roboto"/>
              <a:sym typeface="Roboto"/>
            </a:endParaRPr>
          </a:p>
          <a:p>
            <a:pPr indent="0" lvl="0" marL="0" rtl="0" algn="l">
              <a:spcBef>
                <a:spcPts val="0"/>
              </a:spcBef>
              <a:spcAft>
                <a:spcPts val="0"/>
              </a:spcAft>
              <a:buNone/>
            </a:pPr>
            <a:r>
              <a:rPr lang="es" sz="1800">
                <a:solidFill>
                  <a:srgbClr val="FF9900"/>
                </a:solidFill>
                <a:latin typeface="Roboto"/>
                <a:ea typeface="Roboto"/>
                <a:cs typeface="Roboto"/>
                <a:sym typeface="Roboto"/>
              </a:rPr>
              <a:t>b = a * 2</a:t>
            </a:r>
            <a:r>
              <a:rPr lang="es" sz="1800">
                <a:solidFill>
                  <a:schemeClr val="lt2"/>
                </a:solidFill>
                <a:latin typeface="Roboto"/>
                <a:ea typeface="Roboto"/>
                <a:cs typeface="Roboto"/>
                <a:sym typeface="Roboto"/>
              </a:rPr>
              <a:t> → b= 20</a:t>
            </a:r>
            <a:endParaRPr sz="1800">
              <a:solidFill>
                <a:schemeClr val="lt2"/>
              </a:solidFill>
              <a:latin typeface="Roboto"/>
              <a:ea typeface="Roboto"/>
              <a:cs typeface="Roboto"/>
              <a:sym typeface="Roboto"/>
            </a:endParaRPr>
          </a:p>
          <a:p>
            <a:pPr indent="0" lvl="0" marL="0" rtl="0" algn="l">
              <a:spcBef>
                <a:spcPts val="0"/>
              </a:spcBef>
              <a:spcAft>
                <a:spcPts val="0"/>
              </a:spcAft>
              <a:buNone/>
            </a:pPr>
            <a:r>
              <a:rPr lang="es" sz="1800">
                <a:solidFill>
                  <a:srgbClr val="FF0000"/>
                </a:solidFill>
                <a:latin typeface="Roboto"/>
                <a:ea typeface="Roboto"/>
                <a:cs typeface="Roboto"/>
                <a:sym typeface="Roboto"/>
              </a:rPr>
              <a:t>if (false)</a:t>
            </a:r>
            <a:r>
              <a:rPr lang="es" sz="1800">
                <a:solidFill>
                  <a:schemeClr val="lt2"/>
                </a:solidFill>
                <a:latin typeface="Roboto"/>
                <a:ea typeface="Roboto"/>
                <a:cs typeface="Roboto"/>
                <a:sym typeface="Roboto"/>
              </a:rPr>
              <a:t> </a:t>
            </a:r>
            <a:r>
              <a:rPr lang="es" sz="1800">
                <a:solidFill>
                  <a:srgbClr val="FF0000"/>
                </a:solidFill>
                <a:latin typeface="Roboto"/>
                <a:ea typeface="Roboto"/>
                <a:cs typeface="Roboto"/>
                <a:sym typeface="Roboto"/>
              </a:rPr>
              <a:t>{ c = b + 1 }</a:t>
            </a:r>
            <a:endParaRPr sz="1800">
              <a:solidFill>
                <a:srgbClr val="FF0000"/>
              </a:solidFill>
              <a:latin typeface="Roboto"/>
              <a:ea typeface="Roboto"/>
              <a:cs typeface="Roboto"/>
              <a:sym typeface="Roboto"/>
            </a:endParaRPr>
          </a:p>
          <a:p>
            <a:pPr indent="0" lvl="0" marL="0" rtl="0" algn="l">
              <a:spcBef>
                <a:spcPts val="0"/>
              </a:spcBef>
              <a:spcAft>
                <a:spcPts val="0"/>
              </a:spcAft>
              <a:buNone/>
            </a:pPr>
            <a:r>
              <a:rPr lang="es" sz="1800">
                <a:solidFill>
                  <a:srgbClr val="FF9900"/>
                </a:solidFill>
                <a:latin typeface="Roboto"/>
                <a:ea typeface="Roboto"/>
                <a:cs typeface="Roboto"/>
                <a:sym typeface="Roboto"/>
              </a:rPr>
              <a:t>return b</a:t>
            </a:r>
            <a:r>
              <a:rPr lang="es" sz="1800">
                <a:solidFill>
                  <a:schemeClr val="lt2"/>
                </a:solidFill>
                <a:latin typeface="Roboto"/>
                <a:ea typeface="Roboto"/>
                <a:cs typeface="Roboto"/>
                <a:sym typeface="Roboto"/>
              </a:rPr>
              <a:t> —&gt; return 20</a:t>
            </a:r>
            <a:endParaRPr sz="1800">
              <a:solidFill>
                <a:schemeClr val="lt2"/>
              </a:solidFill>
              <a:latin typeface="Roboto"/>
              <a:ea typeface="Roboto"/>
              <a:cs typeface="Roboto"/>
              <a:sym typeface="Roboto"/>
            </a:endParaRPr>
          </a:p>
          <a:p>
            <a:pPr indent="0" lvl="0" marL="0" rtl="0" algn="l">
              <a:spcBef>
                <a:spcPts val="0"/>
              </a:spcBef>
              <a:spcAft>
                <a:spcPts val="0"/>
              </a:spcAft>
              <a:buNone/>
            </a:pPr>
            <a:r>
              <a:t/>
            </a:r>
            <a:endParaRPr sz="1800">
              <a:solidFill>
                <a:schemeClr val="lt2"/>
              </a:solidFill>
              <a:latin typeface="Roboto"/>
              <a:ea typeface="Roboto"/>
              <a:cs typeface="Roboto"/>
              <a:sym typeface="Roboto"/>
            </a:endParaRPr>
          </a:p>
          <a:p>
            <a:pPr indent="0" lvl="0" marL="0" rtl="0" algn="l">
              <a:spcBef>
                <a:spcPts val="0"/>
              </a:spcBef>
              <a:spcAft>
                <a:spcPts val="0"/>
              </a:spcAft>
              <a:buNone/>
            </a:pPr>
            <a:r>
              <a:rPr lang="es" sz="1800">
                <a:solidFill>
                  <a:schemeClr val="lt2"/>
                </a:solidFill>
                <a:latin typeface="Roboto"/>
                <a:ea typeface="Roboto"/>
                <a:cs typeface="Roboto"/>
                <a:sym typeface="Roboto"/>
              </a:rPr>
              <a:t>// Después</a:t>
            </a:r>
            <a:endParaRPr sz="1800">
              <a:solidFill>
                <a:schemeClr val="lt2"/>
              </a:solidFill>
              <a:latin typeface="Roboto"/>
              <a:ea typeface="Roboto"/>
              <a:cs typeface="Roboto"/>
              <a:sym typeface="Roboto"/>
            </a:endParaRPr>
          </a:p>
          <a:p>
            <a:pPr indent="0" lvl="0" marL="0" rtl="0" algn="l">
              <a:spcBef>
                <a:spcPts val="0"/>
              </a:spcBef>
              <a:spcAft>
                <a:spcPts val="0"/>
              </a:spcAft>
              <a:buNone/>
            </a:pPr>
            <a:r>
              <a:rPr lang="es" sz="1800">
                <a:solidFill>
                  <a:schemeClr val="lt2"/>
                </a:solidFill>
                <a:latin typeface="Roboto"/>
                <a:ea typeface="Roboto"/>
                <a:cs typeface="Roboto"/>
                <a:sym typeface="Roboto"/>
              </a:rPr>
              <a:t>return 20</a:t>
            </a:r>
            <a:endParaRPr sz="1800">
              <a:solidFill>
                <a:schemeClr val="lt2"/>
              </a:solidFill>
              <a:latin typeface="Roboto"/>
              <a:ea typeface="Roboto"/>
              <a:cs typeface="Roboto"/>
              <a:sym typeface="Roboto"/>
            </a:endParaRPr>
          </a:p>
          <a:p>
            <a:pPr indent="0" lvl="0" marL="0" rtl="0" algn="l">
              <a:spcBef>
                <a:spcPts val="0"/>
              </a:spcBef>
              <a:spcAft>
                <a:spcPts val="0"/>
              </a:spcAft>
              <a:buNone/>
            </a:pPr>
            <a:r>
              <a:t/>
            </a:r>
            <a:endParaRPr sz="1800">
              <a:solidFill>
                <a:schemeClr val="lt2"/>
              </a:solidFill>
              <a:latin typeface="Roboto"/>
              <a:ea typeface="Roboto"/>
              <a:cs typeface="Roboto"/>
              <a:sym typeface="Roboto"/>
            </a:endParaRPr>
          </a:p>
        </p:txBody>
      </p:sp>
      <p:sp>
        <p:nvSpPr>
          <p:cNvPr id="139" name="Google Shape;139;p23"/>
          <p:cNvSpPr txBox="1"/>
          <p:nvPr/>
        </p:nvSpPr>
        <p:spPr>
          <a:xfrm>
            <a:off x="3785125" y="2090975"/>
            <a:ext cx="4487100" cy="239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lt2"/>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4"/>
          <p:cNvSpPr txBox="1"/>
          <p:nvPr>
            <p:ph type="title"/>
          </p:nvPr>
        </p:nvSpPr>
        <p:spPr>
          <a:xfrm>
            <a:off x="490250" y="488250"/>
            <a:ext cx="62271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 sz="4800"/>
              <a:t>¿Dudas?</a:t>
            </a:r>
            <a:endParaRPr sz="48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5"/>
          <p:cNvSpPr txBox="1"/>
          <p:nvPr>
            <p:ph type="title"/>
          </p:nvPr>
        </p:nvSpPr>
        <p:spPr>
          <a:xfrm>
            <a:off x="490250" y="488250"/>
            <a:ext cx="62271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 sz="4800"/>
              <a:t>Ejemplo</a:t>
            </a:r>
            <a:endParaRPr sz="48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6"/>
          <p:cNvSpPr txBox="1"/>
          <p:nvPr>
            <p:ph type="title"/>
          </p:nvPr>
        </p:nvSpPr>
        <p:spPr>
          <a:xfrm>
            <a:off x="460950" y="2065350"/>
            <a:ext cx="8222100" cy="1012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 sz="4100"/>
              <a:t>¡Gracias</a:t>
            </a:r>
            <a:r>
              <a:rPr lang="es" sz="4100"/>
              <a:t>!</a:t>
            </a:r>
            <a:endParaRPr sz="4100"/>
          </a:p>
        </p:txBody>
      </p:sp>
    </p:spTree>
  </p:cSld>
  <p:clrMapOvr>
    <a:masterClrMapping/>
  </p:clrMapOvr>
</p:sld>
</file>

<file path=ppt/theme/theme1.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