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D65F0D9-8320-465A-B441-AAED5B34862A}">
  <a:tblStyle styleId="{9D65F0D9-8320-465A-B441-AAED5B34862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4A92F64-516A-4DC8-9DEE-2ABE78978315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4.xml"/><Relationship Id="rId22" Type="http://schemas.openxmlformats.org/officeDocument/2006/relationships/font" Target="fonts/Lato-italic.fntdata"/><Relationship Id="rId10" Type="http://schemas.openxmlformats.org/officeDocument/2006/relationships/slide" Target="slides/slide3.xml"/><Relationship Id="rId21" Type="http://schemas.openxmlformats.org/officeDocument/2006/relationships/font" Target="fonts/Lato-bold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285a37b13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285a37b13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80d3f267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80d3f267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285a37b13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285a37b13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285a37b13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285a37b13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80d3f267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80d3f267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80d3f267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80d3f267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80d3f267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80d3f267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86aaa7130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d86aaa7130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80d3f26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80d3f26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80d3f267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d80d3f267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80d3f267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d80d3f267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86aaa713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d86aaa713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Lato"/>
              <a:buNone/>
              <a:defRPr sz="23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" name="Google Shape;23;p3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AC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 b="1" sz="48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ato"/>
              <a:buNone/>
              <a:defRPr sz="21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56" name="Google Shape;56;p10"/>
          <p:cNvSpPr/>
          <p:nvPr/>
        </p:nvSpPr>
        <p:spPr>
          <a:xfrm>
            <a:off x="771300" y="4101875"/>
            <a:ext cx="7601400" cy="789300"/>
          </a:xfrm>
          <a:prstGeom prst="ellipseRibbon2">
            <a:avLst>
              <a:gd fmla="val 25000" name="adj1"/>
              <a:gd fmla="val 91057" name="adj2"/>
              <a:gd fmla="val 13560" name="adj3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" name="Google Shape;57;p10"/>
          <p:cNvSpPr txBox="1"/>
          <p:nvPr/>
        </p:nvSpPr>
        <p:spPr>
          <a:xfrm>
            <a:off x="1727625" y="4148100"/>
            <a:ext cx="56457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4" name="Google Shape;74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" name="Google Shape;8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0" name="Google Shape;9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3" name="Google Shape;9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7" name="Google Shape;9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8" name="Google Shape;9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2" name="Google Shape;10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5" name="Google Shape;10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6" name="Google Shape;10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5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0" y="0"/>
            <a:ext cx="9144000" cy="515307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5"/>
          <p:cNvSpPr/>
          <p:nvPr/>
        </p:nvSpPr>
        <p:spPr>
          <a:xfrm>
            <a:off x="1266200" y="2220250"/>
            <a:ext cx="5441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27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</a:t>
            </a:r>
            <a:r>
              <a:rPr lang="es-419" sz="2771"/>
              <a:t> Sección A</a:t>
            </a:r>
            <a:endParaRPr b="0" i="0" sz="27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5"/>
          <p:cNvSpPr/>
          <p:nvPr/>
        </p:nvSpPr>
        <p:spPr>
          <a:xfrm>
            <a:off x="1574556" y="3147171"/>
            <a:ext cx="50847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17"/>
              <a:t>Diego Felipe Cali Morales</a:t>
            </a:r>
            <a:endParaRPr b="0" i="0" sz="22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6" name="Google Shape;116;p25"/>
          <p:cNvGraphicFramePr/>
          <p:nvPr/>
        </p:nvGraphicFramePr>
        <p:xfrm>
          <a:off x="5231045" y="101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{9D65F0D9-8320-465A-B441-AAED5B34862A}</a:tableStyleId>
              </a:tblPr>
              <a:tblGrid>
                <a:gridCol w="1504050"/>
                <a:gridCol w="2152100"/>
              </a:tblGrid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lang="es-419" sz="1200"/>
                        <a:t>21</a:t>
                      </a: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s-419" sz="1200"/>
                        <a:t>04</a:t>
                      </a: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/202</a:t>
                      </a:r>
                      <a:r>
                        <a:rPr lang="es-419" sz="1200"/>
                        <a:t>6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17</a:t>
                      </a: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s-419" sz="1200"/>
                        <a:t>20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Paso de parámetros por referencia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Repaso entornos en tiempo de </a:t>
            </a:r>
            <a:br>
              <a:rPr lang="es-419"/>
            </a:br>
            <a:r>
              <a:rPr lang="es-419"/>
              <a:t>ejecuci</a:t>
            </a:r>
            <a:r>
              <a:rPr lang="es-419"/>
              <a:t>ón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Paso de parámetros por </a:t>
            </a:r>
            <a:br>
              <a:rPr lang="es-419"/>
            </a:br>
            <a:r>
              <a:rPr lang="es-419"/>
              <a:t>referencia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Recordatorios: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Foro de esta semana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Evaluaci</a:t>
            </a:r>
            <a:r>
              <a:rPr lang="es-419"/>
              <a:t>ón docente</a:t>
            </a:r>
            <a:endParaRPr/>
          </a:p>
        </p:txBody>
      </p:sp>
      <p:sp>
        <p:nvSpPr>
          <p:cNvPr id="127" name="Google Shape;127;p2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7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Agenda</a:t>
            </a:r>
            <a:endParaRPr/>
          </a:p>
        </p:txBody>
      </p:sp>
      <p:sp>
        <p:nvSpPr>
          <p:cNvPr id="129" name="Google Shape;129;p27"/>
          <p:cNvSpPr/>
          <p:nvPr/>
        </p:nvSpPr>
        <p:spPr>
          <a:xfrm>
            <a:off x="3818104" y="115248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27"/>
          <p:cNvSpPr txBox="1"/>
          <p:nvPr/>
        </p:nvSpPr>
        <p:spPr>
          <a:xfrm>
            <a:off x="4832400" y="2911975"/>
            <a:ext cx="3999900" cy="16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Valor: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Responsabilidad Técnica</a:t>
            </a:r>
            <a:endParaRPr i="1"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Repaso 2 c</a:t>
            </a:r>
            <a:r>
              <a:rPr lang="es-419"/>
              <a:t>ódigo de 3 direcciones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9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1</a:t>
            </a:r>
            <a:endParaRPr/>
          </a:p>
        </p:txBody>
      </p:sp>
      <p:sp>
        <p:nvSpPr>
          <p:cNvPr id="141" name="Google Shape;141;p29"/>
          <p:cNvSpPr txBox="1"/>
          <p:nvPr>
            <p:ph idx="1" type="body"/>
          </p:nvPr>
        </p:nvSpPr>
        <p:spPr>
          <a:xfrm>
            <a:off x="311700" y="1152475"/>
            <a:ext cx="422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Asuma que está trabajando con un lenguaje de alto nivel que permite la declaración de arreglos de hasta dos dimensiones [filas, columnas].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Considere las siguientes definiciones: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a. Escriba el código de tres direcciones para las instrucciones siguientes. Suponga que los arreglos se almacenan en orden por filas: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b. Escriba el esquema de traducción que permita la generación de código correspondiente a lo propuesto en el inciso anterior.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5350" y="1405500"/>
            <a:ext cx="3171825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0150" y="2571750"/>
            <a:ext cx="2562225" cy="12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0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2</a:t>
            </a:r>
            <a:endParaRPr/>
          </a:p>
        </p:txBody>
      </p:sp>
      <p:sp>
        <p:nvSpPr>
          <p:cNvPr id="149" name="Google Shape;149;p30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Escriba el código de tres direcciones para el siguiente segmento de instrucciones: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419"/>
              <a:t>Además: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419"/>
              <a:t>Muestre todos los datos que se almacenarían en la tabla de símbolos necesarios para la generación del código de tres direcciones.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419"/>
              <a:t>Se recomienda representar la tabla (por ejemplo, en forma tabular) indicando, como mínimo:</a:t>
            </a:r>
            <a:endParaRPr/>
          </a:p>
          <a:p>
            <a:pPr indent="-2914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Nombre del identificador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Tipo (variable, parámetro, arreglo, procedimiento)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Tipo de dato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Modo de paso (valor o referencia, si aplica)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Ámbito (scope)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Dirección o desplazamiento (si se considera en el modelo)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También documente el código de tres direcciones generado para evidenciar la secuencia de ejecución.</a:t>
            </a:r>
            <a:endParaRPr/>
          </a:p>
        </p:txBody>
      </p:sp>
      <p:pic>
        <p:nvPicPr>
          <p:cNvPr id="150" name="Google Shape;15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1875" y="2222500"/>
            <a:ext cx="3400425" cy="12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1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3</a:t>
            </a:r>
            <a:endParaRPr/>
          </a:p>
        </p:txBody>
      </p:sp>
      <p:sp>
        <p:nvSpPr>
          <p:cNvPr id="156" name="Google Shape;156;p31"/>
          <p:cNvSpPr txBox="1"/>
          <p:nvPr>
            <p:ph idx="1" type="body"/>
          </p:nvPr>
        </p:nvSpPr>
        <p:spPr>
          <a:xfrm>
            <a:off x="311700" y="1152475"/>
            <a:ext cx="816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Escriba el esquema de traducción para generar código de tres direcciones, de acuerdo con el segmento definido en el ejercicio anterior.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Utilice las siguientes producciones: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5950" y="2571738"/>
            <a:ext cx="5372100" cy="15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32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3" name="Google Shape;163;p32"/>
          <p:cNvGraphicFramePr/>
          <p:nvPr/>
        </p:nvGraphicFramePr>
        <p:xfrm>
          <a:off x="8450" y="75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{E4A92F64-516A-4DC8-9DEE-2ABE78978315}</a:tableStyleId>
              </a:tblPr>
              <a:tblGrid>
                <a:gridCol w="2766550"/>
                <a:gridCol w="2463325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-419" sz="1420" u="none" cap="none" strike="noStrik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/>
                        <a:t>Ejercicio 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-419" sz="1420" u="none" cap="none" strike="noStrik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-419" sz="1420" u="none" cap="none" strike="noStrik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/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4" name="Google Shape;164;p32"/>
          <p:cNvSpPr txBox="1"/>
          <p:nvPr/>
        </p:nvSpPr>
        <p:spPr>
          <a:xfrm>
            <a:off x="0" y="2140950"/>
            <a:ext cx="90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2"/>
          <p:cNvSpPr txBox="1"/>
          <p:nvPr/>
        </p:nvSpPr>
        <p:spPr>
          <a:xfrm>
            <a:off x="8450" y="2477900"/>
            <a:ext cx="30837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66" name="Google Shape;166;p32"/>
          <p:cNvGraphicFramePr/>
          <p:nvPr/>
        </p:nvGraphicFramePr>
        <p:xfrm>
          <a:off x="5328200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{E4A92F64-516A-4DC8-9DEE-2ABE78978315}</a:tableStyleId>
              </a:tblPr>
              <a:tblGrid>
                <a:gridCol w="1471275"/>
                <a:gridCol w="2219300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-419" sz="142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/>
                        <a:t>6</a:t>
                      </a:r>
                      <a:r>
                        <a:rPr lang="es-419" sz="1400" u="none" cap="none" strike="noStrike"/>
                        <a:t>:00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-419" sz="1420" u="none" cap="none" strike="noStrik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/>
                        <a:t>6</a:t>
                      </a:r>
                      <a:r>
                        <a:rPr lang="es-419" sz="1400" u="none" cap="none" strike="noStrike"/>
                        <a:t>:10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0"/>
                        <a:buFont typeface="Arial"/>
                        <a:buNone/>
                      </a:pPr>
                      <a:r>
                        <a:rPr b="1" lang="es-419" sz="1420" u="none" cap="none" strike="noStrike">
                          <a:solidFill>
                            <a:schemeClr val="dk1"/>
                          </a:solidFill>
                        </a:rPr>
                        <a:t>Duración(min):</a:t>
                      </a:r>
                      <a:endParaRPr b="1" sz="5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7" name="Google Shape;167;p32"/>
          <p:cNvSpPr txBox="1"/>
          <p:nvPr/>
        </p:nvSpPr>
        <p:spPr>
          <a:xfrm>
            <a:off x="3130800" y="2477900"/>
            <a:ext cx="30837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8" name="Google Shape;168;p32"/>
          <p:cNvSpPr txBox="1"/>
          <p:nvPr/>
        </p:nvSpPr>
        <p:spPr>
          <a:xfrm>
            <a:off x="6253150" y="2477900"/>
            <a:ext cx="28824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Paso de parámetros a una función</a:t>
            </a:r>
            <a:endParaRPr/>
          </a:p>
        </p:txBody>
      </p:sp>
      <p:sp>
        <p:nvSpPr>
          <p:cNvPr id="174" name="Google Shape;17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Paso por valor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Se copia el contenido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El callee trabaja con una copia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Paso por referencia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Se copia una dirección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El callee accede indirectamente</a:t>
            </a:r>
            <a:endParaRPr/>
          </a:p>
        </p:txBody>
      </p:sp>
      <p:pic>
        <p:nvPicPr>
          <p:cNvPr id="175" name="Google Shape;17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7074" y="1945787"/>
            <a:ext cx="3775224" cy="182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Cómo se ve esto en el registro de activación</a:t>
            </a:r>
            <a:endParaRPr/>
          </a:p>
        </p:txBody>
      </p:sp>
      <p:pic>
        <p:nvPicPr>
          <p:cNvPr id="181" name="Google Shape;18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2288" y="1129825"/>
            <a:ext cx="699942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Implementaci</a:t>
            </a:r>
            <a:r>
              <a:rPr lang="es-419"/>
              <a:t>ón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36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2" name="Google Shape;192;p36"/>
          <p:cNvGraphicFramePr/>
          <p:nvPr/>
        </p:nvGraphicFramePr>
        <p:xfrm>
          <a:off x="8450" y="75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{E4A92F64-516A-4DC8-9DEE-2ABE78978315}</a:tableStyleId>
              </a:tblPr>
              <a:tblGrid>
                <a:gridCol w="2766550"/>
                <a:gridCol w="2463325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-419" sz="1420" u="none" cap="none" strike="noStrik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/>
                        <a:t>Calificación Docente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-419" sz="1420" u="none" cap="none" strike="noStrik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-419" sz="1420" u="none" cap="none" strike="noStrik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/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3" name="Google Shape;193;p36"/>
          <p:cNvSpPr txBox="1"/>
          <p:nvPr/>
        </p:nvSpPr>
        <p:spPr>
          <a:xfrm>
            <a:off x="0" y="2140950"/>
            <a:ext cx="90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6"/>
          <p:cNvSpPr txBox="1"/>
          <p:nvPr/>
        </p:nvSpPr>
        <p:spPr>
          <a:xfrm>
            <a:off x="8450" y="2477900"/>
            <a:ext cx="3083700" cy="615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Skary Duhnay Martinez Diaz - 202300864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95" name="Google Shape;195;p36"/>
          <p:cNvGraphicFramePr/>
          <p:nvPr/>
        </p:nvGraphicFramePr>
        <p:xfrm>
          <a:off x="5328200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{E4A92F64-516A-4DC8-9DEE-2ABE78978315}</a:tableStyleId>
              </a:tblPr>
              <a:tblGrid>
                <a:gridCol w="1471275"/>
                <a:gridCol w="2219300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-419" sz="142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/>
                        <a:t>6</a:t>
                      </a:r>
                      <a:r>
                        <a:rPr lang="es-419" sz="1400" u="none" cap="none" strike="noStrike"/>
                        <a:t>:0</a:t>
                      </a:r>
                      <a:r>
                        <a:rPr lang="es-419"/>
                        <a:t>8</a:t>
                      </a:r>
                      <a:r>
                        <a:rPr lang="es-419" sz="1400" u="none" cap="none" strike="noStrike"/>
                        <a:t>pm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-419" sz="1420" u="none" cap="none" strike="noStrik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/>
                        <a:t>6</a:t>
                      </a:r>
                      <a:r>
                        <a:rPr lang="es-419" sz="1400" u="none" cap="none" strike="noStrike"/>
                        <a:t>:1</a:t>
                      </a:r>
                      <a:r>
                        <a:rPr lang="es-419"/>
                        <a:t>8</a:t>
                      </a:r>
                      <a:r>
                        <a:rPr lang="es-419" sz="1400" u="none" cap="none" strike="noStrike"/>
                        <a:t>pm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0"/>
                        <a:buFont typeface="Arial"/>
                        <a:buNone/>
                      </a:pPr>
                      <a:r>
                        <a:rPr b="1" lang="es-419" sz="1420" u="none" cap="none" strike="noStrike">
                          <a:solidFill>
                            <a:schemeClr val="dk1"/>
                          </a:solidFill>
                        </a:rPr>
                        <a:t>Duración(min):</a:t>
                      </a:r>
                      <a:endParaRPr b="1" sz="5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6" name="Google Shape;196;p36"/>
          <p:cNvSpPr txBox="1"/>
          <p:nvPr/>
        </p:nvSpPr>
        <p:spPr>
          <a:xfrm>
            <a:off x="3130800" y="2477900"/>
            <a:ext cx="30837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Jaime Garcia - 201114118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7" name="Google Shape;197;p36"/>
          <p:cNvSpPr txBox="1"/>
          <p:nvPr/>
        </p:nvSpPr>
        <p:spPr>
          <a:xfrm>
            <a:off x="6253150" y="2477900"/>
            <a:ext cx="2882400" cy="615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Luis Gustavo Morales Morales - 202203228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