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10287000" cx="18288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Lobster"/>
      <p:regular r:id="rId27"/>
    </p:embeddedFont>
    <p:embeddedFont>
      <p:font typeface="Lato"/>
      <p:regular r:id="rId28"/>
      <p:bold r:id="rId29"/>
      <p:italic r:id="rId30"/>
      <p:boldItalic r:id="rId31"/>
    </p:embeddedFont>
    <p:embeddedFont>
      <p:font typeface="Pacifico"/>
      <p:regular r:id="rId32"/>
    </p:embeddedFont>
    <p:embeddedFont>
      <p:font typeface="Open Sans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045FAD-A601-45F5-AAC9-B4F3E836C79F}">
  <a:tblStyle styleId="{C6045FAD-A601-45F5-AAC9-B4F3E836C79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Lato-regular.fntdata"/><Relationship Id="rId27" Type="http://schemas.openxmlformats.org/officeDocument/2006/relationships/font" Target="fonts/Lobs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5.xml"/><Relationship Id="rId33" Type="http://schemas.openxmlformats.org/officeDocument/2006/relationships/font" Target="fonts/OpenSans-bold.fntdata"/><Relationship Id="rId10" Type="http://schemas.openxmlformats.org/officeDocument/2006/relationships/slide" Target="slides/slide4.xml"/><Relationship Id="rId32" Type="http://schemas.openxmlformats.org/officeDocument/2006/relationships/font" Target="fonts/Pacifico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ff8f8a7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6ff8f8a79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ff8f8a79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6ff8f8a796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705530c6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705530c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705530c60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705530c6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705530c60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705530c6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1458900" y="2644900"/>
            <a:ext cx="15376200" cy="3329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459255" y="6345800"/>
            <a:ext cx="15376200" cy="1082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1458900" y="2644900"/>
            <a:ext cx="15376800" cy="3037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1458900" y="2637300"/>
            <a:ext cx="15377400" cy="1070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1458900" y="4157750"/>
            <a:ext cx="15377400" cy="452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1458900" y="2637300"/>
            <a:ext cx="15376800" cy="1070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1458650" y="4157750"/>
            <a:ext cx="7548600" cy="452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9287207" y="4157750"/>
            <a:ext cx="7548600" cy="452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1458900" y="2637300"/>
            <a:ext cx="15376800" cy="1070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1460000" y="2637300"/>
            <a:ext cx="6601800" cy="2763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1442450" y="5563450"/>
            <a:ext cx="6601800" cy="3195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660784" y="8338260"/>
            <a:ext cx="1491526" cy="91652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1458900" y="1728600"/>
            <a:ext cx="14042400" cy="59700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1460000" y="2637300"/>
            <a:ext cx="6601800" cy="3374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1449900" y="6323050"/>
            <a:ext cx="6601800" cy="1518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10348450" y="2705250"/>
            <a:ext cx="6748800" cy="6051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1449900" y="8745102"/>
            <a:ext cx="15394800" cy="9210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1660784" y="8338260"/>
            <a:ext cx="1491526" cy="91652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1458900" y="1467900"/>
            <a:ext cx="15376800" cy="2489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1458900" y="4545776"/>
            <a:ext cx="15376800" cy="3160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  <a:defRPr>
                <a:solidFill>
                  <a:schemeClr val="lt1"/>
                </a:solidFill>
              </a:defRPr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b="1" sz="5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b="1" sz="5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b="1" sz="5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b="1" sz="5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b="1" sz="5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b="1" sz="5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b="1" sz="5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b="1" sz="5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b="1" sz="5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Lato"/>
              <a:buChar char="●"/>
              <a:defRPr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○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■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●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○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■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●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○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■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560" y="0"/>
            <a:ext cx="18253440" cy="102866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7" name="Google Shape;87;p13"/>
          <p:cNvGraphicFramePr/>
          <p:nvPr/>
        </p:nvGraphicFramePr>
        <p:xfrm>
          <a:off x="10656720" y="194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{C6045FAD-A601-45F5-AAC9-B4F3E836C79F}</a:tableStyleId>
              </a:tblPr>
              <a:tblGrid>
                <a:gridCol w="3036250"/>
                <a:gridCol w="4344500"/>
              </a:tblGrid>
              <a:tr h="64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n-US" sz="2800"/>
                        <a:t>10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2800"/>
                        <a:t>02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n-US" sz="2800"/>
                        <a:t>6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17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n-US" sz="2800"/>
                        <a:t>20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" name="Google Shape;88;p13"/>
          <p:cNvSpPr/>
          <p:nvPr/>
        </p:nvSpPr>
        <p:spPr>
          <a:xfrm>
            <a:off x="2880000" y="4516560"/>
            <a:ext cx="11956800" cy="18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 </a:t>
            </a:r>
            <a:r>
              <a:rPr lang="en-US" sz="5000"/>
              <a:t>N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3557520" y="6189120"/>
            <a:ext cx="111720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Omar Alejandro Vides Esteban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4"/>
          <p:cNvSpPr txBox="1"/>
          <p:nvPr/>
        </p:nvSpPr>
        <p:spPr>
          <a:xfrm>
            <a:off x="445672" y="6630472"/>
            <a:ext cx="100113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sz="700"/>
          </a:p>
        </p:txBody>
      </p:sp>
      <p:sp>
        <p:nvSpPr>
          <p:cNvPr id="96" name="Google Shape;96;p14"/>
          <p:cNvSpPr txBox="1"/>
          <p:nvPr/>
        </p:nvSpPr>
        <p:spPr>
          <a:xfrm>
            <a:off x="445665" y="2323007"/>
            <a:ext cx="177498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Manejo de entornos dentro del intérprete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28700" y="9210675"/>
            <a:ext cx="3525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5"/>
          <p:cNvGrpSpPr/>
          <p:nvPr/>
        </p:nvGrpSpPr>
        <p:grpSpPr>
          <a:xfrm>
            <a:off x="1866994" y="4651787"/>
            <a:ext cx="4626673" cy="845568"/>
            <a:chOff x="0" y="-76204"/>
            <a:chExt cx="1969803" cy="360000"/>
          </a:xfrm>
        </p:grpSpPr>
        <p:sp>
          <p:nvSpPr>
            <p:cNvPr id="105" name="Google Shape;105;p15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6" name="Google Shape;106;p15"/>
            <p:cNvSpPr txBox="1"/>
            <p:nvPr/>
          </p:nvSpPr>
          <p:spPr>
            <a:xfrm>
              <a:off x="3" y="-76204"/>
              <a:ext cx="196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Patron Visitor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" name="Google Shape;107;p15"/>
          <p:cNvGrpSpPr/>
          <p:nvPr/>
        </p:nvGrpSpPr>
        <p:grpSpPr>
          <a:xfrm>
            <a:off x="1866989" y="3013981"/>
            <a:ext cx="4115217" cy="1556494"/>
            <a:chOff x="0" y="-76200"/>
            <a:chExt cx="1083836" cy="409938"/>
          </a:xfrm>
        </p:grpSpPr>
        <p:sp>
          <p:nvSpPr>
            <p:cNvPr id="108" name="Google Shape;108;p15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9" name="Google Shape;109;p15"/>
            <p:cNvSpPr txBox="1"/>
            <p:nvPr/>
          </p:nvSpPr>
          <p:spPr>
            <a:xfrm>
              <a:off x="0" y="-76200"/>
              <a:ext cx="969600" cy="4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Tarea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15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15"/>
          <p:cNvSpPr txBox="1"/>
          <p:nvPr/>
        </p:nvSpPr>
        <p:spPr>
          <a:xfrm>
            <a:off x="651749" y="490900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13" name="Google Shape;113;p15"/>
          <p:cNvGrpSpPr/>
          <p:nvPr/>
        </p:nvGrpSpPr>
        <p:grpSpPr>
          <a:xfrm>
            <a:off x="1873557" y="5537177"/>
            <a:ext cx="4613562" cy="845568"/>
            <a:chOff x="0" y="-76200"/>
            <a:chExt cx="1964221" cy="360000"/>
          </a:xfrm>
        </p:grpSpPr>
        <p:sp>
          <p:nvSpPr>
            <p:cNvPr id="114" name="Google Shape;114;p15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5" name="Google Shape;115;p15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Tabla de Simbolos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15"/>
          <p:cNvGrpSpPr/>
          <p:nvPr/>
        </p:nvGrpSpPr>
        <p:grpSpPr>
          <a:xfrm>
            <a:off x="11739805" y="2798631"/>
            <a:ext cx="5353682" cy="1701155"/>
            <a:chOff x="0" y="-114300"/>
            <a:chExt cx="1410014" cy="448038"/>
          </a:xfrm>
        </p:grpSpPr>
        <p:sp>
          <p:nvSpPr>
            <p:cNvPr id="117" name="Google Shape;117;p15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8" name="Google Shape;118;p15"/>
            <p:cNvSpPr txBox="1"/>
            <p:nvPr/>
          </p:nvSpPr>
          <p:spPr>
            <a:xfrm>
              <a:off x="0" y="-114300"/>
              <a:ext cx="12957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lang="en-US" sz="4499"/>
                <a:t>Foros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15"/>
          <p:cNvGrpSpPr/>
          <p:nvPr/>
        </p:nvGrpSpPr>
        <p:grpSpPr>
          <a:xfrm>
            <a:off x="1873557" y="6532350"/>
            <a:ext cx="4613562" cy="845568"/>
            <a:chOff x="0" y="-76200"/>
            <a:chExt cx="1964221" cy="360000"/>
          </a:xfrm>
        </p:grpSpPr>
        <p:sp>
          <p:nvSpPr>
            <p:cNvPr id="120" name="Google Shape;120;p15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1" name="Google Shape;121;p15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Parent Pointer Tree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15"/>
          <p:cNvGrpSpPr/>
          <p:nvPr/>
        </p:nvGrpSpPr>
        <p:grpSpPr>
          <a:xfrm>
            <a:off x="1873557" y="7472644"/>
            <a:ext cx="4613562" cy="845568"/>
            <a:chOff x="0" y="-76200"/>
            <a:chExt cx="1964221" cy="360000"/>
          </a:xfrm>
        </p:grpSpPr>
        <p:sp>
          <p:nvSpPr>
            <p:cNvPr id="123" name="Google Shape;123;p15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4" name="Google Shape;124;p15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Declaraciones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15"/>
          <p:cNvGrpSpPr/>
          <p:nvPr/>
        </p:nvGrpSpPr>
        <p:grpSpPr>
          <a:xfrm>
            <a:off x="1866994" y="8412915"/>
            <a:ext cx="4613562" cy="845568"/>
            <a:chOff x="0" y="-76200"/>
            <a:chExt cx="1964221" cy="360000"/>
          </a:xfrm>
        </p:grpSpPr>
        <p:sp>
          <p:nvSpPr>
            <p:cNvPr id="126" name="Google Shape;126;p15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7" name="Google Shape;127;p15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Asignaciones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" name="Google Shape;128;p15"/>
          <p:cNvSpPr/>
          <p:nvPr/>
        </p:nvSpPr>
        <p:spPr>
          <a:xfrm>
            <a:off x="6745825" y="5607420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7"/>
                </a:lnTo>
                <a:lnTo>
                  <a:pt x="0" y="4575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9" name="Google Shape;129;p15"/>
          <p:cNvGrpSpPr/>
          <p:nvPr/>
        </p:nvGrpSpPr>
        <p:grpSpPr>
          <a:xfrm>
            <a:off x="11739792" y="4598831"/>
            <a:ext cx="5353682" cy="1701155"/>
            <a:chOff x="0" y="-114300"/>
            <a:chExt cx="1410014" cy="448038"/>
          </a:xfrm>
        </p:grpSpPr>
        <p:sp>
          <p:nvSpPr>
            <p:cNvPr id="130" name="Google Shape;130;p15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1" name="Google Shape;131;p15"/>
            <p:cNvSpPr txBox="1"/>
            <p:nvPr/>
          </p:nvSpPr>
          <p:spPr>
            <a:xfrm>
              <a:off x="0" y="-114300"/>
              <a:ext cx="12957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lang="en-US" sz="4499"/>
                <a:t>DTT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/>
        </p:nvSpPr>
        <p:spPr>
          <a:xfrm>
            <a:off x="1791600" y="1410475"/>
            <a:ext cx="159777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COMPETENCIA(S)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791600" y="3729601"/>
            <a:ext cx="14704800" cy="46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estudiante comprende las fases de un compilador a través de diagramas de flujo y modelos teóricos con ejemplos de compilación real </a:t>
            </a:r>
            <a:endParaRPr/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estudiante evalúa el desempeño de cada fase del compilador a través de métricas de tiempo y uso de memoria para comparar diferentes implementaciones </a:t>
            </a:r>
            <a:endParaRPr/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estudiante aplica técnicas de optimización de código como optimización local y global para reducir tamaño de código y mejorar rendimiento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/>
        </p:nvSpPr>
        <p:spPr>
          <a:xfrm>
            <a:off x="1374889" y="654364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VALORES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791600" y="3720075"/>
            <a:ext cx="63702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 y estructura</a:t>
            </a:r>
            <a:endParaRPr sz="2400"/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0111900" y="2773700"/>
            <a:ext cx="7182900" cy="54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El manejo de entornos y tabla de símbolos requiere una organización sistemática para gestionar correctamente el alcance de variables y sus valores.							</a:t>
            </a: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					</a:t>
            </a: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Al implementar entornos anidados con el patrón Visitor y tabla de símbolos, se mantiene un código estructurado que facilita el rastreo de declaraciones y asignaciones en diferentes scopes.							</a:t>
            </a: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					</a:t>
            </a: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>
            <p:ph type="title"/>
          </p:nvPr>
        </p:nvSpPr>
        <p:spPr>
          <a:xfrm>
            <a:off x="1458900" y="2637300"/>
            <a:ext cx="15376800" cy="1070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Patr</a:t>
            </a:r>
            <a:r>
              <a:rPr lang="en-US"/>
              <a:t>ón Visitor</a:t>
            </a:r>
            <a:endParaRPr/>
          </a:p>
        </p:txBody>
      </p:sp>
      <p:pic>
        <p:nvPicPr>
          <p:cNvPr id="150" name="Google Shape;15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8900" y="4019275"/>
            <a:ext cx="4953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7863475" y="4019275"/>
            <a:ext cx="9093300" cy="3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Visitor es un patrón de diseño de comportamiento que te permite separar algoritmos de los objetos sobre los que operan.</a:t>
            </a: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Surgió</a:t>
            </a: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la necesidad de aplicar algoritmos </a:t>
            </a: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específicos</a:t>
            </a: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para objetos de diversos tipos anidados en una estructura compleja (como un </a:t>
            </a: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árbol</a:t>
            </a: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 sin modificar las clases base, o manteniendo las modificaciones al </a:t>
            </a: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mínimo</a:t>
            </a: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>
            <p:ph type="title"/>
          </p:nvPr>
        </p:nvSpPr>
        <p:spPr>
          <a:xfrm>
            <a:off x="1458900" y="2637300"/>
            <a:ext cx="15376800" cy="1070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Patrón Visitor</a:t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8900" y="4218250"/>
            <a:ext cx="7457599" cy="37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9375700" y="3173550"/>
            <a:ext cx="7581000" cy="58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Para  dar un ejemplo: </a:t>
            </a: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</a:t>
            </a: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 experimentado agente de seguros está deseoso de conseguir nuevos clientes. Puede visitar todos los edificios de un barrio, intentando vender seguros a todo aquel que se va encontrando. Dependiendo del tipo de organización que ocupe el edificio, puede ofrecer pólizas de seguro especializadas:</a:t>
            </a: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Lato"/>
              <a:buChar char="●"/>
            </a:pP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Si es un edificio residencial, vende seguros médicos.</a:t>
            </a: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Lato"/>
              <a:buChar char="●"/>
            </a:pP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Si es un banco, vende seguros contra robos.</a:t>
            </a: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Lato"/>
              <a:buChar char="●"/>
            </a:pP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Si es una cafetería, vende seguros contra incendios e inundaciones.</a:t>
            </a: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/>
          <p:nvPr/>
        </p:nvSpPr>
        <p:spPr>
          <a:xfrm>
            <a:off x="1458900" y="4039200"/>
            <a:ext cx="9617004" cy="5555864"/>
          </a:xfrm>
          <a:custGeom>
            <a:rect b="b" l="l" r="r" t="t"/>
            <a:pathLst>
              <a:path extrusionOk="0" h="5073848" w="8308427">
                <a:moveTo>
                  <a:pt x="0" y="0"/>
                </a:moveTo>
                <a:lnTo>
                  <a:pt x="8308426" y="0"/>
                </a:lnTo>
                <a:lnTo>
                  <a:pt x="8308426" y="5073848"/>
                </a:lnTo>
                <a:lnTo>
                  <a:pt x="0" y="50738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20"/>
          <p:cNvSpPr txBox="1"/>
          <p:nvPr>
            <p:ph type="title"/>
          </p:nvPr>
        </p:nvSpPr>
        <p:spPr>
          <a:xfrm>
            <a:off x="1458900" y="2637300"/>
            <a:ext cx="15376800" cy="1070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Parent Pointer Tree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11644000" y="3707700"/>
            <a:ext cx="5571300" cy="55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Es una estructura de datos en la que cada nodo tiene un puntero que apunta a su nodo padre, pero no a sus hijos.</a:t>
            </a: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Lato"/>
              <a:buChar char="●"/>
            </a:pP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Recorrido ascendente eficiente</a:t>
            </a: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Lato"/>
              <a:buChar char="●"/>
            </a:pP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La Raíz es el todo</a:t>
            </a: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>
            <p:ph type="title"/>
          </p:nvPr>
        </p:nvSpPr>
        <p:spPr>
          <a:xfrm>
            <a:off x="1458900" y="2637300"/>
            <a:ext cx="15376800" cy="1070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Tabla de S</a:t>
            </a:r>
            <a:r>
              <a:rPr lang="en-US"/>
              <a:t>ímbolos</a:t>
            </a:r>
            <a:endParaRPr/>
          </a:p>
        </p:txBody>
      </p:sp>
      <p:pic>
        <p:nvPicPr>
          <p:cNvPr id="171" name="Google Shape;17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8900" y="3872975"/>
            <a:ext cx="8670075" cy="465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/>
          <p:nvPr/>
        </p:nvSpPr>
        <p:spPr>
          <a:xfrm>
            <a:off x="10865200" y="3872975"/>
            <a:ext cx="6606000" cy="3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Es una estructura de datos clave que almacena información detallada sobre los identificadores del código fuente, como su tipo, ámbito, y dirección de memoria, permitiendo al compilador realizar análisis semánticos, detectar errores y generar código eficiente.</a:t>
            </a: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/>
          <p:nvPr/>
        </p:nvSpPr>
        <p:spPr>
          <a:xfrm>
            <a:off x="7476110" y="4977176"/>
            <a:ext cx="10473803" cy="2083599"/>
          </a:xfrm>
          <a:custGeom>
            <a:rect b="b" l="l" r="r" t="t"/>
            <a:pathLst>
              <a:path extrusionOk="0" h="2083599" w="10473803">
                <a:moveTo>
                  <a:pt x="0" y="0"/>
                </a:moveTo>
                <a:lnTo>
                  <a:pt x="10473804" y="0"/>
                </a:lnTo>
                <a:lnTo>
                  <a:pt x="10473804" y="2083598"/>
                </a:lnTo>
                <a:lnTo>
                  <a:pt x="0" y="2083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22"/>
          <p:cNvSpPr/>
          <p:nvPr/>
        </p:nvSpPr>
        <p:spPr>
          <a:xfrm>
            <a:off x="831701" y="3863075"/>
            <a:ext cx="6047470" cy="5067950"/>
          </a:xfrm>
          <a:custGeom>
            <a:rect b="b" l="l" r="r" t="t"/>
            <a:pathLst>
              <a:path extrusionOk="0" h="5067950" w="6047470">
                <a:moveTo>
                  <a:pt x="0" y="0"/>
                </a:moveTo>
                <a:lnTo>
                  <a:pt x="6047471" y="0"/>
                </a:lnTo>
                <a:lnTo>
                  <a:pt x="6047471" y="5067950"/>
                </a:lnTo>
                <a:lnTo>
                  <a:pt x="0" y="5067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22"/>
          <p:cNvSpPr txBox="1"/>
          <p:nvPr>
            <p:ph type="title"/>
          </p:nvPr>
        </p:nvSpPr>
        <p:spPr>
          <a:xfrm>
            <a:off x="1458900" y="2637300"/>
            <a:ext cx="15376800" cy="1070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Scope L</a:t>
            </a:r>
            <a:r>
              <a:rPr lang="en-US"/>
              <a:t>éxico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type="title"/>
          </p:nvPr>
        </p:nvSpPr>
        <p:spPr>
          <a:xfrm>
            <a:off x="1458900" y="2637300"/>
            <a:ext cx="15376800" cy="1070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¿Cu</a:t>
            </a:r>
            <a:r>
              <a:rPr lang="en-US"/>
              <a:t>ándo se crea una referencia a un nuevo entorno?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1455600" y="2629825"/>
            <a:ext cx="15376800" cy="3037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Asignaciones y Declaraciones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1458900" y="2637300"/>
            <a:ext cx="7548600" cy="1070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Declaraci</a:t>
            </a:r>
            <a:r>
              <a:rPr lang="en-US"/>
              <a:t>ón</a:t>
            </a:r>
            <a:endParaRPr/>
          </a:p>
        </p:txBody>
      </p:sp>
      <p:sp>
        <p:nvSpPr>
          <p:cNvPr id="195" name="Google Shape;195;p25"/>
          <p:cNvSpPr txBox="1"/>
          <p:nvPr>
            <p:ph idx="1" type="body"/>
          </p:nvPr>
        </p:nvSpPr>
        <p:spPr>
          <a:xfrm>
            <a:off x="1458650" y="4157750"/>
            <a:ext cx="7548600" cy="452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Declaración:</a:t>
            </a:r>
            <a:endParaRPr/>
          </a:p>
          <a:p>
            <a:pPr indent="-393700" lvl="0" marL="457200" rtl="0" algn="l">
              <a:spcBef>
                <a:spcPts val="240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Introduce un símbolo en el entorno.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 se registra en la tabla de símbolos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 se reserva espacio (real o lógico)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 aún no tiene valor (o tiene default)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240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5"/>
          <p:cNvSpPr txBox="1"/>
          <p:nvPr>
            <p:ph idx="2" type="body"/>
          </p:nvPr>
        </p:nvSpPr>
        <p:spPr>
          <a:xfrm>
            <a:off x="9287207" y="4157750"/>
            <a:ext cx="7548600" cy="452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Asignación:</a:t>
            </a:r>
            <a:endParaRPr/>
          </a:p>
          <a:p>
            <a:pPr indent="-393700" lvl="0" marL="457200" rtl="0" algn="l">
              <a:spcBef>
                <a:spcPts val="240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Modifica un símbolo ya existente.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 se busca en el entorno (y padres)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 se evalúa la expresión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/>
              <a:t> se guarda el valor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240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5"/>
          <p:cNvSpPr txBox="1"/>
          <p:nvPr>
            <p:ph type="title"/>
          </p:nvPr>
        </p:nvSpPr>
        <p:spPr>
          <a:xfrm>
            <a:off x="9287200" y="2893800"/>
            <a:ext cx="7548600" cy="1070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Asignaci</a:t>
            </a:r>
            <a:r>
              <a:rPr lang="en-US"/>
              <a:t>ón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title"/>
          </p:nvPr>
        </p:nvSpPr>
        <p:spPr>
          <a:xfrm>
            <a:off x="1458900" y="1728600"/>
            <a:ext cx="14042400" cy="36915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 txBox="1"/>
          <p:nvPr/>
        </p:nvSpPr>
        <p:spPr>
          <a:xfrm>
            <a:off x="3008500" y="3336700"/>
            <a:ext cx="132717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</a:t>
            </a:r>
            <a:r>
              <a:rPr lang="en-US"/>
              <a:t> </a:t>
            </a: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BIBLIOGRAFICAS</a:t>
            </a:r>
            <a:endParaRPr/>
          </a:p>
        </p:txBody>
      </p:sp>
      <p:sp>
        <p:nvSpPr>
          <p:cNvPr id="208" name="Google Shape;208;p27"/>
          <p:cNvSpPr txBox="1"/>
          <p:nvPr/>
        </p:nvSpPr>
        <p:spPr>
          <a:xfrm>
            <a:off x="1698706" y="5067300"/>
            <a:ext cx="14890500" cy="20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730" lvl="1" marL="763462" marR="0" rtl="0" algn="just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36"/>
              <a:buFont typeface="Arial"/>
              <a:buChar char="•"/>
            </a:pPr>
            <a:r>
              <a:rPr b="0" i="0" lang="en-US" sz="3536" u="none" cap="none" strike="noStrike">
                <a:solidFill>
                  <a:srgbClr val="131416"/>
                </a:solidFill>
                <a:latin typeface="Lato"/>
                <a:ea typeface="Lato"/>
                <a:cs typeface="Lato"/>
                <a:sym typeface="Lato"/>
              </a:rPr>
              <a:t>Compiladores, Principios, Técnicas y HerramientasAho, Sethi y Ullmam. PEARSON ADDISON- WESLEY, 2008, segunda edición.</a:t>
            </a:r>
            <a:endParaRPr b="0" i="0" sz="3536" u="none" cap="none" strike="noStrike">
              <a:solidFill>
                <a:srgbClr val="13141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731" lvl="1" marL="763462" marR="0" rtl="0" algn="just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36"/>
              <a:buFont typeface="Lato"/>
              <a:buChar char="•"/>
            </a:pPr>
            <a:r>
              <a:rPr lang="en-US" sz="3536">
                <a:solidFill>
                  <a:srgbClr val="131416"/>
                </a:solidFill>
                <a:latin typeface="Lato"/>
                <a:ea typeface="Lato"/>
                <a:cs typeface="Lato"/>
                <a:sym typeface="Lato"/>
              </a:rPr>
              <a:t>https://refactoring.guru/es/design-patterns/visitor</a:t>
            </a:r>
            <a:endParaRPr sz="3536">
              <a:solidFill>
                <a:srgbClr val="13141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28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  <p:sp>
        <p:nvSpPr>
          <p:cNvPr id="215" name="Google Shape;215;p28"/>
          <p:cNvSpPr txBox="1"/>
          <p:nvPr>
            <p:ph type="title"/>
          </p:nvPr>
        </p:nvSpPr>
        <p:spPr>
          <a:xfrm>
            <a:off x="1458900" y="2644900"/>
            <a:ext cx="15376800" cy="18003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Gracias por su atencion!</a:t>
            </a:r>
            <a:endParaRPr/>
          </a:p>
        </p:txBody>
      </p:sp>
      <p:sp>
        <p:nvSpPr>
          <p:cNvPr id="216" name="Google Shape;216;p28"/>
          <p:cNvSpPr txBox="1"/>
          <p:nvPr>
            <p:ph type="title"/>
          </p:nvPr>
        </p:nvSpPr>
        <p:spPr>
          <a:xfrm>
            <a:off x="1651075" y="4906450"/>
            <a:ext cx="15376800" cy="18003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¿Dudas?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