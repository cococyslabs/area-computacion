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10287000" cx="18288000"/>
  <p:notesSz cx="6858000" cy="9144000"/>
  <p:embeddedFontLst>
    <p:embeddedFont>
      <p:font typeface="Lobster"/>
      <p:regular r:id="rId49"/>
    </p:embeddedFont>
    <p:embeddedFont>
      <p:font typeface="Lato"/>
      <p:regular r:id="rId50"/>
      <p:bold r:id="rId51"/>
      <p:italic r:id="rId52"/>
      <p:boldItalic r:id="rId53"/>
    </p:embeddedFont>
    <p:embeddedFont>
      <p:font typeface="Pacifico"/>
      <p:regular r:id="rId54"/>
    </p:embeddedFont>
    <p:embeddedFont>
      <p:font typeface="Open Sans"/>
      <p:bold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3DFD19-865C-4B62-8C1D-9D581EF6F0E7}">
  <a:tblStyle styleId="{2A3DFD19-865C-4B62-8C1D-9D581EF6F0E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Lobs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Lato-bold.fntdata"/><Relationship Id="rId50" Type="http://schemas.openxmlformats.org/officeDocument/2006/relationships/font" Target="fonts/Lato-regular.fntdata"/><Relationship Id="rId53" Type="http://schemas.openxmlformats.org/officeDocument/2006/relationships/font" Target="fonts/Lato-boldItalic.fntdata"/><Relationship Id="rId52" Type="http://schemas.openxmlformats.org/officeDocument/2006/relationships/font" Target="fonts/Lato-italic.fntdata"/><Relationship Id="rId11" Type="http://schemas.openxmlformats.org/officeDocument/2006/relationships/slide" Target="slides/slide5.xml"/><Relationship Id="rId55" Type="http://schemas.openxmlformats.org/officeDocument/2006/relationships/font" Target="fonts/OpenSans-bold.fntdata"/><Relationship Id="rId10" Type="http://schemas.openxmlformats.org/officeDocument/2006/relationships/slide" Target="slides/slide4.xml"/><Relationship Id="rId54" Type="http://schemas.openxmlformats.org/officeDocument/2006/relationships/font" Target="fonts/Pacifico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ff8f8a7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6ff8f8a79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ff8f8a79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6ff8f8a796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23520" y="889920"/>
            <a:ext cx="17040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23520" y="2304720"/>
            <a:ext cx="17040000" cy="6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6945200" y="9326160"/>
            <a:ext cx="10968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560" y="0"/>
            <a:ext cx="18253440" cy="10286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4"/>
          <p:cNvGraphicFramePr/>
          <p:nvPr/>
        </p:nvGraphicFramePr>
        <p:xfrm>
          <a:off x="10656720" y="194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{2A3DFD19-865C-4B62-8C1D-9D581EF6F0E7}</a:tableStyleId>
              </a:tblPr>
              <a:tblGrid>
                <a:gridCol w="3036250"/>
                <a:gridCol w="4344500"/>
              </a:tblGrid>
              <a:tr h="64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n-US" sz="2800"/>
                        <a:t>XX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800"/>
                        <a:t>XX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n-US" sz="2800"/>
                        <a:t>X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XX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sz="2800"/>
                        <a:t>XX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4"/>
          <p:cNvSpPr/>
          <p:nvPr/>
        </p:nvSpPr>
        <p:spPr>
          <a:xfrm>
            <a:off x="2880000" y="4516560"/>
            <a:ext cx="11956800" cy="18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 [</a:t>
            </a:r>
            <a:r>
              <a:rPr lang="en-US" sz="5000"/>
              <a:t>X</a:t>
            </a: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3557520" y="6189120"/>
            <a:ext cx="111720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Rubén Alejandro Ralda Mejia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5"/>
          <p:cNvSpPr txBox="1"/>
          <p:nvPr/>
        </p:nvSpPr>
        <p:spPr>
          <a:xfrm>
            <a:off x="445672" y="6630472"/>
            <a:ext cx="100113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sz="700"/>
          </a:p>
        </p:txBody>
      </p:sp>
      <p:sp>
        <p:nvSpPr>
          <p:cNvPr id="98" name="Google Shape;98;p15"/>
          <p:cNvSpPr txBox="1"/>
          <p:nvPr/>
        </p:nvSpPr>
        <p:spPr>
          <a:xfrm>
            <a:off x="445665" y="2323007"/>
            <a:ext cx="177498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Manejo de entornos dentro del intérprete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1028700" y="9210675"/>
            <a:ext cx="352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6"/>
          <p:cNvGrpSpPr/>
          <p:nvPr/>
        </p:nvGrpSpPr>
        <p:grpSpPr>
          <a:xfrm>
            <a:off x="176619" y="4520484"/>
            <a:ext cx="4613562" cy="845568"/>
            <a:chOff x="0" y="-76200"/>
            <a:chExt cx="1964221" cy="360000"/>
          </a:xfrm>
        </p:grpSpPr>
        <p:sp>
          <p:nvSpPr>
            <p:cNvPr id="107" name="Google Shape;107;p1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8" name="Google Shape;108;p16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16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0" name="Google Shape;110;p16"/>
          <p:cNvGrpSpPr/>
          <p:nvPr/>
        </p:nvGrpSpPr>
        <p:grpSpPr>
          <a:xfrm>
            <a:off x="1866989" y="3013981"/>
            <a:ext cx="4115217" cy="1556494"/>
            <a:chOff x="0" y="-76200"/>
            <a:chExt cx="1083836" cy="409938"/>
          </a:xfrm>
        </p:grpSpPr>
        <p:sp>
          <p:nvSpPr>
            <p:cNvPr id="111" name="Google Shape;111;p16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16"/>
            <p:cNvSpPr txBox="1"/>
            <p:nvPr/>
          </p:nvSpPr>
          <p:spPr>
            <a:xfrm>
              <a:off x="0" y="-76200"/>
              <a:ext cx="9696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6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16"/>
          <p:cNvSpPr txBox="1"/>
          <p:nvPr/>
        </p:nvSpPr>
        <p:spPr>
          <a:xfrm>
            <a:off x="651749" y="49090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6" name="Google Shape;116;p16"/>
          <p:cNvGrpSpPr/>
          <p:nvPr/>
        </p:nvGrpSpPr>
        <p:grpSpPr>
          <a:xfrm>
            <a:off x="11739805" y="2798631"/>
            <a:ext cx="5353682" cy="1701155"/>
            <a:chOff x="0" y="-114300"/>
            <a:chExt cx="1410014" cy="448038"/>
          </a:xfrm>
        </p:grpSpPr>
        <p:sp>
          <p:nvSpPr>
            <p:cNvPr id="117" name="Google Shape;117;p16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8" name="Google Shape;118;p16"/>
            <p:cNvSpPr txBox="1"/>
            <p:nvPr/>
          </p:nvSpPr>
          <p:spPr>
            <a:xfrm>
              <a:off x="0" y="-114300"/>
              <a:ext cx="1295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16"/>
          <p:cNvGrpSpPr/>
          <p:nvPr/>
        </p:nvGrpSpPr>
        <p:grpSpPr>
          <a:xfrm>
            <a:off x="11739805" y="4598680"/>
            <a:ext cx="5353682" cy="1701155"/>
            <a:chOff x="0" y="-114300"/>
            <a:chExt cx="1410014" cy="448038"/>
          </a:xfrm>
        </p:grpSpPr>
        <p:sp>
          <p:nvSpPr>
            <p:cNvPr id="120" name="Google Shape;120;p16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1" name="Google Shape;121;p16"/>
            <p:cNvSpPr txBox="1"/>
            <p:nvPr/>
          </p:nvSpPr>
          <p:spPr>
            <a:xfrm>
              <a:off x="0" y="-114300"/>
              <a:ext cx="1295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176619" y="5444302"/>
            <a:ext cx="4613562" cy="845568"/>
            <a:chOff x="0" y="-76200"/>
            <a:chExt cx="1964221" cy="360000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4" name="Google Shape;124;p16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16"/>
          <p:cNvGrpSpPr/>
          <p:nvPr/>
        </p:nvGrpSpPr>
        <p:grpSpPr>
          <a:xfrm>
            <a:off x="176619" y="6425875"/>
            <a:ext cx="4613562" cy="845568"/>
            <a:chOff x="0" y="-76200"/>
            <a:chExt cx="1964221" cy="360000"/>
          </a:xfrm>
        </p:grpSpPr>
        <p:sp>
          <p:nvSpPr>
            <p:cNvPr id="126" name="Google Shape;126;p1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7" name="Google Shape;127;p16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16"/>
          <p:cNvGrpSpPr/>
          <p:nvPr/>
        </p:nvGrpSpPr>
        <p:grpSpPr>
          <a:xfrm>
            <a:off x="176619" y="7349457"/>
            <a:ext cx="4613562" cy="845568"/>
            <a:chOff x="0" y="-76200"/>
            <a:chExt cx="1964221" cy="360000"/>
          </a:xfrm>
        </p:grpSpPr>
        <p:sp>
          <p:nvSpPr>
            <p:cNvPr id="129" name="Google Shape;129;p1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0" name="Google Shape;130;p16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16"/>
          <p:cNvGrpSpPr/>
          <p:nvPr/>
        </p:nvGrpSpPr>
        <p:grpSpPr>
          <a:xfrm>
            <a:off x="176619" y="8412915"/>
            <a:ext cx="4613562" cy="845568"/>
            <a:chOff x="0" y="-76200"/>
            <a:chExt cx="1964221" cy="360000"/>
          </a:xfrm>
        </p:grpSpPr>
        <p:sp>
          <p:nvSpPr>
            <p:cNvPr id="132" name="Google Shape;132;p1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3" name="Google Shape;133;p16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6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6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16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16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16"/>
          <p:cNvSpPr/>
          <p:nvPr/>
        </p:nvSpPr>
        <p:spPr>
          <a:xfrm>
            <a:off x="6488300" y="5365870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16"/>
          <p:cNvSpPr txBox="1"/>
          <p:nvPr/>
        </p:nvSpPr>
        <p:spPr>
          <a:xfrm>
            <a:off x="7087316" y="6295138"/>
            <a:ext cx="3428400" cy="3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Colocaras todos los recordatorios como lo sean, cortos, entregas, horarios de calificación. Colocaras, link de video y link o codigo de quizziz si lo amerita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791595" y="3729597"/>
            <a:ext cx="14704809" cy="3948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comprende las fases de un compilador a través de diagramas de flujo y modelos teóricos con ejemplos de compilación real </a:t>
            </a:r>
            <a:endParaRPr/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evalúa el desempeño de cada fase del compilador a través de métricas de tiempo y uso de memoria para comparar diferentes implementaciones </a:t>
            </a:r>
            <a:endParaRPr/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aplica técnicas de optimización de código como optimización local y global para reducir tamaño de código y mejorar rendimiento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/>
        </p:nvSpPr>
        <p:spPr>
          <a:xfrm>
            <a:off x="1374889" y="654364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791595" y="3720072"/>
            <a:ext cx="14704809" cy="3258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Responsabilidad computacional: Entender el poder de un lenguaje implica usarlo de forma ética y consciente.</a:t>
            </a:r>
            <a:endParaRPr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Optimización responsable: Buscar eficiencia sin sacrificar legibilidad ni corrección.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/>
        </p:nvSpPr>
        <p:spPr>
          <a:xfrm>
            <a:off x="1028700" y="1009650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1791595" y="3246014"/>
            <a:ext cx="14704809" cy="5887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9410" lvl="1" marL="79882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99"/>
              <a:buFont typeface="Arial"/>
              <a:buChar char="•"/>
            </a:pPr>
            <a:r>
              <a:rPr b="0" i="0" lang="en-US" sz="36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Turing Completo: Un lenguaje de programación es Turing completo si puede expresar cualquier cálculo computable, es decir, si puede simular una máquina de Turing.</a:t>
            </a:r>
            <a:endParaRPr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9410" lvl="1" marL="79882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99"/>
              <a:buFont typeface="Arial"/>
              <a:buChar char="•"/>
            </a:pPr>
            <a:r>
              <a:rPr b="0" i="0" lang="en-US" sz="36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Estructuras de Control: Son instrucciones que permiten controlar el flujo de ejecución de un programa.</a:t>
            </a:r>
            <a:endParaRPr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9410" lvl="1" marL="79882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99"/>
              <a:buFont typeface="Arial"/>
              <a:buChar char="•"/>
            </a:pPr>
            <a:r>
              <a:rPr b="0" i="0" lang="en-US" sz="36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Sentencias de Transferencia: Permiten alterar el flujo normal del código, interrumpiendo o redirigiendo la ejecución.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/>
        </p:nvSpPr>
        <p:spPr>
          <a:xfrm>
            <a:off x="5902709" y="617044"/>
            <a:ext cx="6482581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Elementos de un programa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2722718" y="4731844"/>
            <a:ext cx="12842565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Sentencia = </a:t>
            </a:r>
            <a:r>
              <a:rPr b="0" i="1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Statement </a:t>
            </a: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= Unidad Mínima de Ejecución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/>
        </p:nvSpPr>
        <p:spPr>
          <a:xfrm>
            <a:off x="714733" y="3392055"/>
            <a:ext cx="16858534" cy="3502891"/>
          </a:xfrm>
          <a:custGeom>
            <a:rect b="b" l="l" r="r" t="t"/>
            <a:pathLst>
              <a:path extrusionOk="0" h="3502891" w="16858534">
                <a:moveTo>
                  <a:pt x="0" y="0"/>
                </a:moveTo>
                <a:lnTo>
                  <a:pt x="16858534" y="0"/>
                </a:lnTo>
                <a:lnTo>
                  <a:pt x="16858534" y="3502890"/>
                </a:lnTo>
                <a:lnTo>
                  <a:pt x="0" y="3502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21"/>
          <p:cNvSpPr txBox="1"/>
          <p:nvPr/>
        </p:nvSpPr>
        <p:spPr>
          <a:xfrm>
            <a:off x="6702847" y="617044"/>
            <a:ext cx="4882307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Tipos de statements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/>
          <p:nvPr/>
        </p:nvSpPr>
        <p:spPr>
          <a:xfrm>
            <a:off x="2888630" y="1218655"/>
            <a:ext cx="12453589" cy="9451196"/>
          </a:xfrm>
          <a:custGeom>
            <a:rect b="b" l="l" r="r" t="t"/>
            <a:pathLst>
              <a:path extrusionOk="0" h="9451196" w="12453589">
                <a:moveTo>
                  <a:pt x="0" y="0"/>
                </a:moveTo>
                <a:lnTo>
                  <a:pt x="12453590" y="0"/>
                </a:lnTo>
                <a:lnTo>
                  <a:pt x="12453590" y="9451196"/>
                </a:lnTo>
                <a:lnTo>
                  <a:pt x="0" y="9451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22"/>
          <p:cNvSpPr txBox="1"/>
          <p:nvPr/>
        </p:nvSpPr>
        <p:spPr>
          <a:xfrm>
            <a:off x="1820168" y="481069"/>
            <a:ext cx="14647664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Empezando por las declaraciones, ¿Cómo sería su gramática?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/>
        </p:nvSpPr>
        <p:spPr>
          <a:xfrm>
            <a:off x="7566700" y="4731850"/>
            <a:ext cx="3536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Asignaciones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/>
        </p:nvSpPr>
        <p:spPr>
          <a:xfrm>
            <a:off x="7149145" y="678899"/>
            <a:ext cx="3989710" cy="81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Una asignación</a:t>
            </a:r>
            <a:endParaRPr/>
          </a:p>
        </p:txBody>
      </p:sp>
      <p:sp>
        <p:nvSpPr>
          <p:cNvPr id="186" name="Google Shape;186;p24"/>
          <p:cNvSpPr txBox="1"/>
          <p:nvPr/>
        </p:nvSpPr>
        <p:spPr>
          <a:xfrm>
            <a:off x="5196799" y="3484704"/>
            <a:ext cx="7894402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¿Una sentencia o una expresión?</a:t>
            </a:r>
            <a:endParaRPr/>
          </a:p>
        </p:txBody>
      </p:sp>
      <p:sp>
        <p:nvSpPr>
          <p:cNvPr id="187" name="Google Shape;187;p24"/>
          <p:cNvSpPr txBox="1"/>
          <p:nvPr/>
        </p:nvSpPr>
        <p:spPr>
          <a:xfrm>
            <a:off x="5063784" y="5978985"/>
            <a:ext cx="8160432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¿Una asignación regresa un valor?</a:t>
            </a:r>
            <a:endParaRPr/>
          </a:p>
        </p:txBody>
      </p:sp>
      <p:sp>
        <p:nvSpPr>
          <p:cNvPr id="188" name="Google Shape;188;p24"/>
          <p:cNvSpPr txBox="1"/>
          <p:nvPr/>
        </p:nvSpPr>
        <p:spPr>
          <a:xfrm>
            <a:off x="6525276" y="4870448"/>
            <a:ext cx="5237448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Escrito de otra forma: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/>
        </p:nvSpPr>
        <p:spPr>
          <a:xfrm>
            <a:off x="4987696" y="1172252"/>
            <a:ext cx="8312609" cy="1499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Ya sabiendo que es una expresión </a:t>
            </a:r>
            <a:endParaRPr/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y viéndolo como un operador</a:t>
            </a:r>
            <a:endParaRPr/>
          </a:p>
        </p:txBody>
      </p:sp>
      <p:sp>
        <p:nvSpPr>
          <p:cNvPr id="194" name="Google Shape;194;p25"/>
          <p:cNvSpPr txBox="1"/>
          <p:nvPr/>
        </p:nvSpPr>
        <p:spPr>
          <a:xfrm>
            <a:off x="6165856" y="4731844"/>
            <a:ext cx="5956288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¿Qué precedencia tiene?</a:t>
            </a:r>
            <a:endParaRPr/>
          </a:p>
        </p:txBody>
      </p:sp>
      <p:sp>
        <p:nvSpPr>
          <p:cNvPr id="195" name="Google Shape;195;p25"/>
          <p:cNvSpPr txBox="1"/>
          <p:nvPr/>
        </p:nvSpPr>
        <p:spPr>
          <a:xfrm>
            <a:off x="6065490" y="6934754"/>
            <a:ext cx="6157020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¿Qué asociatividad tiene?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/>
        </p:nvSpPr>
        <p:spPr>
          <a:xfrm>
            <a:off x="6165856" y="617044"/>
            <a:ext cx="5956288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¿Qué precedencia tiene?</a:t>
            </a:r>
            <a:endParaRPr/>
          </a:p>
        </p:txBody>
      </p:sp>
      <p:sp>
        <p:nvSpPr>
          <p:cNvPr id="201" name="Google Shape;201;p26"/>
          <p:cNvSpPr/>
          <p:nvPr/>
        </p:nvSpPr>
        <p:spPr>
          <a:xfrm>
            <a:off x="3560618" y="3618751"/>
            <a:ext cx="11166763" cy="3049499"/>
          </a:xfrm>
          <a:custGeom>
            <a:rect b="b" l="l" r="r" t="t"/>
            <a:pathLst>
              <a:path extrusionOk="0" h="3049499" w="11166763">
                <a:moveTo>
                  <a:pt x="0" y="0"/>
                </a:moveTo>
                <a:lnTo>
                  <a:pt x="11166764" y="0"/>
                </a:lnTo>
                <a:lnTo>
                  <a:pt x="11166764" y="3049498"/>
                </a:lnTo>
                <a:lnTo>
                  <a:pt x="0" y="3049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/>
        </p:nvSpPr>
        <p:spPr>
          <a:xfrm>
            <a:off x="6065490" y="4731844"/>
            <a:ext cx="6157020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¿Qué asociatividad tiene?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/>
          <p:nvPr/>
        </p:nvSpPr>
        <p:spPr>
          <a:xfrm>
            <a:off x="4180115" y="4093003"/>
            <a:ext cx="9927769" cy="2100993"/>
          </a:xfrm>
          <a:custGeom>
            <a:rect b="b" l="l" r="r" t="t"/>
            <a:pathLst>
              <a:path extrusionOk="0" h="2100993" w="9927769">
                <a:moveTo>
                  <a:pt x="0" y="0"/>
                </a:moveTo>
                <a:lnTo>
                  <a:pt x="9927770" y="0"/>
                </a:lnTo>
                <a:lnTo>
                  <a:pt x="9927770" y="2100994"/>
                </a:lnTo>
                <a:lnTo>
                  <a:pt x="0" y="2100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28"/>
          <p:cNvSpPr txBox="1"/>
          <p:nvPr/>
        </p:nvSpPr>
        <p:spPr>
          <a:xfrm>
            <a:off x="7909378" y="617044"/>
            <a:ext cx="2469245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Gramática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/>
          <p:nvPr/>
        </p:nvSpPr>
        <p:spPr>
          <a:xfrm>
            <a:off x="1808083" y="2356086"/>
            <a:ext cx="5760908" cy="5805223"/>
          </a:xfrm>
          <a:custGeom>
            <a:rect b="b" l="l" r="r" t="t"/>
            <a:pathLst>
              <a:path extrusionOk="0" h="5805223" w="5760908">
                <a:moveTo>
                  <a:pt x="0" y="0"/>
                </a:moveTo>
                <a:lnTo>
                  <a:pt x="5760909" y="0"/>
                </a:lnTo>
                <a:lnTo>
                  <a:pt x="5760909" y="5805223"/>
                </a:lnTo>
                <a:lnTo>
                  <a:pt x="0" y="58052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29"/>
          <p:cNvSpPr/>
          <p:nvPr/>
        </p:nvSpPr>
        <p:spPr>
          <a:xfrm>
            <a:off x="8754573" y="2265317"/>
            <a:ext cx="8934812" cy="6045256"/>
          </a:xfrm>
          <a:custGeom>
            <a:rect b="b" l="l" r="r" t="t"/>
            <a:pathLst>
              <a:path extrusionOk="0" h="6045256" w="8934812">
                <a:moveTo>
                  <a:pt x="0" y="0"/>
                </a:moveTo>
                <a:lnTo>
                  <a:pt x="8934813" y="0"/>
                </a:lnTo>
                <a:lnTo>
                  <a:pt x="8934813" y="6045256"/>
                </a:lnTo>
                <a:lnTo>
                  <a:pt x="0" y="60452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29"/>
          <p:cNvSpPr txBox="1"/>
          <p:nvPr/>
        </p:nvSpPr>
        <p:spPr>
          <a:xfrm>
            <a:off x="3121856" y="617044"/>
            <a:ext cx="12044288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Otra cosa más a tener en cuenta para la gramática</a:t>
            </a:r>
            <a:endParaRPr/>
          </a:p>
        </p:txBody>
      </p:sp>
      <p:sp>
        <p:nvSpPr>
          <p:cNvPr id="220" name="Google Shape;220;p29"/>
          <p:cNvSpPr txBox="1"/>
          <p:nvPr/>
        </p:nvSpPr>
        <p:spPr>
          <a:xfrm>
            <a:off x="8386161" y="7517917"/>
            <a:ext cx="1999506" cy="1499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l-values </a:t>
            </a:r>
            <a:endParaRPr/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r-values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/>
          <p:nvPr/>
        </p:nvSpPr>
        <p:spPr>
          <a:xfrm>
            <a:off x="2290756" y="4673770"/>
            <a:ext cx="13706488" cy="939461"/>
          </a:xfrm>
          <a:custGeom>
            <a:rect b="b" l="l" r="r" t="t"/>
            <a:pathLst>
              <a:path extrusionOk="0" h="939461" w="13706488">
                <a:moveTo>
                  <a:pt x="0" y="0"/>
                </a:moveTo>
                <a:lnTo>
                  <a:pt x="13706488" y="0"/>
                </a:lnTo>
                <a:lnTo>
                  <a:pt x="13706488" y="939460"/>
                </a:lnTo>
                <a:lnTo>
                  <a:pt x="0" y="939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30"/>
          <p:cNvSpPr txBox="1"/>
          <p:nvPr/>
        </p:nvSpPr>
        <p:spPr>
          <a:xfrm>
            <a:off x="3940411" y="1379607"/>
            <a:ext cx="10407179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Más adelante tal vez se vea algo como esto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/>
        </p:nvSpPr>
        <p:spPr>
          <a:xfrm>
            <a:off x="5411019" y="4731844"/>
            <a:ext cx="7465963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Programando las declaraciones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 txBox="1"/>
          <p:nvPr/>
        </p:nvSpPr>
        <p:spPr>
          <a:xfrm>
            <a:off x="5425064" y="4350844"/>
            <a:ext cx="7437872" cy="1499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Afinando el funcionamiento de</a:t>
            </a:r>
            <a:endParaRPr/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los entornos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/>
          <p:nvPr/>
        </p:nvSpPr>
        <p:spPr>
          <a:xfrm>
            <a:off x="6879185" y="4101701"/>
            <a:ext cx="10473803" cy="2083599"/>
          </a:xfrm>
          <a:custGeom>
            <a:rect b="b" l="l" r="r" t="t"/>
            <a:pathLst>
              <a:path extrusionOk="0" h="2083599" w="10473803">
                <a:moveTo>
                  <a:pt x="0" y="0"/>
                </a:moveTo>
                <a:lnTo>
                  <a:pt x="10473804" y="0"/>
                </a:lnTo>
                <a:lnTo>
                  <a:pt x="10473804" y="2083598"/>
                </a:lnTo>
                <a:lnTo>
                  <a:pt x="0" y="2083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33"/>
          <p:cNvSpPr/>
          <p:nvPr/>
        </p:nvSpPr>
        <p:spPr>
          <a:xfrm>
            <a:off x="371926" y="2609525"/>
            <a:ext cx="6047470" cy="5067950"/>
          </a:xfrm>
          <a:custGeom>
            <a:rect b="b" l="l" r="r" t="t"/>
            <a:pathLst>
              <a:path extrusionOk="0" h="5067950" w="6047470">
                <a:moveTo>
                  <a:pt x="0" y="0"/>
                </a:moveTo>
                <a:lnTo>
                  <a:pt x="6047471" y="0"/>
                </a:lnTo>
                <a:lnTo>
                  <a:pt x="6047471" y="5067950"/>
                </a:lnTo>
                <a:lnTo>
                  <a:pt x="0" y="5067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33"/>
          <p:cNvSpPr txBox="1"/>
          <p:nvPr/>
        </p:nvSpPr>
        <p:spPr>
          <a:xfrm>
            <a:off x="7635720" y="792101"/>
            <a:ext cx="3016560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Scope léxico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/>
          <p:nvPr/>
        </p:nvSpPr>
        <p:spPr>
          <a:xfrm>
            <a:off x="4989787" y="2606576"/>
            <a:ext cx="8308427" cy="5073848"/>
          </a:xfrm>
          <a:custGeom>
            <a:rect b="b" l="l" r="r" t="t"/>
            <a:pathLst>
              <a:path extrusionOk="0" h="5073848" w="8308427">
                <a:moveTo>
                  <a:pt x="0" y="0"/>
                </a:moveTo>
                <a:lnTo>
                  <a:pt x="8308426" y="0"/>
                </a:lnTo>
                <a:lnTo>
                  <a:pt x="8308426" y="5073848"/>
                </a:lnTo>
                <a:lnTo>
                  <a:pt x="0" y="50738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34"/>
          <p:cNvSpPr txBox="1"/>
          <p:nvPr/>
        </p:nvSpPr>
        <p:spPr>
          <a:xfrm>
            <a:off x="6817909" y="617044"/>
            <a:ext cx="4652181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parent-pointer tree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/>
        </p:nvSpPr>
        <p:spPr>
          <a:xfrm>
            <a:off x="2838059" y="4731844"/>
            <a:ext cx="12611881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¿Cúando se crea esa referencia a un nuevo entorno?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/>
        </p:nvSpPr>
        <p:spPr>
          <a:xfrm>
            <a:off x="5450756" y="4731844"/>
            <a:ext cx="7386489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Cuando creo un nuevo Bloque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/>
          <p:nvPr/>
        </p:nvSpPr>
        <p:spPr>
          <a:xfrm>
            <a:off x="4953279" y="1149212"/>
            <a:ext cx="8381442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¿En donde puedo colocar bloques?</a:t>
            </a:r>
            <a:endParaRPr/>
          </a:p>
        </p:txBody>
      </p:sp>
      <p:sp>
        <p:nvSpPr>
          <p:cNvPr id="265" name="Google Shape;265;p37"/>
          <p:cNvSpPr txBox="1"/>
          <p:nvPr/>
        </p:nvSpPr>
        <p:spPr>
          <a:xfrm>
            <a:off x="4425464" y="4731844"/>
            <a:ext cx="325189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if</a:t>
            </a:r>
            <a:endParaRPr/>
          </a:p>
        </p:txBody>
      </p:sp>
      <p:sp>
        <p:nvSpPr>
          <p:cNvPr id="266" name="Google Shape;266;p37"/>
          <p:cNvSpPr txBox="1"/>
          <p:nvPr/>
        </p:nvSpPr>
        <p:spPr>
          <a:xfrm>
            <a:off x="8160540" y="4731844"/>
            <a:ext cx="1292758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while</a:t>
            </a:r>
            <a:endParaRPr/>
          </a:p>
        </p:txBody>
      </p:sp>
      <p:sp>
        <p:nvSpPr>
          <p:cNvPr id="267" name="Google Shape;267;p37"/>
          <p:cNvSpPr txBox="1"/>
          <p:nvPr/>
        </p:nvSpPr>
        <p:spPr>
          <a:xfrm>
            <a:off x="13156718" y="4731844"/>
            <a:ext cx="705817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for</a:t>
            </a:r>
            <a:endParaRPr/>
          </a:p>
        </p:txBody>
      </p:sp>
      <p:sp>
        <p:nvSpPr>
          <p:cNvPr id="268" name="Google Shape;268;p37"/>
          <p:cNvSpPr txBox="1"/>
          <p:nvPr/>
        </p:nvSpPr>
        <p:spPr>
          <a:xfrm>
            <a:off x="5566282" y="6070775"/>
            <a:ext cx="2190564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try-catch</a:t>
            </a:r>
            <a:endParaRPr/>
          </a:p>
        </p:txBody>
      </p:sp>
      <p:sp>
        <p:nvSpPr>
          <p:cNvPr id="269" name="Google Shape;269;p37"/>
          <p:cNvSpPr txBox="1"/>
          <p:nvPr/>
        </p:nvSpPr>
        <p:spPr>
          <a:xfrm>
            <a:off x="10935967" y="6070775"/>
            <a:ext cx="1570881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switch</a:t>
            </a:r>
            <a:endParaRPr/>
          </a:p>
        </p:txBody>
      </p:sp>
      <p:sp>
        <p:nvSpPr>
          <p:cNvPr id="270" name="Google Shape;270;p37"/>
          <p:cNvSpPr txBox="1"/>
          <p:nvPr/>
        </p:nvSpPr>
        <p:spPr>
          <a:xfrm>
            <a:off x="7556376" y="7991924"/>
            <a:ext cx="3175248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etc, etc, etc...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 txBox="1"/>
          <p:nvPr/>
        </p:nvSpPr>
        <p:spPr>
          <a:xfrm>
            <a:off x="2837222" y="3207844"/>
            <a:ext cx="12613556" cy="378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Los { } que definen a un bloque, no son mera sintaxis</a:t>
            </a:r>
            <a:endParaRPr/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336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 podemos ver como un operador/sentencia nueva</a:t>
            </a:r>
            <a:endParaRPr/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336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Igual que los ( ) en una operación matemática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9"/>
          <p:cNvSpPr/>
          <p:nvPr/>
        </p:nvSpPr>
        <p:spPr>
          <a:xfrm>
            <a:off x="5095069" y="2127669"/>
            <a:ext cx="8097863" cy="4925770"/>
          </a:xfrm>
          <a:custGeom>
            <a:rect b="b" l="l" r="r" t="t"/>
            <a:pathLst>
              <a:path extrusionOk="0" h="4925770" w="8097863">
                <a:moveTo>
                  <a:pt x="0" y="0"/>
                </a:moveTo>
                <a:lnTo>
                  <a:pt x="8097862" y="0"/>
                </a:lnTo>
                <a:lnTo>
                  <a:pt x="8097862" y="4925770"/>
                </a:lnTo>
                <a:lnTo>
                  <a:pt x="0" y="49257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39"/>
          <p:cNvSpPr/>
          <p:nvPr/>
        </p:nvSpPr>
        <p:spPr>
          <a:xfrm>
            <a:off x="4210823" y="7998693"/>
            <a:ext cx="9866355" cy="924971"/>
          </a:xfrm>
          <a:custGeom>
            <a:rect b="b" l="l" r="r" t="t"/>
            <a:pathLst>
              <a:path extrusionOk="0" h="924971" w="9866355">
                <a:moveTo>
                  <a:pt x="0" y="0"/>
                </a:moveTo>
                <a:lnTo>
                  <a:pt x="9866354" y="0"/>
                </a:lnTo>
                <a:lnTo>
                  <a:pt x="9866354" y="924971"/>
                </a:lnTo>
                <a:lnTo>
                  <a:pt x="0" y="9249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39"/>
          <p:cNvSpPr txBox="1"/>
          <p:nvPr/>
        </p:nvSpPr>
        <p:spPr>
          <a:xfrm>
            <a:off x="914251" y="792101"/>
            <a:ext cx="16459498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 tratarlo como una sentencia/operador, su gramática se simplifica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0"/>
          <p:cNvSpPr txBox="1"/>
          <p:nvPr/>
        </p:nvSpPr>
        <p:spPr>
          <a:xfrm>
            <a:off x="6085954" y="4731844"/>
            <a:ext cx="6116092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Programando los bloques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1"/>
          <p:cNvSpPr txBox="1"/>
          <p:nvPr/>
        </p:nvSpPr>
        <p:spPr>
          <a:xfrm>
            <a:off x="4486145" y="4731844"/>
            <a:ext cx="9315710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¿Qué es un lenguaje de programación?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/>
          <p:nvPr/>
        </p:nvSpPr>
        <p:spPr>
          <a:xfrm>
            <a:off x="1028700" y="3988970"/>
            <a:ext cx="4233277" cy="2309060"/>
          </a:xfrm>
          <a:custGeom>
            <a:rect b="b" l="l" r="r" t="t"/>
            <a:pathLst>
              <a:path extrusionOk="0" h="2309060" w="4233277">
                <a:moveTo>
                  <a:pt x="0" y="0"/>
                </a:moveTo>
                <a:lnTo>
                  <a:pt x="4233277" y="0"/>
                </a:lnTo>
                <a:lnTo>
                  <a:pt x="4233277" y="2309060"/>
                </a:lnTo>
                <a:lnTo>
                  <a:pt x="0" y="2309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42"/>
          <p:cNvSpPr txBox="1"/>
          <p:nvPr/>
        </p:nvSpPr>
        <p:spPr>
          <a:xfrm>
            <a:off x="5940566" y="4731844"/>
            <a:ext cx="9816703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¿HTML es un lenguaje de programación?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 txBox="1"/>
          <p:nvPr/>
        </p:nvSpPr>
        <p:spPr>
          <a:xfrm>
            <a:off x="2524869" y="4731844"/>
            <a:ext cx="13238262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¿Cómo se puede medir que tan “capaz” es un lenguaje?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 txBox="1"/>
          <p:nvPr/>
        </p:nvSpPr>
        <p:spPr>
          <a:xfrm>
            <a:off x="7108310" y="4731844"/>
            <a:ext cx="4071379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Turing Completo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 txBox="1"/>
          <p:nvPr/>
        </p:nvSpPr>
        <p:spPr>
          <a:xfrm>
            <a:off x="1966868" y="3969844"/>
            <a:ext cx="14354265" cy="2261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Turing completo se entiende a aquel lenguaje que tiene un poder computacional equivalente a lo que se denomina Máquina de Turing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6"/>
          <p:cNvSpPr txBox="1"/>
          <p:nvPr/>
        </p:nvSpPr>
        <p:spPr>
          <a:xfrm>
            <a:off x="6781912" y="942975"/>
            <a:ext cx="4724177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 poco de historia</a:t>
            </a:r>
            <a:endParaRPr/>
          </a:p>
        </p:txBody>
      </p:sp>
      <p:sp>
        <p:nvSpPr>
          <p:cNvPr id="319" name="Google Shape;319;p46"/>
          <p:cNvSpPr txBox="1"/>
          <p:nvPr/>
        </p:nvSpPr>
        <p:spPr>
          <a:xfrm>
            <a:off x="2443990" y="2808685"/>
            <a:ext cx="13400020" cy="1499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 el siglo XX se cuestionó la base axiomática de las mátematicas</a:t>
            </a:r>
            <a:endParaRPr/>
          </a:p>
        </p:txBody>
      </p:sp>
      <p:sp>
        <p:nvSpPr>
          <p:cNvPr id="320" name="Google Shape;320;p46"/>
          <p:cNvSpPr txBox="1"/>
          <p:nvPr/>
        </p:nvSpPr>
        <p:spPr>
          <a:xfrm>
            <a:off x="5283491" y="5270912"/>
            <a:ext cx="7721017" cy="2261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¿La matemática es completa?</a:t>
            </a:r>
            <a:endParaRPr/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¿La matemática es consistente? </a:t>
            </a:r>
            <a:endParaRPr/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¿Es la matemática </a:t>
            </a:r>
            <a:r>
              <a:rPr b="0" i="1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decidible</a:t>
            </a: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7"/>
          <p:cNvSpPr/>
          <p:nvPr/>
        </p:nvSpPr>
        <p:spPr>
          <a:xfrm>
            <a:off x="3017308" y="1702554"/>
            <a:ext cx="12253383" cy="6881891"/>
          </a:xfrm>
          <a:custGeom>
            <a:rect b="b" l="l" r="r" t="t"/>
            <a:pathLst>
              <a:path extrusionOk="0" h="6881891" w="12253383">
                <a:moveTo>
                  <a:pt x="0" y="0"/>
                </a:moveTo>
                <a:lnTo>
                  <a:pt x="12253384" y="0"/>
                </a:lnTo>
                <a:lnTo>
                  <a:pt x="12253384" y="6881892"/>
                </a:lnTo>
                <a:lnTo>
                  <a:pt x="0" y="68818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47"/>
          <p:cNvSpPr txBox="1"/>
          <p:nvPr/>
        </p:nvSpPr>
        <p:spPr>
          <a:xfrm>
            <a:off x="5467573" y="538667"/>
            <a:ext cx="7352854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Así nació la máquina de Turing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8"/>
          <p:cNvSpPr txBox="1"/>
          <p:nvPr/>
        </p:nvSpPr>
        <p:spPr>
          <a:xfrm>
            <a:off x="2611189" y="2445844"/>
            <a:ext cx="13065621" cy="6071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La máquina de Turing es capaz de calcular cualquier </a:t>
            </a:r>
            <a:endParaRPr/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cosa calculable</a:t>
            </a:r>
            <a:endParaRPr/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336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Por tanto</a:t>
            </a:r>
            <a:endParaRPr/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336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 nuestro lenguaje es Turing completo, por extensión,</a:t>
            </a:r>
            <a:endParaRPr/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nuestro lenguaje también es capaz de calcular</a:t>
            </a:r>
            <a:endParaRPr/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cualquier cosa (calculable)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"/>
          <p:cNvSpPr txBox="1"/>
          <p:nvPr/>
        </p:nvSpPr>
        <p:spPr>
          <a:xfrm>
            <a:off x="2906613" y="1163738"/>
            <a:ext cx="12474773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¿Qué nos hace falta para que sea Turing-Completo?</a:t>
            </a:r>
            <a:endParaRPr/>
          </a:p>
        </p:txBody>
      </p:sp>
      <p:sp>
        <p:nvSpPr>
          <p:cNvPr id="337" name="Google Shape;337;p49"/>
          <p:cNvSpPr txBox="1"/>
          <p:nvPr/>
        </p:nvSpPr>
        <p:spPr>
          <a:xfrm>
            <a:off x="4881842" y="3959667"/>
            <a:ext cx="8524317" cy="378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Aritmética básica</a:t>
            </a:r>
            <a:endParaRPr/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336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Una cantidad arbitraría de memoria</a:t>
            </a:r>
            <a:endParaRPr/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336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Conditional Branching / Control Flow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/>
        </p:nvSpPr>
        <p:spPr>
          <a:xfrm>
            <a:off x="2804945" y="4731844"/>
            <a:ext cx="12678110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Hagamos que nuestro lenguaje sea Turing-Completo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1"/>
          <p:cNvSpPr/>
          <p:nvPr/>
        </p:nvSpPr>
        <p:spPr>
          <a:xfrm>
            <a:off x="3955960" y="3330579"/>
            <a:ext cx="10376079" cy="3625842"/>
          </a:xfrm>
          <a:custGeom>
            <a:rect b="b" l="l" r="r" t="t"/>
            <a:pathLst>
              <a:path extrusionOk="0" h="3625842" w="10376079">
                <a:moveTo>
                  <a:pt x="0" y="0"/>
                </a:moveTo>
                <a:lnTo>
                  <a:pt x="10376080" y="0"/>
                </a:lnTo>
                <a:lnTo>
                  <a:pt x="10376080" y="3625842"/>
                </a:lnTo>
                <a:lnTo>
                  <a:pt x="0" y="36258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8" name="Google Shape;348;p51"/>
          <p:cNvSpPr txBox="1"/>
          <p:nvPr/>
        </p:nvSpPr>
        <p:spPr>
          <a:xfrm>
            <a:off x="7230256" y="768970"/>
            <a:ext cx="3827487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Gramática del If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2"/>
          <p:cNvSpPr/>
          <p:nvPr/>
        </p:nvSpPr>
        <p:spPr>
          <a:xfrm>
            <a:off x="3928464" y="2995238"/>
            <a:ext cx="10431072" cy="1266090"/>
          </a:xfrm>
          <a:custGeom>
            <a:rect b="b" l="l" r="r" t="t"/>
            <a:pathLst>
              <a:path extrusionOk="0" h="1266090" w="10431072">
                <a:moveTo>
                  <a:pt x="0" y="0"/>
                </a:moveTo>
                <a:lnTo>
                  <a:pt x="10431072" y="0"/>
                </a:lnTo>
                <a:lnTo>
                  <a:pt x="10431072" y="1266090"/>
                </a:lnTo>
                <a:lnTo>
                  <a:pt x="0" y="1266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4" name="Google Shape;354;p52"/>
          <p:cNvSpPr/>
          <p:nvPr/>
        </p:nvSpPr>
        <p:spPr>
          <a:xfrm>
            <a:off x="3642230" y="5143500"/>
            <a:ext cx="11003541" cy="3026362"/>
          </a:xfrm>
          <a:custGeom>
            <a:rect b="b" l="l" r="r" t="t"/>
            <a:pathLst>
              <a:path extrusionOk="0" h="3026362" w="11003541">
                <a:moveTo>
                  <a:pt x="0" y="0"/>
                </a:moveTo>
                <a:lnTo>
                  <a:pt x="11003540" y="0"/>
                </a:lnTo>
                <a:lnTo>
                  <a:pt x="11003540" y="3026362"/>
                </a:lnTo>
                <a:lnTo>
                  <a:pt x="0" y="3026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52"/>
          <p:cNvSpPr txBox="1"/>
          <p:nvPr/>
        </p:nvSpPr>
        <p:spPr>
          <a:xfrm>
            <a:off x="982624" y="617044"/>
            <a:ext cx="5396322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 pequeño problema</a:t>
            </a:r>
            <a:endParaRPr/>
          </a:p>
        </p:txBody>
      </p:sp>
      <p:sp>
        <p:nvSpPr>
          <p:cNvPr id="356" name="Google Shape;356;p52"/>
          <p:cNvSpPr txBox="1"/>
          <p:nvPr/>
        </p:nvSpPr>
        <p:spPr>
          <a:xfrm>
            <a:off x="13895080" y="8969962"/>
            <a:ext cx="2940100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dangling else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3"/>
          <p:cNvSpPr/>
          <p:nvPr/>
        </p:nvSpPr>
        <p:spPr>
          <a:xfrm>
            <a:off x="3872582" y="3383336"/>
            <a:ext cx="10542837" cy="3520328"/>
          </a:xfrm>
          <a:custGeom>
            <a:rect b="b" l="l" r="r" t="t"/>
            <a:pathLst>
              <a:path extrusionOk="0" h="3520328" w="10542837">
                <a:moveTo>
                  <a:pt x="0" y="0"/>
                </a:moveTo>
                <a:lnTo>
                  <a:pt x="10542836" y="0"/>
                </a:lnTo>
                <a:lnTo>
                  <a:pt x="10542836" y="3520328"/>
                </a:lnTo>
                <a:lnTo>
                  <a:pt x="0" y="3520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53"/>
          <p:cNvSpPr txBox="1"/>
          <p:nvPr/>
        </p:nvSpPr>
        <p:spPr>
          <a:xfrm>
            <a:off x="1250617" y="942975"/>
            <a:ext cx="4772918" cy="73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6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Gramática del while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/>
        </p:nvSpPr>
        <p:spPr>
          <a:xfrm>
            <a:off x="3783911" y="3336688"/>
            <a:ext cx="10372536" cy="1806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endParaRPr/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BIBLIOGRAFICAS</a:t>
            </a:r>
            <a:endParaRPr/>
          </a:p>
        </p:txBody>
      </p:sp>
      <p:sp>
        <p:nvSpPr>
          <p:cNvPr id="368" name="Google Shape;368;p54"/>
          <p:cNvSpPr txBox="1"/>
          <p:nvPr/>
        </p:nvSpPr>
        <p:spPr>
          <a:xfrm>
            <a:off x="1698706" y="5067300"/>
            <a:ext cx="14890588" cy="1243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731" lvl="1" marL="763462" marR="0" rtl="0" algn="just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36"/>
              <a:buFont typeface="Arial"/>
              <a:buChar char="•"/>
            </a:pPr>
            <a:r>
              <a:rPr b="0" i="0" lang="en-US" sz="3536" u="none" cap="none" strike="noStrike">
                <a:solidFill>
                  <a:srgbClr val="131416"/>
                </a:solidFill>
                <a:latin typeface="Lato"/>
                <a:ea typeface="Lato"/>
                <a:cs typeface="Lato"/>
                <a:sym typeface="Lato"/>
              </a:rPr>
              <a:t>Compiladores, Principios, Técnicas y HerramientasAho, Sethi y Ullmam. PEARSON ADDISON- WESLEY, 2008, segunda edición.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5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5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375" name="Google Shape;375;p55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6" name="Google Shape;376;p55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