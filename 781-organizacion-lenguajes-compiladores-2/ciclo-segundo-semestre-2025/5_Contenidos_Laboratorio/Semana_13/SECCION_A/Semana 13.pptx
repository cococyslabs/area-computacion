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embeddedFontLst>
    <p:embeddedFont>
      <p:font typeface="Lato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A54A4C0-57B2-43A7-AC6B-F9CCC8AA8504}">
  <a:tblStyle styleId="{0A54A4C0-57B2-43A7-AC6B-F9CCC8AA850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Lato-regular.fntdata"/><Relationship Id="rId14" Type="http://schemas.openxmlformats.org/officeDocument/2006/relationships/slide" Target="slides/slide8.xml"/><Relationship Id="rId17" Type="http://schemas.openxmlformats.org/officeDocument/2006/relationships/font" Target="fonts/Lato-italic.fntdata"/><Relationship Id="rId16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285a37b1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9285a37b1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80d3f267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80d3f267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9285a37b13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9285a37b13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bbfd331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bbfd331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bbfd331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bbfd331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d9bbfd331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d9bbfd331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bbfd331e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d9bbfd331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9bbfd331e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9bbfd331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Font typeface="Lato"/>
              <a:buNone/>
              <a:defRPr sz="23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15825" y="99800"/>
            <a:ext cx="2005325" cy="5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 rot="5400000">
            <a:off x="-530850" y="-675350"/>
            <a:ext cx="2752800" cy="1067700"/>
          </a:xfrm>
          <a:prstGeom prst="chevron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" name="Google Shape;23;p3" title="Usac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247" y="998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525" y="4618425"/>
            <a:ext cx="9144000" cy="531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sz="14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5" name="Google Shape;35;p5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39" name="Google Shape;39;p6"/>
          <p:cNvSpPr/>
          <p:nvPr/>
        </p:nvSpPr>
        <p:spPr>
          <a:xfrm>
            <a:off x="0" y="445025"/>
            <a:ext cx="8832300" cy="635100"/>
          </a:xfrm>
          <a:prstGeom prst="homePlate">
            <a:avLst>
              <a:gd fmla="val 50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None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Lato"/>
              <a:buNone/>
              <a:defRPr b="1" sz="24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3" name="Google Shape;4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●"/>
              <a:defRPr sz="1200">
                <a:latin typeface="Lato"/>
                <a:ea typeface="Lato"/>
                <a:cs typeface="Lato"/>
                <a:sym typeface="Lato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○"/>
              <a:defRPr sz="1200">
                <a:latin typeface="Lato"/>
                <a:ea typeface="Lato"/>
                <a:cs typeface="Lato"/>
                <a:sym typeface="Lato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Lato"/>
              <a:buChar char="■"/>
              <a:defRPr sz="1200"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SAC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Lato"/>
              <a:buNone/>
              <a:defRPr b="1" sz="4800"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Lato"/>
              <a:buNone/>
              <a:defRPr b="1" sz="42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Lato"/>
              <a:buNone/>
              <a:defRPr sz="21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●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○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Lato"/>
              <a:buChar char="■"/>
              <a:defRPr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  <p:sp>
        <p:nvSpPr>
          <p:cNvPr id="56" name="Google Shape;56;p10"/>
          <p:cNvSpPr/>
          <p:nvPr/>
        </p:nvSpPr>
        <p:spPr>
          <a:xfrm>
            <a:off x="771300" y="4101875"/>
            <a:ext cx="7601400" cy="789300"/>
          </a:xfrm>
          <a:prstGeom prst="ellipseRibbon2">
            <a:avLst>
              <a:gd fmla="val 25000" name="adj1"/>
              <a:gd fmla="val 91057" name="adj2"/>
              <a:gd fmla="val 13560" name="adj3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7" name="Google Shape;57;p10"/>
          <p:cNvSpPr txBox="1"/>
          <p:nvPr/>
        </p:nvSpPr>
        <p:spPr>
          <a:xfrm>
            <a:off x="1727625" y="4148100"/>
            <a:ext cx="56457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Font typeface="Lato"/>
              <a:buNone/>
              <a:defRPr b="1" sz="12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0" name="Google Shape;6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61" name="Google Shape;6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johannst.github.io/notes/arch/arm64.html" TargetMode="External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3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0" y="0"/>
            <a:ext cx="9144000" cy="5153076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3"/>
          <p:cNvSpPr/>
          <p:nvPr/>
        </p:nvSpPr>
        <p:spPr>
          <a:xfrm>
            <a:off x="1266200" y="2220250"/>
            <a:ext cx="5441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419" sz="277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2</a:t>
            </a:r>
            <a:r>
              <a:rPr lang="es-419" sz="2771"/>
              <a:t> Sección A</a:t>
            </a:r>
            <a:endParaRPr b="0" i="0" sz="277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1574556" y="3147171"/>
            <a:ext cx="5084700" cy="5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01325" lIns="101325" spcFirstLastPara="1" rIns="101325" wrap="square" tIns="101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217"/>
              <a:t>Diego Felipe Cali Morales</a:t>
            </a:r>
            <a:endParaRPr b="0" i="0" sz="221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5231045" y="1013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{0A54A4C0-57B2-43A7-AC6B-F9CCC8AA8504}</a:tableStyleId>
              </a:tblPr>
              <a:tblGrid>
                <a:gridCol w="1504050"/>
                <a:gridCol w="2152100"/>
              </a:tblGrid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Martes, </a:t>
                      </a:r>
                      <a:r>
                        <a:rPr lang="es-419" sz="1200"/>
                        <a:t>28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lang="es-419" sz="1200"/>
                        <a:t>04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/202</a:t>
                      </a:r>
                      <a:r>
                        <a:rPr lang="es-419" sz="1200"/>
                        <a:t>6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59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/>
                        <a:t>17</a:t>
                      </a:r>
                      <a:r>
                        <a:rPr b="0" lang="es-419" sz="1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:</a:t>
                      </a:r>
                      <a:r>
                        <a:rPr lang="es-419" sz="1200"/>
                        <a:t>20</a:t>
                      </a:r>
                      <a:endParaRPr b="0" sz="12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91450" marR="182150" marL="182150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Retorno de valores en en funciones recursivas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Caller &amp; Callee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Contrato ABI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Ejercicio: esPar, esImpar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Caller/Calle-saved Registers ARM64d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Implementación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Recordatorios: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Foro de esta semana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/>
              <a:t>Hoja de calificación</a:t>
            </a:r>
            <a:endParaRPr/>
          </a:p>
        </p:txBody>
      </p:sp>
      <p:sp>
        <p:nvSpPr>
          <p:cNvPr id="82" name="Google Shape;82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➔"/>
            </a:pPr>
            <a:r>
              <a:rPr lang="es-419" u="sng">
                <a:solidFill>
                  <a:schemeClr val="hlink"/>
                </a:solidFill>
                <a:hlinkClick r:id="rId3"/>
              </a:rPr>
              <a:t>ARM Cheat Sheet</a:t>
            </a:r>
            <a:endParaRPr/>
          </a:p>
        </p:txBody>
      </p:sp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Agenda</a:t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818104" y="115248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5"/>
          <p:cNvSpPr txBox="1"/>
          <p:nvPr/>
        </p:nvSpPr>
        <p:spPr>
          <a:xfrm>
            <a:off x="4832400" y="2911975"/>
            <a:ext cx="3999900" cy="16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Valor:</a:t>
            </a:r>
            <a:endParaRPr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s-419" sz="16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Precisión </a:t>
            </a:r>
            <a:endParaRPr i="1" sz="1600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i="1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Caller &amp; Callee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311700" y="1152475"/>
            <a:ext cx="485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/>
              <a:t>Caller (invocador)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Función que transfiere control a otra función. Es responsable de: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Preparar argumentos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Preservar registros caller-saved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Continuar ejecución tras el retorno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/>
              <a:t>Callee (invocado)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Función que recibe el control. Es responsable de: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Crear su stack frame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Preservar registros callee-saved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Producir el return value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Restaurar estado antes de retornar</a:t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5163" y="1884350"/>
            <a:ext cx="3667125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99300"/>
            <a:ext cx="8839201" cy="3526972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/>
          <p:nvPr/>
        </p:nvSpPr>
        <p:spPr>
          <a:xfrm>
            <a:off x="2023100" y="980700"/>
            <a:ext cx="2901000" cy="22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5458975" y="2688325"/>
            <a:ext cx="3045000" cy="2262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7"/>
          <p:cNvSpPr txBox="1"/>
          <p:nvPr/>
        </p:nvSpPr>
        <p:spPr>
          <a:xfrm>
            <a:off x="2230050" y="4169675"/>
            <a:ext cx="4683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Contrato ABI</a:t>
            </a:r>
            <a:endParaRPr b="1" sz="2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esPar, esImpar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Traducir este programa a código de tres direcciones (TAC) implementando explícitamente:</a:t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Manejo de la pila (pila[...])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Uso de un puntero de activación (pos)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Paso de argumentos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Retorno de valores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Manejo del return address</a:t>
            </a:r>
            <a:endParaRPr/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-419"/>
              <a:t>Preservación de temporales (caller-saved / callee-saved simulado)</a:t>
            </a:r>
            <a:endParaRPr/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4775" y="1436688"/>
            <a:ext cx="3057525" cy="284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/>
          <p:nvPr>
            <p:ph type="title"/>
          </p:nvPr>
        </p:nvSpPr>
        <p:spPr>
          <a:xfrm>
            <a:off x="311700" y="445025"/>
            <a:ext cx="816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Registros específicos para ARM64</a:t>
            </a:r>
            <a:endParaRPr/>
          </a:p>
        </p:txBody>
      </p:sp>
      <p:sp>
        <p:nvSpPr>
          <p:cNvPr id="113" name="Google Shape;11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426" y="1152474"/>
            <a:ext cx="737513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Implementación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