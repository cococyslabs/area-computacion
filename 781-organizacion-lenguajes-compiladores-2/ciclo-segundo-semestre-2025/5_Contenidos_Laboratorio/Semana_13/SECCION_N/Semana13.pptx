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9B14C1-5520-4EB5-A311-C3CBF6265448}">
  <a:tblStyle styleId="{6F9B14C1-5520-4EB5-A311-C3CBF626544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633baeb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633baeb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633baebf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633baebf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a55cc287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a55cc287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a55cc287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a55cc28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6e7acbf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86e7acb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a55cc287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a55cc287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633baebfa_0_1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633baebf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a55cc287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a55cc287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633baebfa_0_2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633baebf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a55cc28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a55cc28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633baebfa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633baebfa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c6f73a04f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c6f73a0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a55cc2878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a55cc287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86e7acbf8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86e7acbf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N</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Omar Alejandro Vides Esteban</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{6F9B14C1-5520-4EB5-A311-C3CBF6265448}</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28</a:t>
                      </a:r>
                      <a:r>
                        <a:rPr b="0" lang="es" sz="1200" u="none" cap="none" strike="noStrike">
                          <a:solidFill>
                            <a:srgbClr val="000000"/>
                          </a:solidFill>
                          <a:latin typeface="Arial"/>
                          <a:ea typeface="Arial"/>
                          <a:cs typeface="Arial"/>
                          <a:sym typeface="Arial"/>
                        </a:rPr>
                        <a:t>/</a:t>
                      </a:r>
                      <a:r>
                        <a:rPr lang="es" sz="1200"/>
                        <a:t>04</a:t>
                      </a:r>
                      <a:r>
                        <a:rPr b="0" lang="es" sz="1200" u="none" cap="none" strike="noStrike">
                          <a:solidFill>
                            <a:srgbClr val="000000"/>
                          </a:solidFill>
                          <a:latin typeface="Arial"/>
                          <a:ea typeface="Arial"/>
                          <a:cs typeface="Arial"/>
                          <a:sym typeface="Arial"/>
                        </a:rPr>
                        <a:t>/202</a:t>
                      </a:r>
                      <a:r>
                        <a:rPr lang="es"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a:t>
            </a:r>
            <a:r>
              <a:rPr lang="es"/>
              <a:t>ón de Código</a:t>
            </a:r>
            <a:endParaRPr/>
          </a:p>
        </p:txBody>
      </p:sp>
      <p:sp>
        <p:nvSpPr>
          <p:cNvPr id="76" name="Google Shape;76;p14"/>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Organización</a:t>
            </a:r>
            <a:r>
              <a:rPr lang="es" sz="2400"/>
              <a:t> de Lenguajes y Compiladores 2</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Optimizacion de Bucles</a:t>
            </a:r>
            <a:endParaRPr/>
          </a:p>
          <a:p>
            <a:pPr indent="0" lvl="0" marL="0" rtl="0" algn="l">
              <a:lnSpc>
                <a:spcPct val="100000"/>
              </a:lnSpc>
              <a:spcBef>
                <a:spcPts val="1600"/>
              </a:spcBef>
              <a:spcAft>
                <a:spcPts val="0"/>
              </a:spcAft>
              <a:buNone/>
            </a:pPr>
            <a:r>
              <a:rPr lang="es"/>
              <a:t>Simplificacion Algebraica</a:t>
            </a:r>
            <a:endParaRPr/>
          </a:p>
          <a:p>
            <a:pPr indent="0" lvl="0" marL="0" rtl="0" algn="l">
              <a:lnSpc>
                <a:spcPct val="100000"/>
              </a:lnSpc>
              <a:spcBef>
                <a:spcPts val="1600"/>
              </a:spcBef>
              <a:spcAft>
                <a:spcPts val="0"/>
              </a:spcAft>
              <a:buNone/>
            </a:pPr>
            <a:r>
              <a:rPr lang="es"/>
              <a:t>Saltos Condicionales</a:t>
            </a:r>
            <a:endParaRPr/>
          </a:p>
          <a:p>
            <a:pPr indent="0" lvl="0" marL="0" rtl="0" algn="l">
              <a:lnSpc>
                <a:spcPct val="100000"/>
              </a:lnSpc>
              <a:spcBef>
                <a:spcPts val="1600"/>
              </a:spcBef>
              <a:spcAft>
                <a:spcPts val="0"/>
              </a:spcAft>
              <a:buNone/>
            </a:pPr>
            <a:r>
              <a:rPr lang="es"/>
              <a:t>Recolecci</a:t>
            </a:r>
            <a:r>
              <a:rPr lang="es"/>
              <a:t>ón de Basura</a:t>
            </a:r>
            <a:endParaRPr/>
          </a:p>
          <a:p>
            <a:pPr indent="0" lvl="0" marL="0" rtl="0" algn="l">
              <a:lnSpc>
                <a:spcPct val="100000"/>
              </a:lnSpc>
              <a:spcBef>
                <a:spcPts val="1600"/>
              </a:spcBef>
              <a:spcAft>
                <a:spcPts val="0"/>
              </a:spcAft>
              <a:buNone/>
            </a:pPr>
            <a:r>
              <a:rPr lang="es"/>
              <a:t>Memory Leaks</a:t>
            </a:r>
            <a:endParaRPr/>
          </a:p>
          <a:p>
            <a:pPr indent="0" lvl="0" marL="0" rtl="0" algn="l">
              <a:lnSpc>
                <a:spcPct val="100000"/>
              </a:lnSpc>
              <a:spcBef>
                <a:spcPts val="1600"/>
              </a:spcBef>
              <a:spcAft>
                <a:spcPts val="1600"/>
              </a:spcAft>
              <a:buNone/>
            </a:pPr>
            <a:r>
              <a:t/>
            </a:r>
            <a:endParaRPr/>
          </a:p>
        </p:txBody>
      </p:sp>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Agenda</a:t>
            </a:r>
            <a:endParaRPr/>
          </a:p>
        </p:txBody>
      </p:sp>
      <p:sp>
        <p:nvSpPr>
          <p:cNvPr id="83" name="Google Shape;83;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4" name="Google Shape;84;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Precisión</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5" name="Google Shape;85;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Hoja de Calificación</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a:t>
            </a:r>
            <a:r>
              <a:rPr lang="es"/>
              <a:t>ó</a:t>
            </a:r>
            <a:r>
              <a:rPr lang="es"/>
              <a:t>n de bucles</a:t>
            </a:r>
            <a:endParaRPr/>
          </a:p>
        </p:txBody>
      </p:sp>
      <p:sp>
        <p:nvSpPr>
          <p:cNvPr id="91" name="Google Shape;91;p16"/>
          <p:cNvSpPr txBox="1"/>
          <p:nvPr/>
        </p:nvSpPr>
        <p:spPr>
          <a:xfrm>
            <a:off x="311700" y="1727100"/>
            <a:ext cx="81630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Lato"/>
              <a:buChar char="●"/>
            </a:pPr>
            <a:r>
              <a:rPr lang="es" sz="1800">
                <a:solidFill>
                  <a:srgbClr val="595959"/>
                </a:solidFill>
                <a:latin typeface="Lato"/>
                <a:ea typeface="Lato"/>
                <a:cs typeface="Lato"/>
                <a:sym typeface="Lato"/>
              </a:rPr>
              <a:t>Los bucles son secuencias de instrucciones que se repiten una determinada cantidad de veces, esta cantidad puede ser predecible o no. Por lo general se busca evitar la repeticion de operaciones costosas cuando se tiene la oportunidad, para esto se pueden usar tecnicas de segregación de código invariante o cambiar el procesamiento a funcionar por paquetes.</a:t>
            </a:r>
            <a:endParaRPr sz="1800">
              <a:solidFill>
                <a:srgbClr val="595959"/>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97" name="Google Shape;97;p1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98" name="Google Shape;98;p17"/>
          <p:cNvSpPr txBox="1"/>
          <p:nvPr/>
        </p:nvSpPr>
        <p:spPr>
          <a:xfrm>
            <a:off x="3873575" y="978900"/>
            <a:ext cx="4332900" cy="2555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s" sz="1100">
                <a:solidFill>
                  <a:srgbClr val="818898"/>
                </a:solidFill>
              </a:rPr>
              <a:t>// MAL: se recalcula radio*radio en cada iteración</a:t>
            </a:r>
            <a:r>
              <a:rPr lang="es" sz="1100"/>
              <a:t> </a:t>
            </a:r>
            <a:endParaRPr sz="1100"/>
          </a:p>
          <a:p>
            <a:pPr indent="0" lvl="0" marL="457200" rtl="0" algn="l">
              <a:spcBef>
                <a:spcPts val="0"/>
              </a:spcBef>
              <a:spcAft>
                <a:spcPts val="0"/>
              </a:spcAft>
              <a:buNone/>
            </a:pPr>
            <a:r>
              <a:t/>
            </a:r>
            <a:endParaRPr b="1" sz="1100"/>
          </a:p>
          <a:p>
            <a:pPr indent="0" lvl="0" marL="457200" rtl="0" algn="l">
              <a:spcBef>
                <a:spcPts val="0"/>
              </a:spcBef>
              <a:spcAft>
                <a:spcPts val="0"/>
              </a:spcAft>
              <a:buNone/>
            </a:pPr>
            <a:r>
              <a:rPr b="1" lang="es" sz="1100"/>
              <a:t>for (int i = 0; i &lt; n; i++) </a:t>
            </a:r>
            <a:endParaRPr b="1" sz="1100"/>
          </a:p>
          <a:p>
            <a:pPr indent="0" lvl="0" marL="457200" rtl="0" algn="l">
              <a:spcBef>
                <a:spcPts val="0"/>
              </a:spcBef>
              <a:spcAft>
                <a:spcPts val="0"/>
              </a:spcAft>
              <a:buNone/>
            </a:pPr>
            <a:r>
              <a:rPr b="1" lang="es" sz="1100"/>
              <a:t>{</a:t>
            </a:r>
            <a:endParaRPr b="1" sz="1100"/>
          </a:p>
          <a:p>
            <a:pPr indent="0" lvl="0" marL="457200" rtl="0" algn="l">
              <a:spcBef>
                <a:spcPts val="0"/>
              </a:spcBef>
              <a:spcAft>
                <a:spcPts val="0"/>
              </a:spcAft>
              <a:buNone/>
            </a:pPr>
            <a:r>
              <a:rPr b="1" lang="es" sz="1100"/>
              <a:t> area[i] = 3.14159 * radio * radio * i;</a:t>
            </a:r>
            <a:endParaRPr b="1" sz="1100"/>
          </a:p>
          <a:p>
            <a:pPr indent="0" lvl="0" marL="457200" rtl="0" algn="l">
              <a:spcBef>
                <a:spcPts val="0"/>
              </a:spcBef>
              <a:spcAft>
                <a:spcPts val="0"/>
              </a:spcAft>
              <a:buNone/>
            </a:pPr>
            <a:r>
              <a:rPr b="1" lang="es" sz="1100"/>
              <a:t> }</a:t>
            </a:r>
            <a:endParaRPr b="1" sz="1100"/>
          </a:p>
          <a:p>
            <a:pPr indent="0" lvl="0" marL="457200" rtl="0" algn="l">
              <a:spcBef>
                <a:spcPts val="0"/>
              </a:spcBef>
              <a:spcAft>
                <a:spcPts val="0"/>
              </a:spcAft>
              <a:buNone/>
            </a:pPr>
            <a:r>
              <a:t/>
            </a:r>
            <a:endParaRPr sz="1100"/>
          </a:p>
          <a:p>
            <a:pPr indent="0" lvl="0" marL="457200" rtl="0" algn="l">
              <a:spcBef>
                <a:spcPts val="0"/>
              </a:spcBef>
              <a:spcAft>
                <a:spcPts val="0"/>
              </a:spcAft>
              <a:buNone/>
            </a:pPr>
            <a:r>
              <a:rPr lang="es" sz="1100"/>
              <a:t> </a:t>
            </a:r>
            <a:r>
              <a:rPr lang="es" sz="1100">
                <a:solidFill>
                  <a:srgbClr val="818898"/>
                </a:solidFill>
              </a:rPr>
              <a:t>// BIEN: radio*radio es invariante</a:t>
            </a:r>
            <a:r>
              <a:rPr lang="es" sz="1100"/>
              <a:t> </a:t>
            </a:r>
            <a:endParaRPr sz="1100"/>
          </a:p>
          <a:p>
            <a:pPr indent="0" lvl="0" marL="457200" rtl="0" algn="l">
              <a:spcBef>
                <a:spcPts val="0"/>
              </a:spcBef>
              <a:spcAft>
                <a:spcPts val="0"/>
              </a:spcAft>
              <a:buNone/>
            </a:pPr>
            <a:r>
              <a:t/>
            </a:r>
            <a:endParaRPr sz="1100">
              <a:solidFill>
                <a:srgbClr val="CC7BF4"/>
              </a:solidFill>
            </a:endParaRPr>
          </a:p>
          <a:p>
            <a:pPr indent="0" lvl="0" marL="457200" rtl="0" algn="l">
              <a:spcBef>
                <a:spcPts val="0"/>
              </a:spcBef>
              <a:spcAft>
                <a:spcPts val="0"/>
              </a:spcAft>
              <a:buNone/>
            </a:pPr>
            <a:r>
              <a:rPr b="1" lang="es" sz="1100"/>
              <a:t>double base = 3.14159 * radio * radio; </a:t>
            </a:r>
            <a:endParaRPr b="1" sz="1100"/>
          </a:p>
          <a:p>
            <a:pPr indent="0" lvl="0" marL="457200" rtl="0" algn="l">
              <a:spcBef>
                <a:spcPts val="0"/>
              </a:spcBef>
              <a:spcAft>
                <a:spcPts val="0"/>
              </a:spcAft>
              <a:buNone/>
            </a:pPr>
            <a:r>
              <a:rPr b="1" lang="es" sz="1100"/>
              <a:t>for (int i = 0; i &lt; n; i++) </a:t>
            </a:r>
            <a:endParaRPr b="1" sz="1100"/>
          </a:p>
          <a:p>
            <a:pPr indent="0" lvl="0" marL="457200" rtl="0" algn="l">
              <a:spcBef>
                <a:spcPts val="0"/>
              </a:spcBef>
              <a:spcAft>
                <a:spcPts val="0"/>
              </a:spcAft>
              <a:buNone/>
            </a:pPr>
            <a:r>
              <a:rPr b="1" lang="es" sz="1100"/>
              <a:t>{ </a:t>
            </a:r>
            <a:endParaRPr b="1" sz="1100"/>
          </a:p>
          <a:p>
            <a:pPr indent="0" lvl="0" marL="457200" rtl="0" algn="l">
              <a:spcBef>
                <a:spcPts val="0"/>
              </a:spcBef>
              <a:spcAft>
                <a:spcPts val="0"/>
              </a:spcAft>
              <a:buNone/>
            </a:pPr>
            <a:r>
              <a:rPr b="1" lang="es" sz="1100"/>
              <a:t>area[i] = base * i; </a:t>
            </a:r>
            <a:endParaRPr b="1" sz="1100"/>
          </a:p>
          <a:p>
            <a:pPr indent="0" lvl="0" marL="457200" rtl="0" algn="l">
              <a:spcBef>
                <a:spcPts val="0"/>
              </a:spcBef>
              <a:spcAft>
                <a:spcPts val="0"/>
              </a:spcAft>
              <a:buNone/>
            </a:pPr>
            <a:r>
              <a:rPr b="1" lang="es" sz="1100"/>
              <a:t>}</a:t>
            </a:r>
            <a:endParaRPr b="1"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04" name="Google Shape;104;p18"/>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05" name="Google Shape;105;p18"/>
          <p:cNvSpPr txBox="1"/>
          <p:nvPr/>
        </p:nvSpPr>
        <p:spPr>
          <a:xfrm>
            <a:off x="3873575" y="978900"/>
            <a:ext cx="4332900" cy="28938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 sz="1100"/>
              <a:t>int suma = 0; </a:t>
            </a:r>
            <a:endParaRPr b="1" sz="1100"/>
          </a:p>
          <a:p>
            <a:pPr indent="0" lvl="0" marL="457200" rtl="0" algn="l">
              <a:spcBef>
                <a:spcPts val="0"/>
              </a:spcBef>
              <a:spcAft>
                <a:spcPts val="0"/>
              </a:spcAft>
              <a:buNone/>
            </a:pPr>
            <a:r>
              <a:rPr b="1" lang="es" sz="1100"/>
              <a:t>int i = 0; </a:t>
            </a:r>
            <a:endParaRPr b="1" sz="1100"/>
          </a:p>
          <a:p>
            <a:pPr indent="0" lvl="0" marL="457200" rtl="0" algn="l">
              <a:spcBef>
                <a:spcPts val="0"/>
              </a:spcBef>
              <a:spcAft>
                <a:spcPts val="0"/>
              </a:spcAft>
              <a:buNone/>
            </a:pPr>
            <a:r>
              <a:rPr b="1" lang="es" sz="1100"/>
              <a:t>for (; i &lt;= n - 4; i += 4) </a:t>
            </a:r>
            <a:endParaRPr b="1" sz="1100"/>
          </a:p>
          <a:p>
            <a:pPr indent="0" lvl="0" marL="457200" rtl="0" algn="l">
              <a:spcBef>
                <a:spcPts val="0"/>
              </a:spcBef>
              <a:spcAft>
                <a:spcPts val="0"/>
              </a:spcAft>
              <a:buNone/>
            </a:pPr>
            <a:r>
              <a:rPr b="1" lang="es" sz="1100"/>
              <a:t>{ </a:t>
            </a:r>
            <a:endParaRPr b="1" sz="1100"/>
          </a:p>
          <a:p>
            <a:pPr indent="0" lvl="0" marL="457200" rtl="0" algn="l">
              <a:spcBef>
                <a:spcPts val="0"/>
              </a:spcBef>
              <a:spcAft>
                <a:spcPts val="0"/>
              </a:spcAft>
              <a:buNone/>
            </a:pPr>
            <a:r>
              <a:rPr b="1" lang="es" sz="1100"/>
              <a:t>suma += arreglo[i]; </a:t>
            </a:r>
            <a:endParaRPr b="1" sz="1100"/>
          </a:p>
          <a:p>
            <a:pPr indent="0" lvl="0" marL="457200" rtl="0" algn="l">
              <a:spcBef>
                <a:spcPts val="0"/>
              </a:spcBef>
              <a:spcAft>
                <a:spcPts val="0"/>
              </a:spcAft>
              <a:buNone/>
            </a:pPr>
            <a:r>
              <a:rPr b="1" lang="es" sz="1100"/>
              <a:t>suma += arreglo[i+1]; </a:t>
            </a:r>
            <a:endParaRPr b="1" sz="1100"/>
          </a:p>
          <a:p>
            <a:pPr indent="0" lvl="0" marL="457200" rtl="0" algn="l">
              <a:spcBef>
                <a:spcPts val="0"/>
              </a:spcBef>
              <a:spcAft>
                <a:spcPts val="0"/>
              </a:spcAft>
              <a:buNone/>
            </a:pPr>
            <a:r>
              <a:rPr b="1" lang="es" sz="1100"/>
              <a:t>suma += arreglo[i+2]; </a:t>
            </a:r>
            <a:endParaRPr b="1" sz="1100"/>
          </a:p>
          <a:p>
            <a:pPr indent="0" lvl="0" marL="457200" rtl="0" algn="l">
              <a:spcBef>
                <a:spcPts val="0"/>
              </a:spcBef>
              <a:spcAft>
                <a:spcPts val="0"/>
              </a:spcAft>
              <a:buNone/>
            </a:pPr>
            <a:r>
              <a:rPr b="1" lang="es" sz="1100"/>
              <a:t>suma += arreglo[i+3]; </a:t>
            </a:r>
            <a:endParaRPr b="1" sz="1100"/>
          </a:p>
          <a:p>
            <a:pPr indent="0" lvl="0" marL="457200" rtl="0" algn="l">
              <a:spcBef>
                <a:spcPts val="0"/>
              </a:spcBef>
              <a:spcAft>
                <a:spcPts val="0"/>
              </a:spcAft>
              <a:buNone/>
            </a:pPr>
            <a:r>
              <a:t/>
            </a:r>
            <a:endParaRPr b="1" sz="1100"/>
          </a:p>
          <a:p>
            <a:pPr indent="0" lvl="0" marL="457200" rtl="0" algn="l">
              <a:spcBef>
                <a:spcPts val="0"/>
              </a:spcBef>
              <a:spcAft>
                <a:spcPts val="0"/>
              </a:spcAft>
              <a:buNone/>
            </a:pPr>
            <a:r>
              <a:rPr b="1" lang="es" sz="1100"/>
              <a:t>}</a:t>
            </a:r>
            <a:endParaRPr b="1" sz="1100"/>
          </a:p>
          <a:p>
            <a:pPr indent="0" lvl="0" marL="457200" rtl="0" algn="l">
              <a:spcBef>
                <a:spcPts val="0"/>
              </a:spcBef>
              <a:spcAft>
                <a:spcPts val="0"/>
              </a:spcAft>
              <a:buNone/>
            </a:pPr>
            <a:r>
              <a:t/>
            </a:r>
            <a:endParaRPr sz="1100"/>
          </a:p>
          <a:p>
            <a:pPr indent="0" lvl="0" marL="457200" rtl="0" algn="l">
              <a:spcBef>
                <a:spcPts val="0"/>
              </a:spcBef>
              <a:spcAft>
                <a:spcPts val="0"/>
              </a:spcAft>
              <a:buNone/>
            </a:pPr>
            <a:r>
              <a:rPr lang="es" sz="1100"/>
              <a:t> </a:t>
            </a:r>
            <a:r>
              <a:rPr lang="es" sz="1100">
                <a:solidFill>
                  <a:srgbClr val="818898"/>
                </a:solidFill>
              </a:rPr>
              <a:t>// Manejo del "resto" si n no es múltiplo de 4</a:t>
            </a:r>
            <a:r>
              <a:rPr lang="es" sz="1100"/>
              <a:t> </a:t>
            </a:r>
            <a:endParaRPr sz="1100"/>
          </a:p>
          <a:p>
            <a:pPr indent="0" lvl="0" marL="457200" rtl="0" algn="l">
              <a:spcBef>
                <a:spcPts val="0"/>
              </a:spcBef>
              <a:spcAft>
                <a:spcPts val="0"/>
              </a:spcAft>
              <a:buNone/>
            </a:pPr>
            <a:r>
              <a:rPr b="1" lang="es" sz="1100"/>
              <a:t>for (; i &lt; n; i++) </a:t>
            </a:r>
            <a:endParaRPr b="1" sz="1100"/>
          </a:p>
          <a:p>
            <a:pPr indent="0" lvl="0" marL="457200" rtl="0" algn="l">
              <a:spcBef>
                <a:spcPts val="0"/>
              </a:spcBef>
              <a:spcAft>
                <a:spcPts val="0"/>
              </a:spcAft>
              <a:buNone/>
            </a:pPr>
            <a:r>
              <a:rPr b="1" lang="es" sz="1100"/>
              <a:t>{ </a:t>
            </a:r>
            <a:endParaRPr b="1" sz="1100"/>
          </a:p>
          <a:p>
            <a:pPr indent="0" lvl="0" marL="457200" rtl="0" algn="l">
              <a:spcBef>
                <a:spcPts val="0"/>
              </a:spcBef>
              <a:spcAft>
                <a:spcPts val="0"/>
              </a:spcAft>
              <a:buNone/>
            </a:pPr>
            <a:r>
              <a:rPr b="1" lang="es" sz="1100"/>
              <a:t>suma += arreglo[i]; </a:t>
            </a:r>
            <a:endParaRPr b="1" sz="1100"/>
          </a:p>
          <a:p>
            <a:pPr indent="0" lvl="0" marL="457200" rtl="0" algn="l">
              <a:spcBef>
                <a:spcPts val="0"/>
              </a:spcBef>
              <a:spcAft>
                <a:spcPts val="0"/>
              </a:spcAft>
              <a:buNone/>
            </a:pPr>
            <a:r>
              <a:rPr b="1" lang="es" sz="1100"/>
              <a:t>}</a:t>
            </a:r>
            <a:endParaRPr b="1"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Simplificaci</a:t>
            </a:r>
            <a:r>
              <a:rPr lang="es"/>
              <a:t>ón Algebraica</a:t>
            </a:r>
            <a:endParaRPr/>
          </a:p>
        </p:txBody>
      </p:sp>
      <p:sp>
        <p:nvSpPr>
          <p:cNvPr id="111" name="Google Shape;111;p19"/>
          <p:cNvSpPr txBox="1"/>
          <p:nvPr/>
        </p:nvSpPr>
        <p:spPr>
          <a:xfrm>
            <a:off x="311700" y="1727100"/>
            <a:ext cx="81630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Lato"/>
              <a:buChar char="●"/>
            </a:pPr>
            <a:r>
              <a:rPr lang="es" sz="1800">
                <a:solidFill>
                  <a:srgbClr val="595959"/>
                </a:solidFill>
                <a:latin typeface="Lato"/>
                <a:ea typeface="Lato"/>
                <a:cs typeface="Lato"/>
                <a:sym typeface="Lato"/>
              </a:rPr>
              <a:t>Esto se utiliza cuando conocemos operaciones que dan el mismo resultado pero son más eficientes en tiempo de ejecución, por ejemplo una multiplicación por 2 realizada de manera natural es más costosa que un shift hacia la izquierda de bits.</a:t>
            </a:r>
            <a:endParaRPr sz="1800">
              <a:solidFill>
                <a:srgbClr val="595959"/>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17" name="Google Shape;117;p20"/>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18" name="Google Shape;118;p20"/>
          <p:cNvSpPr txBox="1"/>
          <p:nvPr/>
        </p:nvSpPr>
        <p:spPr>
          <a:xfrm>
            <a:off x="3854275" y="1124850"/>
            <a:ext cx="43329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rgbClr val="818898"/>
                </a:solidFill>
              </a:rPr>
              <a:t>// Lo que escribís</a:t>
            </a:r>
            <a:r>
              <a:rPr lang="es" sz="1100"/>
              <a:t> </a:t>
            </a:r>
            <a:endParaRPr sz="1100"/>
          </a:p>
          <a:p>
            <a:pPr indent="0" lvl="0" marL="0" rtl="0" algn="l">
              <a:spcBef>
                <a:spcPts val="0"/>
              </a:spcBef>
              <a:spcAft>
                <a:spcPts val="0"/>
              </a:spcAft>
              <a:buNone/>
            </a:pPr>
            <a:r>
              <a:rPr b="1" lang="es" sz="1100"/>
              <a:t>double radio = 5.0; </a:t>
            </a:r>
            <a:endParaRPr b="1" sz="1100"/>
          </a:p>
          <a:p>
            <a:pPr indent="0" lvl="0" marL="0" rtl="0" algn="l">
              <a:spcBef>
                <a:spcPts val="0"/>
              </a:spcBef>
              <a:spcAft>
                <a:spcPts val="0"/>
              </a:spcAft>
              <a:buNone/>
            </a:pPr>
            <a:r>
              <a:rPr b="1" lang="es" sz="1100"/>
              <a:t>double area = 3.14159265 * radio * radio; </a:t>
            </a:r>
            <a:endParaRPr b="1" sz="1100"/>
          </a:p>
          <a:p>
            <a:pPr indent="0" lvl="0" marL="0" rtl="0" algn="l">
              <a:spcBef>
                <a:spcPts val="0"/>
              </a:spcBef>
              <a:spcAft>
                <a:spcPts val="0"/>
              </a:spcAft>
              <a:buNone/>
            </a:pPr>
            <a:r>
              <a:t/>
            </a:r>
            <a:endParaRPr sz="1100">
              <a:solidFill>
                <a:srgbClr val="818898"/>
              </a:solidFill>
            </a:endParaRPr>
          </a:p>
          <a:p>
            <a:pPr indent="0" lvl="0" marL="0" rtl="0" algn="l">
              <a:spcBef>
                <a:spcPts val="0"/>
              </a:spcBef>
              <a:spcAft>
                <a:spcPts val="0"/>
              </a:spcAft>
              <a:buNone/>
            </a:pPr>
            <a:r>
              <a:rPr lang="es" sz="1100">
                <a:solidFill>
                  <a:srgbClr val="818898"/>
                </a:solidFill>
              </a:rPr>
              <a:t>// Lo que el compilador genera (equivalente a)</a:t>
            </a:r>
            <a:r>
              <a:rPr lang="es" sz="1100"/>
              <a:t> </a:t>
            </a:r>
            <a:endParaRPr sz="1100"/>
          </a:p>
          <a:p>
            <a:pPr indent="0" lvl="0" marL="0" rtl="0" algn="l">
              <a:spcBef>
                <a:spcPts val="0"/>
              </a:spcBef>
              <a:spcAft>
                <a:spcPts val="0"/>
              </a:spcAft>
              <a:buNone/>
            </a:pPr>
            <a:r>
              <a:t/>
            </a:r>
            <a:endParaRPr sz="1100">
              <a:solidFill>
                <a:srgbClr val="CC7BF4"/>
              </a:solidFill>
            </a:endParaRPr>
          </a:p>
          <a:p>
            <a:pPr indent="0" lvl="0" marL="0" rtl="0" algn="l">
              <a:spcBef>
                <a:spcPts val="0"/>
              </a:spcBef>
              <a:spcAft>
                <a:spcPts val="0"/>
              </a:spcAft>
              <a:buNone/>
            </a:pPr>
            <a:r>
              <a:rPr b="1" lang="es" sz="1100"/>
              <a:t>double area = 78.5398163; </a:t>
            </a:r>
            <a:endParaRPr b="1" sz="1100"/>
          </a:p>
          <a:p>
            <a:pPr indent="0" lvl="0" marL="0" rtl="0" algn="l">
              <a:spcBef>
                <a:spcPts val="0"/>
              </a:spcBef>
              <a:spcAft>
                <a:spcPts val="0"/>
              </a:spcAft>
              <a:buNone/>
            </a:pPr>
            <a:r>
              <a:rPr lang="es" sz="1100">
                <a:solidFill>
                  <a:srgbClr val="818898"/>
                </a:solidFill>
              </a:rPr>
              <a:t>// ya calculado, no hay multiplicación en runtime</a:t>
            </a:r>
            <a:endParaRPr sz="1100">
              <a:solidFill>
                <a:srgbClr val="818898"/>
              </a:solidFill>
            </a:endParaRPr>
          </a:p>
          <a:p>
            <a:pPr indent="0" lvl="0" marL="0" rtl="0" algn="l">
              <a:spcBef>
                <a:spcPts val="0"/>
              </a:spcBef>
              <a:spcAft>
                <a:spcPts val="0"/>
              </a:spcAft>
              <a:buNone/>
            </a:pPr>
            <a:r>
              <a:t/>
            </a:r>
            <a:endParaRPr sz="1100">
              <a:solidFill>
                <a:srgbClr val="818898"/>
              </a:solidFill>
            </a:endParaRPr>
          </a:p>
          <a:p>
            <a:pPr indent="0" lvl="0" marL="0" rtl="0" algn="l">
              <a:spcBef>
                <a:spcPts val="0"/>
              </a:spcBef>
              <a:spcAft>
                <a:spcPts val="0"/>
              </a:spcAft>
              <a:buNone/>
            </a:pPr>
            <a:r>
              <a:t/>
            </a:r>
            <a:endParaRPr sz="1100">
              <a:solidFill>
                <a:srgbClr val="818898"/>
              </a:solidFill>
            </a:endParaRPr>
          </a:p>
          <a:p>
            <a:pPr indent="0" lvl="0" marL="0" rtl="0" algn="l">
              <a:spcBef>
                <a:spcPts val="0"/>
              </a:spcBef>
              <a:spcAft>
                <a:spcPts val="0"/>
              </a:spcAft>
              <a:buNone/>
            </a:pPr>
            <a:r>
              <a:t/>
            </a:r>
            <a:endParaRPr sz="1100">
              <a:solidFill>
                <a:srgbClr val="818898"/>
              </a:solidFill>
            </a:endParaRPr>
          </a:p>
          <a:p>
            <a:pPr indent="0" lvl="0" marL="0" rtl="0" algn="l">
              <a:spcBef>
                <a:spcPts val="0"/>
              </a:spcBef>
              <a:spcAft>
                <a:spcPts val="0"/>
              </a:spcAft>
              <a:buNone/>
            </a:pPr>
            <a:r>
              <a:t/>
            </a:r>
            <a:endParaRPr sz="1100">
              <a:solidFill>
                <a:srgbClr val="818898"/>
              </a:solidFill>
            </a:endParaRPr>
          </a:p>
          <a:p>
            <a:pPr indent="0" lvl="0" marL="0" rtl="0" algn="l">
              <a:spcBef>
                <a:spcPts val="0"/>
              </a:spcBef>
              <a:spcAft>
                <a:spcPts val="0"/>
              </a:spcAft>
              <a:buNone/>
            </a:pPr>
            <a:r>
              <a:rPr lang="es" sz="1100">
                <a:solidFill>
                  <a:srgbClr val="818898"/>
                </a:solidFill>
              </a:rPr>
              <a:t>// Lo que escribís</a:t>
            </a:r>
            <a:r>
              <a:rPr lang="es" sz="1100"/>
              <a:t> </a:t>
            </a:r>
            <a:endParaRPr sz="1100"/>
          </a:p>
          <a:p>
            <a:pPr indent="0" lvl="0" marL="0" rtl="0" algn="l">
              <a:spcBef>
                <a:spcPts val="0"/>
              </a:spcBef>
              <a:spcAft>
                <a:spcPts val="0"/>
              </a:spcAft>
              <a:buNone/>
            </a:pPr>
            <a:r>
              <a:rPr b="1" lang="es" sz="1100"/>
              <a:t>int segundos = 60 * 60 * 24 * dias;</a:t>
            </a:r>
            <a:endParaRPr b="1" sz="1100"/>
          </a:p>
          <a:p>
            <a:pPr indent="0" lvl="0" marL="0" rtl="0" algn="l">
              <a:spcBef>
                <a:spcPts val="0"/>
              </a:spcBef>
              <a:spcAft>
                <a:spcPts val="0"/>
              </a:spcAft>
              <a:buNone/>
            </a:pPr>
            <a:r>
              <a:rPr lang="es" sz="1100"/>
              <a:t> </a:t>
            </a:r>
            <a:r>
              <a:rPr lang="es" sz="1100">
                <a:solidFill>
                  <a:srgbClr val="818898"/>
                </a:solidFill>
              </a:rPr>
              <a:t>// Lo que el compilador genera</a:t>
            </a:r>
            <a:r>
              <a:rPr lang="es" sz="1100"/>
              <a:t> </a:t>
            </a:r>
            <a:endParaRPr sz="1100">
              <a:solidFill>
                <a:srgbClr val="CC7BF4"/>
              </a:solidFill>
            </a:endParaRPr>
          </a:p>
          <a:p>
            <a:pPr indent="0" lvl="0" marL="0" rtl="0" algn="l">
              <a:spcBef>
                <a:spcPts val="0"/>
              </a:spcBef>
              <a:spcAft>
                <a:spcPts val="0"/>
              </a:spcAft>
              <a:buNone/>
            </a:pPr>
            <a:r>
              <a:rPr b="1" lang="es" sz="1100"/>
              <a:t>int segundos = 86400 * dias;</a:t>
            </a:r>
            <a:r>
              <a:rPr lang="es" sz="1100"/>
              <a:t> </a:t>
            </a:r>
            <a:r>
              <a:rPr lang="es" sz="1100">
                <a:solidFill>
                  <a:srgbClr val="818898"/>
                </a:solidFill>
              </a:rPr>
              <a:t>// una sola multiplicación en runtime</a:t>
            </a:r>
            <a:endParaRPr sz="1100">
              <a:solidFill>
                <a:srgbClr val="81889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24" name="Google Shape;124;p21"/>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25" name="Google Shape;125;p21"/>
          <p:cNvSpPr txBox="1"/>
          <p:nvPr/>
        </p:nvSpPr>
        <p:spPr>
          <a:xfrm>
            <a:off x="3921825" y="1378800"/>
            <a:ext cx="43329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t>x * 2 → x &lt;&lt; 1	</a:t>
            </a:r>
            <a:r>
              <a:rPr lang="es" sz="1100"/>
              <a:t> 	</a:t>
            </a:r>
            <a:r>
              <a:rPr lang="es" sz="1100">
                <a:solidFill>
                  <a:srgbClr val="818898"/>
                </a:solidFill>
              </a:rPr>
              <a:t>// multiplicar por 2 = shift izquierdo 1 bit</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8 → x &lt;&lt; 3 	</a:t>
            </a:r>
            <a:r>
              <a:rPr lang="es" sz="1100">
                <a:solidFill>
                  <a:srgbClr val="818898"/>
                </a:solidFill>
              </a:rPr>
              <a:t>// multiplicar por 8 = shift izquierdo 3 bits</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2 → x &gt;&gt; 1</a:t>
            </a:r>
            <a:r>
              <a:rPr lang="es" sz="1100"/>
              <a:t> 	</a:t>
            </a:r>
            <a:r>
              <a:rPr lang="es" sz="1100">
                <a:solidFill>
                  <a:srgbClr val="818898"/>
                </a:solidFill>
              </a:rPr>
              <a:t>// dividir por 2 = shift derecho 1 bit</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2 → x &amp; 1</a:t>
            </a:r>
            <a:r>
              <a:rPr lang="es" sz="1100"/>
              <a:t> 	</a:t>
            </a:r>
            <a:r>
              <a:rPr lang="es" sz="1100">
                <a:solidFill>
                  <a:srgbClr val="818898"/>
                </a:solidFill>
              </a:rPr>
              <a:t>// módulo 2 = AND con 1 (solo el último bit)</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0 → 0</a:t>
            </a:r>
            <a:r>
              <a:rPr lang="es" sz="1100"/>
              <a:t> 		</a:t>
            </a:r>
            <a:r>
              <a:rPr lang="es" sz="1100">
                <a:solidFill>
                  <a:srgbClr val="818898"/>
                </a:solidFill>
              </a:rPr>
              <a:t>// elimina la multiplicación completa</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+ 0 → x</a:t>
            </a:r>
            <a:r>
              <a:rPr lang="es" sz="1100"/>
              <a:t> 		</a:t>
            </a:r>
            <a:r>
              <a:rPr lang="es" sz="1100">
                <a:solidFill>
                  <a:srgbClr val="818898"/>
                </a:solidFill>
              </a:rPr>
              <a:t>// elimina la suma</a:t>
            </a:r>
            <a:r>
              <a:rPr lang="e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s" sz="1100"/>
              <a:t>x * 1 → x</a:t>
            </a:r>
            <a:r>
              <a:rPr lang="es" sz="1100"/>
              <a:t> 		</a:t>
            </a:r>
            <a:r>
              <a:rPr lang="es" sz="1100">
                <a:solidFill>
                  <a:srgbClr val="818898"/>
                </a:solidFill>
              </a:rPr>
              <a:t>// elimina la multiplicación</a:t>
            </a:r>
            <a:endParaRPr sz="1100">
              <a:solidFill>
                <a:srgbClr val="81889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Optimizacion de Saltos Condicionales</a:t>
            </a:r>
            <a:endParaRPr/>
          </a:p>
        </p:txBody>
      </p:sp>
      <p:sp>
        <p:nvSpPr>
          <p:cNvPr id="131" name="Google Shape;131;p22"/>
          <p:cNvSpPr txBox="1"/>
          <p:nvPr/>
        </p:nvSpPr>
        <p:spPr>
          <a:xfrm>
            <a:off x="311700" y="1727100"/>
            <a:ext cx="7613100" cy="3005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Lato"/>
              <a:buChar char="●"/>
            </a:pPr>
            <a:r>
              <a:rPr lang="es" sz="1800">
                <a:solidFill>
                  <a:srgbClr val="595959"/>
                </a:solidFill>
                <a:latin typeface="Lato"/>
                <a:ea typeface="Lato"/>
                <a:cs typeface="Lato"/>
                <a:sym typeface="Lato"/>
              </a:rPr>
              <a:t>Las condicionales generan saltos dentro del código generando ramificaciones de flujo, un procesador moderno predice el codigo a ejecutar de manera que siempre se encuentra 10 o 20 instrucciones por delante. De cometer un error en la predicción se desperdicia tiempo y ciclos de trabajo. Para evitar estos casos se pueden predecir los branch a utilizar o directamente eliminar los branch con operaciones equivalentes</a:t>
            </a:r>
            <a:endParaRPr sz="1800">
              <a:solidFill>
                <a:srgbClr val="595959"/>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37" name="Google Shape;137;p23"/>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Por reordenamiento</a:t>
            </a:r>
            <a:endParaRPr/>
          </a:p>
        </p:txBody>
      </p:sp>
      <p:sp>
        <p:nvSpPr>
          <p:cNvPr id="138" name="Google Shape;138;p23"/>
          <p:cNvSpPr txBox="1"/>
          <p:nvPr/>
        </p:nvSpPr>
        <p:spPr>
          <a:xfrm>
            <a:off x="3844625" y="870900"/>
            <a:ext cx="43329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rgbClr val="818898"/>
                </a:solidFill>
              </a:rPr>
              <a:t>// Lo que escribís</a:t>
            </a:r>
            <a:r>
              <a:rPr lang="es" sz="1100"/>
              <a:t> </a:t>
            </a:r>
            <a:endParaRPr sz="1100"/>
          </a:p>
          <a:p>
            <a:pPr indent="0" lvl="0" marL="0" rtl="0" algn="l">
              <a:spcBef>
                <a:spcPts val="0"/>
              </a:spcBef>
              <a:spcAft>
                <a:spcPts val="0"/>
              </a:spcAft>
              <a:buNone/>
            </a:pPr>
            <a:r>
              <a:rPr b="1" lang="es" sz="1100"/>
              <a:t>if (error) { </a:t>
            </a:r>
            <a:endParaRPr b="1" sz="1100"/>
          </a:p>
          <a:p>
            <a:pPr indent="0" lvl="0" marL="0" rtl="0" algn="l">
              <a:spcBef>
                <a:spcPts val="0"/>
              </a:spcBef>
              <a:spcAft>
                <a:spcPts val="0"/>
              </a:spcAft>
              <a:buNone/>
            </a:pPr>
            <a:r>
              <a:rPr b="1" lang="es" sz="1100"/>
              <a:t>manejar_error();</a:t>
            </a:r>
            <a:r>
              <a:rPr lang="es" sz="1100"/>
              <a:t> </a:t>
            </a:r>
            <a:r>
              <a:rPr lang="es" sz="1100">
                <a:solidFill>
                  <a:srgbClr val="818898"/>
                </a:solidFill>
              </a:rPr>
              <a:t>// raro</a:t>
            </a:r>
            <a:r>
              <a:rPr lang="es" sz="1100"/>
              <a:t> </a:t>
            </a:r>
            <a:endParaRPr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rPr b="1" lang="es" sz="1100"/>
              <a:t>else </a:t>
            </a:r>
            <a:endParaRPr b="1"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rPr b="1" lang="es" sz="1100"/>
              <a:t>continuar();</a:t>
            </a:r>
            <a:r>
              <a:rPr lang="es" sz="1100"/>
              <a:t> </a:t>
            </a:r>
            <a:r>
              <a:rPr lang="es" sz="1100">
                <a:solidFill>
                  <a:srgbClr val="818898"/>
                </a:solidFill>
              </a:rPr>
              <a:t>// frecuente</a:t>
            </a:r>
            <a:r>
              <a:rPr lang="es" sz="1100"/>
              <a:t> </a:t>
            </a:r>
            <a:endParaRPr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s" sz="1100">
                <a:solidFill>
                  <a:srgbClr val="818898"/>
                </a:solidFill>
              </a:rPr>
              <a:t>// Lo que el compilador puede generar (equivalente lógico)</a:t>
            </a:r>
            <a:r>
              <a:rPr lang="es" sz="1100"/>
              <a:t> </a:t>
            </a:r>
            <a:endParaRPr sz="1100"/>
          </a:p>
          <a:p>
            <a:pPr indent="0" lvl="0" marL="0" rtl="0" algn="l">
              <a:spcBef>
                <a:spcPts val="0"/>
              </a:spcBef>
              <a:spcAft>
                <a:spcPts val="0"/>
              </a:spcAft>
              <a:buNone/>
            </a:pPr>
            <a:r>
              <a:rPr b="1" lang="es" sz="1100"/>
              <a:t>if (!error) </a:t>
            </a:r>
            <a:endParaRPr b="1"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rPr b="1" lang="es" sz="1100"/>
              <a:t>continuar(); </a:t>
            </a:r>
            <a:r>
              <a:rPr lang="es" sz="1100">
                <a:solidFill>
                  <a:srgbClr val="818898"/>
                </a:solidFill>
              </a:rPr>
              <a:t>// ahora el caso frecuente no salta</a:t>
            </a:r>
            <a:r>
              <a:rPr lang="es" sz="1100"/>
              <a:t> </a:t>
            </a:r>
            <a:endParaRPr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rPr b="1" lang="es" sz="1100"/>
              <a:t>else </a:t>
            </a:r>
            <a:endParaRPr b="1" sz="1100"/>
          </a:p>
          <a:p>
            <a:pPr indent="0" lvl="0" marL="0" rtl="0" algn="l">
              <a:spcBef>
                <a:spcPts val="0"/>
              </a:spcBef>
              <a:spcAft>
                <a:spcPts val="0"/>
              </a:spcAft>
              <a:buNone/>
            </a:pPr>
            <a:r>
              <a:rPr b="1" lang="es" sz="1100"/>
              <a:t>{ </a:t>
            </a:r>
            <a:endParaRPr b="1" sz="1100"/>
          </a:p>
          <a:p>
            <a:pPr indent="0" lvl="0" marL="0" rtl="0" algn="l">
              <a:spcBef>
                <a:spcPts val="0"/>
              </a:spcBef>
              <a:spcAft>
                <a:spcPts val="0"/>
              </a:spcAft>
              <a:buNone/>
            </a:pPr>
            <a:r>
              <a:rPr b="1" lang="es" sz="1100"/>
              <a:t>manejar_error(); </a:t>
            </a:r>
            <a:endParaRPr b="1" sz="1100"/>
          </a:p>
          <a:p>
            <a:pPr indent="0" lvl="0" marL="0" rtl="0" algn="l">
              <a:spcBef>
                <a:spcPts val="0"/>
              </a:spcBef>
              <a:spcAft>
                <a:spcPts val="0"/>
              </a:spcAft>
              <a:buNone/>
            </a:pPr>
            <a:r>
              <a:rPr b="1" lang="es" sz="1100"/>
              <a:t>}</a:t>
            </a:r>
            <a:endParaRPr b="1"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Recolecci</a:t>
            </a:r>
            <a:r>
              <a:rPr lang="es"/>
              <a:t>ón de Basura</a:t>
            </a:r>
            <a:endParaRPr/>
          </a:p>
        </p:txBody>
      </p:sp>
      <p:sp>
        <p:nvSpPr>
          <p:cNvPr id="144" name="Google Shape;144;p24"/>
          <p:cNvSpPr txBox="1"/>
          <p:nvPr>
            <p:ph idx="1" type="body"/>
          </p:nvPr>
        </p:nvSpPr>
        <p:spPr>
          <a:xfrm>
            <a:off x="471900" y="1919075"/>
            <a:ext cx="79353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Todo lo visto hasta el momento sucede en tiempo de compilaci</a:t>
            </a:r>
            <a:r>
              <a:rPr lang="es"/>
              <a:t>ón o al inicio de ejecución, en el caso de la recolección de basura, hablamos de un proceso que sucede durante la ejecución.</a:t>
            </a:r>
            <a:endParaRPr/>
          </a:p>
          <a:p>
            <a:pPr indent="0" lvl="0" marL="0" rtl="0" algn="l">
              <a:spcBef>
                <a:spcPts val="1600"/>
              </a:spcBef>
              <a:spcAft>
                <a:spcPts val="0"/>
              </a:spcAft>
              <a:buNone/>
            </a:pPr>
            <a:r>
              <a:rPr lang="es"/>
              <a:t>La recoleccion de basura es el proceso por el cual el programa libera toda la memoria que ya no se utiliza, programas antiguos no contaban con esta funcionalidad, requiriendo de un manejo manual por parte del codificador, por ejemplo C/C++.</a:t>
            </a:r>
            <a:endParaRPr/>
          </a:p>
          <a:p>
            <a:pPr indent="0" lvl="0" marL="0" rtl="0" algn="l">
              <a:spcBef>
                <a:spcPts val="1600"/>
              </a:spcBef>
              <a:spcAft>
                <a:spcPts val="1600"/>
              </a:spcAft>
              <a:buNone/>
            </a:pPr>
            <a:r>
              <a:rPr lang="es"/>
              <a:t>Lenguajes modernos cuentan con un recolector propio como por ejemplo: Java, Python, Go y 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Tipos de Recolecci</a:t>
            </a:r>
            <a:r>
              <a:rPr lang="es"/>
              <a:t>ón</a:t>
            </a:r>
            <a:endParaRPr/>
          </a:p>
        </p:txBody>
      </p:sp>
      <p:sp>
        <p:nvSpPr>
          <p:cNvPr id="150" name="Google Shape;150;p25"/>
          <p:cNvSpPr txBox="1"/>
          <p:nvPr>
            <p:ph idx="1" type="body"/>
          </p:nvPr>
        </p:nvSpPr>
        <p:spPr>
          <a:xfrm>
            <a:off x="471900" y="1919075"/>
            <a:ext cx="81186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Mark-and-Sweep: escanea los objetos en memoria para validar la existencia de referencias activas, los objetos que no tienen ninguna referencia activa y vivan dentro del heap son eliminados. Tiene la desventaja de que suele detener al programa durante su ejecuci</a:t>
            </a:r>
            <a:r>
              <a:rPr lang="es"/>
              <a:t>ón.</a:t>
            </a:r>
            <a:endParaRPr/>
          </a:p>
          <a:p>
            <a:pPr indent="0" lvl="0" marL="0" rtl="0" algn="l">
              <a:spcBef>
                <a:spcPts val="1600"/>
              </a:spcBef>
              <a:spcAft>
                <a:spcPts val="0"/>
              </a:spcAft>
              <a:buNone/>
            </a:pPr>
            <a:r>
              <a:rPr lang="es"/>
              <a:t>Reference Counting: Cada objeto tiene un contador de referencias, estas pueden funcionar en base veces que se ha leido la secci</a:t>
            </a:r>
            <a:r>
              <a:rPr lang="es"/>
              <a:t>ón de memoria o al tiempo de vida, los segmentos de memoria cuyo contador llega a 0 son eliminados.</a:t>
            </a:r>
            <a:endParaRPr/>
          </a:p>
          <a:p>
            <a:pPr indent="0" lvl="0" marL="0" rtl="0" algn="l">
              <a:spcBef>
                <a:spcPts val="1600"/>
              </a:spcBef>
              <a:spcAft>
                <a:spcPts val="1600"/>
              </a:spcAft>
              <a:buNone/>
            </a:pPr>
            <a:r>
              <a:rPr lang="es"/>
              <a:t>Recolecci</a:t>
            </a:r>
            <a:r>
              <a:rPr lang="es"/>
              <a:t>ón Generacional: Se basan al tiempo de vida de los objetos, los objetos recien creados son más propensos a ya no ser requeridos, mientras más larga la vida menos probabilidad de ser eliminados, por ende menos validaciones por parte del recoletor.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Memory Leaks</a:t>
            </a:r>
            <a:endParaRPr/>
          </a:p>
        </p:txBody>
      </p:sp>
      <p:sp>
        <p:nvSpPr>
          <p:cNvPr id="156" name="Google Shape;156;p26"/>
          <p:cNvSpPr txBox="1"/>
          <p:nvPr/>
        </p:nvSpPr>
        <p:spPr>
          <a:xfrm>
            <a:off x="304650" y="1813675"/>
            <a:ext cx="8389500" cy="31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Es memoria ya no requerida que sigue siendo alcanzable, un ejemplo de esto es memoria apartada de la cual se perdio el puntero u objetos almacenados que no se están utilizando activamente, sino que solo estan ahi por estar.</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Estos casos no solo reducen la eficiencia del programa sino que tambien pueden dar puntos de entrada a agentes maliciosos.</a:t>
            </a:r>
            <a:endParaRPr sz="1800">
              <a:solidFill>
                <a:schemeClr val="lt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800"/>
              <a:t>¿Dudas?</a:t>
            </a:r>
            <a:endParaRPr sz="4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800"/>
              <a:t>Hoja de Calificación</a:t>
            </a:r>
            <a:endParaRPr sz="4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800"/>
              <a:t>Ejemplo</a:t>
            </a:r>
            <a:endParaRPr sz="4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100"/>
              <a:t>¡Gracias</a:t>
            </a:r>
            <a:r>
              <a:rPr lang="es" sz="4100"/>
              <a:t>!</a:t>
            </a:r>
            <a:endParaRPr sz="4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