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67FA18-4763-4C52-8CCB-552F3003F012}">
  <a:tblStyle styleId="{0567FA18-4763-4C52-8CCB-552F3003F01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regular.fntdata"/><Relationship Id="rId25" Type="http://schemas.openxmlformats.org/officeDocument/2006/relationships/slide" Target="slides/slide19.xml"/><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27031bf1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27031bf1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27145ff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927145ff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27031bf14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27031bf1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65b098e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65b098e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65b098e7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65b098e7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65b098e7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65b098e7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65b098e7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65b098e7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65b098e7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65b098e7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65b098e7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65b098e7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65b098e7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65b098e7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65b098e7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65b098e7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65b098e7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65b098e7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27145ff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27145ff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276ad83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276ad83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276ad83d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276ad83d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276ad83d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9276ad83d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63500ad4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b63500ad4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63500ad4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b63500ad4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276ad83d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276ad83d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300"/>
              <a:buFont typeface="Lato"/>
              <a:buNone/>
              <a:defRPr sz="23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 name="Google Shape;14;p2"/>
          <p:cNvPicPr preferRelativeResize="0"/>
          <p:nvPr/>
        </p:nvPicPr>
        <p:blipFill>
          <a:blip r:embed="rId2">
            <a:alphaModFix/>
          </a:blip>
          <a:stretch>
            <a:fillRect/>
          </a:stretch>
        </p:blipFill>
        <p:spPr>
          <a:xfrm>
            <a:off x="7015825" y="99800"/>
            <a:ext cx="2005325" cy="531475"/>
          </a:xfrm>
          <a:prstGeom prst="rect">
            <a:avLst/>
          </a:prstGeom>
          <a:noFill/>
          <a:ln>
            <a:noFill/>
          </a:ln>
        </p:spPr>
      </p:pic>
      <p:pic>
        <p:nvPicPr>
          <p:cNvPr id="15" name="Google Shape;15;p2"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indent="0" lvl="0" marL="0" marR="0" rtl="0" algn="ctr">
              <a:lnSpc>
                <a:spcPct val="100000"/>
              </a:lnSpc>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pic>
        <p:nvPicPr>
          <p:cNvPr id="21" name="Google Shape;21;p3"/>
          <p:cNvPicPr preferRelativeResize="0"/>
          <p:nvPr/>
        </p:nvPicPr>
        <p:blipFill>
          <a:blip r:embed="rId2">
            <a:alphaModFix/>
          </a:blip>
          <a:stretch>
            <a:fillRect/>
          </a:stretch>
        </p:blipFill>
        <p:spPr>
          <a:xfrm>
            <a:off x="7015825" y="99800"/>
            <a:ext cx="2005325" cy="531475"/>
          </a:xfrm>
          <a:prstGeom prst="rect">
            <a:avLst/>
          </a:prstGeom>
          <a:noFill/>
          <a:ln>
            <a:noFill/>
          </a:ln>
        </p:spPr>
      </p:pic>
      <p:sp>
        <p:nvSpPr>
          <p:cNvPr id="22" name="Google Shape;22;p3"/>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3"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rtl="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
        <p:nvSpPr>
          <p:cNvPr id="35" name="Google Shape;35;p5"/>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5"/>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6"/>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Lato"/>
              <a:buNone/>
              <a:defRPr b="1" sz="2400">
                <a:latin typeface="Lato"/>
                <a:ea typeface="Lato"/>
                <a:cs typeface="Lato"/>
                <a:sym typeface="Lato"/>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44" name="Google Shape;4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AC">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Lato"/>
              <a:buNone/>
              <a:defRPr b="1" sz="48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 name="Google Shape;5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Lato"/>
              <a:buNone/>
              <a:defRPr sz="2100">
                <a:latin typeface="Lato"/>
                <a:ea typeface="Lato"/>
                <a:cs typeface="Lato"/>
                <a:sym typeface="La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Lato"/>
              <a:buChar char="●"/>
              <a:defRPr b="1">
                <a:solidFill>
                  <a:schemeClr val="lt1"/>
                </a:solidFill>
                <a:latin typeface="Lato"/>
                <a:ea typeface="Lato"/>
                <a:cs typeface="Lato"/>
                <a:sym typeface="Lato"/>
              </a:defRPr>
            </a:lvl1pPr>
            <a:lvl2pPr indent="-317500" lvl="1" marL="914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2pPr>
            <a:lvl3pPr indent="-317500" lvl="2" marL="1371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3pPr>
            <a:lvl4pPr indent="-317500" lvl="3" marL="1828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4pPr>
            <a:lvl5pPr indent="-317500" lvl="4" marL="2286000">
              <a:spcBef>
                <a:spcPts val="0"/>
              </a:spcBef>
              <a:spcAft>
                <a:spcPts val="0"/>
              </a:spcAft>
              <a:buClr>
                <a:schemeClr val="lt1"/>
              </a:buClr>
              <a:buSzPts val="1400"/>
              <a:buFont typeface="Lato"/>
              <a:buChar char="○"/>
              <a:defRPr b="1">
                <a:solidFill>
                  <a:schemeClr val="lt1"/>
                </a:solidFill>
                <a:latin typeface="Lato"/>
                <a:ea typeface="Lato"/>
                <a:cs typeface="Lato"/>
                <a:sym typeface="Lato"/>
              </a:defRPr>
            </a:lvl5pPr>
            <a:lvl6pPr indent="-317500" lvl="5" marL="2743200">
              <a:spcBef>
                <a:spcPts val="0"/>
              </a:spcBef>
              <a:spcAft>
                <a:spcPts val="0"/>
              </a:spcAft>
              <a:buClr>
                <a:schemeClr val="lt1"/>
              </a:buClr>
              <a:buSzPts val="1400"/>
              <a:buFont typeface="Lato"/>
              <a:buChar char="■"/>
              <a:defRPr b="1">
                <a:solidFill>
                  <a:schemeClr val="lt1"/>
                </a:solidFill>
                <a:latin typeface="Lato"/>
                <a:ea typeface="Lato"/>
                <a:cs typeface="Lato"/>
                <a:sym typeface="Lato"/>
              </a:defRPr>
            </a:lvl6pPr>
            <a:lvl7pPr indent="-317500" lvl="6" marL="3200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7pPr>
            <a:lvl8pPr indent="-317500" lvl="7" marL="3657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8pPr>
            <a:lvl9pPr indent="-317500" lvl="8" marL="4114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56" name="Google Shape;56;p10"/>
          <p:cNvSpPr/>
          <p:nvPr/>
        </p:nvSpPr>
        <p:spPr>
          <a:xfrm>
            <a:off x="771300" y="4101875"/>
            <a:ext cx="7601400" cy="789300"/>
          </a:xfrm>
          <a:prstGeom prst="ellipseRibbon2">
            <a:avLst>
              <a:gd fmla="val 25000" name="adj1"/>
              <a:gd fmla="val 91057" name="adj2"/>
              <a:gd fmla="val 13560" name="adj3"/>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Lato"/>
              <a:ea typeface="Lato"/>
              <a:cs typeface="Lato"/>
              <a:sym typeface="Lato"/>
            </a:endParaRPr>
          </a:p>
        </p:txBody>
      </p:sp>
      <p:sp>
        <p:nvSpPr>
          <p:cNvPr id="57" name="Google Shape;57;p10"/>
          <p:cNvSpPr txBox="1"/>
          <p:nvPr/>
        </p:nvSpPr>
        <p:spPr>
          <a:xfrm>
            <a:off x="1727625" y="4148100"/>
            <a:ext cx="56457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Lato"/>
              <a:buNone/>
              <a:defRPr b="1" sz="12000">
                <a:latin typeface="Lato"/>
                <a:ea typeface="Lato"/>
                <a:cs typeface="Lato"/>
                <a:sym typeface="Lato"/>
              </a:defRPr>
            </a:lvl1pPr>
            <a:lvl2pPr lvl="1" algn="ctr">
              <a:spcBef>
                <a:spcPts val="0"/>
              </a:spcBef>
              <a:spcAft>
                <a:spcPts val="0"/>
              </a:spcAft>
              <a:buSzPts val="12000"/>
              <a:buFont typeface="Lato"/>
              <a:buNone/>
              <a:defRPr b="1" sz="12000">
                <a:latin typeface="Lato"/>
                <a:ea typeface="Lato"/>
                <a:cs typeface="Lato"/>
                <a:sym typeface="Lato"/>
              </a:defRPr>
            </a:lvl2pPr>
            <a:lvl3pPr lvl="2" algn="ctr">
              <a:spcBef>
                <a:spcPts val="0"/>
              </a:spcBef>
              <a:spcAft>
                <a:spcPts val="0"/>
              </a:spcAft>
              <a:buSzPts val="12000"/>
              <a:buFont typeface="Lato"/>
              <a:buNone/>
              <a:defRPr b="1" sz="12000">
                <a:latin typeface="Lato"/>
                <a:ea typeface="Lato"/>
                <a:cs typeface="Lato"/>
                <a:sym typeface="Lato"/>
              </a:defRPr>
            </a:lvl3pPr>
            <a:lvl4pPr lvl="3" algn="ctr">
              <a:spcBef>
                <a:spcPts val="0"/>
              </a:spcBef>
              <a:spcAft>
                <a:spcPts val="0"/>
              </a:spcAft>
              <a:buSzPts val="12000"/>
              <a:buFont typeface="Lato"/>
              <a:buNone/>
              <a:defRPr b="1" sz="12000">
                <a:latin typeface="Lato"/>
                <a:ea typeface="Lato"/>
                <a:cs typeface="Lato"/>
                <a:sym typeface="Lato"/>
              </a:defRPr>
            </a:lvl4pPr>
            <a:lvl5pPr lvl="4" algn="ctr">
              <a:spcBef>
                <a:spcPts val="0"/>
              </a:spcBef>
              <a:spcAft>
                <a:spcPts val="0"/>
              </a:spcAft>
              <a:buSzPts val="12000"/>
              <a:buFont typeface="Lato"/>
              <a:buNone/>
              <a:defRPr b="1" sz="12000">
                <a:latin typeface="Lato"/>
                <a:ea typeface="Lato"/>
                <a:cs typeface="Lato"/>
                <a:sym typeface="Lato"/>
              </a:defRPr>
            </a:lvl5pPr>
            <a:lvl6pPr lvl="5" algn="ctr">
              <a:spcBef>
                <a:spcPts val="0"/>
              </a:spcBef>
              <a:spcAft>
                <a:spcPts val="0"/>
              </a:spcAft>
              <a:buSzPts val="12000"/>
              <a:buFont typeface="Lato"/>
              <a:buNone/>
              <a:defRPr b="1" sz="12000">
                <a:latin typeface="Lato"/>
                <a:ea typeface="Lato"/>
                <a:cs typeface="Lato"/>
                <a:sym typeface="Lato"/>
              </a:defRPr>
            </a:lvl6pPr>
            <a:lvl7pPr lvl="6" algn="ctr">
              <a:spcBef>
                <a:spcPts val="0"/>
              </a:spcBef>
              <a:spcAft>
                <a:spcPts val="0"/>
              </a:spcAft>
              <a:buSzPts val="12000"/>
              <a:buFont typeface="Lato"/>
              <a:buNone/>
              <a:defRPr b="1" sz="12000">
                <a:latin typeface="Lato"/>
                <a:ea typeface="Lato"/>
                <a:cs typeface="Lato"/>
                <a:sym typeface="Lato"/>
              </a:defRPr>
            </a:lvl7pPr>
            <a:lvl8pPr lvl="7" algn="ctr">
              <a:spcBef>
                <a:spcPts val="0"/>
              </a:spcBef>
              <a:spcAft>
                <a:spcPts val="0"/>
              </a:spcAft>
              <a:buSzPts val="12000"/>
              <a:buFont typeface="Lato"/>
              <a:buNone/>
              <a:defRPr b="1" sz="12000">
                <a:latin typeface="Lato"/>
                <a:ea typeface="Lato"/>
                <a:cs typeface="Lato"/>
                <a:sym typeface="Lato"/>
              </a:defRPr>
            </a:lvl8pPr>
            <a:lvl9pPr lvl="8" algn="ctr">
              <a:spcBef>
                <a:spcPts val="0"/>
              </a:spcBef>
              <a:spcAft>
                <a:spcPts val="0"/>
              </a:spcAft>
              <a:buSzPts val="12000"/>
              <a:buFont typeface="Lato"/>
              <a:buNone/>
              <a:defRPr b="1" sz="12000">
                <a:latin typeface="Lato"/>
                <a:ea typeface="Lato"/>
                <a:cs typeface="Lato"/>
                <a:sym typeface="Lato"/>
              </a:defRPr>
            </a:lvl9pPr>
          </a:lstStyle>
          <a:p>
            <a:r>
              <a:t>xx%</a:t>
            </a:r>
          </a:p>
        </p:txBody>
      </p:sp>
      <p:sp>
        <p:nvSpPr>
          <p:cNvPr id="60" name="Google Shape;6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Lato"/>
              <a:buChar char="●"/>
              <a:defRPr>
                <a:latin typeface="Lato"/>
                <a:ea typeface="Lato"/>
                <a:cs typeface="Lato"/>
                <a:sym typeface="Lato"/>
              </a:defRPr>
            </a:lvl1pPr>
            <a:lvl2pPr indent="-317500" lvl="1" marL="914400" algn="ctr">
              <a:spcBef>
                <a:spcPts val="0"/>
              </a:spcBef>
              <a:spcAft>
                <a:spcPts val="0"/>
              </a:spcAft>
              <a:buSzPts val="1400"/>
              <a:buFont typeface="Lato"/>
              <a:buChar char="○"/>
              <a:defRPr>
                <a:latin typeface="Lato"/>
                <a:ea typeface="Lato"/>
                <a:cs typeface="Lato"/>
                <a:sym typeface="Lato"/>
              </a:defRPr>
            </a:lvl2pPr>
            <a:lvl3pPr indent="-317500" lvl="2" marL="1371600" algn="ctr">
              <a:spcBef>
                <a:spcPts val="0"/>
              </a:spcBef>
              <a:spcAft>
                <a:spcPts val="0"/>
              </a:spcAft>
              <a:buSzPts val="1400"/>
              <a:buFont typeface="Lato"/>
              <a:buChar char="■"/>
              <a:defRPr>
                <a:latin typeface="Lato"/>
                <a:ea typeface="Lato"/>
                <a:cs typeface="Lato"/>
                <a:sym typeface="Lato"/>
              </a:defRPr>
            </a:lvl3pPr>
            <a:lvl4pPr indent="-317500" lvl="3" marL="1828800" algn="ctr">
              <a:spcBef>
                <a:spcPts val="0"/>
              </a:spcBef>
              <a:spcAft>
                <a:spcPts val="0"/>
              </a:spcAft>
              <a:buSzPts val="1400"/>
              <a:buFont typeface="Lato"/>
              <a:buChar char="●"/>
              <a:defRPr>
                <a:latin typeface="Lato"/>
                <a:ea typeface="Lato"/>
                <a:cs typeface="Lato"/>
                <a:sym typeface="Lato"/>
              </a:defRPr>
            </a:lvl4pPr>
            <a:lvl5pPr indent="-317500" lvl="4" marL="2286000" algn="ctr">
              <a:spcBef>
                <a:spcPts val="0"/>
              </a:spcBef>
              <a:spcAft>
                <a:spcPts val="0"/>
              </a:spcAft>
              <a:buSzPts val="1400"/>
              <a:buFont typeface="Lato"/>
              <a:buChar char="○"/>
              <a:defRPr>
                <a:latin typeface="Lato"/>
                <a:ea typeface="Lato"/>
                <a:cs typeface="Lato"/>
                <a:sym typeface="Lato"/>
              </a:defRPr>
            </a:lvl5pPr>
            <a:lvl6pPr indent="-317500" lvl="5" marL="2743200" algn="ctr">
              <a:spcBef>
                <a:spcPts val="0"/>
              </a:spcBef>
              <a:spcAft>
                <a:spcPts val="0"/>
              </a:spcAft>
              <a:buSzPts val="1400"/>
              <a:buFont typeface="Lato"/>
              <a:buChar char="■"/>
              <a:defRPr>
                <a:latin typeface="Lato"/>
                <a:ea typeface="Lato"/>
                <a:cs typeface="Lato"/>
                <a:sym typeface="Lato"/>
              </a:defRPr>
            </a:lvl6pPr>
            <a:lvl7pPr indent="-317500" lvl="6" marL="3200400" algn="ctr">
              <a:spcBef>
                <a:spcPts val="0"/>
              </a:spcBef>
              <a:spcAft>
                <a:spcPts val="0"/>
              </a:spcAft>
              <a:buSzPts val="1400"/>
              <a:buFont typeface="Lato"/>
              <a:buChar char="●"/>
              <a:defRPr>
                <a:latin typeface="Lato"/>
                <a:ea typeface="Lato"/>
                <a:cs typeface="Lato"/>
                <a:sym typeface="Lato"/>
              </a:defRPr>
            </a:lvl7pPr>
            <a:lvl8pPr indent="-317500" lvl="7" marL="3657600" algn="ctr">
              <a:spcBef>
                <a:spcPts val="0"/>
              </a:spcBef>
              <a:spcAft>
                <a:spcPts val="0"/>
              </a:spcAft>
              <a:buSzPts val="1400"/>
              <a:buFont typeface="Lato"/>
              <a:buChar char="○"/>
              <a:defRPr>
                <a:latin typeface="Lato"/>
                <a:ea typeface="Lato"/>
                <a:cs typeface="Lato"/>
                <a:sym typeface="Lato"/>
              </a:defRPr>
            </a:lvl8pPr>
            <a:lvl9pPr indent="-317500" lvl="8" marL="4114800" algn="ctr">
              <a:spcBef>
                <a:spcPts val="0"/>
              </a:spcBef>
              <a:spcAft>
                <a:spcPts val="0"/>
              </a:spcAft>
              <a:buSzPts val="1400"/>
              <a:buFont typeface="Lato"/>
              <a:buChar char="■"/>
              <a:defRPr>
                <a:latin typeface="Lato"/>
                <a:ea typeface="Lato"/>
                <a:cs typeface="Lato"/>
                <a:sym typeface="Lato"/>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asm-editor.specy.app/projects" TargetMode="External"/><Relationship Id="rId4" Type="http://schemas.openxmlformats.org/officeDocument/2006/relationships/hyperlink" Target="https://craftinginterpreters.com/calls-and-functions.html" TargetMode="External"/><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hyperlink" Target="http://drive.google.com/file/d/12EdLt8vXsA0eLhwZPArGvqu_EVnj87sd/view" TargetMode="External"/><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hyperlink" Target="https://asm-editor.specy.app/projects/JqvrKKz"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9" name="Google Shape;69;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419" sz="2771" u="none" cap="none" strike="noStrike">
                <a:solidFill>
                  <a:srgbClr val="000000"/>
                </a:solidFill>
                <a:latin typeface="Arial"/>
                <a:ea typeface="Arial"/>
                <a:cs typeface="Arial"/>
                <a:sym typeface="Arial"/>
              </a:rPr>
              <a:t>Organización de Lenguajes y Compiladores 2</a:t>
            </a:r>
            <a:r>
              <a:rPr lang="es-419" sz="2771"/>
              <a:t> Sección B</a:t>
            </a:r>
            <a:endParaRPr b="0" i="0" sz="2771" u="none" cap="none" strike="noStrike">
              <a:solidFill>
                <a:srgbClr val="000000"/>
              </a:solidFill>
              <a:latin typeface="Arial"/>
              <a:ea typeface="Arial"/>
              <a:cs typeface="Arial"/>
              <a:sym typeface="Arial"/>
            </a:endParaRPr>
          </a:p>
        </p:txBody>
      </p:sp>
      <p:sp>
        <p:nvSpPr>
          <p:cNvPr id="70" name="Google Shape;70;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419" sz="2217"/>
              <a:t>Rubén Alejandro Ralda Mejia</a:t>
            </a:r>
            <a:endParaRPr b="0" i="0" sz="2217" u="none" cap="none" strike="noStrike">
              <a:solidFill>
                <a:srgbClr val="000000"/>
              </a:solidFill>
              <a:latin typeface="Arial"/>
              <a:ea typeface="Arial"/>
              <a:cs typeface="Arial"/>
              <a:sym typeface="Arial"/>
            </a:endParaRPr>
          </a:p>
        </p:txBody>
      </p:sp>
      <p:graphicFrame>
        <p:nvGraphicFramePr>
          <p:cNvPr id="71" name="Google Shape;71;p13"/>
          <p:cNvGraphicFramePr/>
          <p:nvPr/>
        </p:nvGraphicFramePr>
        <p:xfrm>
          <a:off x="5231045" y="1013300"/>
          <a:ext cx="3000000" cy="3000000"/>
        </p:xfrm>
        <a:graphic>
          <a:graphicData uri="http://schemas.openxmlformats.org/drawingml/2006/table">
            <a:tbl>
              <a:tblPr>
                <a:noFill/>
                <a:tableStyleId>{0567FA18-4763-4C52-8CCB-552F3003F012}</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419" sz="1200" u="none" cap="none" strike="noStrike">
                          <a:solidFill>
                            <a:srgbClr val="000000"/>
                          </a:solidFill>
                          <a:latin typeface="Arial"/>
                          <a:ea typeface="Arial"/>
                          <a:cs typeface="Arial"/>
                          <a:sym typeface="Arial"/>
                        </a:rPr>
                        <a:t>Martes, </a:t>
                      </a:r>
                      <a:r>
                        <a:rPr lang="es-419" sz="1200"/>
                        <a:t>24</a:t>
                      </a:r>
                      <a:r>
                        <a:rPr b="0" lang="es-419" sz="1200" u="none" cap="none" strike="noStrike">
                          <a:solidFill>
                            <a:srgbClr val="000000"/>
                          </a:solidFill>
                          <a:latin typeface="Arial"/>
                          <a:ea typeface="Arial"/>
                          <a:cs typeface="Arial"/>
                          <a:sym typeface="Arial"/>
                        </a:rPr>
                        <a:t>/</a:t>
                      </a:r>
                      <a:r>
                        <a:rPr lang="es-419" sz="1200"/>
                        <a:t>03</a:t>
                      </a:r>
                      <a:r>
                        <a:rPr b="0" lang="es-419" sz="1200" u="none" cap="none" strike="noStrike">
                          <a:solidFill>
                            <a:srgbClr val="000000"/>
                          </a:solidFill>
                          <a:latin typeface="Arial"/>
                          <a:ea typeface="Arial"/>
                          <a:cs typeface="Arial"/>
                          <a:sym typeface="Arial"/>
                        </a:rPr>
                        <a:t>/202</a:t>
                      </a:r>
                      <a:r>
                        <a:rPr lang="es-419" sz="1200"/>
                        <a:t>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419"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419" sz="1200"/>
                        <a:t>17</a:t>
                      </a:r>
                      <a:r>
                        <a:rPr b="0" lang="es-419" sz="1200" u="none" cap="none" strike="noStrike">
                          <a:solidFill>
                            <a:srgbClr val="000000"/>
                          </a:solidFill>
                          <a:latin typeface="Arial"/>
                          <a:ea typeface="Arial"/>
                          <a:cs typeface="Arial"/>
                          <a:sym typeface="Arial"/>
                        </a:rPr>
                        <a:t>:</a:t>
                      </a:r>
                      <a:r>
                        <a:rPr lang="es-419"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Creación de un compilador completo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Recordatorios:</a:t>
            </a:r>
            <a:endParaRPr/>
          </a:p>
          <a:p>
            <a:pPr indent="-317500" lvl="0" marL="457200" rtl="0" algn="l">
              <a:spcBef>
                <a:spcPts val="1200"/>
              </a:spcBef>
              <a:spcAft>
                <a:spcPts val="0"/>
              </a:spcAft>
              <a:buSzPts val="1400"/>
              <a:buChar char="➔"/>
            </a:pPr>
            <a:r>
              <a:rPr lang="es-419"/>
              <a:t>Foro de esta semana</a:t>
            </a:r>
            <a:endParaRPr/>
          </a:p>
          <a:p>
            <a:pPr indent="-317500" lvl="0" marL="457200" rtl="0" algn="l">
              <a:spcBef>
                <a:spcPts val="0"/>
              </a:spcBef>
              <a:spcAft>
                <a:spcPts val="0"/>
              </a:spcAft>
              <a:buSzPts val="1400"/>
              <a:buChar char="➔"/>
            </a:pPr>
            <a:r>
              <a:rPr lang="es-419"/>
              <a:t>Horarios de calificación</a:t>
            </a:r>
            <a:endParaRPr/>
          </a:p>
          <a:p>
            <a:pPr indent="-317500" lvl="0" marL="457200" rtl="0" algn="l">
              <a:spcBef>
                <a:spcPts val="0"/>
              </a:spcBef>
              <a:spcAft>
                <a:spcPts val="0"/>
              </a:spcAft>
              <a:buSzPts val="1400"/>
              <a:buChar char="➔"/>
            </a:pPr>
            <a:r>
              <a:rPr lang="es-419"/>
              <a:t>Tarea 2</a:t>
            </a:r>
            <a:endParaRPr/>
          </a:p>
          <a:p>
            <a:pPr indent="-317500" lvl="0" marL="457200" rtl="0" algn="l">
              <a:spcBef>
                <a:spcPts val="0"/>
              </a:spcBef>
              <a:spcAft>
                <a:spcPts val="0"/>
              </a:spcAft>
              <a:buSzPts val="1400"/>
              <a:buChar char="➔"/>
            </a:pPr>
            <a:r>
              <a:rPr lang="es-419"/>
              <a:t>Próximas clases</a:t>
            </a:r>
            <a:endParaRPr/>
          </a:p>
        </p:txBody>
      </p:sp>
      <p:sp>
        <p:nvSpPr>
          <p:cNvPr id="82" name="Google Shape;82;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Recursos:</a:t>
            </a:r>
            <a:endParaRPr/>
          </a:p>
          <a:p>
            <a:pPr indent="-317500" lvl="0" marL="457200" rtl="0" algn="l">
              <a:spcBef>
                <a:spcPts val="1200"/>
              </a:spcBef>
              <a:spcAft>
                <a:spcPts val="0"/>
              </a:spcAft>
              <a:buSzPts val="1400"/>
              <a:buChar char="●"/>
            </a:pPr>
            <a:r>
              <a:rPr lang="es-419" u="sng">
                <a:solidFill>
                  <a:schemeClr val="hlink"/>
                </a:solidFill>
                <a:hlinkClick r:id="rId3"/>
              </a:rPr>
              <a:t>RISC-V Online</a:t>
            </a:r>
            <a:endParaRPr/>
          </a:p>
          <a:p>
            <a:pPr indent="-317500" lvl="0" marL="457200" rtl="0" algn="l">
              <a:spcBef>
                <a:spcPts val="0"/>
              </a:spcBef>
              <a:spcAft>
                <a:spcPts val="0"/>
              </a:spcAft>
              <a:buSzPts val="1400"/>
              <a:buChar char="●"/>
            </a:pPr>
            <a:r>
              <a:rPr lang="es-419" u="sng">
                <a:solidFill>
                  <a:schemeClr val="hlink"/>
                </a:solidFill>
                <a:hlinkClick r:id="rId4"/>
              </a:rPr>
              <a:t>Crafting Interpreters</a:t>
            </a:r>
            <a:endParaRPr/>
          </a:p>
        </p:txBody>
      </p:sp>
      <p:sp>
        <p:nvSpPr>
          <p:cNvPr id="83" name="Google Shape;83;p15"/>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Agenda</a:t>
            </a:r>
            <a:endParaRPr/>
          </a:p>
        </p:txBody>
      </p:sp>
      <p:sp>
        <p:nvSpPr>
          <p:cNvPr id="84" name="Google Shape;84;p15"/>
          <p:cNvSpPr/>
          <p:nvPr/>
        </p:nvSpPr>
        <p:spPr>
          <a:xfrm>
            <a:off x="3818104" y="1152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Definiciones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idx="1" type="body"/>
          </p:nvPr>
        </p:nvSpPr>
        <p:spPr>
          <a:xfrm>
            <a:off x="263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Implementa la tabla de </a:t>
            </a:r>
            <a:r>
              <a:rPr lang="es-419"/>
              <a:t>símbolos</a:t>
            </a:r>
            <a:r>
              <a:rPr lang="es-419"/>
              <a:t>. En cada push o pop se crea esta estructura de datos para guardar todas las variables, funciones, arreglos, clases, instancias y métodos, es decir todos los identificadores del lenguaje IMPLEMENTADO.</a:t>
            </a:r>
            <a:endParaRPr/>
          </a:p>
          <a:p>
            <a:pPr indent="0" lvl="0" marL="0" rtl="0" algn="l">
              <a:spcBef>
                <a:spcPts val="1200"/>
              </a:spcBef>
              <a:spcAft>
                <a:spcPts val="0"/>
              </a:spcAft>
              <a:buNone/>
            </a:pPr>
            <a:r>
              <a:t/>
            </a:r>
            <a:endParaRPr/>
          </a:p>
          <a:p>
            <a:pPr indent="0" lvl="0" marL="0" rtl="0" algn="l">
              <a:lnSpc>
                <a:spcPct val="100000"/>
              </a:lnSpc>
              <a:spcBef>
                <a:spcPts val="1200"/>
              </a:spcBef>
              <a:spcAft>
                <a:spcPts val="0"/>
              </a:spcAft>
              <a:buNone/>
            </a:pPr>
            <a:r>
              <a:rPr lang="es-419"/>
              <a:t>Env.push(superior);</a:t>
            </a:r>
            <a:endParaRPr/>
          </a:p>
          <a:p>
            <a:pPr indent="0" lvl="0" marL="0" rtl="0" algn="l">
              <a:lnSpc>
                <a:spcPct val="100000"/>
              </a:lnSpc>
              <a:spcBef>
                <a:spcPts val="0"/>
              </a:spcBef>
              <a:spcAft>
                <a:spcPts val="0"/>
              </a:spcAft>
              <a:buNone/>
            </a:pPr>
            <a:r>
              <a:rPr lang="es-419"/>
              <a:t>superior = new Env(tope);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s-419"/>
              <a:t>Podríamos borrar el env que sale (pop) e ir agregando los símbolos en el reporte.</a:t>
            </a:r>
            <a:endParaRPr/>
          </a:p>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sp>
        <p:nvSpPr>
          <p:cNvPr id="95" name="Google Shape;95;p1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Environment</a:t>
            </a:r>
            <a:endParaRPr/>
          </a:p>
        </p:txBody>
      </p:sp>
      <p:pic>
        <p:nvPicPr>
          <p:cNvPr id="96" name="Google Shape;96;p17"/>
          <p:cNvPicPr preferRelativeResize="0"/>
          <p:nvPr/>
        </p:nvPicPr>
        <p:blipFill>
          <a:blip r:embed="rId3">
            <a:alphaModFix/>
          </a:blip>
          <a:stretch>
            <a:fillRect/>
          </a:stretch>
        </p:blipFill>
        <p:spPr>
          <a:xfrm>
            <a:off x="4364325" y="1152475"/>
            <a:ext cx="4191000" cy="224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Memoria </a:t>
            </a:r>
            <a:endParaRPr/>
          </a:p>
        </p:txBody>
      </p:sp>
      <p:sp>
        <p:nvSpPr>
          <p:cNvPr id="102" name="Google Shape;102;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En la arquitectura ARM64 solamente un espacio virtual de memoria </a:t>
            </a:r>
            <a:r>
              <a:rPr lang="es-419"/>
              <a:t>lineal</a:t>
            </a:r>
            <a:r>
              <a:rPr lang="es-419"/>
              <a:t>, la subdivisión es gestionada por nosotros en tiempo de ejecución.</a:t>
            </a:r>
            <a:endParaRPr/>
          </a:p>
        </p:txBody>
      </p:sp>
      <p:pic>
        <p:nvPicPr>
          <p:cNvPr id="103" name="Google Shape;103;p18"/>
          <p:cNvPicPr preferRelativeResize="0"/>
          <p:nvPr/>
        </p:nvPicPr>
        <p:blipFill>
          <a:blip r:embed="rId3">
            <a:alphaModFix/>
          </a:blip>
          <a:stretch>
            <a:fillRect/>
          </a:stretch>
        </p:blipFill>
        <p:spPr>
          <a:xfrm>
            <a:off x="2028250" y="1936075"/>
            <a:ext cx="5087500" cy="2431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Registros de activación</a:t>
            </a:r>
            <a:endParaRPr/>
          </a:p>
        </p:txBody>
      </p:sp>
      <p:sp>
        <p:nvSpPr>
          <p:cNvPr id="109" name="Google Shape;109;p19"/>
          <p:cNvSpPr txBox="1"/>
          <p:nvPr>
            <p:ph idx="1" type="body"/>
          </p:nvPr>
        </p:nvSpPr>
        <p:spPr>
          <a:xfrm>
            <a:off x="131700" y="1152475"/>
            <a:ext cx="4907700" cy="276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419"/>
              <a:t>La a</a:t>
            </a:r>
            <a:r>
              <a:rPr lang="es-419"/>
              <a:t>signación de espacio en la pila en tiempo de ejecución generalmente se administra de casi igual en la mayoría de compiladores.</a:t>
            </a:r>
            <a:endParaRPr/>
          </a:p>
          <a:p>
            <a:pPr indent="0" lvl="0" marL="0" rtl="0" algn="l">
              <a:spcBef>
                <a:spcPts val="1200"/>
              </a:spcBef>
              <a:spcAft>
                <a:spcPts val="0"/>
              </a:spcAft>
              <a:buNone/>
            </a:pPr>
            <a:r>
              <a:rPr lang="es-419"/>
              <a:t>Por lo general, las llamadas a los procedimientos y los retornos de los mismos se manejan mediante una pila en tiempo de ejecución, conocida como pila de control. Cada activación en vivo tiene un registro de activación (algunas veces se le conoce como marco) en la pila de control</a:t>
            </a:r>
            <a:endParaRPr/>
          </a:p>
          <a:p>
            <a:pPr indent="0" lvl="0" marL="0" rtl="0" algn="l">
              <a:spcBef>
                <a:spcPts val="1200"/>
              </a:spcBef>
              <a:spcAft>
                <a:spcPts val="1200"/>
              </a:spcAft>
              <a:buNone/>
            </a:pPr>
            <a:r>
              <a:t/>
            </a:r>
            <a:endParaRPr/>
          </a:p>
        </p:txBody>
      </p:sp>
      <p:pic>
        <p:nvPicPr>
          <p:cNvPr id="110" name="Google Shape;110;p19"/>
          <p:cNvPicPr preferRelativeResize="0"/>
          <p:nvPr/>
        </p:nvPicPr>
        <p:blipFill>
          <a:blip r:embed="rId3">
            <a:alphaModFix/>
          </a:blip>
          <a:stretch>
            <a:fillRect/>
          </a:stretch>
        </p:blipFill>
        <p:spPr>
          <a:xfrm>
            <a:off x="4919025" y="1017725"/>
            <a:ext cx="3657600" cy="3400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Descriptores de registro y direcciones</a:t>
            </a:r>
            <a:endParaRPr/>
          </a:p>
        </p:txBody>
      </p:sp>
      <p:sp>
        <p:nvSpPr>
          <p:cNvPr id="116" name="Google Shape;11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 Para cada registro disponible, un descriptor de registro lleva la cuenta de los nombres de las variables cuyo valor actual se encuentra en ese registro. </a:t>
            </a:r>
            <a:endParaRPr/>
          </a:p>
          <a:p>
            <a:pPr indent="0" lvl="0" marL="0" rtl="0" algn="l">
              <a:spcBef>
                <a:spcPts val="1200"/>
              </a:spcBef>
              <a:spcAft>
                <a:spcPts val="1200"/>
              </a:spcAft>
              <a:buNone/>
            </a:pPr>
            <a:r>
              <a:rPr lang="es-419"/>
              <a:t>2. Para cada variable del programa, un descriptor de acceso lleva la cuenta de la ubicación o ubicaciones en las que puede encontrarse el valor actual de esa variable. La ubicación podría ser un registro, una dirección de memoria, una ubicación en la pila o algún conjunto de más de uno de éstos.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419"/>
              <a:t>Descriptores de registro y direcciones</a:t>
            </a:r>
            <a:endParaRPr/>
          </a:p>
          <a:p>
            <a:pPr indent="0" lvl="0" marL="0" rtl="0" algn="l">
              <a:spcBef>
                <a:spcPts val="0"/>
              </a:spcBef>
              <a:spcAft>
                <a:spcPts val="0"/>
              </a:spcAft>
              <a:buNone/>
            </a:pPr>
            <a:r>
              <a:t/>
            </a:r>
            <a:endParaRPr/>
          </a:p>
        </p:txBody>
      </p:sp>
      <p:pic>
        <p:nvPicPr>
          <p:cNvPr id="122" name="Google Shape;122;p21"/>
          <p:cNvPicPr preferRelativeResize="0"/>
          <p:nvPr/>
        </p:nvPicPr>
        <p:blipFill>
          <a:blip r:embed="rId3">
            <a:alphaModFix/>
          </a:blip>
          <a:stretch>
            <a:fillRect/>
          </a:stretch>
        </p:blipFill>
        <p:spPr>
          <a:xfrm>
            <a:off x="1896250" y="1122125"/>
            <a:ext cx="4831116" cy="3820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idx="1" type="body"/>
          </p:nvPr>
        </p:nvSpPr>
        <p:spPr>
          <a:xfrm>
            <a:off x="311700" y="1152475"/>
            <a:ext cx="8399400" cy="179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s-419" sz="1250"/>
              <a:t>Implementa la estructura de datos para las instrucciones en representación intermedia (Cuadruplos, tripletas o tripletas indirectas).</a:t>
            </a:r>
            <a:endParaRPr sz="1250"/>
          </a:p>
          <a:p>
            <a:pPr indent="0" lvl="0" marL="0" rtl="0" algn="l">
              <a:lnSpc>
                <a:spcPct val="95000"/>
              </a:lnSpc>
              <a:spcBef>
                <a:spcPts val="1200"/>
              </a:spcBef>
              <a:spcAft>
                <a:spcPts val="0"/>
              </a:spcAft>
              <a:buSzPts val="275"/>
              <a:buNone/>
            </a:pPr>
            <a:r>
              <a:rPr lang="es-419" sz="1250"/>
              <a:t>Tiene los métodos para agregar todas las diferentes instrucciones del RI utilizado (C3D, Aarch64 y más) agregando cada instrucción en una lista de la estructura de datos escogida.</a:t>
            </a:r>
            <a:endParaRPr sz="1250"/>
          </a:p>
          <a:p>
            <a:pPr indent="0" lvl="0" marL="0" rtl="0" algn="l">
              <a:lnSpc>
                <a:spcPct val="95000"/>
              </a:lnSpc>
              <a:spcBef>
                <a:spcPts val="1200"/>
              </a:spcBef>
              <a:spcAft>
                <a:spcPts val="1200"/>
              </a:spcAft>
              <a:buSzPts val="275"/>
              <a:buNone/>
            </a:pPr>
            <a:r>
              <a:rPr lang="es-419" sz="1250"/>
              <a:t>Output</a:t>
            </a:r>
            <a:r>
              <a:rPr lang="es-419" sz="1250"/>
              <a:t>-&gt;Instrucciones ARM en cuadruplos. Cuenta con un método para generar el reporte en un archivo .s.</a:t>
            </a:r>
            <a:endParaRPr sz="1250"/>
          </a:p>
        </p:txBody>
      </p:sp>
      <p:sp>
        <p:nvSpPr>
          <p:cNvPr id="128" name="Google Shape;128;p22"/>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Generador código intermedio</a:t>
            </a:r>
            <a:endParaRPr/>
          </a:p>
        </p:txBody>
      </p:sp>
      <p:pic>
        <p:nvPicPr>
          <p:cNvPr id="129" name="Google Shape;129;p22"/>
          <p:cNvPicPr preferRelativeResize="0"/>
          <p:nvPr/>
        </p:nvPicPr>
        <p:blipFill>
          <a:blip r:embed="rId3">
            <a:alphaModFix/>
          </a:blip>
          <a:stretch>
            <a:fillRect/>
          </a:stretch>
        </p:blipFill>
        <p:spPr>
          <a:xfrm>
            <a:off x="1060374" y="2538949"/>
            <a:ext cx="2751000" cy="2195600"/>
          </a:xfrm>
          <a:prstGeom prst="rect">
            <a:avLst/>
          </a:prstGeom>
          <a:noFill/>
          <a:ln>
            <a:noFill/>
          </a:ln>
        </p:spPr>
      </p:pic>
      <p:pic>
        <p:nvPicPr>
          <p:cNvPr id="130" name="Google Shape;130;p22"/>
          <p:cNvPicPr preferRelativeResize="0"/>
          <p:nvPr/>
        </p:nvPicPr>
        <p:blipFill>
          <a:blip r:embed="rId4">
            <a:alphaModFix/>
          </a:blip>
          <a:stretch>
            <a:fillRect/>
          </a:stretch>
        </p:blipFill>
        <p:spPr>
          <a:xfrm>
            <a:off x="5079825" y="2538950"/>
            <a:ext cx="2682549" cy="2195600"/>
          </a:xfrm>
          <a:prstGeom prst="rect">
            <a:avLst/>
          </a:prstGeom>
          <a:noFill/>
          <a:ln>
            <a:noFill/>
          </a:ln>
        </p:spPr>
      </p:pic>
      <p:cxnSp>
        <p:nvCxnSpPr>
          <p:cNvPr id="131" name="Google Shape;131;p22"/>
          <p:cNvCxnSpPr>
            <a:stCxn id="129" idx="3"/>
            <a:endCxn id="130" idx="1"/>
          </p:cNvCxnSpPr>
          <p:nvPr/>
        </p:nvCxnSpPr>
        <p:spPr>
          <a:xfrm>
            <a:off x="3811374" y="3636749"/>
            <a:ext cx="1268400" cy="0"/>
          </a:xfrm>
          <a:prstGeom prst="straightConnector1">
            <a:avLst/>
          </a:prstGeom>
          <a:noFill/>
          <a:ln cap="flat" cmpd="sng" w="9525">
            <a:solidFill>
              <a:schemeClr val="dk2"/>
            </a:solidFill>
            <a:prstDash val="solid"/>
            <a:round/>
            <a:headEnd len="med" w="med" type="none"/>
            <a:tailEnd len="med" w="med" type="triangle"/>
          </a:ln>
        </p:spPr>
      </p:cxnSp>
      <p:sp>
        <p:nvSpPr>
          <p:cNvPr id="132" name="Google Shape;132;p22"/>
          <p:cNvSpPr txBox="1"/>
          <p:nvPr/>
        </p:nvSpPr>
        <p:spPr>
          <a:xfrm>
            <a:off x="4031600" y="3807625"/>
            <a:ext cx="8280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2"/>
                </a:solidFill>
              </a:rPr>
              <a:t>Estructura en código</a:t>
            </a:r>
            <a:endParaRPr sz="9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Objetivo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 type="body"/>
          </p:nvPr>
        </p:nvSpPr>
        <p:spPr>
          <a:xfrm>
            <a:off x="311700" y="1152475"/>
            <a:ext cx="1968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Código</a:t>
            </a:r>
            <a:r>
              <a:rPr lang="es-419"/>
              <a:t> entrada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3" name="Google Shape;143;p24"/>
          <p:cNvSpPr txBox="1"/>
          <p:nvPr>
            <p:ph idx="2" type="body"/>
          </p:nvPr>
        </p:nvSpPr>
        <p:spPr>
          <a:xfrm>
            <a:off x="3160050" y="1088500"/>
            <a:ext cx="246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Representación intermedia en cuadruplos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4" name="Google Shape;144;p24"/>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t>
            </a:r>
            <a:r>
              <a:rPr lang="es-419"/>
              <a:t>Qué</a:t>
            </a:r>
            <a:r>
              <a:rPr lang="es-419"/>
              <a:t> debe hacer nuestro compilador?	</a:t>
            </a:r>
            <a:endParaRPr/>
          </a:p>
        </p:txBody>
      </p:sp>
      <p:sp>
        <p:nvSpPr>
          <p:cNvPr id="145" name="Google Shape;145;p24"/>
          <p:cNvSpPr txBox="1"/>
          <p:nvPr>
            <p:ph idx="2" type="body"/>
          </p:nvPr>
        </p:nvSpPr>
        <p:spPr>
          <a:xfrm>
            <a:off x="6504300" y="1088500"/>
            <a:ext cx="208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Código ensamblador</a:t>
            </a:r>
            <a:endParaRPr/>
          </a:p>
        </p:txBody>
      </p:sp>
      <p:pic>
        <p:nvPicPr>
          <p:cNvPr id="146" name="Google Shape;146;p24"/>
          <p:cNvPicPr preferRelativeResize="0"/>
          <p:nvPr/>
        </p:nvPicPr>
        <p:blipFill>
          <a:blip r:embed="rId3">
            <a:alphaModFix/>
          </a:blip>
          <a:stretch>
            <a:fillRect/>
          </a:stretch>
        </p:blipFill>
        <p:spPr>
          <a:xfrm>
            <a:off x="239725" y="1735825"/>
            <a:ext cx="2794726" cy="2407400"/>
          </a:xfrm>
          <a:prstGeom prst="rect">
            <a:avLst/>
          </a:prstGeom>
          <a:noFill/>
          <a:ln>
            <a:noFill/>
          </a:ln>
        </p:spPr>
      </p:pic>
      <p:pic>
        <p:nvPicPr>
          <p:cNvPr id="147" name="Google Shape;147;p24"/>
          <p:cNvPicPr preferRelativeResize="0"/>
          <p:nvPr/>
        </p:nvPicPr>
        <p:blipFill>
          <a:blip r:embed="rId4">
            <a:alphaModFix/>
          </a:blip>
          <a:stretch>
            <a:fillRect/>
          </a:stretch>
        </p:blipFill>
        <p:spPr>
          <a:xfrm>
            <a:off x="3151699" y="1925874"/>
            <a:ext cx="2840600" cy="769875"/>
          </a:xfrm>
          <a:prstGeom prst="rect">
            <a:avLst/>
          </a:prstGeom>
          <a:noFill/>
          <a:ln>
            <a:noFill/>
          </a:ln>
        </p:spPr>
      </p:pic>
      <p:pic>
        <p:nvPicPr>
          <p:cNvPr id="148" name="Google Shape;148;p24"/>
          <p:cNvPicPr preferRelativeResize="0"/>
          <p:nvPr/>
        </p:nvPicPr>
        <p:blipFill>
          <a:blip r:embed="rId5">
            <a:alphaModFix/>
          </a:blip>
          <a:stretch>
            <a:fillRect/>
          </a:stretch>
        </p:blipFill>
        <p:spPr>
          <a:xfrm>
            <a:off x="6562247" y="1404685"/>
            <a:ext cx="2428925" cy="1812300"/>
          </a:xfrm>
          <a:prstGeom prst="rect">
            <a:avLst/>
          </a:prstGeom>
          <a:noFill/>
          <a:ln>
            <a:noFill/>
          </a:ln>
        </p:spPr>
      </p:pic>
      <p:cxnSp>
        <p:nvCxnSpPr>
          <p:cNvPr id="149" name="Google Shape;149;p24"/>
          <p:cNvCxnSpPr/>
          <p:nvPr/>
        </p:nvCxnSpPr>
        <p:spPr>
          <a:xfrm>
            <a:off x="6024299" y="2214374"/>
            <a:ext cx="727200" cy="19290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p24"/>
          <p:cNvCxnSpPr/>
          <p:nvPr/>
        </p:nvCxnSpPr>
        <p:spPr>
          <a:xfrm>
            <a:off x="6024299" y="2378862"/>
            <a:ext cx="767100" cy="3249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24"/>
          <p:cNvCxnSpPr/>
          <p:nvPr/>
        </p:nvCxnSpPr>
        <p:spPr>
          <a:xfrm>
            <a:off x="5952724" y="2571762"/>
            <a:ext cx="822600" cy="411900"/>
          </a:xfrm>
          <a:prstGeom prst="straightConnector1">
            <a:avLst/>
          </a:prstGeom>
          <a:noFill/>
          <a:ln cap="flat" cmpd="sng" w="9525">
            <a:solidFill>
              <a:schemeClr val="dk2"/>
            </a:solidFill>
            <a:prstDash val="solid"/>
            <a:round/>
            <a:headEnd len="med" w="med" type="none"/>
            <a:tailEnd len="med" w="med" type="triangle"/>
          </a:ln>
        </p:spPr>
      </p:cxnSp>
      <p:pic>
        <p:nvPicPr>
          <p:cNvPr id="152" name="Google Shape;152;p24"/>
          <p:cNvPicPr preferRelativeResize="0"/>
          <p:nvPr/>
        </p:nvPicPr>
        <p:blipFill>
          <a:blip r:embed="rId6">
            <a:alphaModFix/>
          </a:blip>
          <a:stretch>
            <a:fillRect/>
          </a:stretch>
        </p:blipFill>
        <p:spPr>
          <a:xfrm>
            <a:off x="6562251" y="3249425"/>
            <a:ext cx="1282725" cy="3634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Paso de argumentos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nvSpPr>
        <p:spPr>
          <a:xfrm>
            <a:off x="1729200" y="4156675"/>
            <a:ext cx="5688600" cy="5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Video Explicativo</a:t>
            </a:r>
            <a:endParaRPr sz="1800">
              <a:solidFill>
                <a:schemeClr val="lt1"/>
              </a:solidFill>
              <a:latin typeface="Lato"/>
              <a:ea typeface="Lato"/>
              <a:cs typeface="Lato"/>
              <a:sym typeface="Lato"/>
            </a:endParaRPr>
          </a:p>
        </p:txBody>
      </p:sp>
      <p:pic>
        <p:nvPicPr>
          <p:cNvPr id="163" name="Google Shape;163;p26" title="StackExample.mp4">
            <a:hlinkClick r:id="rId3"/>
          </p:cNvPr>
          <p:cNvPicPr preferRelativeResize="0"/>
          <p:nvPr/>
        </p:nvPicPr>
        <p:blipFill>
          <a:blip r:embed="rId4">
            <a:alphaModFix/>
          </a:blip>
          <a:stretch>
            <a:fillRect/>
          </a:stretch>
        </p:blipFill>
        <p:spPr>
          <a:xfrm>
            <a:off x="1148113" y="169425"/>
            <a:ext cx="6847779" cy="38518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Paso de argumentos</a:t>
            </a:r>
            <a:endParaRPr/>
          </a:p>
        </p:txBody>
      </p:sp>
      <p:sp>
        <p:nvSpPr>
          <p:cNvPr id="169" name="Google Shape;16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Normalmente el paso de argumentos se hace desde los registros </a:t>
            </a:r>
            <a:r>
              <a:rPr lang="es-419"/>
              <a:t>específicos</a:t>
            </a:r>
            <a:r>
              <a:rPr lang="es-419"/>
              <a:t> para esa funci</a:t>
            </a:r>
            <a:r>
              <a:rPr lang="es-419"/>
              <a:t>ón</a:t>
            </a:r>
            <a:r>
              <a:rPr lang="es-419"/>
              <a:t>, en el caso de RISC-V son a0-a9. Sin embargo cuando son varios argumentos es necesario hacer uso del stack como hemos visto en el video.</a:t>
            </a:r>
            <a:endParaRPr/>
          </a:p>
          <a:p>
            <a:pPr indent="0" lvl="0" marL="0" rtl="0" algn="l">
              <a:spcBef>
                <a:spcPts val="1200"/>
              </a:spcBef>
              <a:spcAft>
                <a:spcPts val="1200"/>
              </a:spcAft>
              <a:buNone/>
            </a:pPr>
            <a:r>
              <a:rPr lang="es-419"/>
              <a:t>El stack funciona como intermediario entre el caller y el callee, sin embargo es necesario tener una estructura y diseño para que no hayan errores futuros.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Call frame</a:t>
            </a:r>
            <a:endParaRPr/>
          </a:p>
        </p:txBody>
      </p:sp>
      <p:sp>
        <p:nvSpPr>
          <p:cNvPr id="175" name="Google Shape;17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El call frame es ese diseño y estru-</a:t>
            </a:r>
            <a:br>
              <a:rPr lang="es-419"/>
            </a:br>
            <a:r>
              <a:rPr lang="es-419"/>
              <a:t>ctura que necesitamos a la hora de</a:t>
            </a:r>
            <a:br>
              <a:rPr lang="es-419"/>
            </a:br>
            <a:r>
              <a:rPr lang="es-419"/>
              <a:t>hacer una llamada a una funci</a:t>
            </a:r>
            <a:r>
              <a:rPr lang="es-419"/>
              <a:t>ón.</a:t>
            </a:r>
            <a:endParaRPr/>
          </a:p>
        </p:txBody>
      </p:sp>
      <p:pic>
        <p:nvPicPr>
          <p:cNvPr id="176" name="Google Shape;176;p28"/>
          <p:cNvPicPr preferRelativeResize="0"/>
          <p:nvPr/>
        </p:nvPicPr>
        <p:blipFill>
          <a:blip r:embed="rId3">
            <a:alphaModFix/>
          </a:blip>
          <a:stretch>
            <a:fillRect/>
          </a:stretch>
        </p:blipFill>
        <p:spPr>
          <a:xfrm>
            <a:off x="3969848" y="1152475"/>
            <a:ext cx="4862450" cy="341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9"/>
          <p:cNvPicPr preferRelativeResize="0"/>
          <p:nvPr/>
        </p:nvPicPr>
        <p:blipFill>
          <a:blip r:embed="rId3">
            <a:alphaModFix/>
          </a:blip>
          <a:stretch>
            <a:fillRect/>
          </a:stretch>
        </p:blipFill>
        <p:spPr>
          <a:xfrm>
            <a:off x="637800" y="646300"/>
            <a:ext cx="2019300" cy="2695575"/>
          </a:xfrm>
          <a:prstGeom prst="rect">
            <a:avLst/>
          </a:prstGeom>
          <a:noFill/>
          <a:ln>
            <a:noFill/>
          </a:ln>
        </p:spPr>
      </p:pic>
      <p:pic>
        <p:nvPicPr>
          <p:cNvPr id="182" name="Google Shape;182;p29"/>
          <p:cNvPicPr preferRelativeResize="0"/>
          <p:nvPr/>
        </p:nvPicPr>
        <p:blipFill>
          <a:blip r:embed="rId4">
            <a:alphaModFix/>
          </a:blip>
          <a:stretch>
            <a:fillRect/>
          </a:stretch>
        </p:blipFill>
        <p:spPr>
          <a:xfrm>
            <a:off x="2783975" y="821525"/>
            <a:ext cx="6182101" cy="2345120"/>
          </a:xfrm>
          <a:prstGeom prst="rect">
            <a:avLst/>
          </a:prstGeom>
          <a:noFill/>
          <a:ln>
            <a:noFill/>
          </a:ln>
        </p:spPr>
      </p:pic>
      <p:sp>
        <p:nvSpPr>
          <p:cNvPr id="183" name="Google Shape;183;p29"/>
          <p:cNvSpPr txBox="1"/>
          <p:nvPr/>
        </p:nvSpPr>
        <p:spPr>
          <a:xfrm>
            <a:off x="1737700" y="4156675"/>
            <a:ext cx="5663100" cy="54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Ejemplo de Crafting Interpreters</a:t>
            </a:r>
            <a:endParaRPr sz="18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0"/>
          <p:cNvPicPr preferRelativeResize="0"/>
          <p:nvPr/>
        </p:nvPicPr>
        <p:blipFill>
          <a:blip r:embed="rId3">
            <a:alphaModFix/>
          </a:blip>
          <a:stretch>
            <a:fillRect/>
          </a:stretch>
        </p:blipFill>
        <p:spPr>
          <a:xfrm>
            <a:off x="152400" y="615150"/>
            <a:ext cx="8839201" cy="39131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31"/>
          <p:cNvPicPr preferRelativeResize="0"/>
          <p:nvPr/>
        </p:nvPicPr>
        <p:blipFill>
          <a:blip r:embed="rId3">
            <a:alphaModFix/>
          </a:blip>
          <a:stretch>
            <a:fillRect/>
          </a:stretch>
        </p:blipFill>
        <p:spPr>
          <a:xfrm>
            <a:off x="658325" y="195000"/>
            <a:ext cx="7827348" cy="3726925"/>
          </a:xfrm>
          <a:prstGeom prst="rect">
            <a:avLst/>
          </a:prstGeom>
          <a:noFill/>
          <a:ln>
            <a:noFill/>
          </a:ln>
        </p:spPr>
      </p:pic>
      <p:sp>
        <p:nvSpPr>
          <p:cNvPr id="194" name="Google Shape;194;p31"/>
          <p:cNvSpPr txBox="1"/>
          <p:nvPr/>
        </p:nvSpPr>
        <p:spPr>
          <a:xfrm>
            <a:off x="1720675" y="4148150"/>
            <a:ext cx="5679900" cy="55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u="sng">
                <a:solidFill>
                  <a:schemeClr val="lt1"/>
                </a:solidFill>
                <a:latin typeface="Lato"/>
                <a:ea typeface="Lato"/>
                <a:cs typeface="Lato"/>
                <a:sym typeface="Lato"/>
                <a:hlinkClick r:id="rId4">
                  <a:extLst>
                    <a:ext uri="{A12FA001-AC4F-418D-AE19-62706E023703}">
                      <ahyp:hlinkClr val="tx"/>
                    </a:ext>
                  </a:extLst>
                </a:hlinkClick>
              </a:rPr>
              <a:t>Ejemplo en tiempo real con registros</a:t>
            </a:r>
            <a:endParaRPr b="1" sz="1800">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