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10287000" cx="18288000"/>
  <p:notesSz cx="6858000" cy="9144000"/>
  <p:embeddedFontLst>
    <p:embeddedFont>
      <p:font typeface="Play"/>
      <p:regular r:id="rId22"/>
      <p:bold r:id="rId23"/>
    </p:embeddedFont>
    <p:embeddedFont>
      <p:font typeface="Open Sans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hjhhxLt8fBRAz/1YuUhDaAkESf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6B6D470-BF1C-4666-9A31-37BDD1F80C76}">
  <a:tblStyle styleId="{86B6D470-BF1C-4666-9A31-37BDD1F80C7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lay-regular.fntdata"/><Relationship Id="rId21" Type="http://schemas.openxmlformats.org/officeDocument/2006/relationships/slide" Target="slides/slide15.xml"/><Relationship Id="rId24" Type="http://schemas.openxmlformats.org/officeDocument/2006/relationships/font" Target="fonts/OpenSans-bold.fntdata"/><Relationship Id="rId23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Open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231b838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d231b8380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d231b8380a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560" y="0"/>
            <a:ext cx="18253440" cy="102866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5" name="Google Shape;85;g3d231b8380a_0_0"/>
          <p:cNvGraphicFramePr/>
          <p:nvPr/>
        </p:nvGraphicFramePr>
        <p:xfrm>
          <a:off x="10656720" y="194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{86B6D470-BF1C-4666-9A31-37BDD1F80C76}</a:tableStyleId>
              </a:tblPr>
              <a:tblGrid>
                <a:gridCol w="3036250"/>
                <a:gridCol w="4344500"/>
              </a:tblGrid>
              <a:tr h="64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n-US" sz="2800"/>
                        <a:t>24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2800"/>
                        <a:t>03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n-US" sz="2800"/>
                        <a:t>6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17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n-US" sz="2800"/>
                        <a:t>20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g3d231b8380a_0_0"/>
          <p:cNvSpPr/>
          <p:nvPr/>
        </p:nvSpPr>
        <p:spPr>
          <a:xfrm>
            <a:off x="2880000" y="4516560"/>
            <a:ext cx="11956800" cy="18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 </a:t>
            </a:r>
            <a:r>
              <a:rPr lang="en-US" sz="5000"/>
              <a:t>N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d231b8380a_0_0"/>
          <p:cNvSpPr/>
          <p:nvPr/>
        </p:nvSpPr>
        <p:spPr>
          <a:xfrm>
            <a:off x="3557520" y="6189120"/>
            <a:ext cx="111720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Omar Alejandro Vides Esteban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 txBox="1"/>
          <p:nvPr/>
        </p:nvSpPr>
        <p:spPr>
          <a:xfrm>
            <a:off x="441078" y="7834026"/>
            <a:ext cx="14621401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1174195" y="2488880"/>
            <a:ext cx="15939600" cy="48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6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Traducción de </a:t>
            </a:r>
            <a:r>
              <a:rPr b="1" lang="en-US" sz="826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funciones de primera clase en un compilador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1028700" y="9210675"/>
            <a:ext cx="3525292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651754" y="4191762"/>
            <a:ext cx="6140254" cy="845387"/>
            <a:chOff x="0" y="-76200"/>
            <a:chExt cx="2614209" cy="359923"/>
          </a:xfrm>
        </p:grpSpPr>
        <p:sp>
          <p:nvSpPr>
            <p:cNvPr id="103" name="Google Shape;103;p2"/>
            <p:cNvSpPr/>
            <p:nvPr/>
          </p:nvSpPr>
          <p:spPr>
            <a:xfrm>
              <a:off x="0" y="0"/>
              <a:ext cx="2614209" cy="283723"/>
            </a:xfrm>
            <a:custGeom>
              <a:rect b="b" l="l" r="r" t="t"/>
              <a:pathLst>
                <a:path extrusionOk="0" h="283723" w="2614209">
                  <a:moveTo>
                    <a:pt x="2411009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411009" y="283723"/>
                  </a:lnTo>
                  <a:lnTo>
                    <a:pt x="2614209" y="141862"/>
                  </a:lnTo>
                  <a:lnTo>
                    <a:pt x="241100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4" name="Google Shape;104;p2"/>
            <p:cNvSpPr txBox="1"/>
            <p:nvPr/>
          </p:nvSpPr>
          <p:spPr>
            <a:xfrm>
              <a:off x="0" y="-76200"/>
              <a:ext cx="2499909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Paso de argumentos</a:t>
              </a:r>
              <a:endParaRPr/>
            </a:p>
          </p:txBody>
        </p:sp>
      </p:grpSp>
      <p:sp>
        <p:nvSpPr>
          <p:cNvPr id="105" name="Google Shape;105;p2"/>
          <p:cNvSpPr/>
          <p:nvPr/>
        </p:nvSpPr>
        <p:spPr>
          <a:xfrm>
            <a:off x="878654" y="4339404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2"/>
          <p:cNvSpPr txBox="1"/>
          <p:nvPr/>
        </p:nvSpPr>
        <p:spPr>
          <a:xfrm>
            <a:off x="11931429" y="2253219"/>
            <a:ext cx="3681600" cy="15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RECORDATORIOS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10808329" y="2594810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8" name="Google Shape;108;p2"/>
          <p:cNvGrpSpPr/>
          <p:nvPr/>
        </p:nvGrpSpPr>
        <p:grpSpPr>
          <a:xfrm>
            <a:off x="651749" y="-320617"/>
            <a:ext cx="7032601" cy="3058817"/>
            <a:chOff x="-6" y="-95250"/>
            <a:chExt cx="9376800" cy="4078424"/>
          </a:xfrm>
        </p:grpSpPr>
        <p:sp>
          <p:nvSpPr>
            <p:cNvPr id="109" name="Google Shape;109;p2"/>
            <p:cNvSpPr txBox="1"/>
            <p:nvPr/>
          </p:nvSpPr>
          <p:spPr>
            <a:xfrm>
              <a:off x="-6" y="986774"/>
              <a:ext cx="9376800" cy="299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600" u="none" cap="none" strike="noStrike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 sz="1000"/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2"/>
          <p:cNvSpPr txBox="1"/>
          <p:nvPr/>
        </p:nvSpPr>
        <p:spPr>
          <a:xfrm>
            <a:off x="9738890" y="316441"/>
            <a:ext cx="8416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6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2" name="Google Shape;112;p2"/>
          <p:cNvGrpSpPr/>
          <p:nvPr/>
        </p:nvGrpSpPr>
        <p:grpSpPr>
          <a:xfrm>
            <a:off x="1455804" y="5386144"/>
            <a:ext cx="3005459" cy="845387"/>
            <a:chOff x="0" y="-76200"/>
            <a:chExt cx="1279572" cy="359923"/>
          </a:xfrm>
        </p:grpSpPr>
        <p:sp>
          <p:nvSpPr>
            <p:cNvPr id="113" name="Google Shape;113;p2"/>
            <p:cNvSpPr/>
            <p:nvPr/>
          </p:nvSpPr>
          <p:spPr>
            <a:xfrm>
              <a:off x="0" y="0"/>
              <a:ext cx="1279572" cy="283723"/>
            </a:xfrm>
            <a:custGeom>
              <a:rect b="b" l="l" r="r" t="t"/>
              <a:pathLst>
                <a:path extrusionOk="0" h="283723" w="1279572">
                  <a:moveTo>
                    <a:pt x="1076372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076372" y="283723"/>
                  </a:lnTo>
                  <a:lnTo>
                    <a:pt x="1279572" y="141862"/>
                  </a:lnTo>
                  <a:lnTo>
                    <a:pt x="10763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4" name="Google Shape;114;p2"/>
            <p:cNvSpPr txBox="1"/>
            <p:nvPr/>
          </p:nvSpPr>
          <p:spPr>
            <a:xfrm>
              <a:off x="0" y="-76200"/>
              <a:ext cx="1165272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Call frames</a:t>
              </a:r>
              <a:endParaRPr/>
            </a:p>
          </p:txBody>
        </p:sp>
      </p:grpSp>
      <p:grpSp>
        <p:nvGrpSpPr>
          <p:cNvPr id="115" name="Google Shape;115;p2"/>
          <p:cNvGrpSpPr/>
          <p:nvPr/>
        </p:nvGrpSpPr>
        <p:grpSpPr>
          <a:xfrm>
            <a:off x="1105333" y="6490702"/>
            <a:ext cx="4613562" cy="845387"/>
            <a:chOff x="0" y="-76200"/>
            <a:chExt cx="1964221" cy="359923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7" name="Google Shape;117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Valores de retorno</a:t>
              </a:r>
              <a:endParaRPr/>
            </a:p>
          </p:txBody>
        </p:sp>
      </p:grpSp>
      <p:grpSp>
        <p:nvGrpSpPr>
          <p:cNvPr id="118" name="Google Shape;118;p2"/>
          <p:cNvGrpSpPr/>
          <p:nvPr/>
        </p:nvGrpSpPr>
        <p:grpSpPr>
          <a:xfrm>
            <a:off x="651754" y="7425656"/>
            <a:ext cx="4613562" cy="845387"/>
            <a:chOff x="0" y="-76200"/>
            <a:chExt cx="1964221" cy="359923"/>
          </a:xfrm>
        </p:grpSpPr>
        <p:sp>
          <p:nvSpPr>
            <p:cNvPr id="119" name="Google Shape;11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0" name="Google Shape;120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Propiedades</a:t>
              </a:r>
              <a:endParaRPr/>
            </a:p>
          </p:txBody>
        </p:sp>
      </p:grpSp>
      <p:sp>
        <p:nvSpPr>
          <p:cNvPr id="121" name="Google Shape;121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2"/>
          <p:cNvSpPr txBox="1"/>
          <p:nvPr/>
        </p:nvSpPr>
        <p:spPr>
          <a:xfrm>
            <a:off x="10808325" y="3728800"/>
            <a:ext cx="5531400" cy="14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Foro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Horarios calificación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Entrega Tarea #2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10052200" y="5917500"/>
            <a:ext cx="67452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 de la Semana: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Rigor Técnico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 txBox="1"/>
          <p:nvPr/>
        </p:nvSpPr>
        <p:spPr>
          <a:xfrm>
            <a:off x="1374889" y="654364"/>
            <a:ext cx="13991100" cy="19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COMPETENCIA(S) QUE</a:t>
            </a:r>
            <a:endParaRPr b="0" i="0" sz="6098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DESARROLLAREMOS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1374889" y="4080164"/>
            <a:ext cx="14570691" cy="29154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4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 estudiante genera código de bajo nivel y ensamblador a partir de plantillas de generación y asignación de registros considerando convenciones de llamada y optimización de registros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/>
          <p:nvPr/>
        </p:nvSpPr>
        <p:spPr>
          <a:xfrm>
            <a:off x="232882" y="2632145"/>
            <a:ext cx="17822236" cy="6784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Las funciones de primera clase son aquellas que pueden tratarse como valores dentro del lenguaje de programación. Esto significa que pueden:</a:t>
            </a:r>
            <a:endParaRPr/>
          </a:p>
          <a:p>
            <a:pPr indent="-423887" lvl="1" marL="847775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Font typeface="Arial"/>
              <a:buChar char="•"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Asignarse a variables.</a:t>
            </a:r>
            <a:endParaRPr/>
          </a:p>
          <a:p>
            <a:pPr indent="-423887" lvl="1" marL="847775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Font typeface="Arial"/>
              <a:buChar char="•"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Pasarse como parámetros.</a:t>
            </a:r>
            <a:endParaRPr/>
          </a:p>
          <a:p>
            <a:pPr indent="-423887" lvl="1" marL="847775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Font typeface="Arial"/>
              <a:buChar char="•"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Retornarse desde otras funciones.</a:t>
            </a:r>
            <a:endParaRPr/>
          </a:p>
          <a:p>
            <a:pPr indent="-423887" lvl="1" marL="847775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Font typeface="Arial"/>
              <a:buChar char="•"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Almacenarse en estructuras de datos.</a:t>
            </a:r>
            <a:endParaRPr/>
          </a:p>
          <a:p>
            <a:pPr indent="0" lvl="0" marL="0" marR="0" rtl="0" algn="just">
              <a:lnSpc>
                <a:spcPct val="173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925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232882" y="157745"/>
            <a:ext cx="17822236" cy="2664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TRADUCCIÓN DE FUNCIONES DE PRIMERA CLASE EN UN COMPILADOR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/>
          <p:nvPr/>
        </p:nvSpPr>
        <p:spPr>
          <a:xfrm>
            <a:off x="0" y="2419667"/>
            <a:ext cx="18288000" cy="5380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Implicaciones para el compilador:</a:t>
            </a:r>
            <a:endParaRPr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El manejo de funciones como valores implica extender la semántica tradicional del compilador, ya que las funciones dejan de ser simples bloques de código y se convierten en entidades manipulables que pueden existir dinámicamente durante la ejecución.</a:t>
            </a:r>
            <a:endParaRPr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Desafíos:</a:t>
            </a:r>
            <a:endParaRPr/>
          </a:p>
          <a:p>
            <a:pPr indent="-36703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Gestión de entornos anidados y cierres (closures).</a:t>
            </a:r>
            <a:endParaRPr/>
          </a:p>
          <a:p>
            <a:pPr indent="-36703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Preservación del contexto léxico de las funciones.</a:t>
            </a:r>
            <a:endParaRPr/>
          </a:p>
          <a:p>
            <a:pPr indent="-36703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Mapeo correcto entre las variables libres y sus referencias en memoria.</a:t>
            </a:r>
            <a:endParaRPr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 txBox="1"/>
          <p:nvPr/>
        </p:nvSpPr>
        <p:spPr>
          <a:xfrm>
            <a:off x="0" y="-171450"/>
            <a:ext cx="11961614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Paso de Argumentos</a:t>
            </a:r>
            <a:endParaRPr/>
          </a:p>
        </p:txBody>
      </p:sp>
      <p:sp>
        <p:nvSpPr>
          <p:cNvPr id="148" name="Google Shape;148;p6"/>
          <p:cNvSpPr txBox="1"/>
          <p:nvPr/>
        </p:nvSpPr>
        <p:spPr>
          <a:xfrm>
            <a:off x="1486858" y="1712201"/>
            <a:ext cx="15314400" cy="86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4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paso de argumentos es el mecanismo mediante el cual se transmiten los valores o referencias a los parámetros de una función durante una llamada.</a:t>
            </a:r>
            <a:endParaRPr sz="1100"/>
          </a:p>
          <a:p>
            <a:pPr indent="0" lvl="0" marL="0" marR="0" rtl="0" algn="just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4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Formas de paso:</a:t>
            </a:r>
            <a:endParaRPr sz="1100"/>
          </a:p>
          <a:p>
            <a:pPr indent="-288299" lvl="1" marL="614698" marR="0" rtl="0" algn="just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47"/>
              <a:buFont typeface="Arial"/>
              <a:buChar char="•"/>
            </a:pPr>
            <a:r>
              <a:rPr b="0" i="0" lang="en-US" sz="254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Por valor: se copia el contenido del argumento; los cambios dentro de la función no afectan el valor original.</a:t>
            </a:r>
            <a:endParaRPr sz="1100"/>
          </a:p>
          <a:p>
            <a:pPr indent="-288299" lvl="1" marL="614698" marR="0" rtl="0" algn="just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47"/>
              <a:buFont typeface="Arial"/>
              <a:buChar char="•"/>
            </a:pPr>
            <a:r>
              <a:rPr b="0" i="0" lang="en-US" sz="254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Por referencia: se pasa la dirección del valor; las modificaciones dentro de la función se reflejan en el entorno original.</a:t>
            </a:r>
            <a:endParaRPr sz="1100"/>
          </a:p>
          <a:p>
            <a:pPr indent="-288299" lvl="1" marL="614698" marR="0" rtl="0" algn="just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47"/>
              <a:buFont typeface="Arial"/>
              <a:buChar char="•"/>
            </a:pPr>
            <a:r>
              <a:rPr b="0" i="0" lang="en-US" sz="254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Por valor-retorno o copia-restauración: combinación donde el valor se copia al inicio y se devuelve al finalizar la ejecución.</a:t>
            </a:r>
            <a:endParaRPr sz="1100"/>
          </a:p>
          <a:p>
            <a:pPr indent="0" lvl="0" marL="0" marR="0" rtl="0" algn="just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4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Traducción en el compilador:</a:t>
            </a:r>
            <a:endParaRPr sz="1100"/>
          </a:p>
          <a:p>
            <a:pPr indent="0" lvl="0" marL="0" marR="0" rtl="0" algn="just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4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El compilador debe:</a:t>
            </a:r>
            <a:endParaRPr sz="1100"/>
          </a:p>
          <a:p>
            <a:pPr indent="-288299" lvl="1" marL="614698" marR="0" rtl="0" algn="just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47"/>
              <a:buFont typeface="Arial"/>
              <a:buChar char="•"/>
            </a:pPr>
            <a:r>
              <a:rPr b="0" i="0" lang="en-US" sz="254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Determinar el método de paso de argumentos según la semántica del lenguaje.</a:t>
            </a:r>
            <a:endParaRPr sz="1100"/>
          </a:p>
          <a:p>
            <a:pPr indent="-288299" lvl="1" marL="614698" marR="0" rtl="0" algn="just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47"/>
              <a:buFont typeface="Arial"/>
              <a:buChar char="•"/>
            </a:pPr>
            <a:r>
              <a:rPr b="0" i="0" lang="en-US" sz="254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Reservar espacio en el stack frame para los parámetros.</a:t>
            </a:r>
            <a:endParaRPr sz="1100"/>
          </a:p>
          <a:p>
            <a:pPr indent="-288299" lvl="1" marL="614698" marR="0" rtl="0" algn="just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47"/>
              <a:buFont typeface="Arial"/>
              <a:buChar char="•"/>
            </a:pPr>
            <a:r>
              <a:rPr b="0" i="0" lang="en-US" sz="2547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Alinear y transferir los argumentos conforme a las convenciones de llamada de la arquitectura objetivo.</a:t>
            </a:r>
            <a:endParaRPr sz="1100"/>
          </a:p>
          <a:p>
            <a:pPr indent="0" lvl="0" marL="0" marR="0" rtl="0" algn="just">
              <a:lnSpc>
                <a:spcPct val="13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47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 txBox="1"/>
          <p:nvPr/>
        </p:nvSpPr>
        <p:spPr>
          <a:xfrm>
            <a:off x="0" y="-171450"/>
            <a:ext cx="6762750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Call Frames</a:t>
            </a:r>
            <a:endParaRPr/>
          </a:p>
        </p:txBody>
      </p:sp>
      <p:sp>
        <p:nvSpPr>
          <p:cNvPr id="154" name="Google Shape;154;p7"/>
          <p:cNvSpPr txBox="1"/>
          <p:nvPr/>
        </p:nvSpPr>
        <p:spPr>
          <a:xfrm>
            <a:off x="0" y="1209675"/>
            <a:ext cx="18288000" cy="9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 call frame o marco de activación representa la estructura de memoria utilizada para ejecutar una función. Cada llamada genera un nuevo frame que contiene toda la información necesaria para su ejecución y eventual retorno.</a:t>
            </a:r>
            <a:endParaRPr sz="700"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Componentes principales:</a:t>
            </a:r>
            <a:endParaRPr sz="700"/>
          </a:p>
          <a:p>
            <a:pPr indent="-32258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Dirección de retorno.</a:t>
            </a:r>
            <a:endParaRPr sz="700"/>
          </a:p>
          <a:p>
            <a:pPr indent="-32258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Parámetros formales.</a:t>
            </a:r>
            <a:endParaRPr sz="700"/>
          </a:p>
          <a:p>
            <a:pPr indent="-32258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Variables locales.</a:t>
            </a:r>
            <a:endParaRPr sz="700"/>
          </a:p>
          <a:p>
            <a:pPr indent="-32258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Espacio para valores temporales o intermedios.</a:t>
            </a:r>
            <a:endParaRPr sz="700"/>
          </a:p>
          <a:p>
            <a:pPr indent="-32258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Arial"/>
              <a:buChar char="•"/>
            </a:pPr>
            <a:r>
              <a:rPr b="0" i="0" lang="en-US" sz="26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Copia de registros necesarios para restaurar el estado anterior.</a:t>
            </a:r>
            <a:endParaRPr sz="700"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Manejo durante la ejecución:</a:t>
            </a:r>
            <a:endParaRPr sz="700"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Cuando se invoca una función, el compilador genera instrucciones que:</a:t>
            </a:r>
            <a:endParaRPr sz="700"/>
          </a:p>
          <a:p>
            <a:pPr indent="-32258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Open Sans"/>
              <a:buAutoNum type="arabicPeriod"/>
            </a:pPr>
            <a:r>
              <a:rPr b="0" i="0" lang="en-US" sz="26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Crean un nuevo frame en la pila.</a:t>
            </a:r>
            <a:endParaRPr sz="700"/>
          </a:p>
          <a:p>
            <a:pPr indent="-32258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Open Sans"/>
              <a:buAutoNum type="arabicPeriod"/>
            </a:pPr>
            <a:r>
              <a:rPr b="0" i="0" lang="en-US" sz="26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Guardan el estado de la función llamadora.</a:t>
            </a:r>
            <a:endParaRPr sz="700"/>
          </a:p>
          <a:p>
            <a:pPr indent="-32258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Open Sans"/>
              <a:buAutoNum type="arabicPeriod"/>
            </a:pPr>
            <a:r>
              <a:rPr b="0" i="0" lang="en-US" sz="26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Transfieren el control a la función llamada.</a:t>
            </a:r>
            <a:endParaRPr sz="700"/>
          </a:p>
          <a:p>
            <a:pPr indent="-32258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99"/>
              <a:buFont typeface="Open Sans"/>
              <a:buAutoNum type="arabicPeriod"/>
            </a:pPr>
            <a:r>
              <a:rPr b="0" i="0" lang="en-US" sz="26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Restauran el contexto al retornar.</a:t>
            </a:r>
            <a:endParaRPr sz="700"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/>
          <p:nvPr/>
        </p:nvSpPr>
        <p:spPr>
          <a:xfrm>
            <a:off x="0" y="-171450"/>
            <a:ext cx="11097340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Valores de Retorno</a:t>
            </a:r>
            <a:endParaRPr/>
          </a:p>
        </p:txBody>
      </p:sp>
      <p:sp>
        <p:nvSpPr>
          <p:cNvPr id="160" name="Google Shape;160;p8"/>
          <p:cNvSpPr txBox="1"/>
          <p:nvPr/>
        </p:nvSpPr>
        <p:spPr>
          <a:xfrm>
            <a:off x="0" y="2124035"/>
            <a:ext cx="18288000" cy="84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valor de retorno es el resultado que una función produce tras su ejecución. Representa la información que se transmite desde la función llamada hacia la función que la invocó.</a:t>
            </a:r>
            <a:endParaRPr sz="1100"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Manejo en el compilador:</a:t>
            </a:r>
            <a:endParaRPr sz="1100"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El compilador debe determinar:</a:t>
            </a:r>
            <a:endParaRPr sz="1100"/>
          </a:p>
          <a:p>
            <a:pPr indent="-34798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99"/>
              <a:buFont typeface="Arial"/>
              <a:buChar char="•"/>
            </a:pPr>
            <a:r>
              <a:rPr b="0" i="0" lang="en-US" sz="3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tipo de valor que se retorna.</a:t>
            </a:r>
            <a:endParaRPr sz="1100"/>
          </a:p>
          <a:p>
            <a:pPr indent="-34798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99"/>
              <a:buFont typeface="Arial"/>
              <a:buChar char="•"/>
            </a:pPr>
            <a:r>
              <a:rPr b="0" i="0" lang="en-US" sz="3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ubicación donde se almacenará el resultado (registro o memoria).</a:t>
            </a:r>
            <a:endParaRPr sz="1100"/>
          </a:p>
          <a:p>
            <a:pPr indent="-34798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99"/>
              <a:buFont typeface="Arial"/>
              <a:buChar char="•"/>
            </a:pPr>
            <a:r>
              <a:rPr b="0" i="0" lang="en-US" sz="3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Las instrucciones necesarias para transferir dicho valor de vuelta al entorno llamador.</a:t>
            </a:r>
            <a:endParaRPr sz="1100"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Convenciones de retorno:</a:t>
            </a:r>
            <a:endParaRPr sz="1100"/>
          </a:p>
          <a:p>
            <a:pPr indent="-34798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99"/>
              <a:buFont typeface="Arial"/>
              <a:buChar char="•"/>
            </a:pPr>
            <a:r>
              <a:rPr b="0" i="0" lang="en-US" sz="3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 muchas arquitecturas, los valores escalares se devuelven mediante un registro específico (por ejemplo, R0 o W0).</a:t>
            </a:r>
            <a:endParaRPr sz="1100"/>
          </a:p>
          <a:p>
            <a:pPr indent="-34798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99"/>
              <a:buFont typeface="Arial"/>
              <a:buChar char="•"/>
            </a:pPr>
            <a:r>
              <a:rPr b="0" i="0" lang="en-US" sz="3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 el caso de valores compuestos, el compilador reserva espacio temporal y pasa la dirección de dicho espacio a la función llamada.</a:t>
            </a:r>
            <a:endParaRPr sz="1100"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 txBox="1"/>
          <p:nvPr/>
        </p:nvSpPr>
        <p:spPr>
          <a:xfrm>
            <a:off x="0" y="-171450"/>
            <a:ext cx="18288000" cy="3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Programación Orientada a Objetos en un Compilador</a:t>
            </a:r>
            <a:endParaRPr sz="900"/>
          </a:p>
        </p:txBody>
      </p:sp>
      <p:sp>
        <p:nvSpPr>
          <p:cNvPr id="166" name="Google Shape;166;p9"/>
          <p:cNvSpPr txBox="1"/>
          <p:nvPr/>
        </p:nvSpPr>
        <p:spPr>
          <a:xfrm>
            <a:off x="0" y="2957194"/>
            <a:ext cx="18288000" cy="78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programación orientada a objetos (POO) introduce un modelo de abstracción basado en entidades denominadas objetos, las cuales combinan datos y comportamiento.</a:t>
            </a:r>
            <a:endParaRPr sz="1100"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Un compilador que soporta este paradigma debe gestionar conceptos como clases, herencia, polimorfismo y encapsulamiento.</a:t>
            </a:r>
            <a:endParaRPr sz="1100"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Traducción en el compilador:</a:t>
            </a:r>
            <a:endParaRPr sz="1100"/>
          </a:p>
          <a:p>
            <a:pPr indent="-34798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99"/>
              <a:buFont typeface="Arial"/>
              <a:buChar char="•"/>
            </a:pPr>
            <a:r>
              <a:rPr b="0" i="0" lang="en-US" sz="3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Cada clase se traduce internamente como una estructura de datos que agrupa atributos y métodos.</a:t>
            </a:r>
            <a:endParaRPr sz="1100"/>
          </a:p>
          <a:p>
            <a:pPr indent="-34798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99"/>
              <a:buFont typeface="Arial"/>
              <a:buChar char="•"/>
            </a:pPr>
            <a:r>
              <a:rPr b="0" i="0" lang="en-US" sz="3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Los métodos se implementan como funciones que reciben una referencia implícita al objeto actual (por ejemplo, this o self).</a:t>
            </a:r>
            <a:endParaRPr sz="1100"/>
          </a:p>
          <a:p>
            <a:pPr indent="-34798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99"/>
              <a:buFont typeface="Arial"/>
              <a:buChar char="•"/>
            </a:pPr>
            <a:r>
              <a:rPr b="0" i="0" lang="en-US" sz="30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herencia se traduce mediante relaciones jerárquicas de estructuras o tablas de métodos virtuales.</a:t>
            </a:r>
            <a:endParaRPr sz="1100"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 txBox="1"/>
          <p:nvPr/>
        </p:nvSpPr>
        <p:spPr>
          <a:xfrm>
            <a:off x="0" y="-171450"/>
            <a:ext cx="7229356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Propiedades</a:t>
            </a:r>
            <a:endParaRPr/>
          </a:p>
        </p:txBody>
      </p:sp>
      <p:sp>
        <p:nvSpPr>
          <p:cNvPr id="172" name="Google Shape;172;p10"/>
          <p:cNvSpPr txBox="1"/>
          <p:nvPr/>
        </p:nvSpPr>
        <p:spPr>
          <a:xfrm>
            <a:off x="0" y="2677160"/>
            <a:ext cx="18288000" cy="6581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Las propiedades son miembros de una clase que encapsulan el acceso a los atributos internos mediante métodos implícitos de lectura (getters) y escritura (setters).</a:t>
            </a:r>
            <a:endParaRPr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Actúan como una interfaz controlada entre el estado interno del objeto y el entorno externo.</a:t>
            </a:r>
            <a:endParaRPr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Papel del compilador:</a:t>
            </a:r>
            <a:endParaRPr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El compilador debe:</a:t>
            </a:r>
            <a:endParaRPr/>
          </a:p>
          <a:p>
            <a:pPr indent="-36703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Traducir cada propiedad en funciones equivalentes de acceso y modificación.</a:t>
            </a:r>
            <a:endParaRPr/>
          </a:p>
          <a:p>
            <a:pPr indent="-36703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Gestionar las restricciones de visibilidad o validaciones asociadas.</a:t>
            </a:r>
            <a:endParaRPr/>
          </a:p>
          <a:p>
            <a:pPr indent="-36703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Generar el código que vincule el uso de una propiedad con su método correspondiente.</a:t>
            </a:r>
            <a:endParaRPr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98">
                <a:solidFill>
                  <a:srgbClr val="131416"/>
                </a:solidFill>
              </a:rPr>
              <a:t>EJEMPLO</a:t>
            </a: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PRACTICO</a:t>
            </a:r>
            <a:endParaRPr/>
          </a:p>
        </p:txBody>
      </p:sp>
      <p:sp>
        <p:nvSpPr>
          <p:cNvPr id="178" name="Google Shape;178;p11"/>
          <p:cNvSpPr txBox="1"/>
          <p:nvPr/>
        </p:nvSpPr>
        <p:spPr>
          <a:xfrm>
            <a:off x="1374889" y="3650660"/>
            <a:ext cx="14365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Elaboración de </a:t>
            </a:r>
            <a:r>
              <a:rPr lang="en-US" sz="3575">
                <a:solidFill>
                  <a:srgbClr val="131416"/>
                </a:solidFill>
              </a:rPr>
              <a:t>ejemplo</a:t>
            </a:r>
            <a:r>
              <a:rPr b="0" i="0" lang="en-US" sz="357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practico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/>
          </a:p>
        </p:txBody>
      </p:sp>
      <p:sp>
        <p:nvSpPr>
          <p:cNvPr id="184" name="Google Shape;184;p12"/>
          <p:cNvSpPr txBox="1"/>
          <p:nvPr/>
        </p:nvSpPr>
        <p:spPr>
          <a:xfrm>
            <a:off x="6212425" y="3860822"/>
            <a:ext cx="6911400" cy="25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0217" lvl="1" marL="680434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lang="en-US" sz="3151">
                <a:solidFill>
                  <a:srgbClr val="131416"/>
                </a:solidFill>
              </a:rPr>
              <a:t>Call Frame</a:t>
            </a:r>
            <a:endParaRPr sz="3151">
              <a:solidFill>
                <a:srgbClr val="131416"/>
              </a:solidFill>
            </a:endParaRPr>
          </a:p>
          <a:p>
            <a:pPr indent="-340217" lvl="1" marL="680434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lang="en-US" sz="3151">
                <a:solidFill>
                  <a:srgbClr val="131416"/>
                </a:solidFill>
              </a:rPr>
              <a:t>Valores de retorno</a:t>
            </a:r>
            <a:endParaRPr/>
          </a:p>
          <a:p>
            <a:pPr indent="-340217" lvl="1" marL="680434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lang="en-US" sz="3151">
                <a:solidFill>
                  <a:srgbClr val="131416"/>
                </a:solidFill>
              </a:rPr>
              <a:t>Paso de argumentos</a:t>
            </a:r>
            <a:endParaRPr sz="3151">
              <a:solidFill>
                <a:srgbClr val="131416"/>
              </a:solidFill>
            </a:endParaRPr>
          </a:p>
          <a:p>
            <a:pPr indent="-340217" lvl="1" marL="680434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•"/>
            </a:pPr>
            <a:r>
              <a:rPr lang="en-US" sz="3151">
                <a:solidFill>
                  <a:srgbClr val="131416"/>
                </a:solidFill>
              </a:rPr>
              <a:t>Propiedades en POO</a:t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</a:t>
            </a:r>
            <a:endParaRPr/>
          </a:p>
        </p:txBody>
      </p:sp>
      <p:sp>
        <p:nvSpPr>
          <p:cNvPr id="190" name="Google Shape;190;p14"/>
          <p:cNvSpPr txBox="1"/>
          <p:nvPr/>
        </p:nvSpPr>
        <p:spPr>
          <a:xfrm>
            <a:off x="0" y="4819967"/>
            <a:ext cx="18288000" cy="1180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Compiladores, Principios, Técnicas y HerramientasAho, Sethi y Ullmam. PEARSON ADDISON- WESLEY, 2008, segunda edición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"/>
          <p:cNvSpPr txBox="1"/>
          <p:nvPr/>
        </p:nvSpPr>
        <p:spPr>
          <a:xfrm>
            <a:off x="4437795" y="3389104"/>
            <a:ext cx="8658900" cy="28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5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197" name="Google Shape;197;p15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15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