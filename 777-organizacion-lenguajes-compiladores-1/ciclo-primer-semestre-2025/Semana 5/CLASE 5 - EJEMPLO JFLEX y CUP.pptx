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Poppins Light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jV/mE+cOUBQKutWLIfiztOBm2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26B1FC-8D85-423A-BBD7-4A71BC200F12}">
  <a:tblStyle styleId="{7C26B1FC-8D85-423A-BBD7-4A71BC200F1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PoppinsLight-bold.fntdata"/><Relationship Id="rId23" Type="http://schemas.openxmlformats.org/officeDocument/2006/relationships/font" Target="fonts/Poppi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Light-boldItalic.fntdata"/><Relationship Id="rId25" Type="http://schemas.openxmlformats.org/officeDocument/2006/relationships/font" Target="fonts/PoppinsLight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c6a8d041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5c6a8d041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c6a8d041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5c6a8d041f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6a8d041f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5c6a8d041f_1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0a28b2a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60a28b2a7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{7C26B1FC-8D85-423A-BBD7-4A71BC200F12}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Lunes 15/07/2024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10:40 am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3" y="4512775"/>
            <a:ext cx="14140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1 [&lt;SECCION&gt;]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648825" y="6027250"/>
            <a:ext cx="1099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&lt;NOMBRE&gt;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9" name="Google Shape;89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{7C26B1FC-8D85-423A-BBD7-4A71BC200F12}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Lunes </a:t>
                      </a:r>
                      <a:r>
                        <a:rPr lang="en-US" sz="2799" u="none" cap="none" strike="noStrike"/>
                        <a:t>3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/0</a:t>
                      </a:r>
                      <a:r>
                        <a:rPr lang="en-US" sz="2799" u="none" cap="none" strike="noStrike"/>
                        <a:t>2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799" u="none" cap="none" strike="noStrike"/>
                        <a:t>5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10:40 am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"/>
          <p:cNvSpPr txBox="1"/>
          <p:nvPr/>
        </p:nvSpPr>
        <p:spPr>
          <a:xfrm>
            <a:off x="2971773" y="4512775"/>
            <a:ext cx="141402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1 &lt;SECCIÓN&gt;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532075" y="6304500"/>
            <a:ext cx="1099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AUXI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c6a8d041f_1_0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g35c6a8d041f_1_0"/>
          <p:cNvSpPr txBox="1"/>
          <p:nvPr/>
        </p:nvSpPr>
        <p:spPr>
          <a:xfrm>
            <a:off x="1063300" y="6439750"/>
            <a:ext cx="1387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Laboratorio 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g35c6a8d041f_1_0"/>
          <p:cNvSpPr txBox="1"/>
          <p:nvPr/>
        </p:nvSpPr>
        <p:spPr>
          <a:xfrm>
            <a:off x="1724775" y="2479350"/>
            <a:ext cx="150762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JFlex Y Cup: Herramientas de análisis</a:t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g35c6a8d041f_1_0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g35c6a8d041f_1_0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g35c6a8d041f_1_0"/>
          <p:cNvSpPr txBox="1"/>
          <p:nvPr/>
        </p:nvSpPr>
        <p:spPr>
          <a:xfrm>
            <a:off x="228600" y="9588254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c6a8d041f_1_9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COMPETENCIAS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7" name="Google Shape;107;g35c6a8d041f_1_9"/>
          <p:cNvSpPr txBox="1"/>
          <p:nvPr/>
        </p:nvSpPr>
        <p:spPr>
          <a:xfrm>
            <a:off x="1925850" y="2371550"/>
            <a:ext cx="14436300" cy="6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 analizadores léxicos mediante expresiones regulares y JFlex para tokenizar entradas definidas y manejar errores léxicos.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Desarrolla analizadores sintácticos con CUP y/o Jison, gramáticas LL/LR para validar la estructura de programas y construir AST.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/>
          <p:nvPr/>
        </p:nvSpPr>
        <p:spPr>
          <a:xfrm rot="-5400000">
            <a:off x="4813056" y="4060775"/>
            <a:ext cx="6173936" cy="2165449"/>
          </a:xfrm>
          <a:custGeom>
            <a:rect b="b" l="l" r="r" t="t"/>
            <a:pathLst>
              <a:path extrusionOk="0" h="2165449" w="6173936">
                <a:moveTo>
                  <a:pt x="0" y="0"/>
                </a:moveTo>
                <a:lnTo>
                  <a:pt x="6173936" y="0"/>
                </a:lnTo>
                <a:lnTo>
                  <a:pt x="6173936" y="2165450"/>
                </a:lnTo>
                <a:lnTo>
                  <a:pt x="0" y="2165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 txBox="1"/>
          <p:nvPr/>
        </p:nvSpPr>
        <p:spPr>
          <a:xfrm>
            <a:off x="1028700" y="4457700"/>
            <a:ext cx="607787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2"/>
          <p:cNvGrpSpPr/>
          <p:nvPr/>
        </p:nvGrpSpPr>
        <p:grpSpPr>
          <a:xfrm>
            <a:off x="11464315" y="1368715"/>
            <a:ext cx="5887372" cy="1310695"/>
            <a:chOff x="0" y="12700"/>
            <a:chExt cx="7849830" cy="1747593"/>
          </a:xfrm>
        </p:grpSpPr>
        <p:cxnSp>
          <p:nvCxnSpPr>
            <p:cNvPr id="115" name="Google Shape;115;p2"/>
            <p:cNvCxnSpPr/>
            <p:nvPr/>
          </p:nvCxnSpPr>
          <p:spPr>
            <a:xfrm>
              <a:off x="0" y="12700"/>
              <a:ext cx="784983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" name="Google Shape;116;p2"/>
            <p:cNvSpPr txBox="1"/>
            <p:nvPr/>
          </p:nvSpPr>
          <p:spPr>
            <a:xfrm>
              <a:off x="0" y="5778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JFLEX y CUP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" name="Google Shape;117;p2"/>
            <p:cNvCxnSpPr/>
            <p:nvPr/>
          </p:nvCxnSpPr>
          <p:spPr>
            <a:xfrm>
              <a:off x="0" y="1760293"/>
              <a:ext cx="784983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8" name="Google Shape;118;p2"/>
          <p:cNvGrpSpPr/>
          <p:nvPr/>
        </p:nvGrpSpPr>
        <p:grpSpPr>
          <a:xfrm>
            <a:off x="11464302" y="7670512"/>
            <a:ext cx="5887350" cy="1247775"/>
            <a:chOff x="0" y="12700"/>
            <a:chExt cx="7849800" cy="1663700"/>
          </a:xfrm>
        </p:grpSpPr>
        <p:cxnSp>
          <p:nvCxnSpPr>
            <p:cNvPr id="119" name="Google Shape;119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" name="Google Shape;121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Seguimiento del Ejemplo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1464327" y="2679412"/>
            <a:ext cx="5887350" cy="1247775"/>
            <a:chOff x="0" y="12700"/>
            <a:chExt cx="7849800" cy="1663700"/>
          </a:xfrm>
        </p:grpSpPr>
        <p:cxnSp>
          <p:nvCxnSpPr>
            <p:cNvPr id="123" name="Google Shape;123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" name="Google Shape;125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Lectura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1464315" y="3927187"/>
            <a:ext cx="5887350" cy="1247775"/>
            <a:chOff x="0" y="12700"/>
            <a:chExt cx="7849800" cy="1663700"/>
          </a:xfrm>
        </p:grpSpPr>
        <p:cxnSp>
          <p:nvCxnSpPr>
            <p:cNvPr id="127" name="Google Shape;127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Ejemplo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1464315" y="5174962"/>
            <a:ext cx="5887350" cy="1247775"/>
            <a:chOff x="0" y="12700"/>
            <a:chExt cx="7849800" cy="1663700"/>
          </a:xfrm>
        </p:grpSpPr>
        <p:cxnSp>
          <p:nvCxnSpPr>
            <p:cNvPr id="131" name="Google Shape;131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Practica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1464315" y="6422737"/>
            <a:ext cx="5887350" cy="1247775"/>
            <a:chOff x="0" y="12700"/>
            <a:chExt cx="7849800" cy="1663700"/>
          </a:xfrm>
        </p:grpSpPr>
        <p:cxnSp>
          <p:nvCxnSpPr>
            <p:cNvPr id="135" name="Google Shape;135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" name="Google Shape;137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Actividad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>
            <a:off x="7844421" y="-156579"/>
            <a:ext cx="10443579" cy="10443579"/>
          </a:xfrm>
          <a:custGeom>
            <a:rect b="b" l="l" r="r" t="t"/>
            <a:pathLst>
              <a:path extrusionOk="0" h="10443579" w="10443579">
                <a:moveTo>
                  <a:pt x="0" y="0"/>
                </a:moveTo>
                <a:lnTo>
                  <a:pt x="10443579" y="0"/>
                </a:lnTo>
                <a:lnTo>
                  <a:pt x="10443579" y="10443579"/>
                </a:lnTo>
                <a:lnTo>
                  <a:pt x="0" y="1044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3"/>
          <p:cNvSpPr txBox="1"/>
          <p:nvPr/>
        </p:nvSpPr>
        <p:spPr>
          <a:xfrm>
            <a:off x="1028700" y="1942616"/>
            <a:ext cx="1164613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JFLEX &amp; CUP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5203276" y="4331358"/>
            <a:ext cx="3296984" cy="4114800"/>
          </a:xfrm>
          <a:custGeom>
            <a:rect b="b" l="l" r="r" t="t"/>
            <a:pathLst>
              <a:path extrusionOk="0" h="4114800" w="3296984">
                <a:moveTo>
                  <a:pt x="0" y="0"/>
                </a:moveTo>
                <a:lnTo>
                  <a:pt x="3296983" y="0"/>
                </a:lnTo>
                <a:lnTo>
                  <a:pt x="32969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/>
        </p:nvSpPr>
        <p:spPr>
          <a:xfrm>
            <a:off x="1738415" y="3023938"/>
            <a:ext cx="14811170" cy="479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 una herramienta para generar analizadores léxicos (scanners) 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Java. Se utiliza comúnmente en el desarrollo de compiladores para analizar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código fuente.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Permite especificar patrones de expresiones regulares para reconocer tokens en el código fuente.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 código Java que puede ser integrado fácilmente en proyectos Java.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Facilita la construcción de analizadores léxicos eficientes y flexibles.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738415" y="1028700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JFLEX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1738415" y="2095500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4"/>
          <p:cNvSpPr txBox="1"/>
          <p:nvPr/>
        </p:nvSpPr>
        <p:spPr>
          <a:xfrm>
            <a:off x="4106314" y="8728778"/>
            <a:ext cx="10075372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00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https://github.com/jflex-de/jflex/releases/tag/v1.9.1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/>
        </p:nvSpPr>
        <p:spPr>
          <a:xfrm>
            <a:off x="1738415" y="2663495"/>
            <a:ext cx="14811170" cy="4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CUP (Construction of Useful Parsers) es una herramienta para generar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analizadores sintácticos (parsers) en Java. Se utiliza para definir la gramática de un lenguaje de programación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generar un analizador sintáctico correspondiente.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Permite especificar la gramática en forma de reglas de producción.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 código Java que implementa el analizador sintáctico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acuerdo con la gramática definida.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1738415" y="1028700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1738415" y="2095500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5"/>
          <p:cNvSpPr txBox="1"/>
          <p:nvPr/>
        </p:nvSpPr>
        <p:spPr>
          <a:xfrm>
            <a:off x="4106314" y="8728778"/>
            <a:ext cx="10075372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00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https://www2.cs.tum.edu/projects/cup/index.php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/>
        </p:nvSpPr>
        <p:spPr>
          <a:xfrm>
            <a:off x="1738415" y="888798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6"/>
          <p:cNvCxnSpPr/>
          <p:nvPr/>
        </p:nvCxnSpPr>
        <p:spPr>
          <a:xfrm>
            <a:off x="1738415" y="1955598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6"/>
          <p:cNvSpPr txBox="1"/>
          <p:nvPr/>
        </p:nvSpPr>
        <p:spPr>
          <a:xfrm>
            <a:off x="1738415" y="2135741"/>
            <a:ext cx="14811170" cy="212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CalcConsole es un lenguaje de programación diseñado para realizar operaciones aritméticas, incluyendo multiplicación y división. Además, ofrece la capacidad de imprimir tanto resultados numéricos como cadenas de texto en la consola.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0090004" y="4467860"/>
            <a:ext cx="4354326" cy="479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00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Operaciones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 -&gt; E +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| E -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| E *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| E /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| ( E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| numero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|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3052974" y="5249436"/>
            <a:ext cx="5561798" cy="212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00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Instrucciones: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 -&gt; PRINT ( E )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   | PRINT ( CADENA ) 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6a8d041f_1_164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5" name="Google Shape;175;g35c6a8d041f_1_164"/>
          <p:cNvSpPr txBox="1"/>
          <p:nvPr/>
        </p:nvSpPr>
        <p:spPr>
          <a:xfrm>
            <a:off x="1116325" y="2896175"/>
            <a:ext cx="16685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estudiante asume el compromiso de configurar correctamente su entorno de desarrollo y cumplir los tiempos de las actividades asignadas.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Perseverancia: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La resolución de errores léxicos y sintácticos implica ensayo y error, promoviendo una actitud de esfuerzo continuo.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Ética profesional: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 hace énfasis en la importancia del trabajo original, en evitar el plagio y en el uso responsable del conocimiento técnico.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0a28b2a71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1" name="Google Shape;181;g360a28b2a71_0_0"/>
          <p:cNvSpPr txBox="1"/>
          <p:nvPr/>
        </p:nvSpPr>
        <p:spPr>
          <a:xfrm>
            <a:off x="1095027" y="4280600"/>
            <a:ext cx="162558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</a:rPr>
              <a:t>Aho, A., Sethi, R., &amp; Ullman, J. D. (2008). Compilers: Principles, Techniques, and Tools (2da ed.). Pearson Addison-Wesley.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</a:rPr>
              <a:t>JFlex. (n.d.). JFlex: The lexical analyzer generator for Java. https://jflex.de/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</a:rPr>
              <a:t>Technical University of Munich, Department of Computer Science. (n.d.). CUP: Constructor of Useful Parsers. https://www2.cs.tum.edu/projects/cup/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7026942" y="4803457"/>
            <a:ext cx="3852482" cy="4114800"/>
          </a:xfrm>
          <a:custGeom>
            <a:rect b="b" l="l" r="r" t="t"/>
            <a:pathLst>
              <a:path extrusionOk="0" h="4114800" w="3852482">
                <a:moveTo>
                  <a:pt x="0" y="0"/>
                </a:moveTo>
                <a:lnTo>
                  <a:pt x="3852481" y="0"/>
                </a:lnTo>
                <a:lnTo>
                  <a:pt x="38524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7"/>
          <p:cNvSpPr/>
          <p:nvPr/>
        </p:nvSpPr>
        <p:spPr>
          <a:xfrm>
            <a:off x="14002057" y="617220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7"/>
          <p:cNvSpPr txBox="1"/>
          <p:nvPr/>
        </p:nvSpPr>
        <p:spPr>
          <a:xfrm>
            <a:off x="3904308" y="2957502"/>
            <a:ext cx="10097749" cy="1255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 rot="10800000">
            <a:off x="-2080009" y="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2818011" y="899336"/>
            <a:ext cx="12651979" cy="8488328"/>
          </a:xfrm>
          <a:custGeom>
            <a:rect b="b" l="l" r="r" t="t"/>
            <a:pathLst>
              <a:path extrusionOk="0" h="8488328" w="12651979">
                <a:moveTo>
                  <a:pt x="0" y="0"/>
                </a:moveTo>
                <a:lnTo>
                  <a:pt x="12651978" y="0"/>
                </a:lnTo>
                <a:lnTo>
                  <a:pt x="12651978" y="8488328"/>
                </a:lnTo>
                <a:lnTo>
                  <a:pt x="0" y="8488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8"/>
          <p:cNvSpPr txBox="1"/>
          <p:nvPr/>
        </p:nvSpPr>
        <p:spPr>
          <a:xfrm>
            <a:off x="4095126" y="3888189"/>
            <a:ext cx="10097749" cy="2510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