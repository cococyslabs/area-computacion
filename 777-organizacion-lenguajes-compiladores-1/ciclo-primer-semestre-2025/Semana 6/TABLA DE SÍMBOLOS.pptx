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10287000" cx="18288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Poppins Light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j+XvWYz6QgZdFT8FYe8Z5PaqJ9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5E97DBE-758E-4CD6-BE0D-37A02526571C}">
  <a:tblStyle styleId="{35E97DBE-758E-4CD6-BE0D-37A02526571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PoppinsLight-bold.fntdata"/><Relationship Id="rId27" Type="http://schemas.openxmlformats.org/officeDocument/2006/relationships/font" Target="fonts/Poppins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regular.fntdata"/><Relationship Id="rId30" Type="http://schemas.openxmlformats.org/officeDocument/2006/relationships/font" Target="fonts/PoppinsLight-boldItalic.fntdata"/><Relationship Id="rId11" Type="http://schemas.openxmlformats.org/officeDocument/2006/relationships/slide" Target="slides/slide5.xml"/><Relationship Id="rId33" Type="http://schemas.openxmlformats.org/officeDocument/2006/relationships/font" Target="fonts/OpenSans-italic.fntdata"/><Relationship Id="rId10" Type="http://schemas.openxmlformats.org/officeDocument/2006/relationships/slide" Target="slides/slide4.xml"/><Relationship Id="rId32" Type="http://schemas.openxmlformats.org/officeDocument/2006/relationships/font" Target="fonts/OpenSans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5c6a903b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g35c6a903b62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5c6a903b62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5c6a903b62_0_1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3969ad6524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g33969ad6524_1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969ad6524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3969ad6524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3969ad6524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3969ad6524_1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969ad6524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3969ad6524_1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3969ad6524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3969ad6524_1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969ad6524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3969ad6524_1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5c6a903b62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35c6a903b62_0_4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0a28bf4b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60a28bf4ba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6902" y="0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{35E97DBE-758E-4CD6-BE0D-37A02526571C}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Lunes 15/07/2024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10:40 am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2971773" y="4512775"/>
            <a:ext cx="141402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1 [&lt;SECCION&gt;]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648825" y="6027250"/>
            <a:ext cx="10990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&lt;NOMBRE&gt;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c6a903b62_0_0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g35c6a903b62_0_0"/>
          <p:cNvSpPr txBox="1"/>
          <p:nvPr/>
        </p:nvSpPr>
        <p:spPr>
          <a:xfrm>
            <a:off x="1063300" y="6439750"/>
            <a:ext cx="1387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Laboratorio Organización de Lenguajes y Compiladores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g35c6a903b62_0_0"/>
          <p:cNvSpPr txBox="1"/>
          <p:nvPr/>
        </p:nvSpPr>
        <p:spPr>
          <a:xfrm>
            <a:off x="1724775" y="2479350"/>
            <a:ext cx="150762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Tabla de Simbolos</a:t>
            </a:r>
            <a:endParaRPr b="1" i="0" sz="9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g35c6a903b62_0_0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g35c6a903b62_0_0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g35c6a903b62_0_0"/>
          <p:cNvSpPr txBox="1"/>
          <p:nvPr/>
        </p:nvSpPr>
        <p:spPr>
          <a:xfrm>
            <a:off x="228600" y="9588254"/>
            <a:ext cx="811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c6a903b62_0_16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COMPETENCIAS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3" name="Google Shape;103;g35c6a903b62_0_164"/>
          <p:cNvSpPr txBox="1"/>
          <p:nvPr/>
        </p:nvSpPr>
        <p:spPr>
          <a:xfrm>
            <a:off x="1925850" y="2371550"/>
            <a:ext cx="14436300" cy="6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Implementa analizadores léxicos mediante expresiones regulares y JFlex para tokenizar entradas definidas y manejar errores léxicos.</a:t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Desarrolla analizadores sintácticos con CUP y/o Jison, gramáticas LL/LR para validar la estructura de programas y construir AST.</a:t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/>
          <p:nvPr/>
        </p:nvSpPr>
        <p:spPr>
          <a:xfrm rot="-5400000">
            <a:off x="4813056" y="4060775"/>
            <a:ext cx="6173936" cy="2165449"/>
          </a:xfrm>
          <a:custGeom>
            <a:rect b="b" l="l" r="r" t="t"/>
            <a:pathLst>
              <a:path extrusionOk="0" h="2165449" w="6173936">
                <a:moveTo>
                  <a:pt x="0" y="0"/>
                </a:moveTo>
                <a:lnTo>
                  <a:pt x="6173936" y="0"/>
                </a:lnTo>
                <a:lnTo>
                  <a:pt x="6173936" y="2165450"/>
                </a:lnTo>
                <a:lnTo>
                  <a:pt x="0" y="2165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2"/>
          <p:cNvSpPr txBox="1"/>
          <p:nvPr/>
        </p:nvSpPr>
        <p:spPr>
          <a:xfrm>
            <a:off x="1028700" y="4457700"/>
            <a:ext cx="6078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2"/>
          <p:cNvGrpSpPr/>
          <p:nvPr/>
        </p:nvGrpSpPr>
        <p:grpSpPr>
          <a:xfrm>
            <a:off x="11495127" y="1366978"/>
            <a:ext cx="5887350" cy="2625145"/>
            <a:chOff x="0" y="12700"/>
            <a:chExt cx="7849800" cy="3500193"/>
          </a:xfrm>
        </p:grpSpPr>
        <p:cxnSp>
          <p:nvCxnSpPr>
            <p:cNvPr id="111" name="Google Shape;111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" name="Google Shape;112;p2"/>
            <p:cNvSpPr txBox="1"/>
            <p:nvPr/>
          </p:nvSpPr>
          <p:spPr>
            <a:xfrm>
              <a:off x="0" y="5778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Tabla de Símbolos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3" name="Google Shape;113;p2"/>
            <p:cNvCxnSpPr/>
            <p:nvPr/>
          </p:nvCxnSpPr>
          <p:spPr>
            <a:xfrm>
              <a:off x="0" y="1760293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2"/>
            <p:cNvCxnSpPr/>
            <p:nvPr/>
          </p:nvCxnSpPr>
          <p:spPr>
            <a:xfrm>
              <a:off x="0" y="3512893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5" name="Google Shape;115;p2"/>
          <p:cNvGrpSpPr/>
          <p:nvPr/>
        </p:nvGrpSpPr>
        <p:grpSpPr>
          <a:xfrm>
            <a:off x="11495115" y="2693090"/>
            <a:ext cx="5887350" cy="1310695"/>
            <a:chOff x="0" y="12700"/>
            <a:chExt cx="7849800" cy="1747593"/>
          </a:xfrm>
        </p:grpSpPr>
        <p:cxnSp>
          <p:nvCxnSpPr>
            <p:cNvPr id="116" name="Google Shape;116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" name="Google Shape;117;p2"/>
            <p:cNvSpPr txBox="1"/>
            <p:nvPr/>
          </p:nvSpPr>
          <p:spPr>
            <a:xfrm>
              <a:off x="0" y="5778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Video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" name="Google Shape;118;p2"/>
            <p:cNvCxnSpPr/>
            <p:nvPr/>
          </p:nvCxnSpPr>
          <p:spPr>
            <a:xfrm>
              <a:off x="0" y="1760293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9" name="Google Shape;119;p2"/>
          <p:cNvGrpSpPr/>
          <p:nvPr/>
        </p:nvGrpSpPr>
        <p:grpSpPr>
          <a:xfrm>
            <a:off x="11495127" y="4003787"/>
            <a:ext cx="5887350" cy="1247775"/>
            <a:chOff x="0" y="12700"/>
            <a:chExt cx="7849800" cy="1663700"/>
          </a:xfrm>
        </p:grpSpPr>
        <p:cxnSp>
          <p:nvCxnSpPr>
            <p:cNvPr id="120" name="Google Shape;120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1" name="Google Shape;121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" name="Google Shape;122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Lectura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11495115" y="5251562"/>
            <a:ext cx="5887350" cy="1247775"/>
            <a:chOff x="0" y="12700"/>
            <a:chExt cx="7849800" cy="1663700"/>
          </a:xfrm>
        </p:grpSpPr>
        <p:cxnSp>
          <p:nvCxnSpPr>
            <p:cNvPr id="124" name="Google Shape;124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" name="Google Shape;126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Ejemplo Visual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2"/>
          <p:cNvGrpSpPr/>
          <p:nvPr/>
        </p:nvGrpSpPr>
        <p:grpSpPr>
          <a:xfrm>
            <a:off x="11495115" y="6499337"/>
            <a:ext cx="5887350" cy="1247775"/>
            <a:chOff x="0" y="12700"/>
            <a:chExt cx="7849800" cy="1663700"/>
          </a:xfrm>
        </p:grpSpPr>
        <p:cxnSp>
          <p:nvCxnSpPr>
            <p:cNvPr id="128" name="Google Shape;128;p2"/>
            <p:cNvCxnSpPr/>
            <p:nvPr/>
          </p:nvCxnSpPr>
          <p:spPr>
            <a:xfrm>
              <a:off x="0" y="127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2"/>
            <p:cNvCxnSpPr/>
            <p:nvPr/>
          </p:nvCxnSpPr>
          <p:spPr>
            <a:xfrm>
              <a:off x="0" y="1676400"/>
              <a:ext cx="784980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" name="Google Shape;130;p2"/>
            <p:cNvSpPr txBox="1"/>
            <p:nvPr/>
          </p:nvSpPr>
          <p:spPr>
            <a:xfrm>
              <a:off x="0" y="488950"/>
              <a:ext cx="78498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Ejemplo Práctico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/>
        </p:nvSpPr>
        <p:spPr>
          <a:xfrm>
            <a:off x="1738415" y="3557338"/>
            <a:ext cx="14811300" cy="42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tabla de símbolos es una estructura de datos utilizada en compiladores e intérpretes para almacenar información sobre los identificadores (como variables, funciones, constantes, tipos de datos, etc.) que aparecen en el código fuente.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t/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Cada entrada en la tabla de símbolos asocia un identificador con su información relevante, como su tipo, valor, ubicación en memoria, y ámbito en el que está definido.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1738415" y="1028700"/>
            <a:ext cx="148113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Tabla de Símbolos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" name="Google Shape;137;p3"/>
          <p:cNvCxnSpPr/>
          <p:nvPr/>
        </p:nvCxnSpPr>
        <p:spPr>
          <a:xfrm>
            <a:off x="1738415" y="2095500"/>
            <a:ext cx="1481130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3969ad6524_1_49"/>
          <p:cNvSpPr txBox="1"/>
          <p:nvPr/>
        </p:nvSpPr>
        <p:spPr>
          <a:xfrm>
            <a:off x="3813275" y="3557353"/>
            <a:ext cx="12736500" cy="3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33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Porque la utilizan el analizador léxico, el sintáctico, el semántico para introducir información, y el generador de código intermedio, la fase de optimización y la de generación de código las utilizan para generar el código necesario</a:t>
            </a:r>
            <a:endParaRPr b="0" i="0" sz="33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3" name="Google Shape;143;g33969ad6524_1_49"/>
          <p:cNvSpPr txBox="1"/>
          <p:nvPr/>
        </p:nvSpPr>
        <p:spPr>
          <a:xfrm>
            <a:off x="1738415" y="1028700"/>
            <a:ext cx="148113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Importancia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g33969ad6524_1_49"/>
          <p:cNvCxnSpPr/>
          <p:nvPr/>
        </p:nvCxnSpPr>
        <p:spPr>
          <a:xfrm>
            <a:off x="1738415" y="2095500"/>
            <a:ext cx="1481130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3969ad6524_1_6"/>
          <p:cNvSpPr txBox="1"/>
          <p:nvPr/>
        </p:nvSpPr>
        <p:spPr>
          <a:xfrm>
            <a:off x="1359825" y="2497851"/>
            <a:ext cx="15189900" cy="74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Como la tabla guarda la información de un símbolo:</a:t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457200" lvl="0" marL="45720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24"/>
              <a:buFont typeface="Poppins"/>
              <a:buChar char="●"/>
            </a:pPr>
            <a:r>
              <a:rPr b="1" i="0" lang="en-US" sz="38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Nombre del identificador</a:t>
            </a:r>
            <a:endParaRPr b="1" i="0" sz="38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24"/>
              <a:buFont typeface="Poppins"/>
              <a:buChar char="●"/>
            </a:pPr>
            <a:r>
              <a:rPr b="1" i="0" lang="en-US" sz="38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Tipo de variable (Ej: int, char, boolean)</a:t>
            </a:r>
            <a:endParaRPr b="1" i="0" sz="38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24"/>
              <a:buFont typeface="Poppins"/>
              <a:buChar char="●"/>
            </a:pPr>
            <a:r>
              <a:rPr b="1" i="0" lang="en-US" sz="38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Ámbito</a:t>
            </a:r>
            <a:endParaRPr b="1" i="0" sz="38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57200" lvl="0" marL="45720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24"/>
              <a:buFont typeface="Poppins"/>
              <a:buChar char="●"/>
            </a:pPr>
            <a:r>
              <a:rPr b="1" i="0" lang="en-US" sz="38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Dirección en la memoria</a:t>
            </a:r>
            <a:endParaRPr b="1" i="0" sz="38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24"/>
              <a:buFont typeface="Arial"/>
              <a:buNone/>
            </a:pPr>
            <a:r>
              <a:t/>
            </a:r>
            <a:endParaRPr b="1" i="0" sz="3824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Adicionalmente puede tener otros atriburtos como:</a:t>
            </a:r>
            <a:endParaRPr b="0" i="0" sz="22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oppins Light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Símbolos temporales</a:t>
            </a:r>
            <a:endParaRPr b="0" i="0" sz="22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oppins Light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Tamaño máximo </a:t>
            </a:r>
            <a:endParaRPr b="0" i="0" sz="22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oppins Light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etiquetas</a:t>
            </a:r>
            <a:endParaRPr b="0" i="0" sz="22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oppins Light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Valores predefinidos</a:t>
            </a:r>
            <a:endParaRPr b="0" i="0" sz="22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68300" lvl="0" marL="45720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Poppins Light"/>
              <a:buChar char="●"/>
            </a:pPr>
            <a:r>
              <a:rPr b="0" i="0" lang="en-US" sz="2200" u="none" cap="none" strike="noStrik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etc</a:t>
            </a:r>
            <a:endParaRPr b="0" i="0" sz="22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0" name="Google Shape;150;g33969ad6524_1_6"/>
          <p:cNvSpPr txBox="1"/>
          <p:nvPr/>
        </p:nvSpPr>
        <p:spPr>
          <a:xfrm>
            <a:off x="1738415" y="1028700"/>
            <a:ext cx="14811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Atributos (columnas de la tabla)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g33969ad6524_1_6"/>
          <p:cNvCxnSpPr/>
          <p:nvPr/>
        </p:nvCxnSpPr>
        <p:spPr>
          <a:xfrm>
            <a:off x="1738415" y="2095500"/>
            <a:ext cx="1481130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969ad6524_1_17"/>
          <p:cNvSpPr txBox="1"/>
          <p:nvPr/>
        </p:nvSpPr>
        <p:spPr>
          <a:xfrm>
            <a:off x="1359825" y="2497851"/>
            <a:ext cx="15189900" cy="6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Las operaciones que podemos necesitar para utilizarla son la de: </a:t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81000" lvl="0" marL="45720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Light"/>
              <a:buChar char="●"/>
            </a:pPr>
            <a:r>
              <a:rPr b="0" i="0" lang="en-US" sz="32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Inserción </a:t>
            </a:r>
            <a:endParaRPr b="0" i="0" sz="32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81000" lvl="0" marL="45720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Light"/>
              <a:buChar char="●"/>
            </a:pPr>
            <a:r>
              <a:rPr b="0" i="0" lang="en-US" sz="32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Búsqueda o consulta</a:t>
            </a:r>
            <a:endParaRPr b="0" i="0" sz="32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81000" lvl="0" marL="45720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Light"/>
              <a:buChar char="●"/>
            </a:pPr>
            <a:r>
              <a:rPr b="0" i="0" lang="en-US" sz="32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Actualización </a:t>
            </a:r>
            <a:endParaRPr b="0" i="0" sz="32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-381000" lvl="0" marL="45720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 Light"/>
              <a:buChar char="●"/>
            </a:pPr>
            <a:r>
              <a:rPr b="0" i="0" lang="en-US" sz="32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Eliminación (opcional)</a:t>
            </a:r>
            <a:endParaRPr b="0" i="0" sz="32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4"/>
              <a:buFont typeface="Arial"/>
              <a:buNone/>
            </a:pPr>
            <a:r>
              <a:t/>
            </a:r>
            <a:endParaRPr b="0" i="0" sz="32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La eficiencia de estas operaciones depende de la estructura de datos utilizada, y puede hacer que el compilador consuma mucho tiempo en los accesos a la misma.</a:t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t/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7" name="Google Shape;157;g33969ad6524_1_17"/>
          <p:cNvSpPr txBox="1"/>
          <p:nvPr/>
        </p:nvSpPr>
        <p:spPr>
          <a:xfrm>
            <a:off x="1738415" y="1028700"/>
            <a:ext cx="14811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Operaciones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g33969ad6524_1_17"/>
          <p:cNvCxnSpPr/>
          <p:nvPr/>
        </p:nvCxnSpPr>
        <p:spPr>
          <a:xfrm>
            <a:off x="1738415" y="2095500"/>
            <a:ext cx="1481130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969ad6524_1_25"/>
          <p:cNvSpPr txBox="1"/>
          <p:nvPr/>
        </p:nvSpPr>
        <p:spPr>
          <a:xfrm>
            <a:off x="1359825" y="3074276"/>
            <a:ext cx="15189900" cy="44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En la inserción, se detectan identificadores que ya han sido declarados previamente, emitiendo un mensaje de error </a:t>
            </a:r>
            <a:endParaRPr b="0" i="0" sz="32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24"/>
              <a:buFont typeface="Arial"/>
              <a:buNone/>
            </a:pPr>
            <a:r>
              <a:t/>
            </a:r>
            <a:endParaRPr b="0" i="0" sz="32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En la búsqueda, se detectan los identificadores que no hayan sido declarados previamente, emitiendo un mensaje de error.</a:t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t/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t/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4" name="Google Shape;164;g33969ad6524_1_25"/>
          <p:cNvSpPr txBox="1"/>
          <p:nvPr/>
        </p:nvSpPr>
        <p:spPr>
          <a:xfrm>
            <a:off x="1738415" y="1028700"/>
            <a:ext cx="14811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Operaciones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g33969ad6524_1_25"/>
          <p:cNvCxnSpPr/>
          <p:nvPr/>
        </p:nvCxnSpPr>
        <p:spPr>
          <a:xfrm>
            <a:off x="1738415" y="2095500"/>
            <a:ext cx="1481130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3969ad6524_1_36"/>
          <p:cNvSpPr txBox="1"/>
          <p:nvPr/>
        </p:nvSpPr>
        <p:spPr>
          <a:xfrm>
            <a:off x="1359825" y="2497851"/>
            <a:ext cx="15189900" cy="7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Hay varias implementaciones típicas de la tabla de símbolos:</a:t>
            </a:r>
            <a:endParaRPr b="0" i="0" sz="32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Listas lineales:</a:t>
            </a: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Buena estructura de datos básica y proporciona implementaciones directas y fáciles de las tres operaciones básicas. (Inserción, Busqueda, Actualización)</a:t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Árboles de búsqueda:</a:t>
            </a: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Poco útiles por no ser eficientes, pero también por la complejidad de la operación de eliminación.</a:t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t/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1" i="0" lang="en-US" sz="3024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Tabla </a:t>
            </a:r>
            <a:r>
              <a:rPr b="1" i="0" lang="en-US" sz="3024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hash:</a:t>
            </a: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 (también denominada tabla</a:t>
            </a:r>
            <a:r>
              <a:rPr b="0" i="0" lang="en-US" sz="3024" u="none" cap="none" strike="noStrik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 dispersión) Es la mejor solución por el no estar ordenada. Realiza las tres operaciones en tiempo constante y se utiliza muy frecuentemente.</a:t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t/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t/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1" name="Google Shape;171;g33969ad6524_1_36"/>
          <p:cNvSpPr txBox="1"/>
          <p:nvPr/>
        </p:nvSpPr>
        <p:spPr>
          <a:xfrm>
            <a:off x="1738415" y="1028700"/>
            <a:ext cx="14811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Implementaciones típicas 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g33969ad6524_1_36"/>
          <p:cNvCxnSpPr/>
          <p:nvPr/>
        </p:nvCxnSpPr>
        <p:spPr>
          <a:xfrm>
            <a:off x="1738415" y="2095500"/>
            <a:ext cx="1481130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3969ad6524_1_56"/>
          <p:cNvSpPr txBox="1"/>
          <p:nvPr/>
        </p:nvSpPr>
        <p:spPr>
          <a:xfrm>
            <a:off x="1359825" y="3074276"/>
            <a:ext cx="15189900" cy="36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324"/>
              <a:buFont typeface="Arial"/>
              <a:buNone/>
            </a:pPr>
            <a:r>
              <a:rPr b="0" i="0" lang="en-US" sz="33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En resumen, todas las fases del compilador, traductor o intérprete se apoyan en ella para escribir o para obtener información, las de análisis para insertar y actualizar y las de síntesis para obtener la información con la que generar el código.</a:t>
            </a:r>
            <a:endParaRPr b="0" i="0" sz="33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t/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t/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8" name="Google Shape;178;g33969ad6524_1_56"/>
          <p:cNvSpPr txBox="1"/>
          <p:nvPr/>
        </p:nvSpPr>
        <p:spPr>
          <a:xfrm>
            <a:off x="1738415" y="1028700"/>
            <a:ext cx="14811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g33969ad6524_1_56"/>
          <p:cNvCxnSpPr/>
          <p:nvPr/>
        </p:nvCxnSpPr>
        <p:spPr>
          <a:xfrm>
            <a:off x="1738415" y="2095500"/>
            <a:ext cx="1481130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mágenes de Dragoncito - Descarga gratuita en Freepik" id="180" name="Google Shape;180;g33969ad6524_1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88175" y="5739300"/>
            <a:ext cx="3764349" cy="3764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"/>
          <p:cNvSpPr/>
          <p:nvPr/>
        </p:nvSpPr>
        <p:spPr>
          <a:xfrm>
            <a:off x="7844421" y="-156579"/>
            <a:ext cx="10443579" cy="10443579"/>
          </a:xfrm>
          <a:custGeom>
            <a:rect b="b" l="l" r="r" t="t"/>
            <a:pathLst>
              <a:path extrusionOk="0" h="10443579" w="10443579">
                <a:moveTo>
                  <a:pt x="0" y="0"/>
                </a:moveTo>
                <a:lnTo>
                  <a:pt x="10443579" y="0"/>
                </a:lnTo>
                <a:lnTo>
                  <a:pt x="10443579" y="10443579"/>
                </a:lnTo>
                <a:lnTo>
                  <a:pt x="0" y="1044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4"/>
          <p:cNvSpPr txBox="1"/>
          <p:nvPr/>
        </p:nvSpPr>
        <p:spPr>
          <a:xfrm>
            <a:off x="1028700" y="1942616"/>
            <a:ext cx="116460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1" i="0" lang="en-US" sz="9500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5203276" y="4331358"/>
            <a:ext cx="3296984" cy="4114800"/>
          </a:xfrm>
          <a:custGeom>
            <a:rect b="b" l="l" r="r" t="t"/>
            <a:pathLst>
              <a:path extrusionOk="0" h="4114800" w="3296984">
                <a:moveTo>
                  <a:pt x="0" y="0"/>
                </a:moveTo>
                <a:lnTo>
                  <a:pt x="3296983" y="0"/>
                </a:lnTo>
                <a:lnTo>
                  <a:pt x="32969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c6a903b62_0_404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 Y ACTITUD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3" name="Google Shape;193;g35c6a903b62_0_404"/>
          <p:cNvSpPr txBox="1"/>
          <p:nvPr/>
        </p:nvSpPr>
        <p:spPr>
          <a:xfrm>
            <a:off x="1116325" y="2896175"/>
            <a:ext cx="16685700" cy="5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Responsabilidad: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Tomar la iniciativa en la resolución de ejercicios y el trabajo con tablas de símbolos implica asumir el control de su aprendizaje y gestión del tiempo.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Colaboración: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El aprendizaje mediante discusiones y trabajo en equipo, tanto en la práctica como en la resolución de dudas, fomenta un ambiente de colaboración entre los estudiantes.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7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Aplicación del conocimiento: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Reforzar los conceptos teóricos mediante ejercicios prácticos asegura que los estudiantes comprendan y puedan aplicar el manejo de símbolos en situaciones reales.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0a28bf4ba_1_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99" name="Google Shape;199;g360a28bf4ba_1_0"/>
          <p:cNvSpPr txBox="1"/>
          <p:nvPr/>
        </p:nvSpPr>
        <p:spPr>
          <a:xfrm>
            <a:off x="5803381" y="4280604"/>
            <a:ext cx="69114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1">
                <a:solidFill>
                  <a:srgbClr val="131416"/>
                </a:solidFill>
              </a:rPr>
              <a:t>Aho, A., Sethi, R., &amp; Ullman, J. D. (2008). Compilers: Principles, Techniques, and Tools (2da ed.). Pearson Addison-Wesley.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"/>
          <p:cNvSpPr/>
          <p:nvPr/>
        </p:nvSpPr>
        <p:spPr>
          <a:xfrm>
            <a:off x="7026942" y="4803457"/>
            <a:ext cx="3852482" cy="4114800"/>
          </a:xfrm>
          <a:custGeom>
            <a:rect b="b" l="l" r="r" t="t"/>
            <a:pathLst>
              <a:path extrusionOk="0" h="4114800" w="3852482">
                <a:moveTo>
                  <a:pt x="0" y="0"/>
                </a:moveTo>
                <a:lnTo>
                  <a:pt x="3852481" y="0"/>
                </a:lnTo>
                <a:lnTo>
                  <a:pt x="38524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5"/>
          <p:cNvSpPr/>
          <p:nvPr/>
        </p:nvSpPr>
        <p:spPr>
          <a:xfrm>
            <a:off x="14002057" y="617220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7" y="0"/>
                </a:lnTo>
                <a:lnTo>
                  <a:pt x="62174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5"/>
          <p:cNvSpPr txBox="1"/>
          <p:nvPr/>
        </p:nvSpPr>
        <p:spPr>
          <a:xfrm>
            <a:off x="3904308" y="2957502"/>
            <a:ext cx="10097700" cy="12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7"/>
              <a:buFont typeface="Arial"/>
              <a:buNone/>
            </a:pPr>
            <a:r>
              <a:rPr b="1" i="0" lang="en-US" sz="8237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 rot="10800000">
            <a:off x="-2080009" y="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/>
          <p:nvPr/>
        </p:nvSpPr>
        <p:spPr>
          <a:xfrm>
            <a:off x="2818011" y="899336"/>
            <a:ext cx="12651979" cy="8488328"/>
          </a:xfrm>
          <a:custGeom>
            <a:rect b="b" l="l" r="r" t="t"/>
            <a:pathLst>
              <a:path extrusionOk="0" h="8488328" w="12651979">
                <a:moveTo>
                  <a:pt x="0" y="0"/>
                </a:moveTo>
                <a:lnTo>
                  <a:pt x="12651978" y="0"/>
                </a:lnTo>
                <a:lnTo>
                  <a:pt x="12651978" y="8488328"/>
                </a:lnTo>
                <a:lnTo>
                  <a:pt x="0" y="8488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6"/>
          <p:cNvSpPr txBox="1"/>
          <p:nvPr/>
        </p:nvSpPr>
        <p:spPr>
          <a:xfrm>
            <a:off x="4095126" y="3888189"/>
            <a:ext cx="10097749" cy="2510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7"/>
              <a:buFont typeface="Arial"/>
              <a:buNone/>
            </a:pPr>
            <a:r>
              <a:rPr b="1" i="0" lang="en-US" sz="8237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