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10287000" cx="18288000"/>
  <p:notesSz cx="6858000" cy="9144000"/>
  <p:embeddedFontLst>
    <p:embeddedFont>
      <p:font typeface="Play"/>
      <p:regular r:id="rId18"/>
      <p:bold r:id="rId19"/>
    </p:embeddedFont>
    <p:embeddedFont>
      <p:font typeface="Open Sans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apr9aJEtU3OCX0a2hIILot0Ra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060B37-0679-4EA9-A8EF-E240C7C26A2E}">
  <a:tblStyle styleId="{54060B37-0679-4EA9-A8EF-E240C7C26A2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lay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lay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16902" y="0"/>
            <a:ext cx="18254185" cy="10287000"/>
          </a:xfrm>
          <a:custGeom>
            <a:rect b="b" l="l" r="r" t="t"/>
            <a:pathLst>
              <a:path extrusionOk="0" h="13716000" w="24338914">
                <a:moveTo>
                  <a:pt x="0" y="0"/>
                </a:moveTo>
                <a:lnTo>
                  <a:pt x="24338914" y="0"/>
                </a:lnTo>
                <a:lnTo>
                  <a:pt x="24338914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93" name="Google Shape;93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{54060B37-0679-4EA9-A8EF-E240C7C26A2E}</a:tableStyleId>
              </a:tblPr>
              <a:tblGrid>
                <a:gridCol w="3028300"/>
                <a:gridCol w="4325000"/>
              </a:tblGrid>
              <a:tr h="7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Viernes 09/05/2025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07:00 pm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4" name="Google Shape;94;p1"/>
          <p:cNvGrpSpPr/>
          <p:nvPr/>
        </p:nvGrpSpPr>
        <p:grpSpPr>
          <a:xfrm>
            <a:off x="2971773" y="4355613"/>
            <a:ext cx="14140280" cy="1208274"/>
            <a:chOff x="0" y="-209550"/>
            <a:chExt cx="18853707" cy="1611033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8853707" cy="1401483"/>
            </a:xfrm>
            <a:custGeom>
              <a:rect b="b" l="l" r="r" t="t"/>
              <a:pathLst>
                <a:path extrusionOk="0" h="1401483" w="18853707">
                  <a:moveTo>
                    <a:pt x="0" y="0"/>
                  </a:moveTo>
                  <a:lnTo>
                    <a:pt x="18853707" y="0"/>
                  </a:lnTo>
                  <a:lnTo>
                    <a:pt x="18853707" y="1401483"/>
                  </a:lnTo>
                  <a:lnTo>
                    <a:pt x="0" y="14014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6" name="Google Shape;96;p1"/>
            <p:cNvSpPr txBox="1"/>
            <p:nvPr/>
          </p:nvSpPr>
          <p:spPr>
            <a:xfrm>
              <a:off x="0" y="-209550"/>
              <a:ext cx="18853707" cy="1611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3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Organización de Lenguajes y Compiladores 1 [</a:t>
              </a:r>
              <a:r>
                <a:rPr lang="en-US" sz="4999"/>
                <a:t>Sección</a:t>
              </a:r>
              <a:r>
                <a:rPr b="0" i="0" lang="en-US" sz="4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]</a:t>
              </a:r>
              <a:endParaRPr/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2894773" y="5563887"/>
            <a:ext cx="11067350" cy="2320363"/>
            <a:chOff x="-102667" y="0"/>
            <a:chExt cx="14756467" cy="3093817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14653800" cy="1184100"/>
            </a:xfrm>
            <a:custGeom>
              <a:rect b="b" l="l" r="r" t="t"/>
              <a:pathLst>
                <a:path extrusionOk="0" h="1184100" w="14653800">
                  <a:moveTo>
                    <a:pt x="0" y="0"/>
                  </a:moveTo>
                  <a:lnTo>
                    <a:pt x="14653800" y="0"/>
                  </a:lnTo>
                  <a:lnTo>
                    <a:pt x="14653800" y="1184100"/>
                  </a:lnTo>
                  <a:lnTo>
                    <a:pt x="0" y="1184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9" name="Google Shape;99;p1"/>
            <p:cNvSpPr txBox="1"/>
            <p:nvPr/>
          </p:nvSpPr>
          <p:spPr>
            <a:xfrm>
              <a:off x="-102667" y="1738117"/>
              <a:ext cx="14653800" cy="135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397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&lt;NOMBRE&gt;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123215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2"/>
          <p:cNvSpPr txBox="1"/>
          <p:nvPr/>
        </p:nvSpPr>
        <p:spPr>
          <a:xfrm>
            <a:off x="3760996" y="3460115"/>
            <a:ext cx="103263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Diseño Interprete</a:t>
            </a: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808900" y="7966583"/>
            <a:ext cx="11512528" cy="2015399"/>
            <a:chOff x="0" y="-66675"/>
            <a:chExt cx="15350037" cy="2687198"/>
          </a:xfrm>
        </p:grpSpPr>
        <p:sp>
          <p:nvSpPr>
            <p:cNvPr id="107" name="Google Shape;107;p2"/>
            <p:cNvSpPr txBox="1"/>
            <p:nvPr/>
          </p:nvSpPr>
          <p:spPr>
            <a:xfrm>
              <a:off x="46137" y="-66675"/>
              <a:ext cx="15303900" cy="71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00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Organización de Lenguajes y Compiladores 1</a:t>
              </a: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46137" y="987424"/>
              <a:ext cx="93084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Escuela de Ingenieria de Ciencias Y Sistemas</a:t>
              </a:r>
              <a:endParaRPr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1582590"/>
              <a:ext cx="47004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Facultad de Ingenieria</a:t>
              </a:r>
              <a:endParaRPr/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2107523"/>
              <a:ext cx="85440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Universidad de San Carlos de Guatemala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3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7" name="Google Shape;117;p3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18" name="Google Shape;118;p3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9" name="Google Shape;119;p3"/>
          <p:cNvGrpSpPr/>
          <p:nvPr/>
        </p:nvGrpSpPr>
        <p:grpSpPr>
          <a:xfrm>
            <a:off x="651747" y="-320617"/>
            <a:ext cx="11375326" cy="3120467"/>
            <a:chOff x="-10" y="-95250"/>
            <a:chExt cx="15167100" cy="4160623"/>
          </a:xfrm>
        </p:grpSpPr>
        <p:sp>
          <p:nvSpPr>
            <p:cNvPr id="120" name="Google Shape;120;p3"/>
            <p:cNvSpPr txBox="1"/>
            <p:nvPr/>
          </p:nvSpPr>
          <p:spPr>
            <a:xfrm>
              <a:off x="-10" y="986773"/>
              <a:ext cx="151671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21" name="Google Shape;121;p3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3"/>
          <p:cNvGrpSpPr/>
          <p:nvPr/>
        </p:nvGrpSpPr>
        <p:grpSpPr>
          <a:xfrm>
            <a:off x="878654" y="4561463"/>
            <a:ext cx="7534277" cy="845385"/>
            <a:chOff x="0" y="-238638"/>
            <a:chExt cx="10045702" cy="1127181"/>
          </a:xfrm>
        </p:grpSpPr>
        <p:grpSp>
          <p:nvGrpSpPr>
            <p:cNvPr id="123" name="Google Shape;123;p3"/>
            <p:cNvGrpSpPr/>
            <p:nvPr/>
          </p:nvGrpSpPr>
          <p:grpSpPr>
            <a:xfrm>
              <a:off x="1317780" y="-238638"/>
              <a:ext cx="8727922" cy="1127181"/>
              <a:chOff x="0" y="-76200"/>
              <a:chExt cx="2786938" cy="359923"/>
            </a:xfrm>
          </p:grpSpPr>
          <p:sp>
            <p:nvSpPr>
              <p:cNvPr id="124" name="Google Shape;124;p3"/>
              <p:cNvSpPr/>
              <p:nvPr/>
            </p:nvSpPr>
            <p:spPr>
              <a:xfrm>
                <a:off x="0" y="0"/>
                <a:ext cx="2786938" cy="283723"/>
              </a:xfrm>
              <a:custGeom>
                <a:rect b="b" l="l" r="r" t="t"/>
                <a:pathLst>
                  <a:path extrusionOk="0" h="283723" w="2786938">
                    <a:moveTo>
                      <a:pt x="2583738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583738" y="283723"/>
                    </a:lnTo>
                    <a:lnTo>
                      <a:pt x="2786938" y="141862"/>
                    </a:lnTo>
                    <a:lnTo>
                      <a:pt x="258373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5" name="Google Shape;125;p3"/>
              <p:cNvSpPr txBox="1"/>
              <p:nvPr/>
            </p:nvSpPr>
            <p:spPr>
              <a:xfrm>
                <a:off x="0" y="-76200"/>
                <a:ext cx="2672638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Expresiones</a:t>
                </a:r>
                <a:endParaRPr/>
              </a:p>
            </p:txBody>
          </p:sp>
        </p:grpSp>
        <p:sp>
          <p:nvSpPr>
            <p:cNvPr id="126" name="Google Shape;126;p3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27" name="Google Shape;127;p3"/>
          <p:cNvGrpSpPr/>
          <p:nvPr/>
        </p:nvGrpSpPr>
        <p:grpSpPr>
          <a:xfrm>
            <a:off x="878654" y="5399321"/>
            <a:ext cx="8265346" cy="845385"/>
            <a:chOff x="0" y="-238638"/>
            <a:chExt cx="11020461" cy="1127181"/>
          </a:xfrm>
        </p:grpSpPr>
        <p:grpSp>
          <p:nvGrpSpPr>
            <p:cNvPr id="128" name="Google Shape;128;p3"/>
            <p:cNvGrpSpPr/>
            <p:nvPr/>
          </p:nvGrpSpPr>
          <p:grpSpPr>
            <a:xfrm>
              <a:off x="1317780" y="-238638"/>
              <a:ext cx="9702681" cy="1127181"/>
              <a:chOff x="0" y="-76200"/>
              <a:chExt cx="3098191" cy="359923"/>
            </a:xfrm>
          </p:grpSpPr>
          <p:sp>
            <p:nvSpPr>
              <p:cNvPr id="129" name="Google Shape;129;p3"/>
              <p:cNvSpPr/>
              <p:nvPr/>
            </p:nvSpPr>
            <p:spPr>
              <a:xfrm>
                <a:off x="0" y="0"/>
                <a:ext cx="3098191" cy="283723"/>
              </a:xfrm>
              <a:custGeom>
                <a:rect b="b" l="l" r="r" t="t"/>
                <a:pathLst>
                  <a:path extrusionOk="0" h="283723" w="3098191">
                    <a:moveTo>
                      <a:pt x="2894991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894991" y="283723"/>
                    </a:lnTo>
                    <a:lnTo>
                      <a:pt x="3098191" y="141862"/>
                    </a:lnTo>
                    <a:lnTo>
                      <a:pt x="289499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0" name="Google Shape;130;p3"/>
              <p:cNvSpPr txBox="1"/>
              <p:nvPr/>
            </p:nvSpPr>
            <p:spPr>
              <a:xfrm>
                <a:off x="0" y="-76200"/>
                <a:ext cx="2983891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Definición de entornos</a:t>
                </a:r>
                <a:endParaRPr/>
              </a:p>
            </p:txBody>
          </p:sp>
        </p:grpSp>
        <p:sp>
          <p:nvSpPr>
            <p:cNvPr id="131" name="Google Shape;131;p3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32" name="Google Shape;132;p3"/>
          <p:cNvGrpSpPr/>
          <p:nvPr/>
        </p:nvGrpSpPr>
        <p:grpSpPr>
          <a:xfrm>
            <a:off x="878654" y="6237178"/>
            <a:ext cx="8265346" cy="845385"/>
            <a:chOff x="0" y="-238638"/>
            <a:chExt cx="11020461" cy="1127181"/>
          </a:xfrm>
        </p:grpSpPr>
        <p:grpSp>
          <p:nvGrpSpPr>
            <p:cNvPr id="133" name="Google Shape;133;p3"/>
            <p:cNvGrpSpPr/>
            <p:nvPr/>
          </p:nvGrpSpPr>
          <p:grpSpPr>
            <a:xfrm>
              <a:off x="1317780" y="-238638"/>
              <a:ext cx="9702681" cy="1127181"/>
              <a:chOff x="0" y="-76200"/>
              <a:chExt cx="3098191" cy="359923"/>
            </a:xfrm>
          </p:grpSpPr>
          <p:sp>
            <p:nvSpPr>
              <p:cNvPr id="134" name="Google Shape;134;p3"/>
              <p:cNvSpPr/>
              <p:nvPr/>
            </p:nvSpPr>
            <p:spPr>
              <a:xfrm>
                <a:off x="0" y="0"/>
                <a:ext cx="3098191" cy="283723"/>
              </a:xfrm>
              <a:custGeom>
                <a:rect b="b" l="l" r="r" t="t"/>
                <a:pathLst>
                  <a:path extrusionOk="0" h="283723" w="3098191">
                    <a:moveTo>
                      <a:pt x="2894991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894991" y="283723"/>
                    </a:lnTo>
                    <a:lnTo>
                      <a:pt x="3098191" y="141862"/>
                    </a:lnTo>
                    <a:lnTo>
                      <a:pt x="289499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5" name="Google Shape;135;p3"/>
              <p:cNvSpPr txBox="1"/>
              <p:nvPr/>
            </p:nvSpPr>
            <p:spPr>
              <a:xfrm>
                <a:off x="0" y="-76200"/>
                <a:ext cx="2983891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Tabla de símbolos</a:t>
                </a:r>
                <a:endParaRPr/>
              </a:p>
            </p:txBody>
          </p:sp>
        </p:grpSp>
        <p:sp>
          <p:nvSpPr>
            <p:cNvPr id="136" name="Google Shape;136;p3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/>
        </p:nvSpPr>
        <p:spPr>
          <a:xfrm>
            <a:off x="1028700" y="1009650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3862667" y="4049338"/>
            <a:ext cx="10562665" cy="294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Aplica el patrón Intérprete integrando validaciones semánticas y ejecución de sentencias para prototipar lenguajes de dominio específico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/>
        </p:nvSpPr>
        <p:spPr>
          <a:xfrm>
            <a:off x="1028700" y="2116140"/>
            <a:ext cx="16230600" cy="526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 ámbito (scope) de una variable, función o método es la región en la que estos existen o desde la cual se pueden acceder a ellos.</a:t>
            </a:r>
            <a:endParaRPr/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Esto sirve para que se pueda volver a definir una variable con un mismo nombre en diferentes partes del programa sin que haya conflictos entre ellos.</a:t>
            </a:r>
            <a:endParaRPr/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1028700" y="1009650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ÁMBITOS</a:t>
            </a:r>
            <a:endParaRPr/>
          </a:p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8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 txBox="1"/>
          <p:nvPr/>
        </p:nvSpPr>
        <p:spPr>
          <a:xfrm>
            <a:off x="1028700" y="857250"/>
            <a:ext cx="16230600" cy="6031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Si una variable es declarada dentro de un bloque, esta será válida solo dentro de ese bloque y se destruirá al terminar el bloque. Adicionalmente, la variable no podrá verse ni usarse fuera del bloque (en el exterior del bloque). La variable dentro del bloque es una variable local y solo tiene alcance dentro del bloque que se creó y sus bloques hijos, pero no en bloques hermanos ni padres, una variable definida fuera de cualquier bloque es una variable global y cualquier bloque puede acceder a ella y modificarla.</a:t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14322989" y="6607739"/>
            <a:ext cx="2936311" cy="2936311"/>
          </a:xfrm>
          <a:custGeom>
            <a:rect b="b" l="l" r="r" t="t"/>
            <a:pathLst>
              <a:path extrusionOk="0" h="2936311" w="2936311">
                <a:moveTo>
                  <a:pt x="0" y="0"/>
                </a:moveTo>
                <a:lnTo>
                  <a:pt x="2936311" y="0"/>
                </a:lnTo>
                <a:lnTo>
                  <a:pt x="2936311" y="2936311"/>
                </a:lnTo>
                <a:lnTo>
                  <a:pt x="0" y="29363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5501919" y="1496860"/>
            <a:ext cx="7284162" cy="7293279"/>
          </a:xfrm>
          <a:custGeom>
            <a:rect b="b" l="l" r="r" t="t"/>
            <a:pathLst>
              <a:path extrusionOk="0" h="7293279" w="7284162">
                <a:moveTo>
                  <a:pt x="0" y="0"/>
                </a:moveTo>
                <a:lnTo>
                  <a:pt x="7284162" y="0"/>
                </a:lnTo>
                <a:lnTo>
                  <a:pt x="7284162" y="7293280"/>
                </a:lnTo>
                <a:lnTo>
                  <a:pt x="0" y="7293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/>
          <p:nvPr/>
        </p:nvSpPr>
        <p:spPr>
          <a:xfrm>
            <a:off x="1028700" y="1009650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/>
          </a:p>
        </p:txBody>
      </p:sp>
      <p:grpSp>
        <p:nvGrpSpPr>
          <p:cNvPr id="165" name="Google Shape;165;p8"/>
          <p:cNvGrpSpPr/>
          <p:nvPr/>
        </p:nvGrpSpPr>
        <p:grpSpPr>
          <a:xfrm>
            <a:off x="5872015" y="2556391"/>
            <a:ext cx="6543970" cy="6512264"/>
            <a:chOff x="0" y="0"/>
            <a:chExt cx="8725294" cy="8683018"/>
          </a:xfrm>
        </p:grpSpPr>
        <p:sp>
          <p:nvSpPr>
            <p:cNvPr id="166" name="Google Shape;166;p8"/>
            <p:cNvSpPr/>
            <p:nvPr/>
          </p:nvSpPr>
          <p:spPr>
            <a:xfrm>
              <a:off x="0" y="0"/>
              <a:ext cx="2740491" cy="2740491"/>
            </a:xfrm>
            <a:custGeom>
              <a:rect b="b" l="l" r="r" t="t"/>
              <a:pathLst>
                <a:path extrusionOk="0" h="2740491" w="2740491">
                  <a:moveTo>
                    <a:pt x="0" y="0"/>
                  </a:moveTo>
                  <a:lnTo>
                    <a:pt x="2740491" y="0"/>
                  </a:lnTo>
                  <a:lnTo>
                    <a:pt x="2740491" y="2740491"/>
                  </a:lnTo>
                  <a:lnTo>
                    <a:pt x="0" y="27404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7" name="Google Shape;167;p8"/>
            <p:cNvSpPr/>
            <p:nvPr/>
          </p:nvSpPr>
          <p:spPr>
            <a:xfrm>
              <a:off x="3183102" y="3252396"/>
              <a:ext cx="2359091" cy="2359091"/>
            </a:xfrm>
            <a:custGeom>
              <a:rect b="b" l="l" r="r" t="t"/>
              <a:pathLst>
                <a:path extrusionOk="0" h="2359091" w="2359091">
                  <a:moveTo>
                    <a:pt x="0" y="0"/>
                  </a:moveTo>
                  <a:lnTo>
                    <a:pt x="2359090" y="0"/>
                  </a:lnTo>
                  <a:lnTo>
                    <a:pt x="2359090" y="2359091"/>
                  </a:lnTo>
                  <a:lnTo>
                    <a:pt x="0" y="23590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8" name="Google Shape;168;p8"/>
            <p:cNvSpPr/>
            <p:nvPr/>
          </p:nvSpPr>
          <p:spPr>
            <a:xfrm>
              <a:off x="5984803" y="5942527"/>
              <a:ext cx="2740491" cy="2740491"/>
            </a:xfrm>
            <a:custGeom>
              <a:rect b="b" l="l" r="r" t="t"/>
              <a:pathLst>
                <a:path extrusionOk="0" h="2740491" w="2740491">
                  <a:moveTo>
                    <a:pt x="0" y="0"/>
                  </a:moveTo>
                  <a:lnTo>
                    <a:pt x="2740491" y="0"/>
                  </a:lnTo>
                  <a:lnTo>
                    <a:pt x="2740491" y="2740491"/>
                  </a:lnTo>
                  <a:lnTo>
                    <a:pt x="0" y="27404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69" name="Google Shape;169;p8"/>
            <p:cNvCxnSpPr/>
            <p:nvPr/>
          </p:nvCxnSpPr>
          <p:spPr>
            <a:xfrm>
              <a:off x="1370246" y="3185368"/>
              <a:ext cx="1711256" cy="1246574"/>
            </a:xfrm>
            <a:prstGeom prst="straightConnector1">
              <a:avLst/>
            </a:prstGeom>
            <a:noFill/>
            <a:ln cap="flat" cmpd="sng" w="1270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70" name="Google Shape;170;p8"/>
            <p:cNvCxnSpPr/>
            <p:nvPr/>
          </p:nvCxnSpPr>
          <p:spPr>
            <a:xfrm>
              <a:off x="5643792" y="4364914"/>
              <a:ext cx="1711256" cy="1246574"/>
            </a:xfrm>
            <a:prstGeom prst="straightConnector1">
              <a:avLst/>
            </a:prstGeom>
            <a:noFill/>
            <a:ln cap="flat" cmpd="sng" w="1270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/>
        </p:nvSpPr>
        <p:spPr>
          <a:xfrm>
            <a:off x="1028700" y="1000125"/>
            <a:ext cx="16230600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VALORES APLICADOS</a:t>
            </a:r>
            <a:endParaRPr/>
          </a:p>
        </p:txBody>
      </p:sp>
      <p:sp>
        <p:nvSpPr>
          <p:cNvPr id="176" name="Google Shape;176;p10"/>
          <p:cNvSpPr txBox="1"/>
          <p:nvPr/>
        </p:nvSpPr>
        <p:spPr>
          <a:xfrm>
            <a:off x="1028700" y="2470150"/>
            <a:ext cx="16230600" cy="493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Innovación</a:t>
            </a: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El estudiante explora el patrón Intérprete como una forma moderna y flexible de ejecutar lenguajes de dominio específico.</a:t>
            </a:r>
            <a:endParaRPr/>
          </a:p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Responsabilidad</a:t>
            </a: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El seguimiento de la implementación y la participación en la conferencia del laboratorio requiere compromiso</a:t>
            </a:r>
            <a:endParaRPr/>
          </a:p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Resiliencia</a:t>
            </a: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La depuración de un intérprete puede conllevar errores complejos, lo que refuerza la perseverancia del estudiante.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182" name="Google Shape;182;p11"/>
          <p:cNvSpPr txBox="1"/>
          <p:nvPr/>
        </p:nvSpPr>
        <p:spPr>
          <a:xfrm>
            <a:off x="1426545" y="3735726"/>
            <a:ext cx="15434910" cy="2748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Jison / Documentation. (s. f.). https://gerhobbelt.github.io/jison/docs/</a:t>
            </a:r>
            <a:endParaRPr/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Compiladores : principios, técnicas y herramientas. (s. f.). Biblioteca Central USAC. https://biblos.usac.edu.gt/opac/record/271?&amp;query=@autor=FLORES%20SUAREZ,%20PEDRO&amp;recnum=1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189" name="Google Shape;189;p12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12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