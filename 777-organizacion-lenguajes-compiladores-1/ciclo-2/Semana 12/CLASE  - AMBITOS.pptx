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oppins Light"/>
      <p:regular r:id="rId23"/>
      <p:bold r:id="rId24"/>
      <p:italic r:id="rId25"/>
      <p:boldItalic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hUA6Utw7UGiVdlIx8mL6lT5OVh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9F8DA42-A1FF-4BBA-9055-642E1C2C3C02}">
  <a:tblStyle styleId="{79F8DA42-A1FF-4BBA-9055-642E1C2C3C02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oppinsLight-bold.fntdata"/><Relationship Id="rId23" Type="http://schemas.openxmlformats.org/officeDocument/2006/relationships/font" Target="fonts/Poppi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Light-boldItalic.fntdata"/><Relationship Id="rId25" Type="http://schemas.openxmlformats.org/officeDocument/2006/relationships/font" Target="fonts/PoppinsLight-italic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0a830fc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60a830fc4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60a830fc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g360a830fc4f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60a830fc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8" name="Google Shape;118;g360a830fc4f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60a830fc4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60a830fc4f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6902" y="0"/>
            <a:ext cx="18254198" cy="10287002"/>
          </a:xfrm>
          <a:custGeom>
            <a:rect b="b" l="l" r="r" t="t"/>
            <a:pathLst>
              <a:path extrusionOk="0" h="10287002" w="18254198">
                <a:moveTo>
                  <a:pt x="0" y="0"/>
                </a:moveTo>
                <a:lnTo>
                  <a:pt x="18254198" y="0"/>
                </a:lnTo>
                <a:lnTo>
                  <a:pt x="18254198" y="10287002"/>
                </a:lnTo>
                <a:lnTo>
                  <a:pt x="0" y="10287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aphicFrame>
        <p:nvGraphicFramePr>
          <p:cNvPr id="85" name="Google Shape;85;p1"/>
          <p:cNvGraphicFramePr/>
          <p:nvPr/>
        </p:nvGraphicFramePr>
        <p:xfrm>
          <a:off x="10656400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{79F8DA42-A1FF-4BBA-9055-642E1C2C3C02}</a:tableStyleId>
              </a:tblPr>
              <a:tblGrid>
                <a:gridCol w="3030175"/>
                <a:gridCol w="4335825"/>
              </a:tblGrid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Lunes 15/07/2024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16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40"/>
                        <a:buFont typeface="Arial"/>
                        <a:buNone/>
                      </a:pPr>
                      <a:r>
                        <a:rPr b="1" lang="en-US" sz="284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799"/>
                        <a:buFont typeface="Arial"/>
                        <a:buNone/>
                      </a:pPr>
                      <a:r>
                        <a:rPr lang="en-US" sz="2799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10:40 am</a:t>
                      </a:r>
                      <a:endParaRPr sz="1100" u="none" cap="none" strike="noStrike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"/>
          <p:cNvSpPr txBox="1"/>
          <p:nvPr/>
        </p:nvSpPr>
        <p:spPr>
          <a:xfrm>
            <a:off x="2971773" y="4512775"/>
            <a:ext cx="141402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99"/>
              <a:buFont typeface="Arial"/>
              <a:buNone/>
            </a:pPr>
            <a:r>
              <a:rPr b="0" i="0" lang="en-US" sz="49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Organización de Lenguajes y Compiladores 1 [&lt;SECCION&gt;]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3648825" y="6027250"/>
            <a:ext cx="10990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&lt;NOMBRE&gt;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 rot="-5400000">
            <a:off x="4813056" y="4060775"/>
            <a:ext cx="6173936" cy="2165449"/>
          </a:xfrm>
          <a:custGeom>
            <a:rect b="b" l="l" r="r" t="t"/>
            <a:pathLst>
              <a:path extrusionOk="0" h="2165449" w="6173936">
                <a:moveTo>
                  <a:pt x="0" y="0"/>
                </a:moveTo>
                <a:lnTo>
                  <a:pt x="6173936" y="0"/>
                </a:lnTo>
                <a:lnTo>
                  <a:pt x="6173936" y="2165450"/>
                </a:lnTo>
                <a:lnTo>
                  <a:pt x="0" y="21654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2"/>
          <p:cNvSpPr txBox="1"/>
          <p:nvPr/>
        </p:nvSpPr>
        <p:spPr>
          <a:xfrm>
            <a:off x="1028700" y="4457700"/>
            <a:ext cx="6077873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" name="Google Shape;94;p2"/>
          <p:cNvGrpSpPr/>
          <p:nvPr/>
        </p:nvGrpSpPr>
        <p:grpSpPr>
          <a:xfrm>
            <a:off x="11371927" y="3598385"/>
            <a:ext cx="5887373" cy="3047368"/>
            <a:chOff x="0" y="-57150"/>
            <a:chExt cx="7849830" cy="4063158"/>
          </a:xfrm>
        </p:grpSpPr>
        <p:sp>
          <p:nvSpPr>
            <p:cNvPr id="95" name="Google Shape;95;p2"/>
            <p:cNvSpPr txBox="1"/>
            <p:nvPr/>
          </p:nvSpPr>
          <p:spPr>
            <a:xfrm>
              <a:off x="0" y="1601543"/>
              <a:ext cx="7849830" cy="654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Sentencia IF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" name="Google Shape;96;p2"/>
            <p:cNvCxnSpPr/>
            <p:nvPr/>
          </p:nvCxnSpPr>
          <p:spPr>
            <a:xfrm>
              <a:off x="0" y="2788993"/>
              <a:ext cx="784983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7" name="Google Shape;97;p2"/>
            <p:cNvSpPr txBox="1"/>
            <p:nvPr/>
          </p:nvSpPr>
          <p:spPr>
            <a:xfrm>
              <a:off x="0" y="3351958"/>
              <a:ext cx="7849830" cy="654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Sentencia While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 txBox="1"/>
            <p:nvPr/>
          </p:nvSpPr>
          <p:spPr>
            <a:xfrm>
              <a:off x="0" y="-57150"/>
              <a:ext cx="7849830" cy="654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99"/>
                <a:buFont typeface="Arial"/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Ámbitos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9" name="Google Shape;99;p2"/>
            <p:cNvCxnSpPr/>
            <p:nvPr/>
          </p:nvCxnSpPr>
          <p:spPr>
            <a:xfrm>
              <a:off x="0" y="1125293"/>
              <a:ext cx="7849830" cy="0"/>
            </a:xfrm>
            <a:prstGeom prst="straightConnector1">
              <a:avLst/>
            </a:prstGeom>
            <a:noFill/>
            <a:ln cap="rnd" cmpd="sng" w="25400">
              <a:solidFill>
                <a:srgbClr val="10B5B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0a830fc4f_0_0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g360a830fc4f_0_0"/>
          <p:cNvSpPr txBox="1"/>
          <p:nvPr/>
        </p:nvSpPr>
        <p:spPr>
          <a:xfrm>
            <a:off x="1063300" y="6439750"/>
            <a:ext cx="1387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Laboratorio Organización de Lenguajes y Compiladores 1</a:t>
            </a:r>
            <a:endParaRPr b="1" i="0" sz="5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g360a830fc4f_0_0"/>
          <p:cNvSpPr txBox="1"/>
          <p:nvPr/>
        </p:nvSpPr>
        <p:spPr>
          <a:xfrm>
            <a:off x="1724775" y="2479350"/>
            <a:ext cx="15076200" cy="3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Ámbitos</a:t>
            </a:r>
            <a:r>
              <a:rPr b="1" lang="en-US" sz="92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/Entornos  en programación</a:t>
            </a:r>
            <a:endParaRPr b="1" i="0" sz="92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g360a830fc4f_0_0"/>
          <p:cNvSpPr txBox="1"/>
          <p:nvPr/>
        </p:nvSpPr>
        <p:spPr>
          <a:xfrm>
            <a:off x="1063303" y="8745251"/>
            <a:ext cx="6981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g360a830fc4f_0_0"/>
          <p:cNvSpPr txBox="1"/>
          <p:nvPr/>
        </p:nvSpPr>
        <p:spPr>
          <a:xfrm>
            <a:off x="1028700" y="9210675"/>
            <a:ext cx="66675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Ingeniería</a:t>
            </a:r>
            <a:endParaRPr b="1" i="0" sz="2499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9" name="Google Shape;109;g360a830fc4f_0_0"/>
          <p:cNvSpPr txBox="1"/>
          <p:nvPr/>
        </p:nvSpPr>
        <p:spPr>
          <a:xfrm>
            <a:off x="228600" y="9588254"/>
            <a:ext cx="81153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0a830fc4f_0_9"/>
          <p:cNvSpPr txBox="1"/>
          <p:nvPr/>
        </p:nvSpPr>
        <p:spPr>
          <a:xfrm>
            <a:off x="1374889" y="654364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COMPETENCIAS QUE DESARROLLAREMOS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5" name="Google Shape;115;g360a830fc4f_0_9"/>
          <p:cNvSpPr txBox="1"/>
          <p:nvPr/>
        </p:nvSpPr>
        <p:spPr>
          <a:xfrm>
            <a:off x="1925850" y="2371550"/>
            <a:ext cx="14436300" cy="664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40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Aplica el patrón Intérprete integrando validaciones semánticas y ejecución de sentencias para prototipar lenguajes de dominio específico</a:t>
            </a:r>
            <a:endParaRPr b="1" sz="4000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Desarrolla analizadores sintácticos con CUP y/o Jison, gramáticas LL/LR para validar la estructura de programas y construir AST.</a:t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0a830fc4f_0_14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VALORES Y ACTITUD</a:t>
            </a:r>
            <a:endParaRPr b="0" i="0" sz="1400" u="none" cap="none" strike="noStrike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1" name="Google Shape;121;g360a830fc4f_0_14"/>
          <p:cNvSpPr txBox="1"/>
          <p:nvPr/>
        </p:nvSpPr>
        <p:spPr>
          <a:xfrm>
            <a:off x="1116325" y="2896175"/>
            <a:ext cx="16685700" cy="38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b="1" lang="en-US" sz="3151">
                <a:solidFill>
                  <a:srgbClr val="131416"/>
                </a:solidFill>
              </a:rPr>
              <a:t>Responsabilidad: </a:t>
            </a:r>
            <a:r>
              <a:rPr lang="en-US" sz="3151">
                <a:solidFill>
                  <a:srgbClr val="131416"/>
                </a:solidFill>
              </a:rPr>
              <a:t>El estudiante asume el compromiso de configurar correctamente su entorno de desarrollo y cumplir los tiempos de las actividades asignadas.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Char char="●"/>
            </a:pPr>
            <a:r>
              <a:rPr b="1" lang="en-US" sz="3151">
                <a:solidFill>
                  <a:srgbClr val="131416"/>
                </a:solidFill>
              </a:rPr>
              <a:t>Perseverancia: </a:t>
            </a:r>
            <a:r>
              <a:rPr lang="en-US" sz="3151">
                <a:solidFill>
                  <a:srgbClr val="131416"/>
                </a:solidFill>
              </a:rPr>
              <a:t>La resolución de errores léxicos y sintácticos implica ensayo y error, promoviendo una actitud de esfuerzo continuo.</a:t>
            </a:r>
            <a:endParaRPr sz="3151">
              <a:solidFill>
                <a:srgbClr val="131416"/>
              </a:solidFill>
            </a:endParaRPr>
          </a:p>
          <a:p>
            <a:pPr indent="-428688" lvl="0" marL="45720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3151"/>
              <a:buFont typeface="Arial"/>
              <a:buChar char="●"/>
            </a:pPr>
            <a:r>
              <a:rPr b="1" lang="en-US" sz="3151">
                <a:solidFill>
                  <a:srgbClr val="131416"/>
                </a:solidFill>
              </a:rPr>
              <a:t>Ética profesional: </a:t>
            </a:r>
            <a:r>
              <a:rPr lang="en-US" sz="3151">
                <a:solidFill>
                  <a:srgbClr val="131416"/>
                </a:solidFill>
              </a:rPr>
              <a:t>Se hace énfasis en la importancia del trabajo original, en evitar el plagio y en el uso responsable del conocimiento técnico.</a:t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26;p3"/>
          <p:cNvCxnSpPr/>
          <p:nvPr/>
        </p:nvCxnSpPr>
        <p:spPr>
          <a:xfrm>
            <a:off x="1738415" y="2912596"/>
            <a:ext cx="14811170" cy="0"/>
          </a:xfrm>
          <a:prstGeom prst="straightConnector1">
            <a:avLst/>
          </a:prstGeom>
          <a:noFill/>
          <a:ln cap="rnd" cmpd="sng" w="19050">
            <a:solidFill>
              <a:srgbClr val="10B5B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7" name="Google Shape;127;p3"/>
          <p:cNvSpPr/>
          <p:nvPr/>
        </p:nvSpPr>
        <p:spPr>
          <a:xfrm rot="-2700000">
            <a:off x="12891985" y="8270593"/>
            <a:ext cx="7315200" cy="1064029"/>
          </a:xfrm>
          <a:custGeom>
            <a:rect b="b" l="l" r="r" t="t"/>
            <a:pathLst>
              <a:path extrusionOk="0"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3"/>
          <p:cNvSpPr/>
          <p:nvPr/>
        </p:nvSpPr>
        <p:spPr>
          <a:xfrm>
            <a:off x="7956804" y="6442160"/>
            <a:ext cx="2374393" cy="2816140"/>
          </a:xfrm>
          <a:custGeom>
            <a:rect b="b" l="l" r="r" t="t"/>
            <a:pathLst>
              <a:path extrusionOk="0" h="2816140" w="2374393">
                <a:moveTo>
                  <a:pt x="0" y="0"/>
                </a:moveTo>
                <a:lnTo>
                  <a:pt x="2374392" y="0"/>
                </a:lnTo>
                <a:lnTo>
                  <a:pt x="2374392" y="2816140"/>
                </a:lnTo>
                <a:lnTo>
                  <a:pt x="0" y="28161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3"/>
          <p:cNvSpPr txBox="1"/>
          <p:nvPr/>
        </p:nvSpPr>
        <p:spPr>
          <a:xfrm>
            <a:off x="1738415" y="1336209"/>
            <a:ext cx="14811170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Ámbitos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738415" y="3318594"/>
            <a:ext cx="14811170" cy="265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El ámbito (scope) de una variable, función o método es la región en la que estos existen o desde la cual se pueden acceder a ellos.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t/>
            </a:r>
            <a:endParaRPr b="0" i="0" sz="3024" u="none" cap="none" strike="noStrike">
              <a:solidFill>
                <a:srgbClr val="FFFFFF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Esto sirve para que se pueda volver a definir una variable con un mismo nombre en diferentes partes del programa sin que haya conflictos entre ellos.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 rot="-2700000">
            <a:off x="12891985" y="8270593"/>
            <a:ext cx="7315200" cy="1064029"/>
          </a:xfrm>
          <a:custGeom>
            <a:rect b="b" l="l" r="r" t="t"/>
            <a:pathLst>
              <a:path extrusionOk="0" h="1064029" w="7315200">
                <a:moveTo>
                  <a:pt x="0" y="0"/>
                </a:moveTo>
                <a:lnTo>
                  <a:pt x="7315200" y="0"/>
                </a:lnTo>
                <a:lnTo>
                  <a:pt x="7315200" y="1064029"/>
                </a:lnTo>
                <a:lnTo>
                  <a:pt x="0" y="10640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6" name="Google Shape;136;p4"/>
          <p:cNvSpPr/>
          <p:nvPr/>
        </p:nvSpPr>
        <p:spPr>
          <a:xfrm>
            <a:off x="6872826" y="5624422"/>
            <a:ext cx="4542347" cy="3633878"/>
          </a:xfrm>
          <a:custGeom>
            <a:rect b="b" l="l" r="r" t="t"/>
            <a:pathLst>
              <a:path extrusionOk="0" h="3633878" w="4542347">
                <a:moveTo>
                  <a:pt x="0" y="0"/>
                </a:moveTo>
                <a:lnTo>
                  <a:pt x="4542348" y="0"/>
                </a:lnTo>
                <a:lnTo>
                  <a:pt x="4542348" y="3633878"/>
                </a:lnTo>
                <a:lnTo>
                  <a:pt x="0" y="36338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 txBox="1"/>
          <p:nvPr/>
        </p:nvSpPr>
        <p:spPr>
          <a:xfrm>
            <a:off x="1738415" y="1228725"/>
            <a:ext cx="14811170" cy="3723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24"/>
              <a:buFont typeface="Arial"/>
              <a:buNone/>
            </a:pPr>
            <a:r>
              <a:rPr b="0" i="0" lang="en-US" sz="3024" u="none" cap="none" strike="noStrike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Si una variable es declarada dentro de un bloque, esta será válida solo dentro de ese bloque y se destruirá al terminar el bloque. Adicionalmente, la variable no podrá verse ni usarse fuera del bloque (en el exterior del bloque). La variable dentro del bloque es una variable local y solo tiene alcance dentro del bloque que se creó y sus bloques hijos, pero no en bloques hermanos ni padres, una variable definida fuera de cualquier bloque es una variable global y cualquier bloque puede acceder a ella y modificarla.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5047611" y="1028700"/>
            <a:ext cx="8192779" cy="8229600"/>
          </a:xfrm>
          <a:custGeom>
            <a:rect b="b" l="l" r="r" t="t"/>
            <a:pathLst>
              <a:path extrusionOk="0" h="8229600" w="8192779">
                <a:moveTo>
                  <a:pt x="0" y="0"/>
                </a:moveTo>
                <a:lnTo>
                  <a:pt x="8192778" y="0"/>
                </a:lnTo>
                <a:lnTo>
                  <a:pt x="819277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3" name="Google Shape;143;p5"/>
          <p:cNvSpPr/>
          <p:nvPr/>
        </p:nvSpPr>
        <p:spPr>
          <a:xfrm rot="5400000">
            <a:off x="-1339633" y="720090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4" name="Google Shape;144;p5"/>
          <p:cNvSpPr/>
          <p:nvPr/>
        </p:nvSpPr>
        <p:spPr>
          <a:xfrm rot="-5400000">
            <a:off x="13370460" y="-102870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7844421" y="-156579"/>
            <a:ext cx="10443579" cy="10443579"/>
          </a:xfrm>
          <a:custGeom>
            <a:rect b="b" l="l" r="r" t="t"/>
            <a:pathLst>
              <a:path extrusionOk="0" h="10443579" w="10443579">
                <a:moveTo>
                  <a:pt x="0" y="0"/>
                </a:moveTo>
                <a:lnTo>
                  <a:pt x="10443579" y="0"/>
                </a:lnTo>
                <a:lnTo>
                  <a:pt x="10443579" y="10443579"/>
                </a:lnTo>
                <a:lnTo>
                  <a:pt x="0" y="104435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6"/>
          <p:cNvSpPr txBox="1"/>
          <p:nvPr/>
        </p:nvSpPr>
        <p:spPr>
          <a:xfrm>
            <a:off x="1028700" y="2466975"/>
            <a:ext cx="11646135" cy="145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1" i="0" lang="en-US" sz="9500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Ejemplo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5203276" y="5143500"/>
            <a:ext cx="3296984" cy="4114800"/>
          </a:xfrm>
          <a:custGeom>
            <a:rect b="b" l="l" r="r" t="t"/>
            <a:pathLst>
              <a:path extrusionOk="0" h="4114800" w="3296984">
                <a:moveTo>
                  <a:pt x="0" y="0"/>
                </a:moveTo>
                <a:lnTo>
                  <a:pt x="3296983" y="0"/>
                </a:lnTo>
                <a:lnTo>
                  <a:pt x="32969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/>
          <p:nvPr/>
        </p:nvSpPr>
        <p:spPr>
          <a:xfrm>
            <a:off x="7026942" y="4803457"/>
            <a:ext cx="3852482" cy="4114800"/>
          </a:xfrm>
          <a:custGeom>
            <a:rect b="b" l="l" r="r" t="t"/>
            <a:pathLst>
              <a:path extrusionOk="0" h="4114800" w="3852482">
                <a:moveTo>
                  <a:pt x="0" y="0"/>
                </a:moveTo>
                <a:lnTo>
                  <a:pt x="3852481" y="0"/>
                </a:lnTo>
                <a:lnTo>
                  <a:pt x="385248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p7"/>
          <p:cNvSpPr/>
          <p:nvPr/>
        </p:nvSpPr>
        <p:spPr>
          <a:xfrm>
            <a:off x="14002057" y="617220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7" y="0"/>
                </a:lnTo>
                <a:lnTo>
                  <a:pt x="621741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7"/>
          <p:cNvSpPr txBox="1"/>
          <p:nvPr/>
        </p:nvSpPr>
        <p:spPr>
          <a:xfrm>
            <a:off x="3904308" y="2957502"/>
            <a:ext cx="10097749" cy="1255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¿DUDAS?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7"/>
          <p:cNvSpPr/>
          <p:nvPr/>
        </p:nvSpPr>
        <p:spPr>
          <a:xfrm rot="10800000">
            <a:off x="-2080009" y="0"/>
            <a:ext cx="6217418" cy="4114800"/>
          </a:xfrm>
          <a:custGeom>
            <a:rect b="b" l="l" r="r" t="t"/>
            <a:pathLst>
              <a:path extrusionOk="0" h="4114800" w="6217418">
                <a:moveTo>
                  <a:pt x="0" y="0"/>
                </a:moveTo>
                <a:lnTo>
                  <a:pt x="6217418" y="0"/>
                </a:lnTo>
                <a:lnTo>
                  <a:pt x="621741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60a830fc4f_0_19"/>
          <p:cNvSpPr txBox="1"/>
          <p:nvPr/>
        </p:nvSpPr>
        <p:spPr>
          <a:xfrm>
            <a:off x="2507390" y="1000125"/>
            <a:ext cx="135033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US" sz="6900" u="none" cap="none" strike="noStrike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REFERENCIAS </a:t>
            </a:r>
            <a:endParaRPr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65" name="Google Shape;165;g360a830fc4f_0_19"/>
          <p:cNvSpPr txBox="1"/>
          <p:nvPr/>
        </p:nvSpPr>
        <p:spPr>
          <a:xfrm>
            <a:off x="1095027" y="4280600"/>
            <a:ext cx="16255800" cy="52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Aho, A., Sethi, R., &amp; Ullman, J. D. (2008). Compilers: Principles, Techniques, and Tools (2da ed.). Pearson Addison-Wesley.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JFlex. (n.d.). JFlex: The lexical analyzer generator for Java. https://jflex.de/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ctr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1">
                <a:solidFill>
                  <a:srgbClr val="131416"/>
                </a:solidFill>
              </a:rPr>
              <a:t>Technical University of Munich, Department of Computer Science. (n.d.). CUP: Constructor of Useful Parsers. https://www2.cs.tum.edu/projects/cup/</a:t>
            </a:r>
            <a:endParaRPr sz="3151">
              <a:solidFill>
                <a:srgbClr val="131416"/>
              </a:solidFill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151">
              <a:solidFill>
                <a:srgbClr val="13141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1414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"/>
          <p:cNvSpPr/>
          <p:nvPr/>
        </p:nvSpPr>
        <p:spPr>
          <a:xfrm>
            <a:off x="2818011" y="899336"/>
            <a:ext cx="12651979" cy="8488328"/>
          </a:xfrm>
          <a:custGeom>
            <a:rect b="b" l="l" r="r" t="t"/>
            <a:pathLst>
              <a:path extrusionOk="0" h="8488328" w="12651979">
                <a:moveTo>
                  <a:pt x="0" y="0"/>
                </a:moveTo>
                <a:lnTo>
                  <a:pt x="12651978" y="0"/>
                </a:lnTo>
                <a:lnTo>
                  <a:pt x="12651978" y="8488328"/>
                </a:lnTo>
                <a:lnTo>
                  <a:pt x="0" y="8488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8"/>
          <p:cNvSpPr txBox="1"/>
          <p:nvPr/>
        </p:nvSpPr>
        <p:spPr>
          <a:xfrm>
            <a:off x="4095126" y="3888189"/>
            <a:ext cx="10097749" cy="25106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9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7"/>
              <a:buFont typeface="Arial"/>
              <a:buNone/>
            </a:pPr>
            <a:r>
              <a:rPr b="1" i="0" lang="en-US" sz="8237" u="none" cap="none" strike="noStrike">
                <a:solidFill>
                  <a:srgbClr val="20E5F6"/>
                </a:solidFill>
                <a:latin typeface="Poppins"/>
                <a:ea typeface="Poppins"/>
                <a:cs typeface="Poppins"/>
                <a:sym typeface="Poppins"/>
              </a:rPr>
              <a:t>GRACIAS POR SU ATENCIÓN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