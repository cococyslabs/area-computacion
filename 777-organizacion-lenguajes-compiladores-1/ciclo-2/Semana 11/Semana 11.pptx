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Play"/>
      <p:regular r:id="rId17"/>
      <p:bold r:id="rId18"/>
    </p:embeddedFon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TdrzYvHCz5U56xDDoME1GDa6N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01B56E-0838-4594-A40F-85CE3B1C89F2}">
  <a:tblStyle styleId="{C101B56E-0838-4594-A40F-85CE3B1C89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{C101B56E-0838-4594-A40F-85CE3B1C89F2}</a:tableStyleId>
              </a:tblPr>
              <a:tblGrid>
                <a:gridCol w="3028300"/>
                <a:gridCol w="4325000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Viernes 09/05/2025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07:00 pm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" name="Google Shape;94;p1"/>
          <p:cNvGrpSpPr/>
          <p:nvPr/>
        </p:nvGrpSpPr>
        <p:grpSpPr>
          <a:xfrm>
            <a:off x="2971773" y="4355613"/>
            <a:ext cx="14140280" cy="1208274"/>
            <a:chOff x="0" y="-209550"/>
            <a:chExt cx="18853707" cy="1611033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8853707" cy="1401483"/>
            </a:xfrm>
            <a:custGeom>
              <a:rect b="b" l="l" r="r" t="t"/>
              <a:pathLst>
                <a:path extrusionOk="0" h="1401483" w="18853707">
                  <a:moveTo>
                    <a:pt x="0" y="0"/>
                  </a:moveTo>
                  <a:lnTo>
                    <a:pt x="18853707" y="0"/>
                  </a:lnTo>
                  <a:lnTo>
                    <a:pt x="18853707" y="1401483"/>
                  </a:lnTo>
                  <a:lnTo>
                    <a:pt x="0" y="1401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-209550"/>
              <a:ext cx="18853707" cy="161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 Lenguajes y Compiladores 1 [C]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2971773" y="5435300"/>
            <a:ext cx="10990350" cy="1016663"/>
            <a:chOff x="0" y="-171450"/>
            <a:chExt cx="14653800" cy="1355550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4653800" cy="1184100"/>
            </a:xfrm>
            <a:custGeom>
              <a:rect b="b" l="l" r="r" t="t"/>
              <a:pathLst>
                <a:path extrusionOk="0" h="1184100" w="14653800">
                  <a:moveTo>
                    <a:pt x="0" y="0"/>
                  </a:moveTo>
                  <a:lnTo>
                    <a:pt x="14653800" y="0"/>
                  </a:lnTo>
                  <a:lnTo>
                    <a:pt x="14653800" y="1184100"/>
                  </a:lnTo>
                  <a:lnTo>
                    <a:pt x="0" y="1184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-171450"/>
              <a:ext cx="14653800" cy="1355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7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&lt;NOMBRE&gt;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3980796" y="3460115"/>
            <a:ext cx="1032640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Diseño Interprete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1028700" y="7966583"/>
            <a:ext cx="11512609" cy="2041017"/>
            <a:chOff x="0" y="-66675"/>
            <a:chExt cx="15350145" cy="2721356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46137" y="-66675"/>
              <a:ext cx="15304008" cy="773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de Lenguajes y Compiladores 1</a:t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6137" y="987424"/>
              <a:ext cx="930850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Ingenieria de Ciencias Y Sistemas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1582590"/>
              <a:ext cx="4700389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Ingenieria</a:t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2107523"/>
              <a:ext cx="854392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8" name="Google Shape;118;p3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3"/>
          <p:cNvGrpSpPr/>
          <p:nvPr/>
        </p:nvGrpSpPr>
        <p:grpSpPr>
          <a:xfrm>
            <a:off x="651749" y="-320625"/>
            <a:ext cx="8200918" cy="3120475"/>
            <a:chOff x="0" y="-95250"/>
            <a:chExt cx="8187000" cy="4160633"/>
          </a:xfrm>
        </p:grpSpPr>
        <p:sp>
          <p:nvSpPr>
            <p:cNvPr id="120" name="Google Shape;120;p3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878654" y="4561463"/>
            <a:ext cx="7534277" cy="845385"/>
            <a:chOff x="0" y="-238638"/>
            <a:chExt cx="10045702" cy="1127181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1317780" y="-238638"/>
              <a:ext cx="8727922" cy="1127181"/>
              <a:chOff x="0" y="-76200"/>
              <a:chExt cx="2786938" cy="359923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0" y="0"/>
                <a:ext cx="2786938" cy="283723"/>
              </a:xfrm>
              <a:custGeom>
                <a:rect b="b" l="l" r="r" t="t"/>
                <a:pathLst>
                  <a:path extrusionOk="0" h="283723" w="2786938">
                    <a:moveTo>
                      <a:pt x="2583738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583738" y="283723"/>
                    </a:lnTo>
                    <a:lnTo>
                      <a:pt x="2786938" y="141862"/>
                    </a:lnTo>
                    <a:lnTo>
                      <a:pt x="2583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Google Shape;125;p3"/>
              <p:cNvSpPr txBox="1"/>
              <p:nvPr/>
            </p:nvSpPr>
            <p:spPr>
              <a:xfrm>
                <a:off x="0" y="-76200"/>
                <a:ext cx="2672638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Sentencias IF y While</a:t>
                </a:r>
                <a:endParaRPr/>
              </a:p>
            </p:txBody>
          </p:sp>
        </p:grpSp>
        <p:sp>
          <p:nvSpPr>
            <p:cNvPr id="126" name="Google Shape;12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27" name="Google Shape;127;p3"/>
          <p:cNvGrpSpPr/>
          <p:nvPr/>
        </p:nvGrpSpPr>
        <p:grpSpPr>
          <a:xfrm>
            <a:off x="878654" y="5399321"/>
            <a:ext cx="8265346" cy="845385"/>
            <a:chOff x="0" y="-238638"/>
            <a:chExt cx="11020461" cy="1127181"/>
          </a:xfrm>
        </p:grpSpPr>
        <p:grpSp>
          <p:nvGrpSpPr>
            <p:cNvPr id="128" name="Google Shape;128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29" name="Google Shape;129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Google Shape;130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Funciones y métodos</a:t>
                </a:r>
                <a:endParaRPr/>
              </a:p>
            </p:txBody>
          </p:sp>
        </p:grpSp>
        <p:sp>
          <p:nvSpPr>
            <p:cNvPr id="131" name="Google Shape;131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2" name="Google Shape;132;p3"/>
          <p:cNvGrpSpPr/>
          <p:nvPr/>
        </p:nvGrpSpPr>
        <p:grpSpPr>
          <a:xfrm>
            <a:off x="878654" y="6237178"/>
            <a:ext cx="8265346" cy="845385"/>
            <a:chOff x="0" y="-238638"/>
            <a:chExt cx="11020461" cy="1127181"/>
          </a:xfrm>
        </p:grpSpPr>
        <p:grpSp>
          <p:nvGrpSpPr>
            <p:cNvPr id="133" name="Google Shape;133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Google Shape;135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Llamada a funciones</a:t>
                </a:r>
                <a:endParaRPr/>
              </a:p>
            </p:txBody>
          </p:sp>
        </p:grpSp>
        <p:sp>
          <p:nvSpPr>
            <p:cNvPr id="136" name="Google Shape;13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862667" y="4049338"/>
            <a:ext cx="10562665" cy="29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 el patrón Intérprete integrando validaciones semánticas y ejecución de sentencias para prototipar lenguajes de dominio específico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1028700" y="2116140"/>
            <a:ext cx="16230600" cy="526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ámbito (scope) de una variable, función o método es la región en la que estos existen o desde la cual se pueden acceder a ellos.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Esto sirve para que se pueda volver a definir una variable con un mismo nombre en diferentes partes del programa sin que haya conflictos entre ellos.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ÁMBITOS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5345268" y="1320726"/>
            <a:ext cx="7597463" cy="7645548"/>
          </a:xfrm>
          <a:custGeom>
            <a:rect b="b" l="l" r="r" t="t"/>
            <a:pathLst>
              <a:path extrusionOk="0" h="7645548" w="7597463">
                <a:moveTo>
                  <a:pt x="0" y="0"/>
                </a:moveTo>
                <a:lnTo>
                  <a:pt x="7597464" y="0"/>
                </a:lnTo>
                <a:lnTo>
                  <a:pt x="7597464" y="7645548"/>
                </a:lnTo>
                <a:lnTo>
                  <a:pt x="0" y="7645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grpSp>
        <p:nvGrpSpPr>
          <p:cNvPr id="159" name="Google Shape;159;p7"/>
          <p:cNvGrpSpPr/>
          <p:nvPr/>
        </p:nvGrpSpPr>
        <p:grpSpPr>
          <a:xfrm>
            <a:off x="5872015" y="2556391"/>
            <a:ext cx="6543970" cy="6512264"/>
            <a:chOff x="0" y="0"/>
            <a:chExt cx="8725294" cy="8683018"/>
          </a:xfrm>
        </p:grpSpPr>
        <p:sp>
          <p:nvSpPr>
            <p:cNvPr id="160" name="Google Shape;160;p7"/>
            <p:cNvSpPr/>
            <p:nvPr/>
          </p:nvSpPr>
          <p:spPr>
            <a:xfrm>
              <a:off x="0" y="0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p7"/>
            <p:cNvSpPr/>
            <p:nvPr/>
          </p:nvSpPr>
          <p:spPr>
            <a:xfrm>
              <a:off x="3183102" y="3252396"/>
              <a:ext cx="2359091" cy="2359091"/>
            </a:xfrm>
            <a:custGeom>
              <a:rect b="b" l="l" r="r" t="t"/>
              <a:pathLst>
                <a:path extrusionOk="0" h="2359091" w="2359091">
                  <a:moveTo>
                    <a:pt x="0" y="0"/>
                  </a:moveTo>
                  <a:lnTo>
                    <a:pt x="2359090" y="0"/>
                  </a:lnTo>
                  <a:lnTo>
                    <a:pt x="2359090" y="2359091"/>
                  </a:lnTo>
                  <a:lnTo>
                    <a:pt x="0" y="2359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2" name="Google Shape;162;p7"/>
            <p:cNvSpPr/>
            <p:nvPr/>
          </p:nvSpPr>
          <p:spPr>
            <a:xfrm>
              <a:off x="5984803" y="5942527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63" name="Google Shape;163;p7"/>
            <p:cNvCxnSpPr/>
            <p:nvPr/>
          </p:nvCxnSpPr>
          <p:spPr>
            <a:xfrm>
              <a:off x="1370246" y="3185368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4" name="Google Shape;164;p7"/>
            <p:cNvCxnSpPr/>
            <p:nvPr/>
          </p:nvCxnSpPr>
          <p:spPr>
            <a:xfrm>
              <a:off x="5643792" y="4364914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/>
        </p:nvSpPr>
        <p:spPr>
          <a:xfrm>
            <a:off x="1028700" y="1000125"/>
            <a:ext cx="16230600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 APLICADOS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1028700" y="2470150"/>
            <a:ext cx="16230600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Autonomía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Al aplicar ejemplos prácticos, el estudiante toma decisiones sobre la estructura y flujo de su intérprete.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Orden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La gestión de la tabla de símbolos y el flujo de ejecución en main requiere un código organizado y limpio.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análisis del funcionamiento interno de funciones y métodos promueve el deseo de explorar el diseño de lenguajes.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1426545" y="3735726"/>
            <a:ext cx="15434910" cy="2748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/ Documentation. (s. f.). https://gerhobbelt.github.io/jison/docs/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Compiladores : principios, técnicas y herramientas. (s. f.). Biblioteca Central USAC. https://biblos.usac.edu.gt/opac/record/271?&amp;query=@autor=FLORES%20SUAREZ,%20PEDRO&amp;recnum=1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1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