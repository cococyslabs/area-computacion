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10287000" cx="18288000"/>
  <p:notesSz cx="6858000" cy="9144000"/>
  <p:embeddedFontLst>
    <p:embeddedFont>
      <p:font typeface="Poppins"/>
      <p:regular r:id="rId45"/>
      <p:bold r:id="rId46"/>
      <p:italic r:id="rId47"/>
      <p:boldItalic r:id="rId48"/>
    </p:embeddedFont>
    <p:embeddedFont>
      <p:font typeface="Poppins Light"/>
      <p:regular r:id="rId49"/>
      <p:bold r:id="rId50"/>
      <p:italic r:id="rId51"/>
      <p:boldItalic r:id="rId52"/>
    </p:embeddedFont>
    <p:embeddedFont>
      <p:font typeface="Poppins Medium"/>
      <p:regular r:id="rId53"/>
      <p:bold r:id="rId54"/>
      <p:italic r:id="rId55"/>
      <p:boldItalic r:id="rId56"/>
    </p:embeddedFont>
    <p:embeddedFont>
      <p:font typeface="Open Sans"/>
      <p:regular r:id="rId57"/>
      <p:bold r:id="rId58"/>
      <p:italic r:id="rId59"/>
      <p:boldItalic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1" roundtripDataSignature="AMtx7mjqRhocFt8terTgJxQbX8vkaxgR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F316BF-137F-4784-BDFF-F136F69D7E1A}">
  <a:tblStyle styleId="{F5F316BF-137F-4784-BDFF-F136F69D7E1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Poppins-bold.fntdata"/><Relationship Id="rId45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Poppins-boldItalic.fntdata"/><Relationship Id="rId47" Type="http://schemas.openxmlformats.org/officeDocument/2006/relationships/font" Target="fonts/Poppins-italic.fntdata"/><Relationship Id="rId49" Type="http://schemas.openxmlformats.org/officeDocument/2006/relationships/font" Target="fonts/PoppinsLigh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OpenSans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PoppinsLight-italic.fntdata"/><Relationship Id="rId50" Type="http://schemas.openxmlformats.org/officeDocument/2006/relationships/font" Target="fonts/PoppinsLight-bold.fntdata"/><Relationship Id="rId53" Type="http://schemas.openxmlformats.org/officeDocument/2006/relationships/font" Target="fonts/PoppinsMedium-regular.fntdata"/><Relationship Id="rId52" Type="http://schemas.openxmlformats.org/officeDocument/2006/relationships/font" Target="fonts/PoppinsLight-boldItalic.fntdata"/><Relationship Id="rId11" Type="http://schemas.openxmlformats.org/officeDocument/2006/relationships/slide" Target="slides/slide5.xml"/><Relationship Id="rId55" Type="http://schemas.openxmlformats.org/officeDocument/2006/relationships/font" Target="fonts/PoppinsMedium-italic.fntdata"/><Relationship Id="rId10" Type="http://schemas.openxmlformats.org/officeDocument/2006/relationships/slide" Target="slides/slide4.xml"/><Relationship Id="rId54" Type="http://schemas.openxmlformats.org/officeDocument/2006/relationships/font" Target="fonts/PoppinsMedium-bold.fntdata"/><Relationship Id="rId13" Type="http://schemas.openxmlformats.org/officeDocument/2006/relationships/slide" Target="slides/slide7.xml"/><Relationship Id="rId57" Type="http://schemas.openxmlformats.org/officeDocument/2006/relationships/font" Target="fonts/OpenSans-regular.fntdata"/><Relationship Id="rId12" Type="http://schemas.openxmlformats.org/officeDocument/2006/relationships/slide" Target="slides/slide6.xml"/><Relationship Id="rId56" Type="http://schemas.openxmlformats.org/officeDocument/2006/relationships/font" Target="fonts/PoppinsMedium-boldItalic.fntdata"/><Relationship Id="rId15" Type="http://schemas.openxmlformats.org/officeDocument/2006/relationships/slide" Target="slides/slide9.xml"/><Relationship Id="rId59" Type="http://schemas.openxmlformats.org/officeDocument/2006/relationships/font" Target="fonts/OpenSans-italic.fntdata"/><Relationship Id="rId14" Type="http://schemas.openxmlformats.org/officeDocument/2006/relationships/slide" Target="slides/slide8.xml"/><Relationship Id="rId58" Type="http://schemas.openxmlformats.org/officeDocument/2006/relationships/font" Target="fonts/OpenSans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c6a4fa4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35c6a4fa4e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c6a4fa4e4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g35c6a4fa4e4_0_1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5" name="Google Shape;27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9" name="Google Shape;28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6" name="Google Shape;29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5" name="Google Shape;33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1" name="Google Shape;34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9" name="Google Shape;36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6" name="Google Shape;37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5" name="Google Shape;38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3" name="Google Shape;39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1" name="Google Shape;401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9" name="Google Shape;40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7" name="Google Shape;41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5" name="Google Shape;425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3" name="Google Shape;433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5c6a4fa4e4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9" name="Google Shape;439;g35c6a4fa4e4_0_2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5" name="Google Shape;445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3" name="Google Shape;453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60953bdd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9" name="Google Shape;459;g360953bdde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Relationship Id="rId4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2.png"/><Relationship Id="rId4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5.png"/><Relationship Id="rId4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Relationship Id="rId4" Type="http://schemas.openxmlformats.org/officeDocument/2006/relationships/image" Target="../media/image3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5.png"/><Relationship Id="rId4" Type="http://schemas.openxmlformats.org/officeDocument/2006/relationships/image" Target="../media/image3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png"/><Relationship Id="rId4" Type="http://schemas.openxmlformats.org/officeDocument/2006/relationships/image" Target="../media/image1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6902" y="0"/>
            <a:ext cx="18254198" cy="10287002"/>
          </a:xfrm>
          <a:custGeom>
            <a:rect b="b" l="l" r="r" t="t"/>
            <a:pathLst>
              <a:path extrusionOk="0"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p1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{F5F316BF-137F-4784-BDFF-F136F69D7E1A}</a:tableStyleId>
              </a:tblPr>
              <a:tblGrid>
                <a:gridCol w="3030175"/>
                <a:gridCol w="4335825"/>
              </a:tblGrid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40"/>
                        <a:buFont typeface="Arial"/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99"/>
                        <a:buFont typeface="Arial"/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Lunes </a:t>
                      </a:r>
                      <a:r>
                        <a:rPr lang="en-US" sz="2799"/>
                        <a:t>28</a:t>
                      </a: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/07/202</a:t>
                      </a:r>
                      <a:r>
                        <a:rPr lang="en-US" sz="2799"/>
                        <a:t>5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40"/>
                        <a:buFont typeface="Arial"/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99"/>
                        <a:buFont typeface="Arial"/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10:40 am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"/>
          <p:cNvSpPr txBox="1"/>
          <p:nvPr/>
        </p:nvSpPr>
        <p:spPr>
          <a:xfrm>
            <a:off x="2971773" y="4512775"/>
            <a:ext cx="141402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99"/>
              <a:buFont typeface="Arial"/>
              <a:buNone/>
            </a:pPr>
            <a:r>
              <a:rPr b="0" i="0" lang="en-US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1 [&lt;SECCION&gt;]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648825" y="6027250"/>
            <a:ext cx="109903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&lt;NOMBRE&gt;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c6a4fa4e4_0_0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g35c6a4fa4e4_0_0"/>
          <p:cNvSpPr txBox="1"/>
          <p:nvPr/>
        </p:nvSpPr>
        <p:spPr>
          <a:xfrm>
            <a:off x="1063300" y="6439750"/>
            <a:ext cx="13875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Laboratorio Organización de Lenguajes y Compiladores 1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g35c6a4fa4e4_0_0"/>
          <p:cNvSpPr txBox="1"/>
          <p:nvPr/>
        </p:nvSpPr>
        <p:spPr>
          <a:xfrm>
            <a:off x="2506650" y="2479350"/>
            <a:ext cx="13274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2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Análisis Léxico</a:t>
            </a:r>
            <a:endParaRPr b="1" sz="92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g35c6a4fa4e4_0_0"/>
          <p:cNvSpPr txBox="1"/>
          <p:nvPr/>
        </p:nvSpPr>
        <p:spPr>
          <a:xfrm>
            <a:off x="1063303" y="874525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g35c6a4fa4e4_0_0"/>
          <p:cNvSpPr txBox="1"/>
          <p:nvPr/>
        </p:nvSpPr>
        <p:spPr>
          <a:xfrm>
            <a:off x="1028700" y="9210675"/>
            <a:ext cx="6667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Ingeniería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g35c6a4fa4e4_0_0"/>
          <p:cNvSpPr txBox="1"/>
          <p:nvPr/>
        </p:nvSpPr>
        <p:spPr>
          <a:xfrm>
            <a:off x="228600" y="9588254"/>
            <a:ext cx="8115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c6a4fa4e4_0_16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</a:t>
            </a: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S</a:t>
            </a: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3" name="Google Shape;103;g35c6a4fa4e4_0_164"/>
          <p:cNvSpPr txBox="1"/>
          <p:nvPr/>
        </p:nvSpPr>
        <p:spPr>
          <a:xfrm>
            <a:off x="1957640" y="2896775"/>
            <a:ext cx="14372700" cy="5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Integra lenguajes y herramientas de programación mediante estrategias de diseño y prueba con pensamiento crítico y visión sistémica. </a:t>
            </a:r>
            <a:endParaRPr b="1" sz="4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Domina los conceptos fundamentales del compilador para analizar y diseñar traductores en proyectos de software que requieran procesamiento de lenguajes.</a:t>
            </a:r>
            <a:endParaRPr b="1" sz="4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/>
          <p:nvPr/>
        </p:nvSpPr>
        <p:spPr>
          <a:xfrm rot="-5400000">
            <a:off x="4736056" y="4060775"/>
            <a:ext cx="6173936" cy="2165449"/>
          </a:xfrm>
          <a:custGeom>
            <a:rect b="b" l="l" r="r" t="t"/>
            <a:pathLst>
              <a:path extrusionOk="0" h="2165449" w="6173936">
                <a:moveTo>
                  <a:pt x="0" y="0"/>
                </a:moveTo>
                <a:lnTo>
                  <a:pt x="6173936" y="0"/>
                </a:lnTo>
                <a:lnTo>
                  <a:pt x="6173936" y="2165450"/>
                </a:lnTo>
                <a:lnTo>
                  <a:pt x="0" y="2165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2"/>
          <p:cNvSpPr txBox="1"/>
          <p:nvPr/>
        </p:nvSpPr>
        <p:spPr>
          <a:xfrm>
            <a:off x="1028700" y="4457700"/>
            <a:ext cx="6077873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" name="Google Shape;110;p2"/>
          <p:cNvGrpSpPr/>
          <p:nvPr/>
        </p:nvGrpSpPr>
        <p:grpSpPr>
          <a:xfrm>
            <a:off x="11309552" y="3271849"/>
            <a:ext cx="5887350" cy="1247775"/>
            <a:chOff x="0" y="12700"/>
            <a:chExt cx="7849800" cy="1663700"/>
          </a:xfrm>
        </p:grpSpPr>
        <p:cxnSp>
          <p:nvCxnSpPr>
            <p:cNvPr id="111" name="Google Shape;111;p2"/>
            <p:cNvCxnSpPr/>
            <p:nvPr/>
          </p:nvCxnSpPr>
          <p:spPr>
            <a:xfrm>
              <a:off x="0" y="127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" name="Google Shape;112;p2"/>
            <p:cNvCxnSpPr/>
            <p:nvPr/>
          </p:nvCxnSpPr>
          <p:spPr>
            <a:xfrm>
              <a:off x="0" y="16764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3" name="Google Shape;113;p2"/>
            <p:cNvSpPr txBox="1"/>
            <p:nvPr/>
          </p:nvSpPr>
          <p:spPr>
            <a:xfrm>
              <a:off x="0" y="488950"/>
              <a:ext cx="7849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None/>
              </a:pPr>
              <a:r>
                <a:rPr lang="en-US" sz="29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Video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" name="Google Shape;114;p2"/>
          <p:cNvGrpSpPr/>
          <p:nvPr/>
        </p:nvGrpSpPr>
        <p:grpSpPr>
          <a:xfrm>
            <a:off x="11309552" y="2024075"/>
            <a:ext cx="5887350" cy="1247775"/>
            <a:chOff x="0" y="12700"/>
            <a:chExt cx="7849800" cy="1663700"/>
          </a:xfrm>
        </p:grpSpPr>
        <p:cxnSp>
          <p:nvCxnSpPr>
            <p:cNvPr id="115" name="Google Shape;115;p2"/>
            <p:cNvCxnSpPr/>
            <p:nvPr/>
          </p:nvCxnSpPr>
          <p:spPr>
            <a:xfrm>
              <a:off x="0" y="127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2"/>
            <p:cNvCxnSpPr/>
            <p:nvPr/>
          </p:nvCxnSpPr>
          <p:spPr>
            <a:xfrm>
              <a:off x="0" y="16764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" name="Google Shape;117;p2"/>
            <p:cNvSpPr txBox="1"/>
            <p:nvPr/>
          </p:nvSpPr>
          <p:spPr>
            <a:xfrm>
              <a:off x="0" y="488950"/>
              <a:ext cx="7849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None/>
              </a:pPr>
              <a:r>
                <a:rPr lang="en-US" sz="29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Análisis Léxico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p2"/>
          <p:cNvGrpSpPr/>
          <p:nvPr/>
        </p:nvGrpSpPr>
        <p:grpSpPr>
          <a:xfrm>
            <a:off x="11309552" y="4519625"/>
            <a:ext cx="5887350" cy="1247775"/>
            <a:chOff x="0" y="12700"/>
            <a:chExt cx="7849800" cy="1663700"/>
          </a:xfrm>
        </p:grpSpPr>
        <p:cxnSp>
          <p:nvCxnSpPr>
            <p:cNvPr id="119" name="Google Shape;119;p2"/>
            <p:cNvCxnSpPr/>
            <p:nvPr/>
          </p:nvCxnSpPr>
          <p:spPr>
            <a:xfrm>
              <a:off x="0" y="127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" name="Google Shape;120;p2"/>
            <p:cNvCxnSpPr/>
            <p:nvPr/>
          </p:nvCxnSpPr>
          <p:spPr>
            <a:xfrm>
              <a:off x="0" y="16764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1" name="Google Shape;121;p2"/>
            <p:cNvSpPr txBox="1"/>
            <p:nvPr/>
          </p:nvSpPr>
          <p:spPr>
            <a:xfrm>
              <a:off x="0" y="488950"/>
              <a:ext cx="7849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None/>
              </a:pPr>
              <a:r>
                <a:rPr lang="en-US" sz="29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Lectura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p2"/>
          <p:cNvGrpSpPr/>
          <p:nvPr/>
        </p:nvGrpSpPr>
        <p:grpSpPr>
          <a:xfrm>
            <a:off x="11309540" y="5767400"/>
            <a:ext cx="5887350" cy="1247775"/>
            <a:chOff x="0" y="12700"/>
            <a:chExt cx="7849800" cy="1663700"/>
          </a:xfrm>
        </p:grpSpPr>
        <p:cxnSp>
          <p:nvCxnSpPr>
            <p:cNvPr id="123" name="Google Shape;123;p2"/>
            <p:cNvCxnSpPr/>
            <p:nvPr/>
          </p:nvCxnSpPr>
          <p:spPr>
            <a:xfrm>
              <a:off x="0" y="127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" name="Google Shape;124;p2"/>
            <p:cNvCxnSpPr/>
            <p:nvPr/>
          </p:nvCxnSpPr>
          <p:spPr>
            <a:xfrm>
              <a:off x="0" y="16764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" name="Google Shape;125;p2"/>
            <p:cNvSpPr txBox="1"/>
            <p:nvPr/>
          </p:nvSpPr>
          <p:spPr>
            <a:xfrm>
              <a:off x="0" y="488950"/>
              <a:ext cx="7849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None/>
              </a:pPr>
              <a:r>
                <a:rPr lang="en-US" sz="29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Actividad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2"/>
          <p:cNvGrpSpPr/>
          <p:nvPr/>
        </p:nvGrpSpPr>
        <p:grpSpPr>
          <a:xfrm>
            <a:off x="11309540" y="7015174"/>
            <a:ext cx="5887350" cy="1247775"/>
            <a:chOff x="0" y="12700"/>
            <a:chExt cx="7849800" cy="1663700"/>
          </a:xfrm>
        </p:grpSpPr>
        <p:cxnSp>
          <p:nvCxnSpPr>
            <p:cNvPr id="127" name="Google Shape;127;p2"/>
            <p:cNvCxnSpPr/>
            <p:nvPr/>
          </p:nvCxnSpPr>
          <p:spPr>
            <a:xfrm>
              <a:off x="0" y="127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" name="Google Shape;128;p2"/>
            <p:cNvCxnSpPr/>
            <p:nvPr/>
          </p:nvCxnSpPr>
          <p:spPr>
            <a:xfrm>
              <a:off x="0" y="16764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" name="Google Shape;129;p2"/>
            <p:cNvSpPr txBox="1"/>
            <p:nvPr/>
          </p:nvSpPr>
          <p:spPr>
            <a:xfrm>
              <a:off x="0" y="488950"/>
              <a:ext cx="7849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None/>
              </a:pPr>
              <a:r>
                <a:rPr lang="en-US" sz="2999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Cuestionario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/>
          <p:nvPr/>
        </p:nvSpPr>
        <p:spPr>
          <a:xfrm>
            <a:off x="7495508" y="5143500"/>
            <a:ext cx="3296984" cy="4114800"/>
          </a:xfrm>
          <a:custGeom>
            <a:rect b="b" l="l" r="r" t="t"/>
            <a:pathLst>
              <a:path extrusionOk="0" h="4114800" w="3296984">
                <a:moveTo>
                  <a:pt x="0" y="0"/>
                </a:moveTo>
                <a:lnTo>
                  <a:pt x="3296984" y="0"/>
                </a:lnTo>
                <a:lnTo>
                  <a:pt x="32969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3"/>
          <p:cNvSpPr/>
          <p:nvPr/>
        </p:nvSpPr>
        <p:spPr>
          <a:xfrm rot="-2700000">
            <a:off x="10429072" y="7711422"/>
            <a:ext cx="9534105" cy="1386779"/>
          </a:xfrm>
          <a:custGeom>
            <a:rect b="b" l="l" r="r" t="t"/>
            <a:pathLst>
              <a:path extrusionOk="0" h="1386779" w="9534105">
                <a:moveTo>
                  <a:pt x="0" y="0"/>
                </a:moveTo>
                <a:lnTo>
                  <a:pt x="9534104" y="0"/>
                </a:lnTo>
                <a:lnTo>
                  <a:pt x="9534104" y="1386779"/>
                </a:lnTo>
                <a:lnTo>
                  <a:pt x="0" y="13867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3"/>
          <p:cNvSpPr txBox="1"/>
          <p:nvPr/>
        </p:nvSpPr>
        <p:spPr>
          <a:xfrm>
            <a:off x="3320933" y="3086371"/>
            <a:ext cx="11646135" cy="14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b="1" i="0" lang="en-US" sz="9500" u="none" cap="none" strike="noStrike">
                <a:solidFill>
                  <a:srgbClr val="20E5F6"/>
                </a:solidFill>
                <a:latin typeface="Poppins"/>
                <a:ea typeface="Poppins"/>
                <a:cs typeface="Poppins"/>
                <a:sym typeface="Poppins"/>
              </a:rPr>
              <a:t>ANÁLISIS LÉXICO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/>
          <p:nvPr/>
        </p:nvSpPr>
        <p:spPr>
          <a:xfrm rot="8100000">
            <a:off x="-3222874" y="1283120"/>
            <a:ext cx="9534105" cy="1386779"/>
          </a:xfrm>
          <a:custGeom>
            <a:rect b="b" l="l" r="r" t="t"/>
            <a:pathLst>
              <a:path extrusionOk="0" h="1386779" w="9534105">
                <a:moveTo>
                  <a:pt x="0" y="0"/>
                </a:moveTo>
                <a:lnTo>
                  <a:pt x="9534105" y="0"/>
                </a:lnTo>
                <a:lnTo>
                  <a:pt x="9534105" y="1386779"/>
                </a:lnTo>
                <a:lnTo>
                  <a:pt x="0" y="13867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4"/>
          <p:cNvGrpSpPr/>
          <p:nvPr/>
        </p:nvGrpSpPr>
        <p:grpSpPr>
          <a:xfrm>
            <a:off x="1738415" y="227542"/>
            <a:ext cx="14811170" cy="6560664"/>
            <a:chOff x="0" y="0"/>
            <a:chExt cx="19748227" cy="8747552"/>
          </a:xfrm>
        </p:grpSpPr>
        <p:sp>
          <p:nvSpPr>
            <p:cNvPr id="143" name="Google Shape;143;p4"/>
            <p:cNvSpPr txBox="1"/>
            <p:nvPr/>
          </p:nvSpPr>
          <p:spPr>
            <a:xfrm>
              <a:off x="0" y="2913152"/>
              <a:ext cx="19748100" cy="583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24"/>
                <a:buFont typeface="Arial"/>
                <a:buNone/>
              </a:pPr>
              <a:r>
                <a:rPr b="0" i="0" lang="en-US" sz="3024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El análisis Léxico es una subrutina del </a:t>
              </a:r>
              <a:r>
                <a:rPr lang="en-US" sz="3024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la fase de </a:t>
              </a:r>
              <a:r>
                <a:rPr lang="en-US" sz="3024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análisis</a:t>
              </a:r>
              <a:r>
                <a:rPr b="0" i="0" lang="en-US" sz="3024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que devuelve el tipo de componente </a:t>
              </a:r>
              <a:r>
                <a:rPr lang="en-US" sz="3024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léxico</a:t>
              </a:r>
              <a:r>
                <a:rPr b="0" i="0" lang="en-US" sz="3024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y el lexema cada vez que es llamada.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just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24"/>
                <a:buFont typeface="Arial"/>
                <a:buNone/>
              </a:pPr>
              <a:r>
                <a:rPr b="0" i="0" lang="en-US" sz="3024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Es la primera fase de un compilador, consiste en un programa que recibe como entrada el código fuente de otro programa (secuencia de caracteres) y produce una salida compuesta de tokens (componentes léxicos) o simbolos. Estos tokens sirven para una posterior etapa del proceso, siendo la entrada para el analizador </a:t>
              </a:r>
              <a:r>
                <a:rPr lang="en-US" sz="3024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sintáctico</a:t>
              </a:r>
              <a:r>
                <a:rPr b="0" i="0" lang="en-US" sz="3024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(en ingles parser)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4"/>
            <p:cNvSpPr txBox="1"/>
            <p:nvPr/>
          </p:nvSpPr>
          <p:spPr>
            <a:xfrm>
              <a:off x="0" y="0"/>
              <a:ext cx="19748227" cy="14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b="1" i="0" lang="en-US" sz="70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¿Qué es?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5" name="Google Shape;145;p4"/>
            <p:cNvCxnSpPr/>
            <p:nvPr/>
          </p:nvCxnSpPr>
          <p:spPr>
            <a:xfrm>
              <a:off x="0" y="2192427"/>
              <a:ext cx="19748227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6" name="Google Shape;146;p4"/>
          <p:cNvSpPr/>
          <p:nvPr/>
        </p:nvSpPr>
        <p:spPr>
          <a:xfrm>
            <a:off x="6675699" y="6980100"/>
            <a:ext cx="5306203" cy="2416800"/>
          </a:xfrm>
          <a:custGeom>
            <a:rect b="b" l="l" r="r" t="t"/>
            <a:pathLst>
              <a:path extrusionOk="0" h="2416800" w="5306203">
                <a:moveTo>
                  <a:pt x="0" y="0"/>
                </a:moveTo>
                <a:lnTo>
                  <a:pt x="5306202" y="0"/>
                </a:lnTo>
                <a:lnTo>
                  <a:pt x="5306202" y="2416800"/>
                </a:lnTo>
                <a:lnTo>
                  <a:pt x="0" y="2416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86404" l="-63553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5"/>
          <p:cNvGrpSpPr/>
          <p:nvPr/>
        </p:nvGrpSpPr>
        <p:grpSpPr>
          <a:xfrm>
            <a:off x="1564067" y="4926509"/>
            <a:ext cx="4828390" cy="1760041"/>
            <a:chOff x="0" y="-57150"/>
            <a:chExt cx="1271675" cy="463550"/>
          </a:xfrm>
        </p:grpSpPr>
        <p:sp>
          <p:nvSpPr>
            <p:cNvPr id="152" name="Google Shape;152;p5"/>
            <p:cNvSpPr/>
            <p:nvPr/>
          </p:nvSpPr>
          <p:spPr>
            <a:xfrm>
              <a:off x="0" y="0"/>
              <a:ext cx="1271675" cy="406400"/>
            </a:xfrm>
            <a:custGeom>
              <a:rect b="b" l="l" r="r" t="t"/>
              <a:pathLst>
                <a:path extrusionOk="0" h="406400" w="1271675">
                  <a:moveTo>
                    <a:pt x="0" y="0"/>
                  </a:moveTo>
                  <a:lnTo>
                    <a:pt x="1271675" y="0"/>
                  </a:lnTo>
                  <a:lnTo>
                    <a:pt x="1271675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38100">
              <a:solidFill>
                <a:srgbClr val="10D3F9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53" name="Google Shape;153;p5"/>
            <p:cNvSpPr txBox="1"/>
            <p:nvPr/>
          </p:nvSpPr>
          <p:spPr>
            <a:xfrm>
              <a:off x="0" y="-57150"/>
              <a:ext cx="1271675" cy="463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99"/>
                <a:buFont typeface="Arial"/>
                <a:buNone/>
              </a:pPr>
              <a:r>
                <a:rPr b="0" i="0" lang="en-US" sz="2699" u="none" cap="none" strike="noStrike">
                  <a:solidFill>
                    <a:srgbClr val="10D3F9"/>
                  </a:solidFill>
                  <a:latin typeface="Open Sans"/>
                  <a:ea typeface="Open Sans"/>
                  <a:cs typeface="Open Sans"/>
                  <a:sym typeface="Open Sans"/>
                </a:rPr>
                <a:t>Analizador Léxico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5"/>
          <p:cNvGrpSpPr/>
          <p:nvPr/>
        </p:nvGrpSpPr>
        <p:grpSpPr>
          <a:xfrm>
            <a:off x="1867925" y="1178506"/>
            <a:ext cx="14552151" cy="1087579"/>
            <a:chOff x="0" y="-289322"/>
            <a:chExt cx="19402868" cy="1450105"/>
          </a:xfrm>
        </p:grpSpPr>
        <p:grpSp>
          <p:nvGrpSpPr>
            <p:cNvPr id="155" name="Google Shape;155;p5"/>
            <p:cNvGrpSpPr/>
            <p:nvPr/>
          </p:nvGrpSpPr>
          <p:grpSpPr>
            <a:xfrm>
              <a:off x="0" y="-289322"/>
              <a:ext cx="1261927" cy="1450105"/>
              <a:chOff x="0" y="-57150"/>
              <a:chExt cx="249270" cy="286440"/>
            </a:xfrm>
          </p:grpSpPr>
          <p:sp>
            <p:nvSpPr>
              <p:cNvPr id="156" name="Google Shape;156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57" name="Google Shape;157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" name="Google Shape;158;p5"/>
            <p:cNvGrpSpPr/>
            <p:nvPr/>
          </p:nvGrpSpPr>
          <p:grpSpPr>
            <a:xfrm>
              <a:off x="1211842" y="-289322"/>
              <a:ext cx="1261927" cy="1450105"/>
              <a:chOff x="0" y="-57150"/>
              <a:chExt cx="249270" cy="286440"/>
            </a:xfrm>
          </p:grpSpPr>
          <p:sp>
            <p:nvSpPr>
              <p:cNvPr id="159" name="Google Shape;159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60" name="Google Shape;160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r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5"/>
            <p:cNvGrpSpPr/>
            <p:nvPr/>
          </p:nvGrpSpPr>
          <p:grpSpPr>
            <a:xfrm>
              <a:off x="2423337" y="-289322"/>
              <a:ext cx="1261927" cy="1450105"/>
              <a:chOff x="0" y="-57150"/>
              <a:chExt cx="249270" cy="286440"/>
            </a:xfrm>
          </p:grpSpPr>
          <p:sp>
            <p:nvSpPr>
              <p:cNvPr id="162" name="Google Shape;162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63" name="Google Shape;163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4" name="Google Shape;164;p5"/>
            <p:cNvGrpSpPr/>
            <p:nvPr/>
          </p:nvGrpSpPr>
          <p:grpSpPr>
            <a:xfrm>
              <a:off x="3635179" y="-289322"/>
              <a:ext cx="1261927" cy="1450105"/>
              <a:chOff x="0" y="-57150"/>
              <a:chExt cx="249270" cy="286440"/>
            </a:xfrm>
          </p:grpSpPr>
          <p:sp>
            <p:nvSpPr>
              <p:cNvPr id="165" name="Google Shape;165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66" name="Google Shape;166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n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" name="Google Shape;167;p5"/>
            <p:cNvGrpSpPr/>
            <p:nvPr/>
          </p:nvGrpSpPr>
          <p:grpSpPr>
            <a:xfrm>
              <a:off x="4840964" y="-289322"/>
              <a:ext cx="1261927" cy="1450105"/>
              <a:chOff x="0" y="-57150"/>
              <a:chExt cx="249270" cy="286440"/>
            </a:xfrm>
          </p:grpSpPr>
          <p:sp>
            <p:nvSpPr>
              <p:cNvPr id="168" name="Google Shape;168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69" name="Google Shape;169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t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0" name="Google Shape;170;p5"/>
            <p:cNvGrpSpPr/>
            <p:nvPr/>
          </p:nvGrpSpPr>
          <p:grpSpPr>
            <a:xfrm>
              <a:off x="6052806" y="-289322"/>
              <a:ext cx="1261927" cy="1450105"/>
              <a:chOff x="0" y="-57150"/>
              <a:chExt cx="249270" cy="286440"/>
            </a:xfrm>
          </p:grpSpPr>
          <p:sp>
            <p:nvSpPr>
              <p:cNvPr id="171" name="Google Shape;171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72" name="Google Shape;172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(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3" name="Google Shape;173;p5"/>
            <p:cNvGrpSpPr/>
            <p:nvPr/>
          </p:nvGrpSpPr>
          <p:grpSpPr>
            <a:xfrm>
              <a:off x="7258591" y="-289322"/>
              <a:ext cx="1261927" cy="1450105"/>
              <a:chOff x="0" y="-57150"/>
              <a:chExt cx="249270" cy="286440"/>
            </a:xfrm>
          </p:grpSpPr>
          <p:sp>
            <p:nvSpPr>
              <p:cNvPr id="174" name="Google Shape;174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75" name="Google Shape;175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“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6" name="Google Shape;176;p5"/>
            <p:cNvGrpSpPr/>
            <p:nvPr/>
          </p:nvGrpSpPr>
          <p:grpSpPr>
            <a:xfrm>
              <a:off x="8470433" y="-289322"/>
              <a:ext cx="1261927" cy="1450105"/>
              <a:chOff x="0" y="-57150"/>
              <a:chExt cx="249270" cy="286440"/>
            </a:xfrm>
          </p:grpSpPr>
          <p:sp>
            <p:nvSpPr>
              <p:cNvPr id="177" name="Google Shape;177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78" name="Google Shape;178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9" name="Google Shape;179;p5"/>
            <p:cNvGrpSpPr/>
            <p:nvPr/>
          </p:nvGrpSpPr>
          <p:grpSpPr>
            <a:xfrm>
              <a:off x="9676218" y="-289322"/>
              <a:ext cx="1261927" cy="1450105"/>
              <a:chOff x="0" y="-57150"/>
              <a:chExt cx="249270" cy="286440"/>
            </a:xfrm>
          </p:grpSpPr>
          <p:sp>
            <p:nvSpPr>
              <p:cNvPr id="180" name="Google Shape;180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81" name="Google Shape;181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O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2" name="Google Shape;182;p5"/>
            <p:cNvGrpSpPr/>
            <p:nvPr/>
          </p:nvGrpSpPr>
          <p:grpSpPr>
            <a:xfrm>
              <a:off x="10888060" y="-289322"/>
              <a:ext cx="1261927" cy="1450105"/>
              <a:chOff x="0" y="-57150"/>
              <a:chExt cx="249270" cy="286440"/>
            </a:xfrm>
          </p:grpSpPr>
          <p:sp>
            <p:nvSpPr>
              <p:cNvPr id="183" name="Google Shape;183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84" name="Google Shape;184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M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5" name="Google Shape;185;p5"/>
            <p:cNvGrpSpPr/>
            <p:nvPr/>
          </p:nvGrpSpPr>
          <p:grpSpPr>
            <a:xfrm>
              <a:off x="12093845" y="-289322"/>
              <a:ext cx="1261927" cy="1450105"/>
              <a:chOff x="0" y="-57150"/>
              <a:chExt cx="249270" cy="28644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87" name="Google Shape;187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8" name="Google Shape;188;p5"/>
            <p:cNvGrpSpPr/>
            <p:nvPr/>
          </p:nvGrpSpPr>
          <p:grpSpPr>
            <a:xfrm>
              <a:off x="13305687" y="-289322"/>
              <a:ext cx="1261927" cy="1450105"/>
              <a:chOff x="0" y="-57150"/>
              <a:chExt cx="249270" cy="286440"/>
            </a:xfrm>
          </p:grpSpPr>
          <p:sp>
            <p:nvSpPr>
              <p:cNvPr id="189" name="Google Shape;189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90" name="Google Shape;190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I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1" name="Google Shape;191;p5"/>
            <p:cNvGrpSpPr/>
            <p:nvPr/>
          </p:nvGrpSpPr>
          <p:grpSpPr>
            <a:xfrm>
              <a:off x="14511472" y="-289322"/>
              <a:ext cx="1261927" cy="1450105"/>
              <a:chOff x="0" y="-57150"/>
              <a:chExt cx="249270" cy="286440"/>
            </a:xfrm>
          </p:grpSpPr>
          <p:sp>
            <p:nvSpPr>
              <p:cNvPr id="192" name="Google Shape;192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93" name="Google Shape;193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4" name="Google Shape;194;p5"/>
            <p:cNvGrpSpPr/>
            <p:nvPr/>
          </p:nvGrpSpPr>
          <p:grpSpPr>
            <a:xfrm>
              <a:off x="15723314" y="-289322"/>
              <a:ext cx="1261927" cy="1450105"/>
              <a:chOff x="0" y="-57150"/>
              <a:chExt cx="249270" cy="286440"/>
            </a:xfrm>
          </p:grpSpPr>
          <p:sp>
            <p:nvSpPr>
              <p:cNvPr id="195" name="Google Shape;195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96" name="Google Shape;196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“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16929099" y="-289322"/>
              <a:ext cx="1261927" cy="1450105"/>
              <a:chOff x="0" y="-57150"/>
              <a:chExt cx="249270" cy="28644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199" name="Google Shape;199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)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0" name="Google Shape;200;p5"/>
            <p:cNvGrpSpPr/>
            <p:nvPr/>
          </p:nvGrpSpPr>
          <p:grpSpPr>
            <a:xfrm>
              <a:off x="18140941" y="-289322"/>
              <a:ext cx="1261927" cy="1450105"/>
              <a:chOff x="0" y="-57150"/>
              <a:chExt cx="249270" cy="286440"/>
            </a:xfrm>
          </p:grpSpPr>
          <p:sp>
            <p:nvSpPr>
              <p:cNvPr id="201" name="Google Shape;201;p5"/>
              <p:cNvSpPr/>
              <p:nvPr/>
            </p:nvSpPr>
            <p:spPr>
              <a:xfrm>
                <a:off x="0" y="0"/>
                <a:ext cx="249270" cy="229290"/>
              </a:xfrm>
              <a:custGeom>
                <a:rect b="b" l="l" r="r" t="t"/>
                <a:pathLst>
                  <a:path extrusionOk="0" h="229290" w="249270">
                    <a:moveTo>
                      <a:pt x="0" y="0"/>
                    </a:moveTo>
                    <a:lnTo>
                      <a:pt x="249270" y="0"/>
                    </a:lnTo>
                    <a:lnTo>
                      <a:pt x="249270" y="229290"/>
                    </a:lnTo>
                    <a:lnTo>
                      <a:pt x="0" y="22929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sq" cmpd="sng" w="38100">
                <a:solidFill>
                  <a:srgbClr val="10D3F9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sp>
          <p:sp>
            <p:nvSpPr>
              <p:cNvPr id="202" name="Google Shape;202;p5"/>
              <p:cNvSpPr txBox="1"/>
              <p:nvPr/>
            </p:nvSpPr>
            <p:spPr>
              <a:xfrm>
                <a:off x="0" y="-57150"/>
                <a:ext cx="249270" cy="286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001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699"/>
                  <a:buFont typeface="Arial"/>
                  <a:buNone/>
                </a:pPr>
                <a:r>
                  <a:rPr b="0" i="0" lang="en-US" sz="2699" u="none" cap="none" strike="noStrike">
                    <a:solidFill>
                      <a:srgbClr val="10D3F9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;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203" name="Google Shape;203;p5"/>
          <p:cNvCxnSpPr/>
          <p:nvPr/>
        </p:nvCxnSpPr>
        <p:spPr>
          <a:xfrm>
            <a:off x="3978262" y="3438525"/>
            <a:ext cx="0" cy="1704975"/>
          </a:xfrm>
          <a:prstGeom prst="straightConnector1">
            <a:avLst/>
          </a:prstGeom>
          <a:noFill/>
          <a:ln cap="flat" cmpd="sng" w="104775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4" name="Google Shape;204;p5"/>
          <p:cNvCxnSpPr/>
          <p:nvPr/>
        </p:nvCxnSpPr>
        <p:spPr>
          <a:xfrm>
            <a:off x="6392457" y="5915025"/>
            <a:ext cx="5432440" cy="0"/>
          </a:xfrm>
          <a:prstGeom prst="straightConnector1">
            <a:avLst/>
          </a:prstGeom>
          <a:noFill/>
          <a:ln cap="flat" cmpd="sng" w="104775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205" name="Google Shape;205;p5"/>
          <p:cNvGraphicFramePr/>
          <p:nvPr/>
        </p:nvGraphicFramePr>
        <p:xfrm>
          <a:off x="12180425" y="343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{F5F316BF-137F-4784-BDFF-F136F69D7E1A}</a:tableStyleId>
              </a:tblPr>
              <a:tblGrid>
                <a:gridCol w="2119825"/>
                <a:gridCol w="2119825"/>
              </a:tblGrid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None/>
                      </a:pPr>
                      <a:r>
                        <a:rPr b="1" lang="en-US" sz="1899" u="none" cap="none" strike="noStrike">
                          <a:solidFill>
                            <a:srgbClr val="10D3F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LEXEMA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None/>
                      </a:pPr>
                      <a:r>
                        <a:rPr b="1" lang="en-US" sz="1899" u="none" cap="none" strike="noStrike">
                          <a:solidFill>
                            <a:srgbClr val="10D3F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TOKEN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None/>
                      </a:pPr>
                      <a:r>
                        <a:rPr lang="en-US" sz="1899" u="none" cap="none" strike="noStrike">
                          <a:solidFill>
                            <a:srgbClr val="10D3F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print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None/>
                      </a:pPr>
                      <a:r>
                        <a:rPr lang="en-US" sz="1899" u="none" cap="none" strike="noStrike">
                          <a:solidFill>
                            <a:srgbClr val="10D3F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TK_PRINT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None/>
                      </a:pPr>
                      <a:r>
                        <a:rPr lang="en-US" sz="1899" u="none" cap="none" strike="noStrike">
                          <a:solidFill>
                            <a:srgbClr val="10D3F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(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None/>
                      </a:pPr>
                      <a:r>
                        <a:rPr lang="en-US" sz="1899" u="none" cap="none" strike="noStrike">
                          <a:solidFill>
                            <a:srgbClr val="10D3F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PAR_A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None/>
                      </a:pPr>
                      <a:r>
                        <a:rPr lang="en-US" sz="1899" u="none" cap="none" strike="noStrike">
                          <a:solidFill>
                            <a:srgbClr val="10D3F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“COMPI1”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None/>
                      </a:pPr>
                      <a:r>
                        <a:rPr lang="en-US" sz="1899" u="none" cap="none" strike="noStrike">
                          <a:solidFill>
                            <a:srgbClr val="10D3F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CADENA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None/>
                      </a:pPr>
                      <a:r>
                        <a:rPr lang="en-US" sz="1899" u="none" cap="none" strike="noStrike">
                          <a:solidFill>
                            <a:srgbClr val="10D3F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)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None/>
                      </a:pPr>
                      <a:r>
                        <a:rPr lang="en-US" sz="1899" u="none" cap="none" strike="noStrike">
                          <a:solidFill>
                            <a:srgbClr val="10D3F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PAR_C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None/>
                      </a:pPr>
                      <a:r>
                        <a:rPr lang="en-US" sz="1899" u="none" cap="none" strike="noStrike">
                          <a:solidFill>
                            <a:srgbClr val="10D3F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;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99"/>
                        <a:buFont typeface="Arial"/>
                        <a:buNone/>
                      </a:pPr>
                      <a:r>
                        <a:rPr lang="en-US" sz="1899" u="none" cap="none" strike="noStrike">
                          <a:solidFill>
                            <a:srgbClr val="10D3F9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PUNTOYCOMA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10D3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06" name="Google Shape;206;p5"/>
          <p:cNvCxnSpPr/>
          <p:nvPr/>
        </p:nvCxnSpPr>
        <p:spPr>
          <a:xfrm>
            <a:off x="3978262" y="3490912"/>
            <a:ext cx="5165738" cy="0"/>
          </a:xfrm>
          <a:prstGeom prst="straightConnector1">
            <a:avLst/>
          </a:prstGeom>
          <a:noFill/>
          <a:ln cap="flat" cmpd="sng" w="1047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5"/>
          <p:cNvCxnSpPr/>
          <p:nvPr/>
        </p:nvCxnSpPr>
        <p:spPr>
          <a:xfrm rot="10800000">
            <a:off x="9144000" y="2266085"/>
            <a:ext cx="0" cy="1278430"/>
          </a:xfrm>
          <a:prstGeom prst="straightConnector1">
            <a:avLst/>
          </a:prstGeom>
          <a:noFill/>
          <a:ln cap="flat" cmpd="sng" w="1047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"/>
          <p:cNvSpPr/>
          <p:nvPr/>
        </p:nvSpPr>
        <p:spPr>
          <a:xfrm>
            <a:off x="14150591" y="6287937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6"/>
          <p:cNvSpPr txBox="1"/>
          <p:nvPr/>
        </p:nvSpPr>
        <p:spPr>
          <a:xfrm>
            <a:off x="1028700" y="2070932"/>
            <a:ext cx="14811170" cy="188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24"/>
              <a:buFont typeface="Arial"/>
              <a:buNone/>
            </a:pPr>
            <a:r>
              <a:rPr b="0" i="0" lang="en-US" sz="27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 lexema es una secuencia de caracteres en el programa fuente, que coinciden con el patrón para un token y que el analizador léxico identifica como una instancia de ese token.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25"/>
              <a:buFont typeface="Arial"/>
              <a:buNone/>
            </a:pPr>
            <a:r>
              <a:rPr b="0" i="0" lang="en-US" sz="2725" u="none" cap="none" strike="noStrike">
                <a:solidFill>
                  <a:srgbClr val="10D3F9"/>
                </a:solidFill>
                <a:latin typeface="Poppins Light"/>
                <a:ea typeface="Poppins Light"/>
                <a:cs typeface="Poppins Light"/>
                <a:sym typeface="Poppins Light"/>
              </a:rPr>
              <a:t>Ejemplo: “hola mundo”        3.12343                  ‘a’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1028700" y="1019175"/>
            <a:ext cx="3258215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Lexema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1028700" y="5379436"/>
            <a:ext cx="14811170" cy="2835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24"/>
              <a:buFont typeface="Arial"/>
              <a:buNone/>
            </a:pPr>
            <a:r>
              <a:rPr b="1" i="0" lang="en-US" sz="27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 token es un par que consiste en un nombre de token y un valor de atributo opcional. El nombre del token es un símbolo abstracto que representa un tipo de unidad léxica. El analizador léxico produce como salida un token de la forma: &lt;nombre_token, valor&gt;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24"/>
              <a:buFont typeface="Arial"/>
              <a:buNone/>
            </a:pPr>
            <a:r>
              <a:rPr b="1" i="0" lang="en-US" sz="2724" u="none" cap="none" strike="noStrike">
                <a:solidFill>
                  <a:srgbClr val="10D3F9"/>
                </a:solidFill>
                <a:latin typeface="Poppins"/>
                <a:ea typeface="Poppins"/>
                <a:cs typeface="Poppins"/>
                <a:sym typeface="Poppins"/>
              </a:rPr>
              <a:t>Ejemplo:</a:t>
            </a:r>
            <a:r>
              <a:rPr b="1" i="0" lang="en-US" sz="27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2724" u="none" cap="none" strike="noStrike">
                <a:solidFill>
                  <a:srgbClr val="10D3F9"/>
                </a:solidFill>
                <a:latin typeface="Poppins"/>
                <a:ea typeface="Poppins"/>
                <a:cs typeface="Poppins"/>
                <a:sym typeface="Poppins"/>
              </a:rPr>
              <a:t>&lt;Numero. 5&gt; , &lt;Letra, a&gt;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5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24"/>
              <a:buFont typeface="Arial"/>
              <a:buNone/>
            </a:pPr>
            <a:r>
              <a:t/>
            </a:r>
            <a:endParaRPr b="1" i="0" sz="2724" u="none" cap="none" strike="noStrike">
              <a:solidFill>
                <a:srgbClr val="10D3F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1028700" y="4331686"/>
            <a:ext cx="2536156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Token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"/>
          <p:cNvSpPr/>
          <p:nvPr/>
        </p:nvSpPr>
        <p:spPr>
          <a:xfrm>
            <a:off x="14150591" y="6287937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7"/>
          <p:cNvSpPr/>
          <p:nvPr/>
        </p:nvSpPr>
        <p:spPr>
          <a:xfrm>
            <a:off x="3564856" y="5919712"/>
            <a:ext cx="9809868" cy="3710118"/>
          </a:xfrm>
          <a:custGeom>
            <a:rect b="b" l="l" r="r" t="t"/>
            <a:pathLst>
              <a:path extrusionOk="0" h="3710118" w="9809868">
                <a:moveTo>
                  <a:pt x="0" y="0"/>
                </a:moveTo>
                <a:lnTo>
                  <a:pt x="9809867" y="0"/>
                </a:lnTo>
                <a:lnTo>
                  <a:pt x="9809867" y="3710119"/>
                </a:lnTo>
                <a:lnTo>
                  <a:pt x="0" y="37101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361" l="0" r="0" t="0"/>
            </a:stretch>
          </a:blipFill>
          <a:ln>
            <a:noFill/>
          </a:ln>
        </p:spPr>
      </p:sp>
      <p:grpSp>
        <p:nvGrpSpPr>
          <p:cNvPr id="223" name="Google Shape;223;p7"/>
          <p:cNvGrpSpPr/>
          <p:nvPr/>
        </p:nvGrpSpPr>
        <p:grpSpPr>
          <a:xfrm>
            <a:off x="1028700" y="529393"/>
            <a:ext cx="14811170" cy="1804829"/>
            <a:chOff x="0" y="-9525"/>
            <a:chExt cx="19748227" cy="2406438"/>
          </a:xfrm>
        </p:grpSpPr>
        <p:sp>
          <p:nvSpPr>
            <p:cNvPr id="224" name="Google Shape;224;p7"/>
            <p:cNvSpPr txBox="1"/>
            <p:nvPr/>
          </p:nvSpPr>
          <p:spPr>
            <a:xfrm>
              <a:off x="0" y="1171575"/>
              <a:ext cx="19748227" cy="1225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24"/>
                <a:buFont typeface="Arial"/>
                <a:buNone/>
              </a:pPr>
              <a:r>
                <a:rPr b="0" i="0" lang="en-US" sz="2724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Un patrón es una descripción de la forma que pueden tomar los lexemas de un token.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just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25"/>
                <a:buFont typeface="Arial"/>
                <a:buNone/>
              </a:pPr>
              <a:r>
                <a:rPr b="0" i="0" lang="en-US" sz="2725" u="none" cap="none" strike="noStrike">
                  <a:solidFill>
                    <a:srgbClr val="10D3F9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Ejemplo: numero seguido de más números o letras.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7"/>
            <p:cNvSpPr txBox="1"/>
            <p:nvPr/>
          </p:nvSpPr>
          <p:spPr>
            <a:xfrm>
              <a:off x="0" y="-9525"/>
              <a:ext cx="4344287" cy="1228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Arial"/>
                <a:buNone/>
              </a:pPr>
              <a:r>
                <a:rPr b="1" i="0" lang="en-US" sz="60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Patrón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7"/>
          <p:cNvGrpSpPr/>
          <p:nvPr/>
        </p:nvGrpSpPr>
        <p:grpSpPr>
          <a:xfrm>
            <a:off x="1028700" y="2825516"/>
            <a:ext cx="14811170" cy="3094197"/>
            <a:chOff x="0" y="-9525"/>
            <a:chExt cx="19748227" cy="4125595"/>
          </a:xfrm>
        </p:grpSpPr>
        <p:sp>
          <p:nvSpPr>
            <p:cNvPr id="227" name="Google Shape;227;p7"/>
            <p:cNvSpPr txBox="1"/>
            <p:nvPr/>
          </p:nvSpPr>
          <p:spPr>
            <a:xfrm>
              <a:off x="0" y="1620732"/>
              <a:ext cx="19748227" cy="2495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24"/>
                <a:buFont typeface="Arial"/>
                <a:buNone/>
              </a:pPr>
              <a:r>
                <a:rPr b="1" i="0" lang="en-US" sz="2724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Una expresión regular es una cadena de caracteres que es utilizada para describir o encontrar patrones dentro de otras cadenas, en base al uso de delimitadores y ciertas reglas de sintaxis.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just">
                <a:lnSpc>
                  <a:spcPct val="14005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24"/>
                <a:buFont typeface="Arial"/>
                <a:buNone/>
              </a:pPr>
              <a:r>
                <a:t/>
              </a:r>
              <a:endParaRPr b="1" i="0" sz="27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8" name="Google Shape;228;p7"/>
            <p:cNvSpPr txBox="1"/>
            <p:nvPr/>
          </p:nvSpPr>
          <p:spPr>
            <a:xfrm>
              <a:off x="0" y="-9525"/>
              <a:ext cx="9874113" cy="1228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Arial"/>
                <a:buNone/>
              </a:pPr>
              <a:r>
                <a:rPr b="1" i="0" lang="en-US" sz="60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Expresión Regular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"/>
          <p:cNvSpPr txBox="1"/>
          <p:nvPr/>
        </p:nvSpPr>
        <p:spPr>
          <a:xfrm>
            <a:off x="1738340" y="2120898"/>
            <a:ext cx="14811300" cy="30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 autómata es un modelo matemático para una </a:t>
            </a:r>
            <a:r>
              <a:rPr lang="en-US" sz="302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máquina</a:t>
            </a: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de estados finitos, en el que dada una entrada de símbolos, “salta” mediante una serie de estados de acuerdo a una función de transición (que puede ser expresada como una tabla). Esta función de transición indica a </a:t>
            </a:r>
            <a:r>
              <a:rPr lang="en-US" sz="302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qué</a:t>
            </a: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estado cambiar dados el estado actual y el símbolo </a:t>
            </a:r>
            <a:r>
              <a:rPr lang="en-US" sz="302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leído</a:t>
            </a: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8"/>
          <p:cNvSpPr txBox="1"/>
          <p:nvPr/>
        </p:nvSpPr>
        <p:spPr>
          <a:xfrm>
            <a:off x="1738415" y="760942"/>
            <a:ext cx="14811170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Autómatas finitos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" name="Google Shape;235;p8"/>
          <p:cNvCxnSpPr/>
          <p:nvPr/>
        </p:nvCxnSpPr>
        <p:spPr>
          <a:xfrm>
            <a:off x="1738415" y="1827742"/>
            <a:ext cx="14811170" cy="0"/>
          </a:xfrm>
          <a:prstGeom prst="straightConnector1">
            <a:avLst/>
          </a:prstGeom>
          <a:noFill/>
          <a:ln cap="rnd" cmpd="sng" w="19050">
            <a:solidFill>
              <a:srgbClr val="10B5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8"/>
          <p:cNvSpPr txBox="1"/>
          <p:nvPr/>
        </p:nvSpPr>
        <p:spPr>
          <a:xfrm>
            <a:off x="1738340" y="5495847"/>
            <a:ext cx="14811300" cy="43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20E5F6"/>
              </a:buClr>
              <a:buSzPts val="3024"/>
              <a:buFont typeface="Arial"/>
              <a:buChar char="•"/>
            </a:pPr>
            <a:r>
              <a:rPr b="0" i="0" lang="en-US" sz="3024" u="none" cap="none" strike="noStrike">
                <a:solidFill>
                  <a:srgbClr val="20E5F6"/>
                </a:solidFill>
                <a:latin typeface="Poppins Light"/>
                <a:ea typeface="Poppins Light"/>
                <a:cs typeface="Poppins Light"/>
                <a:sym typeface="Poppins Light"/>
              </a:rPr>
              <a:t>Autómata finito determinista:</a:t>
            </a: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el autómata no puede estar en más de un estado a la vez. Las transiciones se efectúan en respuesta a “entradas” o “estímulos” externos. Estas entradas son símbolos de un alfabeto.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20E5F6"/>
              </a:buClr>
              <a:buSzPts val="3024"/>
              <a:buFont typeface="Arial"/>
              <a:buChar char="•"/>
            </a:pPr>
            <a:r>
              <a:rPr b="0" i="0" lang="en-US" sz="3024" u="none" cap="none" strike="noStrike">
                <a:solidFill>
                  <a:srgbClr val="20E5F6"/>
                </a:solidFill>
                <a:latin typeface="Poppins Light"/>
                <a:ea typeface="Poppins Light"/>
                <a:cs typeface="Poppins Light"/>
                <a:sym typeface="Poppins Light"/>
              </a:rPr>
              <a:t>Autómata finito no determinista</a:t>
            </a: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:  el autómata puede estar en varios estados al mismo tiempo. Las transiciones de un estado a otro pueden ocurrir de manera </a:t>
            </a:r>
            <a:r>
              <a:rPr lang="en-US" sz="302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espontánea</a:t>
            </a: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, es decir, en respuesta a la palabra vacía ε como entrada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1" name="Google Shape;241;p9"/>
          <p:cNvCxnSpPr/>
          <p:nvPr/>
        </p:nvCxnSpPr>
        <p:spPr>
          <a:xfrm>
            <a:off x="1738415" y="2400194"/>
            <a:ext cx="14811170" cy="0"/>
          </a:xfrm>
          <a:prstGeom prst="straightConnector1">
            <a:avLst/>
          </a:prstGeom>
          <a:noFill/>
          <a:ln cap="rnd" cmpd="sng" w="19050">
            <a:solidFill>
              <a:srgbClr val="10B5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9"/>
          <p:cNvSpPr txBox="1"/>
          <p:nvPr/>
        </p:nvSpPr>
        <p:spPr>
          <a:xfrm>
            <a:off x="1738415" y="2792412"/>
            <a:ext cx="14811170" cy="319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 autómata finito determinista (AFD) es un quinteto (K, Σ, T, q0, F) donde: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K es un conjunto finito no-vacío de estados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Σ es el alfabeto de entrada (conjunto finito no-vacío de símbolos)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 es la función de transición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q0 es el estado inicial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F es el conjunto de estados finales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1738415" y="1333394"/>
            <a:ext cx="14811170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Definición formal de un AFD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/>
          <p:nvPr/>
        </p:nvSpPr>
        <p:spPr>
          <a:xfrm>
            <a:off x="6993957" y="1028700"/>
            <a:ext cx="10265343" cy="8229600"/>
          </a:xfrm>
          <a:custGeom>
            <a:rect b="b" l="l" r="r" t="t"/>
            <a:pathLst>
              <a:path extrusionOk="0" h="8229600" w="10265343">
                <a:moveTo>
                  <a:pt x="0" y="0"/>
                </a:moveTo>
                <a:lnTo>
                  <a:pt x="10265343" y="0"/>
                </a:lnTo>
                <a:lnTo>
                  <a:pt x="1026534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10"/>
          <p:cNvSpPr txBox="1"/>
          <p:nvPr/>
        </p:nvSpPr>
        <p:spPr>
          <a:xfrm>
            <a:off x="1028700" y="4343400"/>
            <a:ext cx="3612084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b="1" i="0" lang="en-US" sz="5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Notación Gráfica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" name="Google Shape;250;p10"/>
          <p:cNvCxnSpPr/>
          <p:nvPr/>
        </p:nvCxnSpPr>
        <p:spPr>
          <a:xfrm rot="10800000">
            <a:off x="5545900" y="1028700"/>
            <a:ext cx="0" cy="8229600"/>
          </a:xfrm>
          <a:prstGeom prst="straightConnector1">
            <a:avLst/>
          </a:prstGeom>
          <a:noFill/>
          <a:ln cap="rnd" cmpd="sng" w="19050">
            <a:solidFill>
              <a:srgbClr val="10B5B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"/>
          <p:cNvSpPr/>
          <p:nvPr/>
        </p:nvSpPr>
        <p:spPr>
          <a:xfrm>
            <a:off x="1028700" y="4671004"/>
            <a:ext cx="6961983" cy="3673785"/>
          </a:xfrm>
          <a:custGeom>
            <a:rect b="b" l="l" r="r" t="t"/>
            <a:pathLst>
              <a:path extrusionOk="0" h="3673785" w="6961983">
                <a:moveTo>
                  <a:pt x="0" y="0"/>
                </a:moveTo>
                <a:lnTo>
                  <a:pt x="6961983" y="0"/>
                </a:lnTo>
                <a:lnTo>
                  <a:pt x="6961983" y="3673785"/>
                </a:lnTo>
                <a:lnTo>
                  <a:pt x="0" y="36737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11"/>
          <p:cNvSpPr/>
          <p:nvPr/>
        </p:nvSpPr>
        <p:spPr>
          <a:xfrm>
            <a:off x="9144000" y="5274179"/>
            <a:ext cx="8115300" cy="2467436"/>
          </a:xfrm>
          <a:custGeom>
            <a:rect b="b" l="l" r="r" t="t"/>
            <a:pathLst>
              <a:path extrusionOk="0" h="2467436" w="8115300">
                <a:moveTo>
                  <a:pt x="0" y="0"/>
                </a:moveTo>
                <a:lnTo>
                  <a:pt x="8115300" y="0"/>
                </a:lnTo>
                <a:lnTo>
                  <a:pt x="8115300" y="2467436"/>
                </a:lnTo>
                <a:lnTo>
                  <a:pt x="0" y="24674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11"/>
          <p:cNvSpPr txBox="1"/>
          <p:nvPr/>
        </p:nvSpPr>
        <p:spPr>
          <a:xfrm>
            <a:off x="1291768" y="2520552"/>
            <a:ext cx="1483543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0B5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Diseñar un AFD y un AFND para reconocer el lenguaje dado por </a:t>
            </a:r>
            <a:r>
              <a:rPr b="1" i="0" lang="en-US" sz="3000" u="none" cap="none" strike="noStrike">
                <a:solidFill>
                  <a:srgbClr val="10B5BF"/>
                </a:solidFill>
                <a:latin typeface="Poppins"/>
                <a:ea typeface="Poppins"/>
                <a:cs typeface="Poppins"/>
                <a:sym typeface="Poppins"/>
              </a:rPr>
              <a:t>(a|b)*abb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1"/>
          <p:cNvSpPr txBox="1"/>
          <p:nvPr/>
        </p:nvSpPr>
        <p:spPr>
          <a:xfrm>
            <a:off x="1291768" y="1619911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"/>
          <p:cNvSpPr/>
          <p:nvPr/>
        </p:nvSpPr>
        <p:spPr>
          <a:xfrm>
            <a:off x="7844421" y="-156579"/>
            <a:ext cx="10443579" cy="10443579"/>
          </a:xfrm>
          <a:custGeom>
            <a:rect b="b" l="l" r="r" t="t"/>
            <a:pathLst>
              <a:path extrusionOk="0" h="10443579" w="10443579">
                <a:moveTo>
                  <a:pt x="0" y="0"/>
                </a:moveTo>
                <a:lnTo>
                  <a:pt x="10443579" y="0"/>
                </a:lnTo>
                <a:lnTo>
                  <a:pt x="10443579" y="10443579"/>
                </a:lnTo>
                <a:lnTo>
                  <a:pt x="0" y="1044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12"/>
          <p:cNvSpPr txBox="1"/>
          <p:nvPr/>
        </p:nvSpPr>
        <p:spPr>
          <a:xfrm>
            <a:off x="1028700" y="1942616"/>
            <a:ext cx="11646135" cy="14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b="1" i="0" lang="en-US" sz="9500" u="none" cap="none" strike="noStrike">
                <a:solidFill>
                  <a:srgbClr val="20E5F6"/>
                </a:solidFill>
                <a:latin typeface="Poppins"/>
                <a:ea typeface="Poppins"/>
                <a:cs typeface="Poppins"/>
                <a:sym typeface="Poppins"/>
              </a:rPr>
              <a:t>Método del Árbol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5203276" y="4331358"/>
            <a:ext cx="3296984" cy="4114800"/>
          </a:xfrm>
          <a:custGeom>
            <a:rect b="b" l="l" r="r" t="t"/>
            <a:pathLst>
              <a:path extrusionOk="0" h="4114800" w="3296984">
                <a:moveTo>
                  <a:pt x="0" y="0"/>
                </a:moveTo>
                <a:lnTo>
                  <a:pt x="3296983" y="0"/>
                </a:lnTo>
                <a:lnTo>
                  <a:pt x="32969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"/>
          <p:cNvSpPr txBox="1"/>
          <p:nvPr/>
        </p:nvSpPr>
        <p:spPr>
          <a:xfrm>
            <a:off x="1738415" y="3438199"/>
            <a:ext cx="9913522" cy="4257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Añadir a la expresión regular(r) un simbolo de fin de cadena (r) </a:t>
            </a:r>
            <a:r>
              <a:rPr b="1" i="0" lang="en-US" sz="30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#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1" i="0" lang="en-US" sz="30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Construir el arbol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1" i="0" lang="en-US" sz="30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Identificar las hojas y numerarlas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1" i="0" lang="en-US" sz="30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Identificar los nodos anulables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1" i="0" lang="en-US" sz="30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Identificar primeros y ultimos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1" i="0" lang="en-US" sz="30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Realizar tabla de siguientes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1" i="0" lang="en-US" sz="30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Realizar la tabla de transiciones y diagrama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1" name="Google Shape;271;p13"/>
          <p:cNvCxnSpPr/>
          <p:nvPr/>
        </p:nvCxnSpPr>
        <p:spPr>
          <a:xfrm>
            <a:off x="1738415" y="2827031"/>
            <a:ext cx="14811170" cy="0"/>
          </a:xfrm>
          <a:prstGeom prst="straightConnector1">
            <a:avLst/>
          </a:prstGeom>
          <a:noFill/>
          <a:ln cap="rnd" cmpd="sng" w="19050">
            <a:solidFill>
              <a:srgbClr val="10B5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13"/>
          <p:cNvSpPr txBox="1"/>
          <p:nvPr/>
        </p:nvSpPr>
        <p:spPr>
          <a:xfrm>
            <a:off x="1714155" y="1748320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Algoritmo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"/>
          <p:cNvSpPr txBox="1"/>
          <p:nvPr/>
        </p:nvSpPr>
        <p:spPr>
          <a:xfrm>
            <a:off x="1291768" y="2520552"/>
            <a:ext cx="1483543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0B5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Concatenación (AND)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4"/>
          <p:cNvSpPr txBox="1"/>
          <p:nvPr/>
        </p:nvSpPr>
        <p:spPr>
          <a:xfrm>
            <a:off x="1291768" y="1619911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1028700" y="4144221"/>
            <a:ext cx="16230600" cy="4191592"/>
          </a:xfrm>
          <a:custGeom>
            <a:rect b="b" l="l" r="r" t="t"/>
            <a:pathLst>
              <a:path extrusionOk="0" h="4191592" w="16230600">
                <a:moveTo>
                  <a:pt x="0" y="0"/>
                </a:moveTo>
                <a:lnTo>
                  <a:pt x="16230600" y="0"/>
                </a:lnTo>
                <a:lnTo>
                  <a:pt x="16230600" y="4191592"/>
                </a:lnTo>
                <a:lnTo>
                  <a:pt x="0" y="4191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5"/>
          <p:cNvSpPr/>
          <p:nvPr/>
        </p:nvSpPr>
        <p:spPr>
          <a:xfrm>
            <a:off x="1028700" y="4144221"/>
            <a:ext cx="16230600" cy="4136287"/>
          </a:xfrm>
          <a:custGeom>
            <a:rect b="b" l="l" r="r" t="t"/>
            <a:pathLst>
              <a:path extrusionOk="0" h="4136287" w="16230600">
                <a:moveTo>
                  <a:pt x="0" y="0"/>
                </a:moveTo>
                <a:lnTo>
                  <a:pt x="16230600" y="0"/>
                </a:lnTo>
                <a:lnTo>
                  <a:pt x="16230600" y="4136287"/>
                </a:lnTo>
                <a:lnTo>
                  <a:pt x="0" y="41362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5" name="Google Shape;285;p15"/>
          <p:cNvSpPr txBox="1"/>
          <p:nvPr/>
        </p:nvSpPr>
        <p:spPr>
          <a:xfrm>
            <a:off x="1291768" y="2520552"/>
            <a:ext cx="1483543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0B5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Alternancia (OR)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5"/>
          <p:cNvSpPr txBox="1"/>
          <p:nvPr/>
        </p:nvSpPr>
        <p:spPr>
          <a:xfrm>
            <a:off x="1291768" y="1619911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6"/>
          <p:cNvSpPr/>
          <p:nvPr/>
        </p:nvSpPr>
        <p:spPr>
          <a:xfrm>
            <a:off x="1028700" y="4144221"/>
            <a:ext cx="16230600" cy="4117813"/>
          </a:xfrm>
          <a:custGeom>
            <a:rect b="b" l="l" r="r" t="t"/>
            <a:pathLst>
              <a:path extrusionOk="0" h="4117813" w="16230600">
                <a:moveTo>
                  <a:pt x="0" y="0"/>
                </a:moveTo>
                <a:lnTo>
                  <a:pt x="16230600" y="0"/>
                </a:lnTo>
                <a:lnTo>
                  <a:pt x="16230600" y="4117813"/>
                </a:lnTo>
                <a:lnTo>
                  <a:pt x="0" y="41178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2" name="Google Shape;292;p16"/>
          <p:cNvSpPr txBox="1"/>
          <p:nvPr/>
        </p:nvSpPr>
        <p:spPr>
          <a:xfrm>
            <a:off x="1291768" y="2520552"/>
            <a:ext cx="1483543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0B5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Cerradura de Kleene (*)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6"/>
          <p:cNvSpPr txBox="1"/>
          <p:nvPr/>
        </p:nvSpPr>
        <p:spPr>
          <a:xfrm>
            <a:off x="1291768" y="1619911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7"/>
          <p:cNvSpPr/>
          <p:nvPr/>
        </p:nvSpPr>
        <p:spPr>
          <a:xfrm>
            <a:off x="1028700" y="4144221"/>
            <a:ext cx="16230600" cy="4137735"/>
          </a:xfrm>
          <a:custGeom>
            <a:rect b="b" l="l" r="r" t="t"/>
            <a:pathLst>
              <a:path extrusionOk="0" h="4137735" w="16230600">
                <a:moveTo>
                  <a:pt x="0" y="0"/>
                </a:moveTo>
                <a:lnTo>
                  <a:pt x="16230600" y="0"/>
                </a:lnTo>
                <a:lnTo>
                  <a:pt x="16230600" y="4137736"/>
                </a:lnTo>
                <a:lnTo>
                  <a:pt x="0" y="4137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9" name="Google Shape;299;p17"/>
          <p:cNvSpPr txBox="1"/>
          <p:nvPr/>
        </p:nvSpPr>
        <p:spPr>
          <a:xfrm>
            <a:off x="1291768" y="2520552"/>
            <a:ext cx="1483543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0B5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Operador 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7"/>
          <p:cNvSpPr txBox="1"/>
          <p:nvPr/>
        </p:nvSpPr>
        <p:spPr>
          <a:xfrm>
            <a:off x="1291768" y="1619911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"/>
          <p:cNvSpPr/>
          <p:nvPr/>
        </p:nvSpPr>
        <p:spPr>
          <a:xfrm>
            <a:off x="1028700" y="4144221"/>
            <a:ext cx="16230600" cy="4131425"/>
          </a:xfrm>
          <a:custGeom>
            <a:rect b="b" l="l" r="r" t="t"/>
            <a:pathLst>
              <a:path extrusionOk="0" h="4131425" w="16230600">
                <a:moveTo>
                  <a:pt x="0" y="0"/>
                </a:moveTo>
                <a:lnTo>
                  <a:pt x="16230600" y="0"/>
                </a:lnTo>
                <a:lnTo>
                  <a:pt x="16230600" y="4131426"/>
                </a:lnTo>
                <a:lnTo>
                  <a:pt x="0" y="41314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6" name="Google Shape;306;p18"/>
          <p:cNvSpPr txBox="1"/>
          <p:nvPr/>
        </p:nvSpPr>
        <p:spPr>
          <a:xfrm>
            <a:off x="1291768" y="2520552"/>
            <a:ext cx="1483543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0B5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Operador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8"/>
          <p:cNvSpPr txBox="1"/>
          <p:nvPr/>
        </p:nvSpPr>
        <p:spPr>
          <a:xfrm>
            <a:off x="1291768" y="1619911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19"/>
          <p:cNvGrpSpPr/>
          <p:nvPr/>
        </p:nvGrpSpPr>
        <p:grpSpPr>
          <a:xfrm>
            <a:off x="1738415" y="1597961"/>
            <a:ext cx="14811170" cy="5358436"/>
            <a:chOff x="0" y="0"/>
            <a:chExt cx="19748227" cy="7144581"/>
          </a:xfrm>
        </p:grpSpPr>
        <p:sp>
          <p:nvSpPr>
            <p:cNvPr id="313" name="Google Shape;313;p19"/>
            <p:cNvSpPr txBox="1"/>
            <p:nvPr/>
          </p:nvSpPr>
          <p:spPr>
            <a:xfrm>
              <a:off x="0" y="2913152"/>
              <a:ext cx="19748227" cy="42314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26548" lvl="1" marL="653095" marR="0" rtl="0" algn="just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24"/>
                <a:buFont typeface="Poppins Light"/>
                <a:buAutoNum type="arabicPeriod"/>
              </a:pPr>
              <a:r>
                <a:rPr b="0" i="0" lang="en-US" sz="3024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Si n es un nodo de concatenación(.) con hijos izq c1 y der c2, y i es una posición dentro de últimapos de c1, entonces todas las posiciones de primerapos de c2 están en el siguientepos de i.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6548" lvl="1" marL="653095" marR="0" rtl="0" algn="just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24"/>
                <a:buFont typeface="Poppins Light"/>
                <a:buAutoNum type="arabicPeriod"/>
              </a:pPr>
              <a:r>
                <a:rPr b="0" i="0" lang="en-US" sz="3024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Si n es un nodo asterisco(*) ó un nodo más (+), e I es una posición dentro de última pos de n, entonces todas las posiciones de primerapos de n están en siguientepos de 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9"/>
            <p:cNvSpPr txBox="1"/>
            <p:nvPr/>
          </p:nvSpPr>
          <p:spPr>
            <a:xfrm>
              <a:off x="0" y="0"/>
              <a:ext cx="19748227" cy="14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b="1" i="0" lang="en-US" sz="70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SiguientePos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5" name="Google Shape;315;p19"/>
            <p:cNvCxnSpPr/>
            <p:nvPr/>
          </p:nvCxnSpPr>
          <p:spPr>
            <a:xfrm>
              <a:off x="0" y="2192427"/>
              <a:ext cx="19748227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16" name="Google Shape;316;p19"/>
          <p:cNvSpPr/>
          <p:nvPr/>
        </p:nvSpPr>
        <p:spPr>
          <a:xfrm>
            <a:off x="14150591" y="6653835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Google Shape;321;p20"/>
          <p:cNvGrpSpPr/>
          <p:nvPr/>
        </p:nvGrpSpPr>
        <p:grpSpPr>
          <a:xfrm>
            <a:off x="1747940" y="2664761"/>
            <a:ext cx="14811170" cy="3224836"/>
            <a:chOff x="0" y="0"/>
            <a:chExt cx="19748227" cy="4299781"/>
          </a:xfrm>
        </p:grpSpPr>
        <p:sp>
          <p:nvSpPr>
            <p:cNvPr id="322" name="Google Shape;322;p20"/>
            <p:cNvSpPr txBox="1"/>
            <p:nvPr/>
          </p:nvSpPr>
          <p:spPr>
            <a:xfrm>
              <a:off x="0" y="2913152"/>
              <a:ext cx="19748227" cy="13866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26548" lvl="1" marL="653095" marR="0" rtl="0" algn="just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24"/>
                <a:buFont typeface="Poppins Light"/>
                <a:buAutoNum type="arabicPeriod"/>
              </a:pPr>
              <a:r>
                <a:rPr b="0" i="0" lang="en-US" sz="3024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Si n es * o +: cada up(n) es siguiente de pp(n)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6548" lvl="1" marL="653095" marR="0" rtl="0" algn="just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24"/>
                <a:buFont typeface="Poppins Light"/>
                <a:buAutoNum type="arabicPeriod"/>
              </a:pPr>
              <a:r>
                <a:rPr b="0" i="0" lang="en-US" sz="3024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 Si n es . con hijos izq y der: cada pp(der) es siguiente de up(izq)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0"/>
            <p:cNvSpPr txBox="1"/>
            <p:nvPr/>
          </p:nvSpPr>
          <p:spPr>
            <a:xfrm>
              <a:off x="0" y="0"/>
              <a:ext cx="19748227" cy="14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0"/>
                <a:buFont typeface="Arial"/>
                <a:buNone/>
              </a:pPr>
              <a:r>
                <a:rPr b="1" i="0" lang="en-US" sz="7000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SiguientePos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4" name="Google Shape;324;p20"/>
            <p:cNvCxnSpPr/>
            <p:nvPr/>
          </p:nvCxnSpPr>
          <p:spPr>
            <a:xfrm>
              <a:off x="0" y="2192427"/>
              <a:ext cx="19748227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25" name="Google Shape;325;p20"/>
          <p:cNvSpPr/>
          <p:nvPr/>
        </p:nvSpPr>
        <p:spPr>
          <a:xfrm>
            <a:off x="14150591" y="6653835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1"/>
          <p:cNvSpPr txBox="1"/>
          <p:nvPr/>
        </p:nvSpPr>
        <p:spPr>
          <a:xfrm>
            <a:off x="6631027" y="5256470"/>
            <a:ext cx="5025946" cy="52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&lt;LINK o INSERTAR VIDEO&gt;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1747940" y="924236"/>
            <a:ext cx="14811170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p21"/>
          <p:cNvCxnSpPr/>
          <p:nvPr/>
        </p:nvCxnSpPr>
        <p:spPr>
          <a:xfrm>
            <a:off x="1747940" y="2568556"/>
            <a:ext cx="14811170" cy="0"/>
          </a:xfrm>
          <a:prstGeom prst="straightConnector1">
            <a:avLst/>
          </a:prstGeom>
          <a:noFill/>
          <a:ln cap="rnd" cmpd="sng" w="19050">
            <a:solidFill>
              <a:srgbClr val="10B5B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2"/>
          <p:cNvSpPr/>
          <p:nvPr/>
        </p:nvSpPr>
        <p:spPr>
          <a:xfrm>
            <a:off x="0" y="2630506"/>
            <a:ext cx="18288000" cy="6627794"/>
          </a:xfrm>
          <a:custGeom>
            <a:rect b="b" l="l" r="r" t="t"/>
            <a:pathLst>
              <a:path extrusionOk="0" h="6627794" w="18288000">
                <a:moveTo>
                  <a:pt x="0" y="0"/>
                </a:moveTo>
                <a:lnTo>
                  <a:pt x="18288000" y="0"/>
                </a:lnTo>
                <a:lnTo>
                  <a:pt x="18288000" y="6627794"/>
                </a:lnTo>
                <a:lnTo>
                  <a:pt x="0" y="6627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8" name="Google Shape;338;p22"/>
          <p:cNvSpPr txBox="1"/>
          <p:nvPr/>
        </p:nvSpPr>
        <p:spPr>
          <a:xfrm>
            <a:off x="1028700" y="1028700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Ejemplo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3"/>
          <p:cNvSpPr/>
          <p:nvPr/>
        </p:nvSpPr>
        <p:spPr>
          <a:xfrm>
            <a:off x="7844421" y="-156579"/>
            <a:ext cx="10443579" cy="10443579"/>
          </a:xfrm>
          <a:custGeom>
            <a:rect b="b" l="l" r="r" t="t"/>
            <a:pathLst>
              <a:path extrusionOk="0" h="10443579" w="10443579">
                <a:moveTo>
                  <a:pt x="0" y="0"/>
                </a:moveTo>
                <a:lnTo>
                  <a:pt x="10443579" y="0"/>
                </a:lnTo>
                <a:lnTo>
                  <a:pt x="10443579" y="10443579"/>
                </a:lnTo>
                <a:lnTo>
                  <a:pt x="0" y="1044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4" name="Google Shape;344;p23"/>
          <p:cNvSpPr/>
          <p:nvPr/>
        </p:nvSpPr>
        <p:spPr>
          <a:xfrm>
            <a:off x="3776270" y="5881397"/>
            <a:ext cx="973179" cy="973179"/>
          </a:xfrm>
          <a:custGeom>
            <a:rect b="b" l="l" r="r" t="t"/>
            <a:pathLst>
              <a:path extrusionOk="0" h="973179" w="973179">
                <a:moveTo>
                  <a:pt x="0" y="0"/>
                </a:moveTo>
                <a:lnTo>
                  <a:pt x="973179" y="0"/>
                </a:lnTo>
                <a:lnTo>
                  <a:pt x="973179" y="973179"/>
                </a:lnTo>
                <a:lnTo>
                  <a:pt x="0" y="9731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5" name="Google Shape;345;p23"/>
          <p:cNvSpPr/>
          <p:nvPr/>
        </p:nvSpPr>
        <p:spPr>
          <a:xfrm>
            <a:off x="5423394" y="4908218"/>
            <a:ext cx="973179" cy="973179"/>
          </a:xfrm>
          <a:custGeom>
            <a:rect b="b" l="l" r="r" t="t"/>
            <a:pathLst>
              <a:path extrusionOk="0" h="973179" w="973179">
                <a:moveTo>
                  <a:pt x="0" y="0"/>
                </a:moveTo>
                <a:lnTo>
                  <a:pt x="973179" y="0"/>
                </a:lnTo>
                <a:lnTo>
                  <a:pt x="973179" y="973179"/>
                </a:lnTo>
                <a:lnTo>
                  <a:pt x="0" y="9731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6" name="Google Shape;346;p23"/>
          <p:cNvSpPr/>
          <p:nvPr/>
        </p:nvSpPr>
        <p:spPr>
          <a:xfrm>
            <a:off x="5423394" y="6854576"/>
            <a:ext cx="973179" cy="973179"/>
          </a:xfrm>
          <a:custGeom>
            <a:rect b="b" l="l" r="r" t="t"/>
            <a:pathLst>
              <a:path extrusionOk="0" h="973179" w="973179">
                <a:moveTo>
                  <a:pt x="0" y="0"/>
                </a:moveTo>
                <a:lnTo>
                  <a:pt x="973179" y="0"/>
                </a:lnTo>
                <a:lnTo>
                  <a:pt x="973179" y="973179"/>
                </a:lnTo>
                <a:lnTo>
                  <a:pt x="0" y="9731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7" name="Google Shape;347;p23"/>
          <p:cNvSpPr/>
          <p:nvPr/>
        </p:nvSpPr>
        <p:spPr>
          <a:xfrm>
            <a:off x="7304631" y="4908218"/>
            <a:ext cx="973179" cy="973179"/>
          </a:xfrm>
          <a:custGeom>
            <a:rect b="b" l="l" r="r" t="t"/>
            <a:pathLst>
              <a:path extrusionOk="0" h="973179" w="973179">
                <a:moveTo>
                  <a:pt x="0" y="0"/>
                </a:moveTo>
                <a:lnTo>
                  <a:pt x="973179" y="0"/>
                </a:lnTo>
                <a:lnTo>
                  <a:pt x="973179" y="973179"/>
                </a:lnTo>
                <a:lnTo>
                  <a:pt x="0" y="9731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8" name="Google Shape;348;p23"/>
          <p:cNvSpPr/>
          <p:nvPr/>
        </p:nvSpPr>
        <p:spPr>
          <a:xfrm>
            <a:off x="7304631" y="6854576"/>
            <a:ext cx="973179" cy="973179"/>
          </a:xfrm>
          <a:custGeom>
            <a:rect b="b" l="l" r="r" t="t"/>
            <a:pathLst>
              <a:path extrusionOk="0" h="973179" w="973179">
                <a:moveTo>
                  <a:pt x="0" y="0"/>
                </a:moveTo>
                <a:lnTo>
                  <a:pt x="973179" y="0"/>
                </a:lnTo>
                <a:lnTo>
                  <a:pt x="973179" y="973179"/>
                </a:lnTo>
                <a:lnTo>
                  <a:pt x="0" y="9731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9" name="Google Shape;349;p23"/>
          <p:cNvSpPr/>
          <p:nvPr/>
        </p:nvSpPr>
        <p:spPr>
          <a:xfrm>
            <a:off x="8954085" y="5881397"/>
            <a:ext cx="973179" cy="973179"/>
          </a:xfrm>
          <a:custGeom>
            <a:rect b="b" l="l" r="r" t="t"/>
            <a:pathLst>
              <a:path extrusionOk="0" h="973179" w="973179">
                <a:moveTo>
                  <a:pt x="0" y="0"/>
                </a:moveTo>
                <a:lnTo>
                  <a:pt x="973179" y="0"/>
                </a:lnTo>
                <a:lnTo>
                  <a:pt x="973179" y="973179"/>
                </a:lnTo>
                <a:lnTo>
                  <a:pt x="0" y="9731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50" name="Google Shape;350;p23"/>
          <p:cNvCxnSpPr/>
          <p:nvPr/>
        </p:nvCxnSpPr>
        <p:spPr>
          <a:xfrm flipH="1" rot="10800000">
            <a:off x="4262860" y="5394808"/>
            <a:ext cx="1160534" cy="486589"/>
          </a:xfrm>
          <a:prstGeom prst="straightConnector1">
            <a:avLst/>
          </a:prstGeom>
          <a:noFill/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1" name="Google Shape;351;p23"/>
          <p:cNvCxnSpPr/>
          <p:nvPr/>
        </p:nvCxnSpPr>
        <p:spPr>
          <a:xfrm>
            <a:off x="4414140" y="6854576"/>
            <a:ext cx="1009254" cy="486589"/>
          </a:xfrm>
          <a:prstGeom prst="straightConnector1">
            <a:avLst/>
          </a:prstGeom>
          <a:noFill/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2" name="Google Shape;352;p23"/>
          <p:cNvCxnSpPr/>
          <p:nvPr/>
        </p:nvCxnSpPr>
        <p:spPr>
          <a:xfrm flipH="1" rot="10800000">
            <a:off x="8277810" y="6854576"/>
            <a:ext cx="992653" cy="486589"/>
          </a:xfrm>
          <a:prstGeom prst="straightConnector1">
            <a:avLst/>
          </a:prstGeom>
          <a:noFill/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3" name="Google Shape;353;p23"/>
          <p:cNvCxnSpPr/>
          <p:nvPr/>
        </p:nvCxnSpPr>
        <p:spPr>
          <a:xfrm>
            <a:off x="8277810" y="5394808"/>
            <a:ext cx="1162864" cy="486589"/>
          </a:xfrm>
          <a:prstGeom prst="straightConnector1">
            <a:avLst/>
          </a:prstGeom>
          <a:noFill/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" name="Google Shape;354;p23"/>
          <p:cNvCxnSpPr/>
          <p:nvPr/>
        </p:nvCxnSpPr>
        <p:spPr>
          <a:xfrm>
            <a:off x="6396573" y="5394808"/>
            <a:ext cx="908059" cy="0"/>
          </a:xfrm>
          <a:prstGeom prst="straightConnector1">
            <a:avLst/>
          </a:prstGeom>
          <a:noFill/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" name="Google Shape;355;p23"/>
          <p:cNvCxnSpPr/>
          <p:nvPr/>
        </p:nvCxnSpPr>
        <p:spPr>
          <a:xfrm>
            <a:off x="6396573" y="7181799"/>
            <a:ext cx="908059" cy="293104"/>
          </a:xfrm>
          <a:prstGeom prst="straightConnector1">
            <a:avLst/>
          </a:prstGeom>
          <a:noFill/>
          <a:ln cap="flat" cmpd="sng" w="5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56" name="Google Shape;356;p23"/>
          <p:cNvGrpSpPr/>
          <p:nvPr/>
        </p:nvGrpSpPr>
        <p:grpSpPr>
          <a:xfrm>
            <a:off x="2961442" y="5960573"/>
            <a:ext cx="814828" cy="814828"/>
            <a:chOff x="0" y="0"/>
            <a:chExt cx="812800" cy="812800"/>
          </a:xfrm>
        </p:grpSpPr>
        <p:sp>
          <p:nvSpPr>
            <p:cNvPr id="357" name="Google Shape;357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58" name="Google Shape;358;p23"/>
            <p:cNvSpPr txBox="1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9" name="Google Shape;359;p23"/>
          <p:cNvSpPr txBox="1"/>
          <p:nvPr/>
        </p:nvSpPr>
        <p:spPr>
          <a:xfrm>
            <a:off x="1028700" y="1218716"/>
            <a:ext cx="11646135" cy="2905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b="1" i="0" lang="en-US" sz="9500" u="none" cap="none" strike="noStrike">
                <a:solidFill>
                  <a:srgbClr val="20E5F6"/>
                </a:solidFill>
                <a:latin typeface="Poppins"/>
                <a:ea typeface="Poppins"/>
                <a:cs typeface="Poppins"/>
                <a:sym typeface="Poppins"/>
              </a:rPr>
              <a:t>Método del Thompson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3"/>
          <p:cNvSpPr/>
          <p:nvPr/>
        </p:nvSpPr>
        <p:spPr>
          <a:xfrm>
            <a:off x="9111500" y="6038812"/>
            <a:ext cx="658349" cy="658349"/>
          </a:xfrm>
          <a:custGeom>
            <a:rect b="b" l="l" r="r" t="t"/>
            <a:pathLst>
              <a:path extrusionOk="0" h="658349" w="658349">
                <a:moveTo>
                  <a:pt x="0" y="0"/>
                </a:moveTo>
                <a:lnTo>
                  <a:pt x="658349" y="0"/>
                </a:lnTo>
                <a:lnTo>
                  <a:pt x="658349" y="658349"/>
                </a:lnTo>
                <a:lnTo>
                  <a:pt x="0" y="65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1" name="Google Shape;361;p23"/>
          <p:cNvSpPr txBox="1"/>
          <p:nvPr/>
        </p:nvSpPr>
        <p:spPr>
          <a:xfrm>
            <a:off x="4749449" y="4514905"/>
            <a:ext cx="28198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3"/>
          <p:cNvSpPr txBox="1"/>
          <p:nvPr/>
        </p:nvSpPr>
        <p:spPr>
          <a:xfrm>
            <a:off x="4749449" y="6697161"/>
            <a:ext cx="28198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3"/>
          <p:cNvSpPr txBox="1"/>
          <p:nvPr/>
        </p:nvSpPr>
        <p:spPr>
          <a:xfrm>
            <a:off x="8668335" y="4608181"/>
            <a:ext cx="28198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3"/>
          <p:cNvSpPr txBox="1"/>
          <p:nvPr/>
        </p:nvSpPr>
        <p:spPr>
          <a:xfrm>
            <a:off x="8668335" y="6697161"/>
            <a:ext cx="28198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3"/>
          <p:cNvSpPr txBox="1"/>
          <p:nvPr/>
        </p:nvSpPr>
        <p:spPr>
          <a:xfrm>
            <a:off x="6677291" y="4514905"/>
            <a:ext cx="34895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3"/>
          <p:cNvSpPr txBox="1"/>
          <p:nvPr/>
        </p:nvSpPr>
        <p:spPr>
          <a:xfrm>
            <a:off x="6677291" y="6647815"/>
            <a:ext cx="348952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4"/>
          <p:cNvSpPr txBox="1"/>
          <p:nvPr/>
        </p:nvSpPr>
        <p:spPr>
          <a:xfrm>
            <a:off x="1714155" y="3742719"/>
            <a:ext cx="9913522" cy="3723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Leyendo la expresión de izquierda a derecha, y considerando su estructura sintáctica, se crean los autómatas para cada subexpresión. En la medida que se avanza se van combinando de forma inductiva autómatas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6548" lvl="1" marL="653095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24"/>
              <a:buFont typeface="Arial"/>
              <a:buChar char="•"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Si la expresión admite la cadena vacía, se coloca q0 (estado inicial) como un estado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Google Shape;372;p24"/>
          <p:cNvCxnSpPr/>
          <p:nvPr/>
        </p:nvCxnSpPr>
        <p:spPr>
          <a:xfrm>
            <a:off x="1738415" y="2827031"/>
            <a:ext cx="14811170" cy="0"/>
          </a:xfrm>
          <a:prstGeom prst="straightConnector1">
            <a:avLst/>
          </a:prstGeom>
          <a:noFill/>
          <a:ln cap="rnd" cmpd="sng" w="19050">
            <a:solidFill>
              <a:srgbClr val="10B5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3" name="Google Shape;373;p24"/>
          <p:cNvSpPr txBox="1"/>
          <p:nvPr/>
        </p:nvSpPr>
        <p:spPr>
          <a:xfrm>
            <a:off x="1714155" y="1748320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Algoritmo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5"/>
          <p:cNvSpPr/>
          <p:nvPr/>
        </p:nvSpPr>
        <p:spPr>
          <a:xfrm>
            <a:off x="4484231" y="3983693"/>
            <a:ext cx="9319538" cy="3990945"/>
          </a:xfrm>
          <a:custGeom>
            <a:rect b="b" l="l" r="r" t="t"/>
            <a:pathLst>
              <a:path extrusionOk="0" h="3990945" w="9319538">
                <a:moveTo>
                  <a:pt x="0" y="0"/>
                </a:moveTo>
                <a:lnTo>
                  <a:pt x="9319538" y="0"/>
                </a:lnTo>
                <a:lnTo>
                  <a:pt x="9319538" y="3990945"/>
                </a:lnTo>
                <a:lnTo>
                  <a:pt x="0" y="39909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755" l="-7458" r="-8317" t="-18088"/>
            </a:stretch>
          </a:blipFill>
          <a:ln>
            <a:noFill/>
          </a:ln>
        </p:spPr>
      </p:sp>
      <p:sp>
        <p:nvSpPr>
          <p:cNvPr id="379" name="Google Shape;379;p25"/>
          <p:cNvSpPr/>
          <p:nvPr/>
        </p:nvSpPr>
        <p:spPr>
          <a:xfrm rot="-5400000">
            <a:off x="11338447" y="3337447"/>
            <a:ext cx="6949553" cy="6949553"/>
          </a:xfrm>
          <a:custGeom>
            <a:rect b="b" l="l" r="r" t="t"/>
            <a:pathLst>
              <a:path extrusionOk="0" h="6949553" w="6949553">
                <a:moveTo>
                  <a:pt x="0" y="0"/>
                </a:moveTo>
                <a:lnTo>
                  <a:pt x="6949553" y="0"/>
                </a:lnTo>
                <a:lnTo>
                  <a:pt x="6949553" y="6949553"/>
                </a:lnTo>
                <a:lnTo>
                  <a:pt x="0" y="69495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0" name="Google Shape;380;p25"/>
          <p:cNvSpPr txBox="1"/>
          <p:nvPr/>
        </p:nvSpPr>
        <p:spPr>
          <a:xfrm>
            <a:off x="1291768" y="2520552"/>
            <a:ext cx="1483543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0B5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Transición “a”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5"/>
          <p:cNvSpPr txBox="1"/>
          <p:nvPr/>
        </p:nvSpPr>
        <p:spPr>
          <a:xfrm>
            <a:off x="1291768" y="1619911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5"/>
          <p:cNvSpPr/>
          <p:nvPr/>
        </p:nvSpPr>
        <p:spPr>
          <a:xfrm rot="-5400000">
            <a:off x="11490847" y="3489847"/>
            <a:ext cx="6949553" cy="6949553"/>
          </a:xfrm>
          <a:custGeom>
            <a:rect b="b" l="l" r="r" t="t"/>
            <a:pathLst>
              <a:path extrusionOk="0" h="6949553" w="6949553">
                <a:moveTo>
                  <a:pt x="0" y="0"/>
                </a:moveTo>
                <a:lnTo>
                  <a:pt x="6949553" y="0"/>
                </a:lnTo>
                <a:lnTo>
                  <a:pt x="6949553" y="6949553"/>
                </a:lnTo>
                <a:lnTo>
                  <a:pt x="0" y="69495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6"/>
          <p:cNvSpPr/>
          <p:nvPr/>
        </p:nvSpPr>
        <p:spPr>
          <a:xfrm>
            <a:off x="4497602" y="3555806"/>
            <a:ext cx="9292795" cy="4044431"/>
          </a:xfrm>
          <a:custGeom>
            <a:rect b="b" l="l" r="r" t="t"/>
            <a:pathLst>
              <a:path extrusionOk="0" h="4044431" w="9292795">
                <a:moveTo>
                  <a:pt x="0" y="0"/>
                </a:moveTo>
                <a:lnTo>
                  <a:pt x="9292796" y="0"/>
                </a:lnTo>
                <a:lnTo>
                  <a:pt x="9292796" y="4044431"/>
                </a:lnTo>
                <a:lnTo>
                  <a:pt x="0" y="40444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509" l="-7479" r="-8627" t="-16527"/>
            </a:stretch>
          </a:blipFill>
          <a:ln>
            <a:noFill/>
          </a:ln>
        </p:spPr>
      </p:sp>
      <p:sp>
        <p:nvSpPr>
          <p:cNvPr id="388" name="Google Shape;388;p26"/>
          <p:cNvSpPr txBox="1"/>
          <p:nvPr/>
        </p:nvSpPr>
        <p:spPr>
          <a:xfrm>
            <a:off x="1291768" y="2520552"/>
            <a:ext cx="1483543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0B5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Transición “ε”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6"/>
          <p:cNvSpPr txBox="1"/>
          <p:nvPr/>
        </p:nvSpPr>
        <p:spPr>
          <a:xfrm>
            <a:off x="1291768" y="1619911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6"/>
          <p:cNvSpPr/>
          <p:nvPr/>
        </p:nvSpPr>
        <p:spPr>
          <a:xfrm rot="-5400000">
            <a:off x="11338447" y="3337447"/>
            <a:ext cx="6949553" cy="6949553"/>
          </a:xfrm>
          <a:custGeom>
            <a:rect b="b" l="l" r="r" t="t"/>
            <a:pathLst>
              <a:path extrusionOk="0" h="6949553" w="6949553">
                <a:moveTo>
                  <a:pt x="0" y="0"/>
                </a:moveTo>
                <a:lnTo>
                  <a:pt x="6949553" y="0"/>
                </a:lnTo>
                <a:lnTo>
                  <a:pt x="6949553" y="6949553"/>
                </a:lnTo>
                <a:lnTo>
                  <a:pt x="0" y="69495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7"/>
          <p:cNvSpPr/>
          <p:nvPr/>
        </p:nvSpPr>
        <p:spPr>
          <a:xfrm>
            <a:off x="3366529" y="4234655"/>
            <a:ext cx="11554942" cy="3151638"/>
          </a:xfrm>
          <a:custGeom>
            <a:rect b="b" l="l" r="r" t="t"/>
            <a:pathLst>
              <a:path extrusionOk="0" h="3151638" w="11554942">
                <a:moveTo>
                  <a:pt x="0" y="0"/>
                </a:moveTo>
                <a:lnTo>
                  <a:pt x="11554942" y="0"/>
                </a:lnTo>
                <a:lnTo>
                  <a:pt x="11554942" y="3151638"/>
                </a:lnTo>
                <a:lnTo>
                  <a:pt x="0" y="3151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166" l="-4458" r="-4703" t="-16348"/>
            </a:stretch>
          </a:blipFill>
          <a:ln>
            <a:noFill/>
          </a:ln>
        </p:spPr>
      </p:sp>
      <p:sp>
        <p:nvSpPr>
          <p:cNvPr id="396" name="Google Shape;396;p27"/>
          <p:cNvSpPr txBox="1"/>
          <p:nvPr/>
        </p:nvSpPr>
        <p:spPr>
          <a:xfrm>
            <a:off x="1291768" y="2520552"/>
            <a:ext cx="1483543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0B5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Transición “ab”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7"/>
          <p:cNvSpPr txBox="1"/>
          <p:nvPr/>
        </p:nvSpPr>
        <p:spPr>
          <a:xfrm>
            <a:off x="1291768" y="1619911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7"/>
          <p:cNvSpPr/>
          <p:nvPr/>
        </p:nvSpPr>
        <p:spPr>
          <a:xfrm rot="-5400000">
            <a:off x="11338447" y="3348059"/>
            <a:ext cx="6949553" cy="6949553"/>
          </a:xfrm>
          <a:custGeom>
            <a:rect b="b" l="l" r="r" t="t"/>
            <a:pathLst>
              <a:path extrusionOk="0" h="6949553" w="6949553">
                <a:moveTo>
                  <a:pt x="0" y="0"/>
                </a:moveTo>
                <a:lnTo>
                  <a:pt x="6949553" y="0"/>
                </a:lnTo>
                <a:lnTo>
                  <a:pt x="6949553" y="6949553"/>
                </a:lnTo>
                <a:lnTo>
                  <a:pt x="0" y="69495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8"/>
          <p:cNvSpPr/>
          <p:nvPr/>
        </p:nvSpPr>
        <p:spPr>
          <a:xfrm rot="-5400000">
            <a:off x="11338447" y="3348059"/>
            <a:ext cx="6949553" cy="6949553"/>
          </a:xfrm>
          <a:custGeom>
            <a:rect b="b" l="l" r="r" t="t"/>
            <a:pathLst>
              <a:path extrusionOk="0" h="6949553" w="6949553">
                <a:moveTo>
                  <a:pt x="0" y="0"/>
                </a:moveTo>
                <a:lnTo>
                  <a:pt x="6949553" y="0"/>
                </a:lnTo>
                <a:lnTo>
                  <a:pt x="6949553" y="6949553"/>
                </a:lnTo>
                <a:lnTo>
                  <a:pt x="0" y="69495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4" name="Google Shape;404;p28"/>
          <p:cNvSpPr/>
          <p:nvPr/>
        </p:nvSpPr>
        <p:spPr>
          <a:xfrm>
            <a:off x="4111400" y="3669690"/>
            <a:ext cx="10065201" cy="4616610"/>
          </a:xfrm>
          <a:custGeom>
            <a:rect b="b" l="l" r="r" t="t"/>
            <a:pathLst>
              <a:path extrusionOk="0" h="4616610" w="10065201">
                <a:moveTo>
                  <a:pt x="0" y="0"/>
                </a:moveTo>
                <a:lnTo>
                  <a:pt x="10065200" y="0"/>
                </a:lnTo>
                <a:lnTo>
                  <a:pt x="10065200" y="4616611"/>
                </a:lnTo>
                <a:lnTo>
                  <a:pt x="0" y="46166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7062" l="-3509" r="-2967" t="-10092"/>
            </a:stretch>
          </a:blipFill>
          <a:ln>
            <a:noFill/>
          </a:ln>
        </p:spPr>
      </p:sp>
      <p:sp>
        <p:nvSpPr>
          <p:cNvPr id="405" name="Google Shape;405;p28"/>
          <p:cNvSpPr txBox="1"/>
          <p:nvPr/>
        </p:nvSpPr>
        <p:spPr>
          <a:xfrm>
            <a:off x="1291768" y="2520552"/>
            <a:ext cx="1483543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0B5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Alternativa a|b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8"/>
          <p:cNvSpPr txBox="1"/>
          <p:nvPr/>
        </p:nvSpPr>
        <p:spPr>
          <a:xfrm>
            <a:off x="1291768" y="1619911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9"/>
          <p:cNvSpPr/>
          <p:nvPr/>
        </p:nvSpPr>
        <p:spPr>
          <a:xfrm rot="-5400000">
            <a:off x="11338447" y="3348059"/>
            <a:ext cx="6949553" cy="6949553"/>
          </a:xfrm>
          <a:custGeom>
            <a:rect b="b" l="l" r="r" t="t"/>
            <a:pathLst>
              <a:path extrusionOk="0" h="6949553" w="6949553">
                <a:moveTo>
                  <a:pt x="0" y="0"/>
                </a:moveTo>
                <a:lnTo>
                  <a:pt x="6949553" y="0"/>
                </a:lnTo>
                <a:lnTo>
                  <a:pt x="6949553" y="6949553"/>
                </a:lnTo>
                <a:lnTo>
                  <a:pt x="0" y="69495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2" name="Google Shape;412;p29"/>
          <p:cNvSpPr/>
          <p:nvPr/>
        </p:nvSpPr>
        <p:spPr>
          <a:xfrm>
            <a:off x="3288067" y="3952314"/>
            <a:ext cx="11525156" cy="3816088"/>
          </a:xfrm>
          <a:custGeom>
            <a:rect b="b" l="l" r="r" t="t"/>
            <a:pathLst>
              <a:path extrusionOk="0" h="3816088" w="11525156">
                <a:moveTo>
                  <a:pt x="0" y="0"/>
                </a:moveTo>
                <a:lnTo>
                  <a:pt x="11525157" y="0"/>
                </a:lnTo>
                <a:lnTo>
                  <a:pt x="11525157" y="3816089"/>
                </a:lnTo>
                <a:lnTo>
                  <a:pt x="0" y="3816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995" l="-3585" r="-5204" t="-15897"/>
            </a:stretch>
          </a:blipFill>
          <a:ln>
            <a:noFill/>
          </a:ln>
        </p:spPr>
      </p:sp>
      <p:sp>
        <p:nvSpPr>
          <p:cNvPr id="413" name="Google Shape;413;p29"/>
          <p:cNvSpPr txBox="1"/>
          <p:nvPr/>
        </p:nvSpPr>
        <p:spPr>
          <a:xfrm>
            <a:off x="1291768" y="2520552"/>
            <a:ext cx="1483543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0B5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Cerradura positiva a+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9"/>
          <p:cNvSpPr txBox="1"/>
          <p:nvPr/>
        </p:nvSpPr>
        <p:spPr>
          <a:xfrm>
            <a:off x="1291768" y="1619911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0"/>
          <p:cNvSpPr/>
          <p:nvPr/>
        </p:nvSpPr>
        <p:spPr>
          <a:xfrm rot="-5400000">
            <a:off x="11338447" y="3348059"/>
            <a:ext cx="6949553" cy="6949553"/>
          </a:xfrm>
          <a:custGeom>
            <a:rect b="b" l="l" r="r" t="t"/>
            <a:pathLst>
              <a:path extrusionOk="0" h="6949553" w="6949553">
                <a:moveTo>
                  <a:pt x="0" y="0"/>
                </a:moveTo>
                <a:lnTo>
                  <a:pt x="6949553" y="0"/>
                </a:lnTo>
                <a:lnTo>
                  <a:pt x="6949553" y="6949553"/>
                </a:lnTo>
                <a:lnTo>
                  <a:pt x="0" y="69495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0" name="Google Shape;420;p30"/>
          <p:cNvSpPr/>
          <p:nvPr/>
        </p:nvSpPr>
        <p:spPr>
          <a:xfrm>
            <a:off x="3413225" y="3348059"/>
            <a:ext cx="11461551" cy="4764282"/>
          </a:xfrm>
          <a:custGeom>
            <a:rect b="b" l="l" r="r" t="t"/>
            <a:pathLst>
              <a:path extrusionOk="0" h="4764282" w="11461551">
                <a:moveTo>
                  <a:pt x="0" y="0"/>
                </a:moveTo>
                <a:lnTo>
                  <a:pt x="11461550" y="0"/>
                </a:lnTo>
                <a:lnTo>
                  <a:pt x="11461550" y="4764282"/>
                </a:lnTo>
                <a:lnTo>
                  <a:pt x="0" y="47642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8671" l="-4159" r="-5234" t="-8562"/>
            </a:stretch>
          </a:blipFill>
          <a:ln>
            <a:noFill/>
          </a:ln>
        </p:spPr>
      </p:sp>
      <p:sp>
        <p:nvSpPr>
          <p:cNvPr id="421" name="Google Shape;421;p30"/>
          <p:cNvSpPr txBox="1"/>
          <p:nvPr/>
        </p:nvSpPr>
        <p:spPr>
          <a:xfrm>
            <a:off x="1291768" y="2520552"/>
            <a:ext cx="1483543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0B5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Cerradura Kleene a*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0"/>
          <p:cNvSpPr txBox="1"/>
          <p:nvPr/>
        </p:nvSpPr>
        <p:spPr>
          <a:xfrm>
            <a:off x="1291768" y="1619911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1"/>
          <p:cNvSpPr/>
          <p:nvPr/>
        </p:nvSpPr>
        <p:spPr>
          <a:xfrm rot="-5400000">
            <a:off x="11338447" y="3348059"/>
            <a:ext cx="6949553" cy="6949553"/>
          </a:xfrm>
          <a:custGeom>
            <a:rect b="b" l="l" r="r" t="t"/>
            <a:pathLst>
              <a:path extrusionOk="0" h="6949553" w="6949553">
                <a:moveTo>
                  <a:pt x="0" y="0"/>
                </a:moveTo>
                <a:lnTo>
                  <a:pt x="6949553" y="0"/>
                </a:lnTo>
                <a:lnTo>
                  <a:pt x="6949553" y="6949553"/>
                </a:lnTo>
                <a:lnTo>
                  <a:pt x="0" y="69495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8" name="Google Shape;428;p31"/>
          <p:cNvSpPr/>
          <p:nvPr/>
        </p:nvSpPr>
        <p:spPr>
          <a:xfrm>
            <a:off x="2652860" y="3348059"/>
            <a:ext cx="12538741" cy="5546733"/>
          </a:xfrm>
          <a:custGeom>
            <a:rect b="b" l="l" r="r" t="t"/>
            <a:pathLst>
              <a:path extrusionOk="0" h="5546733" w="12538741">
                <a:moveTo>
                  <a:pt x="0" y="0"/>
                </a:moveTo>
                <a:lnTo>
                  <a:pt x="12538741" y="0"/>
                </a:lnTo>
                <a:lnTo>
                  <a:pt x="12538741" y="5546733"/>
                </a:lnTo>
                <a:lnTo>
                  <a:pt x="0" y="55467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9" name="Google Shape;429;p31"/>
          <p:cNvSpPr txBox="1"/>
          <p:nvPr/>
        </p:nvSpPr>
        <p:spPr>
          <a:xfrm>
            <a:off x="1291768" y="2520552"/>
            <a:ext cx="1483543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10B5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Cerradura  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1"/>
          <p:cNvSpPr txBox="1"/>
          <p:nvPr/>
        </p:nvSpPr>
        <p:spPr>
          <a:xfrm>
            <a:off x="1291768" y="1619911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DIAGRAMA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2"/>
          <p:cNvSpPr/>
          <p:nvPr/>
        </p:nvSpPr>
        <p:spPr>
          <a:xfrm>
            <a:off x="0" y="2567383"/>
            <a:ext cx="18288000" cy="5152234"/>
          </a:xfrm>
          <a:custGeom>
            <a:rect b="b" l="l" r="r" t="t"/>
            <a:pathLst>
              <a:path extrusionOk="0" h="5152234" w="18288000">
                <a:moveTo>
                  <a:pt x="0" y="0"/>
                </a:moveTo>
                <a:lnTo>
                  <a:pt x="18288000" y="0"/>
                </a:lnTo>
                <a:lnTo>
                  <a:pt x="18288000" y="5152234"/>
                </a:lnTo>
                <a:lnTo>
                  <a:pt x="0" y="51522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6" name="Google Shape;436;p32"/>
          <p:cNvSpPr txBox="1"/>
          <p:nvPr/>
        </p:nvSpPr>
        <p:spPr>
          <a:xfrm>
            <a:off x="1028700" y="654299"/>
            <a:ext cx="1483543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75"/>
              <a:buFont typeface="Arial"/>
              <a:buNone/>
            </a:pPr>
            <a:r>
              <a:rPr b="1" i="0" lang="en-US" sz="5975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EJEMPLO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5c6a4fa4e4_0_26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VALOR</a:t>
            </a: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ES Y</a:t>
            </a: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 ACTITUD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42" name="Google Shape;442;g35c6a4fa4e4_0_268"/>
          <p:cNvSpPr txBox="1"/>
          <p:nvPr/>
        </p:nvSpPr>
        <p:spPr>
          <a:xfrm>
            <a:off x="1116325" y="2896175"/>
            <a:ext cx="16685700" cy="3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8" lvl="0" marL="45720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b="1" lang="en-US" sz="3151">
                <a:solidFill>
                  <a:srgbClr val="131416"/>
                </a:solidFill>
              </a:rPr>
              <a:t>Curiosidad: </a:t>
            </a:r>
            <a:r>
              <a:rPr lang="en-US" sz="3151">
                <a:solidFill>
                  <a:srgbClr val="131416"/>
                </a:solidFill>
              </a:rPr>
              <a:t>Explorar conceptos como el análisis léxico y sus métodos requiere interés por descubrir cómo funcionan los lenguajes desde su base.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b="1" lang="en-US" sz="3151">
                <a:solidFill>
                  <a:srgbClr val="131416"/>
                </a:solidFill>
              </a:rPr>
              <a:t>Autonomía:</a:t>
            </a:r>
            <a:r>
              <a:rPr lang="en-US" sz="3151">
                <a:solidFill>
                  <a:srgbClr val="131416"/>
                </a:solidFill>
              </a:rPr>
              <a:t> Desarrollar la capacidad de aprender por cuenta propia mediante lecturas, ejemplos y ejercicios propuestos.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b="1" lang="en-US" sz="3151">
                <a:solidFill>
                  <a:srgbClr val="131416"/>
                </a:solidFill>
              </a:rPr>
              <a:t>Compromiso: </a:t>
            </a:r>
            <a:r>
              <a:rPr lang="en-US" sz="3151">
                <a:solidFill>
                  <a:srgbClr val="131416"/>
                </a:solidFill>
              </a:rPr>
              <a:t>Asumir con seriedad cada etapa del laboratorio, desde la teoría hasta la aplicación práctica y el cierre con conclusiones.</a:t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3"/>
          <p:cNvSpPr/>
          <p:nvPr/>
        </p:nvSpPr>
        <p:spPr>
          <a:xfrm>
            <a:off x="7026942" y="4803457"/>
            <a:ext cx="3852482" cy="4114800"/>
          </a:xfrm>
          <a:custGeom>
            <a:rect b="b" l="l" r="r" t="t"/>
            <a:pathLst>
              <a:path extrusionOk="0" h="4114800" w="3852482">
                <a:moveTo>
                  <a:pt x="0" y="0"/>
                </a:moveTo>
                <a:lnTo>
                  <a:pt x="3852481" y="0"/>
                </a:lnTo>
                <a:lnTo>
                  <a:pt x="38524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8" name="Google Shape;448;p33"/>
          <p:cNvSpPr/>
          <p:nvPr/>
        </p:nvSpPr>
        <p:spPr>
          <a:xfrm>
            <a:off x="14002057" y="6172200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7" y="0"/>
                </a:lnTo>
                <a:lnTo>
                  <a:pt x="62174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9" name="Google Shape;449;p33"/>
          <p:cNvSpPr txBox="1"/>
          <p:nvPr/>
        </p:nvSpPr>
        <p:spPr>
          <a:xfrm>
            <a:off x="3904308" y="2957502"/>
            <a:ext cx="10097749" cy="1255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37"/>
              <a:buFont typeface="Arial"/>
              <a:buNone/>
            </a:pPr>
            <a:r>
              <a:rPr b="1" i="0" lang="en-US" sz="8237" u="none" cap="none" strike="noStrike">
                <a:solidFill>
                  <a:srgbClr val="20E5F6"/>
                </a:solidFill>
                <a:latin typeface="Poppins"/>
                <a:ea typeface="Poppins"/>
                <a:cs typeface="Poppins"/>
                <a:sym typeface="Poppins"/>
              </a:rPr>
              <a:t>¿DUDAS?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3"/>
          <p:cNvSpPr/>
          <p:nvPr/>
        </p:nvSpPr>
        <p:spPr>
          <a:xfrm rot="10800000">
            <a:off x="-2080009" y="0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4"/>
          <p:cNvSpPr/>
          <p:nvPr/>
        </p:nvSpPr>
        <p:spPr>
          <a:xfrm>
            <a:off x="2818011" y="899336"/>
            <a:ext cx="12651979" cy="8488328"/>
          </a:xfrm>
          <a:custGeom>
            <a:rect b="b" l="l" r="r" t="t"/>
            <a:pathLst>
              <a:path extrusionOk="0" h="8488328" w="12651979">
                <a:moveTo>
                  <a:pt x="0" y="0"/>
                </a:moveTo>
                <a:lnTo>
                  <a:pt x="12651978" y="0"/>
                </a:lnTo>
                <a:lnTo>
                  <a:pt x="12651978" y="8488328"/>
                </a:lnTo>
                <a:lnTo>
                  <a:pt x="0" y="84883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6" name="Google Shape;456;p34"/>
          <p:cNvSpPr txBox="1"/>
          <p:nvPr/>
        </p:nvSpPr>
        <p:spPr>
          <a:xfrm>
            <a:off x="4095126" y="3888189"/>
            <a:ext cx="10097749" cy="2510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37"/>
              <a:buFont typeface="Arial"/>
              <a:buNone/>
            </a:pPr>
            <a:r>
              <a:rPr b="1" i="0" lang="en-US" sz="8237" u="none" cap="none" strike="noStrike">
                <a:solidFill>
                  <a:srgbClr val="20E5F6"/>
                </a:solidFill>
                <a:latin typeface="Poppins"/>
                <a:ea typeface="Poppins"/>
                <a:cs typeface="Poppins"/>
                <a:sym typeface="Poppins"/>
              </a:rPr>
              <a:t>GRACIAS POR SU ATENCIÓN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60953bdde6_0_0"/>
          <p:cNvSpPr/>
          <p:nvPr/>
        </p:nvSpPr>
        <p:spPr>
          <a:xfrm>
            <a:off x="7844421" y="-156579"/>
            <a:ext cx="10443579" cy="10443579"/>
          </a:xfrm>
          <a:custGeom>
            <a:rect b="b" l="l" r="r" t="t"/>
            <a:pathLst>
              <a:path extrusionOk="0" h="10443579" w="10443579">
                <a:moveTo>
                  <a:pt x="0" y="0"/>
                </a:moveTo>
                <a:lnTo>
                  <a:pt x="10443579" y="0"/>
                </a:lnTo>
                <a:lnTo>
                  <a:pt x="10443579" y="10443579"/>
                </a:lnTo>
                <a:lnTo>
                  <a:pt x="0" y="1044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2" name="Google Shape;462;g360953bdde6_0_0"/>
          <p:cNvSpPr txBox="1"/>
          <p:nvPr/>
        </p:nvSpPr>
        <p:spPr>
          <a:xfrm>
            <a:off x="1028700" y="1218716"/>
            <a:ext cx="116460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b="1" lang="en-US" sz="9500">
                <a:solidFill>
                  <a:srgbClr val="20E5F6"/>
                </a:solidFill>
                <a:latin typeface="Poppins"/>
                <a:ea typeface="Poppins"/>
                <a:cs typeface="Poppins"/>
                <a:sym typeface="Poppins"/>
              </a:rPr>
              <a:t>REFERENCIAS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g360953bdde6_0_0"/>
          <p:cNvSpPr txBox="1"/>
          <p:nvPr/>
        </p:nvSpPr>
        <p:spPr>
          <a:xfrm>
            <a:off x="1419825" y="4071950"/>
            <a:ext cx="15430500" cy="11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1637" lvl="0" marL="45720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25"/>
              <a:buFont typeface="Poppins Light"/>
              <a:buChar char="●"/>
            </a:pPr>
            <a:r>
              <a:rPr lang="en-US" sz="2725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Aho, Alfred V. Compiladores. Principios, Técnicas Y Herramientas. Segunda edición Pears on education, México, (2008) ISBN: 978-970-26-1133-2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