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10287000" cx="18288000"/>
  <p:notesSz cx="6858000" cy="9144000"/>
  <p:embeddedFontLst>
    <p:embeddedFont>
      <p:font typeface="Poppins"/>
      <p:regular r:id="rId34"/>
      <p:bold r:id="rId35"/>
      <p:italic r:id="rId36"/>
      <p:boldItalic r:id="rId37"/>
    </p:embeddedFont>
    <p:embeddedFont>
      <p:font typeface="Poppins Light"/>
      <p:regular r:id="rId38"/>
      <p:bold r:id="rId39"/>
      <p:italic r:id="rId40"/>
      <p:boldItalic r:id="rId41"/>
    </p:embeddedFont>
    <p:embeddedFont>
      <p:font typeface="Poppins Medium"/>
      <p:regular r:id="rId42"/>
      <p:bold r:id="rId43"/>
      <p:italic r:id="rId44"/>
      <p:boldItalic r:id="rId45"/>
    </p:embeddedFont>
    <p:embeddedFont>
      <p:font typeface="Open Sans"/>
      <p:bold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8" roundtripDataSignature="AMtx7mhMppLFUJK12jQzKVwkIlt43qFv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B40911A-A006-4725-9715-C16A62D4A349}">
  <a:tblStyle styleId="{EB40911A-A006-4725-9715-C16A62D4A349}"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Light-italic.fntdata"/><Relationship Id="rId20" Type="http://schemas.openxmlformats.org/officeDocument/2006/relationships/slide" Target="slides/slide14.xml"/><Relationship Id="rId42" Type="http://schemas.openxmlformats.org/officeDocument/2006/relationships/font" Target="fonts/PoppinsMedium-regular.fntdata"/><Relationship Id="rId41" Type="http://schemas.openxmlformats.org/officeDocument/2006/relationships/font" Target="fonts/PoppinsLight-boldItalic.fntdata"/><Relationship Id="rId22" Type="http://schemas.openxmlformats.org/officeDocument/2006/relationships/slide" Target="slides/slide16.xml"/><Relationship Id="rId44" Type="http://schemas.openxmlformats.org/officeDocument/2006/relationships/font" Target="fonts/PoppinsMedium-italic.fntdata"/><Relationship Id="rId21" Type="http://schemas.openxmlformats.org/officeDocument/2006/relationships/slide" Target="slides/slide15.xml"/><Relationship Id="rId43" Type="http://schemas.openxmlformats.org/officeDocument/2006/relationships/font" Target="fonts/PoppinsMedium-bold.fntdata"/><Relationship Id="rId24" Type="http://schemas.openxmlformats.org/officeDocument/2006/relationships/slide" Target="slides/slide18.xml"/><Relationship Id="rId46" Type="http://schemas.openxmlformats.org/officeDocument/2006/relationships/font" Target="fonts/OpenSans-bold.fntdata"/><Relationship Id="rId23" Type="http://schemas.openxmlformats.org/officeDocument/2006/relationships/slide" Target="slides/slide17.xml"/><Relationship Id="rId45" Type="http://schemas.openxmlformats.org/officeDocument/2006/relationships/font" Target="fonts/PoppinsMedium-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48" Type="http://customschemas.google.com/relationships/presentationmetadata" Target="metadata"/><Relationship Id="rId25" Type="http://schemas.openxmlformats.org/officeDocument/2006/relationships/slide" Target="slides/slide19.xml"/><Relationship Id="rId47" Type="http://schemas.openxmlformats.org/officeDocument/2006/relationships/font" Target="fonts/OpenSans-boldItalic.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Poppins-bold.fntdata"/><Relationship Id="rId12" Type="http://schemas.openxmlformats.org/officeDocument/2006/relationships/slide" Target="slides/slide6.xml"/><Relationship Id="rId34" Type="http://schemas.openxmlformats.org/officeDocument/2006/relationships/font" Target="fonts/Poppins-regular.fntdata"/><Relationship Id="rId15" Type="http://schemas.openxmlformats.org/officeDocument/2006/relationships/slide" Target="slides/slide9.xml"/><Relationship Id="rId37" Type="http://schemas.openxmlformats.org/officeDocument/2006/relationships/font" Target="fonts/Poppins-boldItalic.fntdata"/><Relationship Id="rId14" Type="http://schemas.openxmlformats.org/officeDocument/2006/relationships/slide" Target="slides/slide8.xml"/><Relationship Id="rId36" Type="http://schemas.openxmlformats.org/officeDocument/2006/relationships/font" Target="fonts/Poppins-italic.fntdata"/><Relationship Id="rId17" Type="http://schemas.openxmlformats.org/officeDocument/2006/relationships/slide" Target="slides/slide11.xml"/><Relationship Id="rId39" Type="http://schemas.openxmlformats.org/officeDocument/2006/relationships/font" Target="fonts/PoppinsLight-bold.fntdata"/><Relationship Id="rId16" Type="http://schemas.openxmlformats.org/officeDocument/2006/relationships/slide" Target="slides/slide10.xml"/><Relationship Id="rId38" Type="http://schemas.openxmlformats.org/officeDocument/2006/relationships/font" Target="fonts/PoppinsLight-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5f49d31fe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g35f49d31fe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 name="Google Shape;10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5f49d31fe3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g35f49d31fe3_0_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6" name="Google Shape;11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 name="Google Shape;12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0" name="Google Shape;13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6" name="Google Shape;14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 name="Google Shape;17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1" name="Google Shape;18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9" name="Google Shape;18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7" name="Google Shape;19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7" name="Google Shape;20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6" name="Google Shape;21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4" name="Google Shape;22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5" name="Google Shape;23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5" name="Google Shape;24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4" name="Google Shape;25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2" name="Google Shape;26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1" name="Google Shape;271;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4" name="Google Shape;284;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5f49d31fe3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7" name="Google Shape;297;g35f49d31fe3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5f49d31fe3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g35f49d31fe3_0_1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5f49d31fe3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g35f49d31fe3_0_1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3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3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3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3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3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4"/>
          <p:cNvSpPr/>
          <p:nvPr>
            <p:ph idx="2" type="pic"/>
          </p:nvPr>
        </p:nvSpPr>
        <p:spPr>
          <a:xfrm>
            <a:off x="1792288" y="612775"/>
            <a:ext cx="5486400" cy="4114800"/>
          </a:xfrm>
          <a:prstGeom prst="rect">
            <a:avLst/>
          </a:prstGeom>
          <a:noFill/>
          <a:ln>
            <a:noFill/>
          </a:ln>
        </p:spPr>
      </p:sp>
      <p:sp>
        <p:nvSpPr>
          <p:cNvPr id="64" name="Google Shape;64;p3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image" Target="../media/image17.png"/><Relationship Id="rId5"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2.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2.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6902" y="0"/>
            <a:ext cx="18254198" cy="10287002"/>
          </a:xfrm>
          <a:custGeom>
            <a:rect b="b" l="l" r="r" t="t"/>
            <a:pathLst>
              <a:path extrusionOk="0" h="10287002" w="18254198">
                <a:moveTo>
                  <a:pt x="0" y="0"/>
                </a:moveTo>
                <a:lnTo>
                  <a:pt x="18254198" y="0"/>
                </a:lnTo>
                <a:lnTo>
                  <a:pt x="18254198" y="10287002"/>
                </a:lnTo>
                <a:lnTo>
                  <a:pt x="0" y="10287002"/>
                </a:lnTo>
                <a:lnTo>
                  <a:pt x="0" y="0"/>
                </a:lnTo>
                <a:close/>
              </a:path>
            </a:pathLst>
          </a:custGeom>
          <a:blipFill rotWithShape="1">
            <a:blip r:embed="rId3">
              <a:alphaModFix/>
            </a:blip>
            <a:stretch>
              <a:fillRect b="0" l="0" r="0" t="0"/>
            </a:stretch>
          </a:blipFill>
          <a:ln>
            <a:noFill/>
          </a:ln>
        </p:spPr>
      </p:sp>
      <p:graphicFrame>
        <p:nvGraphicFramePr>
          <p:cNvPr id="85" name="Google Shape;85;p1"/>
          <p:cNvGraphicFramePr/>
          <p:nvPr/>
        </p:nvGraphicFramePr>
        <p:xfrm>
          <a:off x="10656400" y="1940050"/>
          <a:ext cx="3000000" cy="3000000"/>
        </p:xfrm>
        <a:graphic>
          <a:graphicData uri="http://schemas.openxmlformats.org/drawingml/2006/table">
            <a:tbl>
              <a:tblPr>
                <a:noFill/>
                <a:tableStyleId>{EB40911A-A006-4725-9715-C16A62D4A349}</a:tableStyleId>
              </a:tblPr>
              <a:tblGrid>
                <a:gridCol w="3030175"/>
                <a:gridCol w="4335825"/>
              </a:tblGrid>
              <a:tr h="716750">
                <a:tc>
                  <a:txBody>
                    <a:bodyPr/>
                    <a:lstStyle/>
                    <a:p>
                      <a:pPr indent="0" lvl="0" marL="0" marR="0" rtl="0" algn="l">
                        <a:lnSpc>
                          <a:spcPct val="120000"/>
                        </a:lnSpc>
                        <a:spcBef>
                          <a:spcPts val="0"/>
                        </a:spcBef>
                        <a:spcAft>
                          <a:spcPts val="0"/>
                        </a:spcAft>
                        <a:buClr>
                          <a:srgbClr val="000000"/>
                        </a:buClr>
                        <a:buSzPts val="2840"/>
                        <a:buFont typeface="Arial"/>
                        <a:buNone/>
                      </a:pPr>
                      <a:r>
                        <a:rPr b="1" lang="en-US" sz="2840" u="none" cap="none" strike="noStrike">
                          <a:solidFill>
                            <a:srgbClr val="000000"/>
                          </a:solidFill>
                          <a:latin typeface="Arial"/>
                          <a:ea typeface="Arial"/>
                          <a:cs typeface="Arial"/>
                          <a:sym typeface="Arial"/>
                        </a:rPr>
                        <a:t>Día, Fecha:</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20007"/>
                        </a:lnSpc>
                        <a:spcBef>
                          <a:spcPts val="0"/>
                        </a:spcBef>
                        <a:spcAft>
                          <a:spcPts val="0"/>
                        </a:spcAft>
                        <a:buClr>
                          <a:srgbClr val="000000"/>
                        </a:buClr>
                        <a:buSzPts val="2799"/>
                        <a:buFont typeface="Arial"/>
                        <a:buNone/>
                      </a:pPr>
                      <a:r>
                        <a:rPr lang="en-US" sz="2799" u="none" cap="none" strike="noStrike">
                          <a:solidFill>
                            <a:srgbClr val="000000"/>
                          </a:solidFill>
                          <a:latin typeface="Arial"/>
                          <a:ea typeface="Arial"/>
                          <a:cs typeface="Arial"/>
                          <a:sym typeface="Arial"/>
                        </a:rPr>
                        <a:t>Lunes 15/07/202</a:t>
                      </a:r>
                      <a:r>
                        <a:rPr lang="en-US" sz="2799"/>
                        <a:t>6</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16750">
                <a:tc>
                  <a:txBody>
                    <a:bodyPr/>
                    <a:lstStyle/>
                    <a:p>
                      <a:pPr indent="0" lvl="0" marL="0" marR="0" rtl="0" algn="l">
                        <a:lnSpc>
                          <a:spcPct val="120000"/>
                        </a:lnSpc>
                        <a:spcBef>
                          <a:spcPts val="0"/>
                        </a:spcBef>
                        <a:spcAft>
                          <a:spcPts val="0"/>
                        </a:spcAft>
                        <a:buClr>
                          <a:srgbClr val="000000"/>
                        </a:buClr>
                        <a:buSzPts val="2840"/>
                        <a:buFont typeface="Arial"/>
                        <a:buNone/>
                      </a:pPr>
                      <a:r>
                        <a:rPr b="1" lang="en-US" sz="2840" u="none" cap="none" strike="noStrike">
                          <a:solidFill>
                            <a:srgbClr val="000000"/>
                          </a:solidFill>
                          <a:latin typeface="Arial"/>
                          <a:ea typeface="Arial"/>
                          <a:cs typeface="Arial"/>
                          <a:sym typeface="Arial"/>
                        </a:rPr>
                        <a:t>Hora de inicio:</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20007"/>
                        </a:lnSpc>
                        <a:spcBef>
                          <a:spcPts val="0"/>
                        </a:spcBef>
                        <a:spcAft>
                          <a:spcPts val="0"/>
                        </a:spcAft>
                        <a:buClr>
                          <a:srgbClr val="000000"/>
                        </a:buClr>
                        <a:buSzPts val="2799"/>
                        <a:buFont typeface="Arial"/>
                        <a:buNone/>
                      </a:pPr>
                      <a:r>
                        <a:rPr lang="en-US" sz="2799" u="none" cap="none" strike="noStrike">
                          <a:solidFill>
                            <a:srgbClr val="000000"/>
                          </a:solidFill>
                          <a:latin typeface="Arial"/>
                          <a:ea typeface="Arial"/>
                          <a:cs typeface="Arial"/>
                          <a:sym typeface="Arial"/>
                        </a:rPr>
                        <a:t>1</a:t>
                      </a:r>
                      <a:r>
                        <a:rPr lang="en-US" sz="2799"/>
                        <a:t>7</a:t>
                      </a:r>
                      <a:r>
                        <a:rPr lang="en-US" sz="2799" u="none" cap="none" strike="noStrike">
                          <a:solidFill>
                            <a:srgbClr val="000000"/>
                          </a:solidFill>
                          <a:latin typeface="Arial"/>
                          <a:ea typeface="Arial"/>
                          <a:cs typeface="Arial"/>
                          <a:sym typeface="Arial"/>
                        </a:rPr>
                        <a:t>:</a:t>
                      </a:r>
                      <a:r>
                        <a:rPr lang="en-US" sz="2799"/>
                        <a:t>2</a:t>
                      </a:r>
                      <a:r>
                        <a:rPr lang="en-US" sz="2799" u="none" cap="none" strike="noStrike">
                          <a:solidFill>
                            <a:srgbClr val="000000"/>
                          </a:solidFill>
                          <a:latin typeface="Arial"/>
                          <a:ea typeface="Arial"/>
                          <a:cs typeface="Arial"/>
                          <a:sym typeface="Arial"/>
                        </a:rPr>
                        <a:t>0 am</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86" name="Google Shape;86;p1"/>
          <p:cNvSpPr txBox="1"/>
          <p:nvPr/>
        </p:nvSpPr>
        <p:spPr>
          <a:xfrm>
            <a:off x="2971773" y="4512775"/>
            <a:ext cx="14140280" cy="1600200"/>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Clr>
                <a:srgbClr val="000000"/>
              </a:buClr>
              <a:buSzPts val="4999"/>
              <a:buFont typeface="Arial"/>
              <a:buNone/>
            </a:pPr>
            <a:r>
              <a:rPr b="0" i="0" lang="en-US" sz="4999" u="none" cap="none" strike="noStrike">
                <a:solidFill>
                  <a:srgbClr val="000000"/>
                </a:solidFill>
                <a:latin typeface="Arial"/>
                <a:ea typeface="Arial"/>
                <a:cs typeface="Arial"/>
                <a:sym typeface="Arial"/>
              </a:rPr>
              <a:t>Organización de Lenguajes y Compiladores 1 [&lt;SECCION&gt;]</a:t>
            </a:r>
            <a:endParaRPr b="0" i="0" sz="1400" u="none" cap="none" strike="noStrike">
              <a:solidFill>
                <a:srgbClr val="000000"/>
              </a:solidFill>
              <a:latin typeface="Arial"/>
              <a:ea typeface="Arial"/>
              <a:cs typeface="Arial"/>
              <a:sym typeface="Arial"/>
            </a:endParaRPr>
          </a:p>
        </p:txBody>
      </p:sp>
      <p:sp>
        <p:nvSpPr>
          <p:cNvPr id="87" name="Google Shape;87;p1"/>
          <p:cNvSpPr txBox="1"/>
          <p:nvPr/>
        </p:nvSpPr>
        <p:spPr>
          <a:xfrm>
            <a:off x="3648825" y="6027250"/>
            <a:ext cx="10990350" cy="685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4000"/>
              <a:buFont typeface="Arial"/>
              <a:buNone/>
            </a:pPr>
            <a:r>
              <a:rPr b="0" i="0" lang="en-US" sz="4000" u="none" cap="none" strike="noStrike">
                <a:solidFill>
                  <a:srgbClr val="000000"/>
                </a:solidFill>
                <a:latin typeface="Arial"/>
                <a:ea typeface="Arial"/>
                <a:cs typeface="Arial"/>
                <a:sym typeface="Arial"/>
              </a:rPr>
              <a:t>&lt;NOMBRE&gt;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g35f49d31fe3_0_0"/>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93" name="Google Shape;93;g35f49d31fe3_0_0"/>
          <p:cNvSpPr txBox="1"/>
          <p:nvPr/>
        </p:nvSpPr>
        <p:spPr>
          <a:xfrm>
            <a:off x="1063296" y="6994250"/>
            <a:ext cx="14066400" cy="769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5000">
                <a:solidFill>
                  <a:srgbClr val="131416"/>
                </a:solidFill>
                <a:latin typeface="Open Sans"/>
                <a:ea typeface="Open Sans"/>
                <a:cs typeface="Open Sans"/>
                <a:sym typeface="Open Sans"/>
              </a:rPr>
              <a:t>Organización de lenguajes y compiladores 1</a:t>
            </a:r>
            <a:endParaRPr b="1" i="0" sz="5000" u="none" cap="none" strike="noStrike">
              <a:solidFill>
                <a:srgbClr val="131416"/>
              </a:solidFill>
              <a:latin typeface="Open Sans"/>
              <a:ea typeface="Open Sans"/>
              <a:cs typeface="Open Sans"/>
              <a:sym typeface="Open Sans"/>
            </a:endParaRPr>
          </a:p>
        </p:txBody>
      </p:sp>
      <p:sp>
        <p:nvSpPr>
          <p:cNvPr id="94" name="Google Shape;94;g35f49d31fe3_0_0"/>
          <p:cNvSpPr txBox="1"/>
          <p:nvPr/>
        </p:nvSpPr>
        <p:spPr>
          <a:xfrm>
            <a:off x="2687405" y="3915649"/>
            <a:ext cx="12375000" cy="1416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9200">
                <a:solidFill>
                  <a:srgbClr val="131416"/>
                </a:solidFill>
                <a:latin typeface="Open Sans"/>
                <a:ea typeface="Open Sans"/>
                <a:cs typeface="Open Sans"/>
                <a:sym typeface="Open Sans"/>
              </a:rPr>
              <a:t>Gramaticas</a:t>
            </a:r>
            <a:endParaRPr/>
          </a:p>
        </p:txBody>
      </p:sp>
      <p:sp>
        <p:nvSpPr>
          <p:cNvPr id="95" name="Google Shape;95;g35f49d31fe3_0_0"/>
          <p:cNvSpPr txBox="1"/>
          <p:nvPr/>
        </p:nvSpPr>
        <p:spPr>
          <a:xfrm>
            <a:off x="1063303" y="8745251"/>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Escuela de </a:t>
            </a:r>
            <a:r>
              <a:rPr b="1" lang="en-US" sz="2499">
                <a:solidFill>
                  <a:srgbClr val="131416"/>
                </a:solidFill>
                <a:latin typeface="Open Sans"/>
                <a:ea typeface="Open Sans"/>
                <a:cs typeface="Open Sans"/>
                <a:sym typeface="Open Sans"/>
              </a:rPr>
              <a:t>Ingeniería</a:t>
            </a:r>
            <a:r>
              <a:rPr b="1" i="0" lang="en-US" sz="2499" u="none" cap="none" strike="noStrike">
                <a:solidFill>
                  <a:srgbClr val="131416"/>
                </a:solidFill>
                <a:latin typeface="Open Sans"/>
                <a:ea typeface="Open Sans"/>
                <a:cs typeface="Open Sans"/>
                <a:sym typeface="Open Sans"/>
              </a:rPr>
              <a:t> de Ciencias Y Sistemas</a:t>
            </a:r>
            <a:endParaRPr b="1" i="0" sz="2499" u="none" cap="none" strike="noStrike">
              <a:solidFill>
                <a:srgbClr val="131416"/>
              </a:solidFill>
              <a:latin typeface="Open Sans"/>
              <a:ea typeface="Open Sans"/>
              <a:cs typeface="Open Sans"/>
              <a:sym typeface="Open Sans"/>
            </a:endParaRPr>
          </a:p>
        </p:txBody>
      </p:sp>
      <p:sp>
        <p:nvSpPr>
          <p:cNvPr id="96" name="Google Shape;96;g35f49d31fe3_0_0"/>
          <p:cNvSpPr txBox="1"/>
          <p:nvPr/>
        </p:nvSpPr>
        <p:spPr>
          <a:xfrm>
            <a:off x="1028700" y="9210675"/>
            <a:ext cx="6667500" cy="3846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Facultad de </a:t>
            </a:r>
            <a:r>
              <a:rPr b="1" lang="en-US" sz="2499">
                <a:solidFill>
                  <a:srgbClr val="131416"/>
                </a:solidFill>
                <a:latin typeface="Open Sans"/>
                <a:ea typeface="Open Sans"/>
                <a:cs typeface="Open Sans"/>
                <a:sym typeface="Open Sans"/>
              </a:rPr>
              <a:t>Ingeniería</a:t>
            </a:r>
            <a:endParaRPr b="1" i="0" sz="2499" u="none" cap="none" strike="noStrike">
              <a:solidFill>
                <a:srgbClr val="131416"/>
              </a:solidFill>
              <a:latin typeface="Open Sans"/>
              <a:ea typeface="Open Sans"/>
              <a:cs typeface="Open Sans"/>
              <a:sym typeface="Open Sans"/>
            </a:endParaRPr>
          </a:p>
        </p:txBody>
      </p:sp>
      <p:sp>
        <p:nvSpPr>
          <p:cNvPr id="97" name="Google Shape;97;g35f49d31fe3_0_0"/>
          <p:cNvSpPr txBox="1"/>
          <p:nvPr/>
        </p:nvSpPr>
        <p:spPr>
          <a:xfrm>
            <a:off x="228600" y="9588254"/>
            <a:ext cx="811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Universidad de San Carlos de Guatemala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01" name="Shape 101"/>
        <p:cNvGrpSpPr/>
        <p:nvPr/>
      </p:nvGrpSpPr>
      <p:grpSpPr>
        <a:xfrm>
          <a:off x="0" y="0"/>
          <a:ext cx="0" cy="0"/>
          <a:chOff x="0" y="0"/>
          <a:chExt cx="0" cy="0"/>
        </a:xfrm>
      </p:grpSpPr>
      <p:sp>
        <p:nvSpPr>
          <p:cNvPr id="102" name="Google Shape;102;p2"/>
          <p:cNvSpPr/>
          <p:nvPr/>
        </p:nvSpPr>
        <p:spPr>
          <a:xfrm rot="-5400000">
            <a:off x="4813056" y="4060775"/>
            <a:ext cx="6173936" cy="2165449"/>
          </a:xfrm>
          <a:custGeom>
            <a:rect b="b" l="l" r="r" t="t"/>
            <a:pathLst>
              <a:path extrusionOk="0" h="2165449" w="6173936">
                <a:moveTo>
                  <a:pt x="0" y="0"/>
                </a:moveTo>
                <a:lnTo>
                  <a:pt x="6173936" y="0"/>
                </a:lnTo>
                <a:lnTo>
                  <a:pt x="6173936" y="2165450"/>
                </a:lnTo>
                <a:lnTo>
                  <a:pt x="0" y="2165450"/>
                </a:lnTo>
                <a:lnTo>
                  <a:pt x="0" y="0"/>
                </a:lnTo>
                <a:close/>
              </a:path>
            </a:pathLst>
          </a:custGeom>
          <a:blipFill rotWithShape="1">
            <a:blip r:embed="rId3">
              <a:alphaModFix/>
            </a:blip>
            <a:stretch>
              <a:fillRect b="0" l="0" r="0" t="0"/>
            </a:stretch>
          </a:blipFill>
          <a:ln>
            <a:noFill/>
          </a:ln>
        </p:spPr>
      </p:sp>
      <p:sp>
        <p:nvSpPr>
          <p:cNvPr id="103" name="Google Shape;103;p2"/>
          <p:cNvSpPr txBox="1"/>
          <p:nvPr/>
        </p:nvSpPr>
        <p:spPr>
          <a:xfrm>
            <a:off x="1028700" y="4457700"/>
            <a:ext cx="6077873" cy="1371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9000"/>
              <a:buFont typeface="Arial"/>
              <a:buNone/>
            </a:pPr>
            <a:r>
              <a:rPr b="1" i="0" lang="en-US" sz="9000" u="none" cap="none" strike="noStrike">
                <a:solidFill>
                  <a:srgbClr val="FFFFFF"/>
                </a:solidFill>
                <a:latin typeface="Poppins"/>
                <a:ea typeface="Poppins"/>
                <a:cs typeface="Poppins"/>
                <a:sym typeface="Poppins"/>
              </a:rPr>
              <a:t>AGENDA</a:t>
            </a:r>
            <a:endParaRPr b="0" i="0" sz="1400" u="none" cap="none" strike="noStrike">
              <a:solidFill>
                <a:srgbClr val="000000"/>
              </a:solidFill>
              <a:latin typeface="Arial"/>
              <a:ea typeface="Arial"/>
              <a:cs typeface="Arial"/>
              <a:sym typeface="Arial"/>
            </a:endParaRPr>
          </a:p>
        </p:txBody>
      </p:sp>
      <p:grpSp>
        <p:nvGrpSpPr>
          <p:cNvPr id="104" name="Google Shape;104;p2"/>
          <p:cNvGrpSpPr/>
          <p:nvPr/>
        </p:nvGrpSpPr>
        <p:grpSpPr>
          <a:xfrm>
            <a:off x="11371927" y="4226215"/>
            <a:ext cx="5887373" cy="1834570"/>
            <a:chOff x="0" y="12700"/>
            <a:chExt cx="7849830" cy="2446093"/>
          </a:xfrm>
        </p:grpSpPr>
        <p:cxnSp>
          <p:nvCxnSpPr>
            <p:cNvPr id="105" name="Google Shape;105;p2"/>
            <p:cNvCxnSpPr/>
            <p:nvPr/>
          </p:nvCxnSpPr>
          <p:spPr>
            <a:xfrm>
              <a:off x="0" y="12700"/>
              <a:ext cx="7849830" cy="0"/>
            </a:xfrm>
            <a:prstGeom prst="straightConnector1">
              <a:avLst/>
            </a:prstGeom>
            <a:noFill/>
            <a:ln cap="rnd" cmpd="sng" w="25400">
              <a:solidFill>
                <a:srgbClr val="10B5BF"/>
              </a:solidFill>
              <a:prstDash val="solid"/>
              <a:round/>
              <a:headEnd len="sm" w="sm" type="none"/>
              <a:tailEnd len="sm" w="sm" type="none"/>
            </a:ln>
          </p:spPr>
        </p:cxnSp>
        <p:sp>
          <p:nvSpPr>
            <p:cNvPr id="106" name="Google Shape;106;p2"/>
            <p:cNvSpPr txBox="1"/>
            <p:nvPr/>
          </p:nvSpPr>
          <p:spPr>
            <a:xfrm>
              <a:off x="0" y="577850"/>
              <a:ext cx="7849830" cy="135255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Clr>
                  <a:srgbClr val="000000"/>
                </a:buClr>
                <a:buSzPts val="2999"/>
                <a:buFont typeface="Arial"/>
                <a:buNone/>
              </a:pPr>
              <a:r>
                <a:rPr b="0" i="0" lang="en-US" sz="2999" u="none" cap="none" strike="noStrike">
                  <a:solidFill>
                    <a:srgbClr val="FFFFFF"/>
                  </a:solidFill>
                  <a:latin typeface="Poppins Light"/>
                  <a:ea typeface="Poppins Light"/>
                  <a:cs typeface="Poppins Light"/>
                  <a:sym typeface="Poppins Light"/>
                </a:rPr>
                <a:t>Gramáticas Independientes del Contexto</a:t>
              </a:r>
              <a:endParaRPr b="0" i="0" sz="1400" u="none" cap="none" strike="noStrike">
                <a:solidFill>
                  <a:srgbClr val="000000"/>
                </a:solidFill>
                <a:latin typeface="Arial"/>
                <a:ea typeface="Arial"/>
                <a:cs typeface="Arial"/>
                <a:sym typeface="Arial"/>
              </a:endParaRPr>
            </a:p>
          </p:txBody>
        </p:sp>
        <p:cxnSp>
          <p:nvCxnSpPr>
            <p:cNvPr id="107" name="Google Shape;107;p2"/>
            <p:cNvCxnSpPr/>
            <p:nvPr/>
          </p:nvCxnSpPr>
          <p:spPr>
            <a:xfrm>
              <a:off x="0" y="2458793"/>
              <a:ext cx="7849830" cy="0"/>
            </a:xfrm>
            <a:prstGeom prst="straightConnector1">
              <a:avLst/>
            </a:prstGeom>
            <a:noFill/>
            <a:ln cap="rnd" cmpd="sng" w="25400">
              <a:solidFill>
                <a:srgbClr val="10B5BF"/>
              </a:solidFill>
              <a:prstDash val="solid"/>
              <a:round/>
              <a:headEnd len="sm" w="sm" type="none"/>
              <a:tailEnd len="sm" w="sm" type="none"/>
            </a:ln>
          </p:spPr>
        </p:cxn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35f49d31fe3_0_86"/>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None/>
            </a:pPr>
            <a:r>
              <a:rPr i="0" lang="en-US" sz="6098" u="none" cap="none" strike="noStrike">
                <a:solidFill>
                  <a:srgbClr val="131416"/>
                </a:solidFill>
                <a:latin typeface="Impact"/>
                <a:ea typeface="Impact"/>
                <a:cs typeface="Impact"/>
                <a:sym typeface="Impact"/>
              </a:rPr>
              <a:t>COMPETENCIA(S) QUE DESARROLLAREMOS</a:t>
            </a:r>
            <a:endParaRPr>
              <a:latin typeface="Impact"/>
              <a:ea typeface="Impact"/>
              <a:cs typeface="Impact"/>
              <a:sym typeface="Impact"/>
            </a:endParaRPr>
          </a:p>
        </p:txBody>
      </p:sp>
      <p:sp>
        <p:nvSpPr>
          <p:cNvPr id="113" name="Google Shape;113;g35f49d31fe3_0_86"/>
          <p:cNvSpPr txBox="1"/>
          <p:nvPr/>
        </p:nvSpPr>
        <p:spPr>
          <a:xfrm>
            <a:off x="1146302" y="3735850"/>
            <a:ext cx="15870000" cy="41616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lang="en-US" sz="5199">
                <a:solidFill>
                  <a:srgbClr val="131416"/>
                </a:solidFill>
                <a:latin typeface="Open Sans"/>
                <a:ea typeface="Open Sans"/>
                <a:cs typeface="Open Sans"/>
                <a:sym typeface="Open Sans"/>
              </a:rPr>
              <a:t>Investiga nuevas técnicas de análisis y síntesis de lenguajes empleando aprendizaje autónomo y revisión de literatura con actitud de mejora continua y adaptación tecnológica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17" name="Shape 117"/>
        <p:cNvGrpSpPr/>
        <p:nvPr/>
      </p:nvGrpSpPr>
      <p:grpSpPr>
        <a:xfrm>
          <a:off x="0" y="0"/>
          <a:ext cx="0" cy="0"/>
          <a:chOff x="0" y="0"/>
          <a:chExt cx="0" cy="0"/>
        </a:xfrm>
      </p:grpSpPr>
      <p:sp>
        <p:nvSpPr>
          <p:cNvPr id="118" name="Google Shape;118;p3"/>
          <p:cNvSpPr/>
          <p:nvPr/>
        </p:nvSpPr>
        <p:spPr>
          <a:xfrm>
            <a:off x="7844421" y="-156579"/>
            <a:ext cx="10443579" cy="10443579"/>
          </a:xfrm>
          <a:custGeom>
            <a:rect b="b" l="l" r="r" t="t"/>
            <a:pathLst>
              <a:path extrusionOk="0" h="10443579" w="10443579">
                <a:moveTo>
                  <a:pt x="0" y="0"/>
                </a:moveTo>
                <a:lnTo>
                  <a:pt x="10443579" y="0"/>
                </a:lnTo>
                <a:lnTo>
                  <a:pt x="10443579" y="10443579"/>
                </a:lnTo>
                <a:lnTo>
                  <a:pt x="0" y="10443579"/>
                </a:lnTo>
                <a:lnTo>
                  <a:pt x="0" y="0"/>
                </a:lnTo>
                <a:close/>
              </a:path>
            </a:pathLst>
          </a:custGeom>
          <a:blipFill rotWithShape="1">
            <a:blip r:embed="rId3">
              <a:alphaModFix/>
            </a:blip>
            <a:stretch>
              <a:fillRect b="0" l="0" r="0" t="0"/>
            </a:stretch>
          </a:blipFill>
          <a:ln>
            <a:noFill/>
          </a:ln>
        </p:spPr>
      </p:sp>
      <p:sp>
        <p:nvSpPr>
          <p:cNvPr id="119" name="Google Shape;119;p3"/>
          <p:cNvSpPr txBox="1"/>
          <p:nvPr/>
        </p:nvSpPr>
        <p:spPr>
          <a:xfrm>
            <a:off x="1028700" y="1019175"/>
            <a:ext cx="11646135" cy="43529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9500"/>
              <a:buFont typeface="Arial"/>
              <a:buNone/>
            </a:pPr>
            <a:r>
              <a:rPr b="1" i="0" lang="en-US" sz="9500" u="none" cap="none" strike="noStrike">
                <a:solidFill>
                  <a:srgbClr val="20E5F6"/>
                </a:solidFill>
                <a:latin typeface="Poppins"/>
                <a:ea typeface="Poppins"/>
                <a:cs typeface="Poppins"/>
                <a:sym typeface="Poppins"/>
              </a:rPr>
              <a:t>Gramáticas Independientes del contexto</a:t>
            </a:r>
            <a:endParaRPr b="0" i="0" sz="1400" u="none" cap="none" strike="noStrike">
              <a:solidFill>
                <a:srgbClr val="000000"/>
              </a:solidFill>
              <a:latin typeface="Arial"/>
              <a:ea typeface="Arial"/>
              <a:cs typeface="Arial"/>
              <a:sym typeface="Arial"/>
            </a:endParaRPr>
          </a:p>
        </p:txBody>
      </p:sp>
      <p:sp>
        <p:nvSpPr>
          <p:cNvPr id="120" name="Google Shape;120;p3"/>
          <p:cNvSpPr/>
          <p:nvPr/>
        </p:nvSpPr>
        <p:spPr>
          <a:xfrm>
            <a:off x="5203276" y="5143500"/>
            <a:ext cx="3296984" cy="4114800"/>
          </a:xfrm>
          <a:custGeom>
            <a:rect b="b" l="l" r="r" t="t"/>
            <a:pathLst>
              <a:path extrusionOk="0" h="4114800" w="3296984">
                <a:moveTo>
                  <a:pt x="0" y="0"/>
                </a:moveTo>
                <a:lnTo>
                  <a:pt x="3296983" y="0"/>
                </a:lnTo>
                <a:lnTo>
                  <a:pt x="3296983" y="4114800"/>
                </a:lnTo>
                <a:lnTo>
                  <a:pt x="0" y="4114800"/>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24" name="Shape 124"/>
        <p:cNvGrpSpPr/>
        <p:nvPr/>
      </p:nvGrpSpPr>
      <p:grpSpPr>
        <a:xfrm>
          <a:off x="0" y="0"/>
          <a:ext cx="0" cy="0"/>
          <a:chOff x="0" y="0"/>
          <a:chExt cx="0" cy="0"/>
        </a:xfrm>
      </p:grpSpPr>
      <p:sp>
        <p:nvSpPr>
          <p:cNvPr id="125" name="Google Shape;125;p4"/>
          <p:cNvSpPr txBox="1"/>
          <p:nvPr/>
        </p:nvSpPr>
        <p:spPr>
          <a:xfrm>
            <a:off x="1738415" y="807571"/>
            <a:ext cx="14811170" cy="21145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000"/>
              <a:buFont typeface="Arial"/>
              <a:buNone/>
            </a:pPr>
            <a:r>
              <a:rPr b="1" i="0" lang="en-US" sz="7000" u="none" cap="none" strike="noStrike">
                <a:solidFill>
                  <a:srgbClr val="FFFFFF"/>
                </a:solidFill>
                <a:latin typeface="Poppins"/>
                <a:ea typeface="Poppins"/>
                <a:cs typeface="Poppins"/>
                <a:sym typeface="Poppins"/>
              </a:rPr>
              <a:t>Gramáticas independientes del contexto</a:t>
            </a:r>
            <a:endParaRPr b="0" i="0" sz="1400" u="none" cap="none" strike="noStrike">
              <a:solidFill>
                <a:srgbClr val="000000"/>
              </a:solidFill>
              <a:latin typeface="Arial"/>
              <a:ea typeface="Arial"/>
              <a:cs typeface="Arial"/>
              <a:sym typeface="Arial"/>
            </a:endParaRPr>
          </a:p>
        </p:txBody>
      </p:sp>
      <p:cxnSp>
        <p:nvCxnSpPr>
          <p:cNvPr id="126" name="Google Shape;126;p4"/>
          <p:cNvCxnSpPr/>
          <p:nvPr/>
        </p:nvCxnSpPr>
        <p:spPr>
          <a:xfrm>
            <a:off x="1738415" y="3045621"/>
            <a:ext cx="14811300" cy="0"/>
          </a:xfrm>
          <a:prstGeom prst="straightConnector1">
            <a:avLst/>
          </a:prstGeom>
          <a:noFill/>
          <a:ln cap="rnd" cmpd="sng" w="19050">
            <a:solidFill>
              <a:srgbClr val="10B5BF"/>
            </a:solidFill>
            <a:prstDash val="solid"/>
            <a:round/>
            <a:headEnd len="sm" w="sm" type="none"/>
            <a:tailEnd len="sm" w="sm" type="none"/>
          </a:ln>
        </p:spPr>
      </p:cxnSp>
      <p:sp>
        <p:nvSpPr>
          <p:cNvPr id="127" name="Google Shape;127;p4"/>
          <p:cNvSpPr txBox="1"/>
          <p:nvPr/>
        </p:nvSpPr>
        <p:spPr>
          <a:xfrm>
            <a:off x="1738500" y="3255475"/>
            <a:ext cx="14811000" cy="600360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2600"/>
              <a:buFont typeface="Arial"/>
              <a:buNone/>
            </a:pPr>
            <a:r>
              <a:rPr b="0" i="0" lang="en-US" sz="2600" u="none" cap="none" strike="noStrike">
                <a:solidFill>
                  <a:srgbClr val="FFFFFF"/>
                </a:solidFill>
                <a:latin typeface="Poppins Light"/>
                <a:ea typeface="Poppins Light"/>
                <a:cs typeface="Poppins Light"/>
                <a:sym typeface="Poppins Light"/>
              </a:rPr>
              <a:t>Una gramática independiente del contexto (o también llamada libre del contexto) tiene 4 componentes:</a:t>
            </a:r>
            <a:endParaRPr b="0" i="0" sz="2600" u="none" cap="none" strike="noStrike">
              <a:solidFill>
                <a:srgbClr val="000000"/>
              </a:solidFill>
              <a:latin typeface="Arial"/>
              <a:ea typeface="Arial"/>
              <a:cs typeface="Arial"/>
              <a:sym typeface="Arial"/>
            </a:endParaRPr>
          </a:p>
          <a:p>
            <a:pPr indent="-299624" lvl="1" marL="653095" marR="0" rtl="0" algn="just">
              <a:lnSpc>
                <a:spcPct val="140013"/>
              </a:lnSpc>
              <a:spcBef>
                <a:spcPts val="0"/>
              </a:spcBef>
              <a:spcAft>
                <a:spcPts val="0"/>
              </a:spcAft>
              <a:buClr>
                <a:srgbClr val="FFFFFF"/>
              </a:buClr>
              <a:buSzPts val="2600"/>
              <a:buFont typeface="Poppins Light"/>
              <a:buAutoNum type="arabicPeriod"/>
            </a:pPr>
            <a:r>
              <a:rPr b="0" i="0" lang="en-US" sz="2600" u="none" cap="none" strike="noStrike">
                <a:solidFill>
                  <a:srgbClr val="FFFFFF"/>
                </a:solidFill>
                <a:latin typeface="Poppins Light"/>
                <a:ea typeface="Poppins Light"/>
                <a:cs typeface="Poppins Light"/>
                <a:sym typeface="Poppins Light"/>
              </a:rPr>
              <a:t>Un conjunto de símbolos </a:t>
            </a:r>
            <a:r>
              <a:rPr b="1" i="0" lang="en-US" sz="2600" u="none" cap="none" strike="noStrike">
                <a:solidFill>
                  <a:srgbClr val="10B5BF"/>
                </a:solidFill>
                <a:latin typeface="Poppins"/>
                <a:ea typeface="Poppins"/>
                <a:cs typeface="Poppins"/>
                <a:sym typeface="Poppins"/>
              </a:rPr>
              <a:t>terminales </a:t>
            </a:r>
            <a:r>
              <a:rPr b="0" i="0" lang="en-US" sz="2600" u="none" cap="none" strike="noStrike">
                <a:solidFill>
                  <a:srgbClr val="FFFFFF"/>
                </a:solidFill>
                <a:latin typeface="Poppins Light"/>
                <a:ea typeface="Poppins Light"/>
                <a:cs typeface="Poppins Light"/>
                <a:sym typeface="Poppins Light"/>
              </a:rPr>
              <a:t>a los que comúnmente se le conoce como “</a:t>
            </a:r>
            <a:r>
              <a:rPr b="0" i="0" lang="en-US" sz="2600" u="none" cap="none" strike="noStrike">
                <a:solidFill>
                  <a:srgbClr val="10B5BF"/>
                </a:solidFill>
                <a:latin typeface="Poppins Light"/>
                <a:ea typeface="Poppins Light"/>
                <a:cs typeface="Poppins Light"/>
                <a:sym typeface="Poppins Light"/>
              </a:rPr>
              <a:t>tokens</a:t>
            </a:r>
            <a:r>
              <a:rPr b="0" i="0" lang="en-US" sz="2600" u="none" cap="none" strike="noStrike">
                <a:solidFill>
                  <a:srgbClr val="FFFFFF"/>
                </a:solidFill>
                <a:latin typeface="Poppins Light"/>
                <a:ea typeface="Poppins Light"/>
                <a:cs typeface="Poppins Light"/>
                <a:sym typeface="Poppins Light"/>
              </a:rPr>
              <a:t>”. Los terminales son los símbolos elementales del lenguaje definido por la gramática.</a:t>
            </a:r>
            <a:endParaRPr b="0" i="0" sz="2600" u="none" cap="none" strike="noStrike">
              <a:solidFill>
                <a:srgbClr val="000000"/>
              </a:solidFill>
              <a:latin typeface="Arial"/>
              <a:ea typeface="Arial"/>
              <a:cs typeface="Arial"/>
              <a:sym typeface="Arial"/>
            </a:endParaRPr>
          </a:p>
          <a:p>
            <a:pPr indent="-299624" lvl="1" marL="653095" marR="0" rtl="0" algn="just">
              <a:lnSpc>
                <a:spcPct val="140013"/>
              </a:lnSpc>
              <a:spcBef>
                <a:spcPts val="0"/>
              </a:spcBef>
              <a:spcAft>
                <a:spcPts val="0"/>
              </a:spcAft>
              <a:buClr>
                <a:srgbClr val="FFFFFF"/>
              </a:buClr>
              <a:buSzPts val="2600"/>
              <a:buFont typeface="Poppins Light"/>
              <a:buAutoNum type="arabicPeriod"/>
            </a:pPr>
            <a:r>
              <a:rPr b="0" i="0" lang="en-US" sz="2600" u="none" cap="none" strike="noStrike">
                <a:solidFill>
                  <a:srgbClr val="FFFFFF"/>
                </a:solidFill>
                <a:latin typeface="Poppins Light"/>
                <a:ea typeface="Poppins Light"/>
                <a:cs typeface="Poppins Light"/>
                <a:sym typeface="Poppins Light"/>
              </a:rPr>
              <a:t>Un conjunto de </a:t>
            </a:r>
            <a:r>
              <a:rPr b="0" i="0" lang="en-US" sz="2600" u="none" cap="none" strike="noStrike">
                <a:solidFill>
                  <a:srgbClr val="10B5BF"/>
                </a:solidFill>
                <a:latin typeface="Poppins Light"/>
                <a:ea typeface="Poppins Light"/>
                <a:cs typeface="Poppins Light"/>
                <a:sym typeface="Poppins Light"/>
              </a:rPr>
              <a:t>no terminales</a:t>
            </a:r>
            <a:r>
              <a:rPr b="0" i="0" lang="en-US" sz="2600" u="none" cap="none" strike="noStrike">
                <a:solidFill>
                  <a:srgbClr val="FFFFFF"/>
                </a:solidFill>
                <a:latin typeface="Poppins Light"/>
                <a:ea typeface="Poppins Light"/>
                <a:cs typeface="Poppins Light"/>
                <a:sym typeface="Poppins Light"/>
              </a:rPr>
              <a:t>, a los que comúnmente se les conoce como “</a:t>
            </a:r>
            <a:r>
              <a:rPr b="0" i="0" lang="en-US" sz="2600" u="none" cap="none" strike="noStrike">
                <a:solidFill>
                  <a:srgbClr val="10B5BF"/>
                </a:solidFill>
                <a:latin typeface="Poppins Light"/>
                <a:ea typeface="Poppins Light"/>
                <a:cs typeface="Poppins Light"/>
                <a:sym typeface="Poppins Light"/>
              </a:rPr>
              <a:t>variables sintácticas</a:t>
            </a:r>
            <a:r>
              <a:rPr b="0" i="0" lang="en-US" sz="2600" u="none" cap="none" strike="noStrike">
                <a:solidFill>
                  <a:srgbClr val="FFFFFF"/>
                </a:solidFill>
                <a:latin typeface="Poppins Light"/>
                <a:ea typeface="Poppins Light"/>
                <a:cs typeface="Poppins Light"/>
                <a:sym typeface="Poppins Light"/>
              </a:rPr>
              <a:t>”. Cada no terminal representa un conjunto de cadenas o terminales.</a:t>
            </a:r>
            <a:endParaRPr b="0" i="0" sz="2600" u="none" cap="none" strike="noStrike">
              <a:solidFill>
                <a:srgbClr val="000000"/>
              </a:solidFill>
              <a:latin typeface="Arial"/>
              <a:ea typeface="Arial"/>
              <a:cs typeface="Arial"/>
              <a:sym typeface="Arial"/>
            </a:endParaRPr>
          </a:p>
          <a:p>
            <a:pPr indent="-299624" lvl="1" marL="653095" marR="0" rtl="0" algn="just">
              <a:lnSpc>
                <a:spcPct val="140013"/>
              </a:lnSpc>
              <a:spcBef>
                <a:spcPts val="0"/>
              </a:spcBef>
              <a:spcAft>
                <a:spcPts val="0"/>
              </a:spcAft>
              <a:buClr>
                <a:srgbClr val="FFFFFF"/>
              </a:buClr>
              <a:buSzPts val="2600"/>
              <a:buFont typeface="Poppins Light"/>
              <a:buAutoNum type="arabicPeriod"/>
            </a:pPr>
            <a:r>
              <a:rPr b="0" i="0" lang="en-US" sz="2600" u="none" cap="none" strike="noStrike">
                <a:solidFill>
                  <a:srgbClr val="FFFFFF"/>
                </a:solidFill>
                <a:latin typeface="Poppins Light"/>
                <a:ea typeface="Poppins Light"/>
                <a:cs typeface="Poppins Light"/>
                <a:sym typeface="Poppins Light"/>
              </a:rPr>
              <a:t>Un conjunto de </a:t>
            </a:r>
            <a:r>
              <a:rPr b="0" i="0" lang="en-US" sz="2600" u="none" cap="none" strike="noStrike">
                <a:solidFill>
                  <a:srgbClr val="10B5BF"/>
                </a:solidFill>
                <a:latin typeface="Poppins Light"/>
                <a:ea typeface="Poppins Light"/>
                <a:cs typeface="Poppins Light"/>
                <a:sym typeface="Poppins Light"/>
              </a:rPr>
              <a:t>producciones</a:t>
            </a:r>
            <a:r>
              <a:rPr b="0" i="0" lang="en-US" sz="2600" u="none" cap="none" strike="noStrike">
                <a:solidFill>
                  <a:srgbClr val="FFFFFF"/>
                </a:solidFill>
                <a:latin typeface="Poppins Light"/>
                <a:ea typeface="Poppins Light"/>
                <a:cs typeface="Poppins Light"/>
                <a:sym typeface="Poppins Light"/>
              </a:rPr>
              <a:t>, en donde cada producción consiste en un no terminal, llamada </a:t>
            </a:r>
            <a:r>
              <a:rPr b="0" i="0" lang="en-US" sz="2600" u="none" cap="none" strike="noStrike">
                <a:solidFill>
                  <a:srgbClr val="10B5BF"/>
                </a:solidFill>
                <a:latin typeface="Poppins Light"/>
                <a:ea typeface="Poppins Light"/>
                <a:cs typeface="Poppins Light"/>
                <a:sym typeface="Poppins Light"/>
              </a:rPr>
              <a:t>encabezado</a:t>
            </a:r>
            <a:r>
              <a:rPr b="0" i="0" lang="en-US" sz="2600" u="none" cap="none" strike="noStrike">
                <a:solidFill>
                  <a:srgbClr val="FFFFFF"/>
                </a:solidFill>
                <a:latin typeface="Poppins Light"/>
                <a:ea typeface="Poppins Light"/>
                <a:cs typeface="Poppins Light"/>
                <a:sym typeface="Poppins Light"/>
              </a:rPr>
              <a:t> o </a:t>
            </a:r>
            <a:r>
              <a:rPr b="0" i="0" lang="en-US" sz="2600" u="none" cap="none" strike="noStrike">
                <a:solidFill>
                  <a:srgbClr val="10B5BF"/>
                </a:solidFill>
                <a:latin typeface="Poppins Light"/>
                <a:ea typeface="Poppins Light"/>
                <a:cs typeface="Poppins Light"/>
                <a:sym typeface="Poppins Light"/>
              </a:rPr>
              <a:t>lado izquierdo de la producción</a:t>
            </a:r>
            <a:r>
              <a:rPr b="0" i="0" lang="en-US" sz="2600" u="none" cap="none" strike="noStrike">
                <a:solidFill>
                  <a:srgbClr val="FFFFFF"/>
                </a:solidFill>
                <a:latin typeface="Poppins Light"/>
                <a:ea typeface="Poppins Light"/>
                <a:cs typeface="Poppins Light"/>
                <a:sym typeface="Poppins Light"/>
              </a:rPr>
              <a:t>, una flecha y una secuencia de terminales y no terminales llamada </a:t>
            </a:r>
            <a:r>
              <a:rPr b="0" i="0" lang="en-US" sz="2600" u="none" cap="none" strike="noStrike">
                <a:solidFill>
                  <a:srgbClr val="10B5BF"/>
                </a:solidFill>
                <a:latin typeface="Poppins Light"/>
                <a:ea typeface="Poppins Light"/>
                <a:cs typeface="Poppins Light"/>
                <a:sym typeface="Poppins Light"/>
              </a:rPr>
              <a:t>cuerpo o lado derecho de la producción.</a:t>
            </a:r>
            <a:endParaRPr b="0" i="0" sz="2600" u="none" cap="none" strike="noStrike">
              <a:solidFill>
                <a:srgbClr val="000000"/>
              </a:solidFill>
              <a:latin typeface="Arial"/>
              <a:ea typeface="Arial"/>
              <a:cs typeface="Arial"/>
              <a:sym typeface="Arial"/>
            </a:endParaRPr>
          </a:p>
          <a:p>
            <a:pPr indent="-299624" lvl="1" marL="653095" marR="0" rtl="0" algn="just">
              <a:lnSpc>
                <a:spcPct val="140013"/>
              </a:lnSpc>
              <a:spcBef>
                <a:spcPts val="0"/>
              </a:spcBef>
              <a:spcAft>
                <a:spcPts val="0"/>
              </a:spcAft>
              <a:buClr>
                <a:srgbClr val="FFFFFF"/>
              </a:buClr>
              <a:buSzPts val="2600"/>
              <a:buFont typeface="Poppins Light"/>
              <a:buAutoNum type="arabicPeriod"/>
            </a:pPr>
            <a:r>
              <a:rPr b="0" i="0" lang="en-US" sz="2600" u="none" cap="none" strike="noStrike">
                <a:solidFill>
                  <a:srgbClr val="FFFFFF"/>
                </a:solidFill>
                <a:latin typeface="Poppins Light"/>
                <a:ea typeface="Poppins Light"/>
                <a:cs typeface="Poppins Light"/>
                <a:sym typeface="Poppins Light"/>
              </a:rPr>
              <a:t>Una designación de una de los no terminales como el </a:t>
            </a:r>
            <a:r>
              <a:rPr b="0" i="0" lang="en-US" sz="2600" u="none" cap="none" strike="noStrike">
                <a:solidFill>
                  <a:srgbClr val="10B5BF"/>
                </a:solidFill>
                <a:latin typeface="Poppins Light"/>
                <a:ea typeface="Poppins Light"/>
                <a:cs typeface="Poppins Light"/>
                <a:sym typeface="Poppins Light"/>
              </a:rPr>
              <a:t>símbolo inicial.</a:t>
            </a:r>
            <a:endParaRPr b="0" i="0" sz="26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31" name="Shape 131"/>
        <p:cNvGrpSpPr/>
        <p:nvPr/>
      </p:nvGrpSpPr>
      <p:grpSpPr>
        <a:xfrm>
          <a:off x="0" y="0"/>
          <a:ext cx="0" cy="0"/>
          <a:chOff x="0" y="0"/>
          <a:chExt cx="0" cy="0"/>
        </a:xfrm>
      </p:grpSpPr>
      <p:sp>
        <p:nvSpPr>
          <p:cNvPr id="132" name="Google Shape;132;p5"/>
          <p:cNvSpPr txBox="1"/>
          <p:nvPr/>
        </p:nvSpPr>
        <p:spPr>
          <a:xfrm>
            <a:off x="1738415" y="807571"/>
            <a:ext cx="14811170" cy="21145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000"/>
              <a:buFont typeface="Arial"/>
              <a:buNone/>
            </a:pPr>
            <a:r>
              <a:rPr b="1" i="0" lang="en-US" sz="7000" u="none" cap="none" strike="noStrike">
                <a:solidFill>
                  <a:srgbClr val="FFFFFF"/>
                </a:solidFill>
                <a:latin typeface="Poppins"/>
                <a:ea typeface="Poppins"/>
                <a:cs typeface="Poppins"/>
                <a:sym typeface="Poppins"/>
              </a:rPr>
              <a:t>Gramáticas independientes del contexto</a:t>
            </a:r>
            <a:endParaRPr b="0" i="0" sz="1400" u="none" cap="none" strike="noStrike">
              <a:solidFill>
                <a:srgbClr val="000000"/>
              </a:solidFill>
              <a:latin typeface="Arial"/>
              <a:ea typeface="Arial"/>
              <a:cs typeface="Arial"/>
              <a:sym typeface="Arial"/>
            </a:endParaRPr>
          </a:p>
        </p:txBody>
      </p:sp>
      <p:cxnSp>
        <p:nvCxnSpPr>
          <p:cNvPr id="133" name="Google Shape;133;p5"/>
          <p:cNvCxnSpPr/>
          <p:nvPr/>
        </p:nvCxnSpPr>
        <p:spPr>
          <a:xfrm>
            <a:off x="1738415" y="2912596"/>
            <a:ext cx="14811170" cy="0"/>
          </a:xfrm>
          <a:prstGeom prst="straightConnector1">
            <a:avLst/>
          </a:prstGeom>
          <a:noFill/>
          <a:ln cap="rnd" cmpd="sng" w="19050">
            <a:solidFill>
              <a:srgbClr val="10B5BF"/>
            </a:solidFill>
            <a:prstDash val="solid"/>
            <a:round/>
            <a:headEnd len="sm" w="sm" type="none"/>
            <a:tailEnd len="sm" w="sm" type="none"/>
          </a:ln>
        </p:spPr>
      </p:cxnSp>
      <p:sp>
        <p:nvSpPr>
          <p:cNvPr id="134" name="Google Shape;134;p5"/>
          <p:cNvSpPr txBox="1"/>
          <p:nvPr/>
        </p:nvSpPr>
        <p:spPr>
          <a:xfrm>
            <a:off x="5590776" y="3478768"/>
            <a:ext cx="7758595" cy="532384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G = {T, N, S, P}</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T = { +, -, 1, 2, 3, 4, 5, 6, 7, 8, 9}</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N = { lista, digito }</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P = { </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           lista -&gt; lista + digito</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           lista -&gt; lista - digito</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           lista -&gt; digito</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          digito -&gt; 1 | 2 | 3 | 4 | 5 | 6 | 7 | 8 | 9 </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S = lista</a:t>
            </a:r>
            <a:endParaRPr b="0" i="0" sz="1400" u="none" cap="none" strike="noStrike">
              <a:solidFill>
                <a:srgbClr val="000000"/>
              </a:solidFill>
              <a:latin typeface="Arial"/>
              <a:ea typeface="Arial"/>
              <a:cs typeface="Arial"/>
              <a:sym typeface="Arial"/>
            </a:endParaRPr>
          </a:p>
        </p:txBody>
      </p:sp>
      <p:sp>
        <p:nvSpPr>
          <p:cNvPr id="135" name="Google Shape;135;p5"/>
          <p:cNvSpPr/>
          <p:nvPr/>
        </p:nvSpPr>
        <p:spPr>
          <a:xfrm rot="-2700000">
            <a:off x="12891985" y="8270593"/>
            <a:ext cx="7315200" cy="1064029"/>
          </a:xfrm>
          <a:custGeom>
            <a:rect b="b" l="l" r="r" t="t"/>
            <a:pathLst>
              <a:path extrusionOk="0" h="1064029" w="7315200">
                <a:moveTo>
                  <a:pt x="0" y="0"/>
                </a:moveTo>
                <a:lnTo>
                  <a:pt x="7315200" y="0"/>
                </a:lnTo>
                <a:lnTo>
                  <a:pt x="7315200" y="1064029"/>
                </a:lnTo>
                <a:lnTo>
                  <a:pt x="0" y="1064029"/>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39" name="Shape 139"/>
        <p:cNvGrpSpPr/>
        <p:nvPr/>
      </p:nvGrpSpPr>
      <p:grpSpPr>
        <a:xfrm>
          <a:off x="0" y="0"/>
          <a:ext cx="0" cy="0"/>
          <a:chOff x="0" y="0"/>
          <a:chExt cx="0" cy="0"/>
        </a:xfrm>
      </p:grpSpPr>
      <p:sp>
        <p:nvSpPr>
          <p:cNvPr id="140" name="Google Shape;140;p6"/>
          <p:cNvSpPr txBox="1"/>
          <p:nvPr/>
        </p:nvSpPr>
        <p:spPr>
          <a:xfrm>
            <a:off x="1738415" y="1336209"/>
            <a:ext cx="14811170" cy="105727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000"/>
              <a:buFont typeface="Arial"/>
              <a:buNone/>
            </a:pPr>
            <a:r>
              <a:rPr b="1" i="0" lang="en-US" sz="7000" u="none" cap="none" strike="noStrike">
                <a:solidFill>
                  <a:srgbClr val="FFFFFF"/>
                </a:solidFill>
                <a:latin typeface="Poppins"/>
                <a:ea typeface="Poppins"/>
                <a:cs typeface="Poppins"/>
                <a:sym typeface="Poppins"/>
              </a:rPr>
              <a:t>Calculo de primeros</a:t>
            </a:r>
            <a:endParaRPr b="0" i="0" sz="1400" u="none" cap="none" strike="noStrike">
              <a:solidFill>
                <a:srgbClr val="000000"/>
              </a:solidFill>
              <a:latin typeface="Arial"/>
              <a:ea typeface="Arial"/>
              <a:cs typeface="Arial"/>
              <a:sym typeface="Arial"/>
            </a:endParaRPr>
          </a:p>
        </p:txBody>
      </p:sp>
      <p:cxnSp>
        <p:nvCxnSpPr>
          <p:cNvPr id="141" name="Google Shape;141;p6"/>
          <p:cNvCxnSpPr/>
          <p:nvPr/>
        </p:nvCxnSpPr>
        <p:spPr>
          <a:xfrm>
            <a:off x="1738415" y="2912596"/>
            <a:ext cx="14811170" cy="0"/>
          </a:xfrm>
          <a:prstGeom prst="straightConnector1">
            <a:avLst/>
          </a:prstGeom>
          <a:noFill/>
          <a:ln cap="rnd" cmpd="sng" w="19050">
            <a:solidFill>
              <a:srgbClr val="10B5BF"/>
            </a:solidFill>
            <a:prstDash val="solid"/>
            <a:round/>
            <a:headEnd len="sm" w="sm" type="none"/>
            <a:tailEnd len="sm" w="sm" type="none"/>
          </a:ln>
        </p:spPr>
      </p:cxnSp>
      <p:sp>
        <p:nvSpPr>
          <p:cNvPr id="142" name="Google Shape;142;p6"/>
          <p:cNvSpPr txBox="1"/>
          <p:nvPr/>
        </p:nvSpPr>
        <p:spPr>
          <a:xfrm>
            <a:off x="1738415" y="3178948"/>
            <a:ext cx="14811170" cy="105664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Devuelve el conjunto de símbolos terminales que pueden comenzar una cadena de símbolos en una gramática.</a:t>
            </a:r>
            <a:endParaRPr b="0" i="0" sz="1400" u="none" cap="none" strike="noStrike">
              <a:solidFill>
                <a:srgbClr val="000000"/>
              </a:solidFill>
              <a:latin typeface="Arial"/>
              <a:ea typeface="Arial"/>
              <a:cs typeface="Arial"/>
              <a:sym typeface="Arial"/>
            </a:endParaRPr>
          </a:p>
        </p:txBody>
      </p:sp>
      <p:sp>
        <p:nvSpPr>
          <p:cNvPr id="143" name="Google Shape;143;p6"/>
          <p:cNvSpPr/>
          <p:nvPr/>
        </p:nvSpPr>
        <p:spPr>
          <a:xfrm>
            <a:off x="2781307" y="4559438"/>
            <a:ext cx="12725387" cy="4698862"/>
          </a:xfrm>
          <a:custGeom>
            <a:rect b="b" l="l" r="r" t="t"/>
            <a:pathLst>
              <a:path extrusionOk="0" h="4698862" w="12725387">
                <a:moveTo>
                  <a:pt x="0" y="0"/>
                </a:moveTo>
                <a:lnTo>
                  <a:pt x="12725386" y="0"/>
                </a:lnTo>
                <a:lnTo>
                  <a:pt x="12725386" y="4698862"/>
                </a:lnTo>
                <a:lnTo>
                  <a:pt x="0" y="469886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47" name="Shape 147"/>
        <p:cNvGrpSpPr/>
        <p:nvPr/>
      </p:nvGrpSpPr>
      <p:grpSpPr>
        <a:xfrm>
          <a:off x="0" y="0"/>
          <a:ext cx="0" cy="0"/>
          <a:chOff x="0" y="0"/>
          <a:chExt cx="0" cy="0"/>
        </a:xfrm>
      </p:grpSpPr>
      <p:sp>
        <p:nvSpPr>
          <p:cNvPr id="148" name="Google Shape;148;p7"/>
          <p:cNvSpPr txBox="1"/>
          <p:nvPr/>
        </p:nvSpPr>
        <p:spPr>
          <a:xfrm>
            <a:off x="1738415" y="1336209"/>
            <a:ext cx="14811170" cy="105727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000"/>
              <a:buFont typeface="Arial"/>
              <a:buNone/>
            </a:pPr>
            <a:r>
              <a:rPr b="1" i="0" lang="en-US" sz="7000" u="none" cap="none" strike="noStrike">
                <a:solidFill>
                  <a:srgbClr val="FFFFFF"/>
                </a:solidFill>
                <a:latin typeface="Poppins"/>
                <a:ea typeface="Poppins"/>
                <a:cs typeface="Poppins"/>
                <a:sym typeface="Poppins"/>
              </a:rPr>
              <a:t>Calculo de primeros</a:t>
            </a:r>
            <a:endParaRPr b="0" i="0" sz="1400" u="none" cap="none" strike="noStrike">
              <a:solidFill>
                <a:srgbClr val="000000"/>
              </a:solidFill>
              <a:latin typeface="Arial"/>
              <a:ea typeface="Arial"/>
              <a:cs typeface="Arial"/>
              <a:sym typeface="Arial"/>
            </a:endParaRPr>
          </a:p>
        </p:txBody>
      </p:sp>
      <p:cxnSp>
        <p:nvCxnSpPr>
          <p:cNvPr id="149" name="Google Shape;149;p7"/>
          <p:cNvCxnSpPr/>
          <p:nvPr/>
        </p:nvCxnSpPr>
        <p:spPr>
          <a:xfrm>
            <a:off x="1738415" y="2912596"/>
            <a:ext cx="14811170" cy="0"/>
          </a:xfrm>
          <a:prstGeom prst="straightConnector1">
            <a:avLst/>
          </a:prstGeom>
          <a:noFill/>
          <a:ln cap="rnd" cmpd="sng" w="19050">
            <a:solidFill>
              <a:srgbClr val="10B5BF"/>
            </a:solidFill>
            <a:prstDash val="solid"/>
            <a:round/>
            <a:headEnd len="sm" w="sm" type="none"/>
            <a:tailEnd len="sm" w="sm" type="none"/>
          </a:ln>
        </p:spPr>
      </p:cxnSp>
      <p:sp>
        <p:nvSpPr>
          <p:cNvPr id="150" name="Google Shape;150;p7"/>
          <p:cNvSpPr txBox="1"/>
          <p:nvPr/>
        </p:nvSpPr>
        <p:spPr>
          <a:xfrm>
            <a:off x="1738415" y="3092693"/>
            <a:ext cx="14811170" cy="52324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10D3F9"/>
                </a:solidFill>
                <a:latin typeface="Poppins Light"/>
                <a:ea typeface="Poppins Light"/>
                <a:cs typeface="Poppins Light"/>
                <a:sym typeface="Poppins Light"/>
              </a:rPr>
              <a:t>En otras palabras:</a:t>
            </a:r>
            <a:endParaRPr b="0" i="0" sz="1400" u="none" cap="none" strike="noStrike">
              <a:solidFill>
                <a:srgbClr val="000000"/>
              </a:solidFill>
              <a:latin typeface="Arial"/>
              <a:ea typeface="Arial"/>
              <a:cs typeface="Arial"/>
              <a:sym typeface="Arial"/>
            </a:endParaRPr>
          </a:p>
        </p:txBody>
      </p:sp>
      <p:sp>
        <p:nvSpPr>
          <p:cNvPr id="151" name="Google Shape;151;p7"/>
          <p:cNvSpPr txBox="1"/>
          <p:nvPr/>
        </p:nvSpPr>
        <p:spPr>
          <a:xfrm>
            <a:off x="1628589" y="4311258"/>
            <a:ext cx="14811170" cy="3190240"/>
          </a:xfrm>
          <a:prstGeom prst="rect">
            <a:avLst/>
          </a:prstGeom>
          <a:noFill/>
          <a:ln>
            <a:noFill/>
          </a:ln>
        </p:spPr>
        <p:txBody>
          <a:bodyPr anchorCtr="0" anchor="t" bIns="0" lIns="0" spcFirstLastPara="1" rIns="0" wrap="square" tIns="0">
            <a:spAutoFit/>
          </a:bodyPr>
          <a:lstStyle/>
          <a:p>
            <a:pPr indent="-326548" lvl="1" marL="653095" marR="0" rtl="0" algn="just">
              <a:lnSpc>
                <a:spcPct val="140013"/>
              </a:lnSpc>
              <a:spcBef>
                <a:spcPts val="0"/>
              </a:spcBef>
              <a:spcAft>
                <a:spcPts val="0"/>
              </a:spcAft>
              <a:buClr>
                <a:srgbClr val="FFFFFF"/>
              </a:buClr>
              <a:buSzPts val="3024"/>
              <a:buFont typeface="Poppins Light"/>
              <a:buAutoNum type="arabicPeriod"/>
            </a:pPr>
            <a:r>
              <a:rPr b="0" i="0" lang="en-US" sz="3024" u="none" cap="none" strike="noStrike">
                <a:solidFill>
                  <a:srgbClr val="FFFFFF"/>
                </a:solidFill>
                <a:latin typeface="Poppins Light"/>
                <a:ea typeface="Poppins Light"/>
                <a:cs typeface="Poppins Light"/>
                <a:sym typeface="Poppins Light"/>
              </a:rPr>
              <a:t>Si A es un terminal, entonces Primero(A) es A</a:t>
            </a:r>
            <a:endParaRPr b="0" i="0" sz="1400" u="none" cap="none" strike="noStrike">
              <a:solidFill>
                <a:srgbClr val="000000"/>
              </a:solidFill>
              <a:latin typeface="Arial"/>
              <a:ea typeface="Arial"/>
              <a:cs typeface="Arial"/>
              <a:sym typeface="Arial"/>
            </a:endParaRPr>
          </a:p>
          <a:p>
            <a:pPr indent="-326548" lvl="1" marL="653095" marR="0" rtl="0" algn="just">
              <a:lnSpc>
                <a:spcPct val="140013"/>
              </a:lnSpc>
              <a:spcBef>
                <a:spcPts val="0"/>
              </a:spcBef>
              <a:spcAft>
                <a:spcPts val="0"/>
              </a:spcAft>
              <a:buClr>
                <a:srgbClr val="FFFFFF"/>
              </a:buClr>
              <a:buSzPts val="3024"/>
              <a:buFont typeface="Poppins Light"/>
              <a:buAutoNum type="arabicPeriod"/>
            </a:pPr>
            <a:r>
              <a:rPr b="0" i="0" lang="en-US" sz="3024" u="none" cap="none" strike="noStrike">
                <a:solidFill>
                  <a:srgbClr val="FFFFFF"/>
                </a:solidFill>
                <a:latin typeface="Poppins Light"/>
                <a:ea typeface="Poppins Light"/>
                <a:cs typeface="Poppins Light"/>
                <a:sym typeface="Poppins Light"/>
              </a:rPr>
              <a:t>Si A es un no terminal y tiene una producción A -&gt; X1 X2 ... Xn, entonces </a:t>
            </a:r>
            <a:r>
              <a:rPr b="0" i="0" lang="en-US" sz="3024" u="none" cap="none" strike="noStrike">
                <a:solidFill>
                  <a:srgbClr val="10D3F9"/>
                </a:solidFill>
                <a:latin typeface="Poppins Light"/>
                <a:ea typeface="Poppins Light"/>
                <a:cs typeface="Poppins Light"/>
                <a:sym typeface="Poppins Light"/>
              </a:rPr>
              <a:t>Primero(A) contiene Primero(X1)</a:t>
            </a:r>
            <a:r>
              <a:rPr b="0" i="0" lang="en-US" sz="3024" u="none" cap="none" strike="noStrike">
                <a:solidFill>
                  <a:srgbClr val="FFFFFF"/>
                </a:solidFill>
                <a:latin typeface="Poppins Light"/>
                <a:ea typeface="Poppins Light"/>
                <a:cs typeface="Poppins Light"/>
                <a:sym typeface="Poppins Light"/>
              </a:rPr>
              <a:t>. Si X1 </a:t>
            </a:r>
            <a:r>
              <a:rPr b="0" i="0" lang="en-US" sz="3024" u="none" cap="none" strike="noStrike">
                <a:solidFill>
                  <a:srgbClr val="10D3F9"/>
                </a:solidFill>
                <a:latin typeface="Poppins Light"/>
                <a:ea typeface="Poppins Light"/>
                <a:cs typeface="Poppins Light"/>
                <a:sym typeface="Poppins Light"/>
              </a:rPr>
              <a:t>contiene ε</a:t>
            </a:r>
            <a:r>
              <a:rPr b="0" i="0" lang="en-US" sz="3024" u="none" cap="none" strike="noStrike">
                <a:solidFill>
                  <a:srgbClr val="FFFFFF"/>
                </a:solidFill>
                <a:latin typeface="Poppins Light"/>
                <a:ea typeface="Poppins Light"/>
                <a:cs typeface="Poppins Light"/>
                <a:sym typeface="Poppins Light"/>
              </a:rPr>
              <a:t> (cadena vacía), entonces también se agrega Primero(X2) y así sucesivamente mientras el Primero(Xi) contenga a ε.</a:t>
            </a:r>
            <a:endParaRPr b="0" i="0" sz="1400" u="none" cap="none" strike="noStrike">
              <a:solidFill>
                <a:srgbClr val="000000"/>
              </a:solidFill>
              <a:latin typeface="Arial"/>
              <a:ea typeface="Arial"/>
              <a:cs typeface="Arial"/>
              <a:sym typeface="Arial"/>
            </a:endParaRPr>
          </a:p>
          <a:p>
            <a:pPr indent="-326548" lvl="1" marL="653095" marR="0" rtl="0" algn="just">
              <a:lnSpc>
                <a:spcPct val="140013"/>
              </a:lnSpc>
              <a:spcBef>
                <a:spcPts val="0"/>
              </a:spcBef>
              <a:spcAft>
                <a:spcPts val="0"/>
              </a:spcAft>
              <a:buClr>
                <a:srgbClr val="FFFFFF"/>
              </a:buClr>
              <a:buSzPts val="3024"/>
              <a:buFont typeface="Poppins Light"/>
              <a:buAutoNum type="arabicPeriod"/>
            </a:pPr>
            <a:r>
              <a:rPr b="0" i="0" lang="en-US" sz="3024" u="none" cap="none" strike="noStrike">
                <a:solidFill>
                  <a:srgbClr val="FFFFFF"/>
                </a:solidFill>
                <a:latin typeface="Poppins Light"/>
                <a:ea typeface="Poppins Light"/>
                <a:cs typeface="Poppins Light"/>
                <a:sym typeface="Poppins Light"/>
              </a:rPr>
              <a:t>Si A -&gt; ε es una producción, entonces se agrega ε a Primero(A)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55" name="Shape 155"/>
        <p:cNvGrpSpPr/>
        <p:nvPr/>
      </p:nvGrpSpPr>
      <p:grpSpPr>
        <a:xfrm>
          <a:off x="0" y="0"/>
          <a:ext cx="0" cy="0"/>
          <a:chOff x="0" y="0"/>
          <a:chExt cx="0" cy="0"/>
        </a:xfrm>
      </p:grpSpPr>
      <p:sp>
        <p:nvSpPr>
          <p:cNvPr id="156" name="Google Shape;156;p8"/>
          <p:cNvSpPr/>
          <p:nvPr/>
        </p:nvSpPr>
        <p:spPr>
          <a:xfrm>
            <a:off x="7959569" y="7041615"/>
            <a:ext cx="8482631" cy="2727385"/>
          </a:xfrm>
          <a:custGeom>
            <a:rect b="b" l="l" r="r" t="t"/>
            <a:pathLst>
              <a:path extrusionOk="0" h="2727385" w="8482631">
                <a:moveTo>
                  <a:pt x="0" y="0"/>
                </a:moveTo>
                <a:lnTo>
                  <a:pt x="8482631" y="0"/>
                </a:lnTo>
                <a:lnTo>
                  <a:pt x="8482631" y="2727385"/>
                </a:lnTo>
                <a:lnTo>
                  <a:pt x="0" y="2727385"/>
                </a:lnTo>
                <a:lnTo>
                  <a:pt x="0" y="0"/>
                </a:lnTo>
                <a:close/>
              </a:path>
            </a:pathLst>
          </a:custGeom>
          <a:blipFill rotWithShape="1">
            <a:blip r:embed="rId3">
              <a:alphaModFix/>
            </a:blip>
            <a:stretch>
              <a:fillRect b="0" l="0" r="0" t="0"/>
            </a:stretch>
          </a:blipFill>
          <a:ln>
            <a:noFill/>
          </a:ln>
        </p:spPr>
      </p:sp>
      <p:sp>
        <p:nvSpPr>
          <p:cNvPr id="157" name="Google Shape;157;p8"/>
          <p:cNvSpPr txBox="1"/>
          <p:nvPr/>
        </p:nvSpPr>
        <p:spPr>
          <a:xfrm>
            <a:off x="1563559" y="2559153"/>
            <a:ext cx="4616860" cy="3267075"/>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Clr>
                <a:srgbClr val="000000"/>
              </a:buClr>
              <a:buSzPts val="3099"/>
              <a:buFont typeface="Arial"/>
              <a:buNone/>
            </a:pPr>
            <a:r>
              <a:rPr b="0" i="0" lang="en-US" sz="3099" u="none" cap="none" strike="noStrike">
                <a:solidFill>
                  <a:srgbClr val="10B5BF"/>
                </a:solidFill>
                <a:latin typeface="Poppins Medium"/>
                <a:ea typeface="Poppins Medium"/>
                <a:cs typeface="Poppins Medium"/>
                <a:sym typeface="Poppins Medium"/>
              </a:rPr>
              <a:t>Sea la gramática</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099"/>
              <a:buFont typeface="Arial"/>
              <a:buNone/>
            </a:pPr>
            <a:r>
              <a:rPr b="0" i="0" lang="en-US" sz="3099" u="none" cap="none" strike="noStrike">
                <a:solidFill>
                  <a:srgbClr val="10B5BF"/>
                </a:solidFill>
                <a:latin typeface="Poppins Medium"/>
                <a:ea typeface="Poppins Medium"/>
                <a:cs typeface="Poppins Medium"/>
                <a:sym typeface="Poppins Medium"/>
              </a:rPr>
              <a:t>E -&gt; T E’</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099"/>
              <a:buFont typeface="Arial"/>
              <a:buNone/>
            </a:pPr>
            <a:r>
              <a:rPr b="0" i="0" lang="en-US" sz="3099" u="none" cap="none" strike="noStrike">
                <a:solidFill>
                  <a:srgbClr val="10B5BF"/>
                </a:solidFill>
                <a:latin typeface="Poppins Medium"/>
                <a:ea typeface="Poppins Medium"/>
                <a:cs typeface="Poppins Medium"/>
                <a:sym typeface="Poppins Medium"/>
              </a:rPr>
              <a:t>E’ -&gt; + T E’ | ε</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099"/>
              <a:buFont typeface="Arial"/>
              <a:buNone/>
            </a:pPr>
            <a:r>
              <a:rPr b="0" i="0" lang="en-US" sz="3099" u="none" cap="none" strike="noStrike">
                <a:solidFill>
                  <a:srgbClr val="10B5BF"/>
                </a:solidFill>
                <a:latin typeface="Poppins Medium"/>
                <a:ea typeface="Poppins Medium"/>
                <a:cs typeface="Poppins Medium"/>
                <a:sym typeface="Poppins Medium"/>
              </a:rPr>
              <a:t>T -&gt; F T’</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099"/>
              <a:buFont typeface="Arial"/>
              <a:buNone/>
            </a:pPr>
            <a:r>
              <a:rPr b="0" i="0" lang="en-US" sz="3099" u="none" cap="none" strike="noStrike">
                <a:solidFill>
                  <a:srgbClr val="10B5BF"/>
                </a:solidFill>
                <a:latin typeface="Poppins Medium"/>
                <a:ea typeface="Poppins Medium"/>
                <a:cs typeface="Poppins Medium"/>
                <a:sym typeface="Poppins Medium"/>
              </a:rPr>
              <a:t>T’ -&gt; * F T’ | ε</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099"/>
              <a:buFont typeface="Arial"/>
              <a:buNone/>
            </a:pPr>
            <a:r>
              <a:rPr b="0" i="0" lang="en-US" sz="3099" u="none" cap="none" strike="noStrike">
                <a:solidFill>
                  <a:srgbClr val="10B5BF"/>
                </a:solidFill>
                <a:latin typeface="Poppins Medium"/>
                <a:ea typeface="Poppins Medium"/>
                <a:cs typeface="Poppins Medium"/>
                <a:sym typeface="Poppins Medium"/>
              </a:rPr>
              <a:t>F -&gt; ( E ) | id</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099"/>
              <a:buFont typeface="Arial"/>
              <a:buNone/>
            </a:pPr>
            <a:r>
              <a:rPr b="0" i="0" lang="en-US" sz="3099" u="none" cap="none" strike="noStrike">
                <a:solidFill>
                  <a:srgbClr val="10B5BF"/>
                </a:solidFill>
                <a:latin typeface="Poppins Medium"/>
                <a:ea typeface="Poppins Medium"/>
                <a:cs typeface="Poppins Medium"/>
                <a:sym typeface="Poppins Medium"/>
              </a:rPr>
              <a:t>Calcular los primeros</a:t>
            </a:r>
            <a:endParaRPr b="0" i="0" sz="1400" u="none" cap="none" strike="noStrike">
              <a:solidFill>
                <a:srgbClr val="000000"/>
              </a:solidFill>
              <a:latin typeface="Arial"/>
              <a:ea typeface="Arial"/>
              <a:cs typeface="Arial"/>
              <a:sym typeface="Arial"/>
            </a:endParaRPr>
          </a:p>
        </p:txBody>
      </p:sp>
      <p:sp>
        <p:nvSpPr>
          <p:cNvPr id="158" name="Google Shape;158;p8"/>
          <p:cNvSpPr txBox="1"/>
          <p:nvPr/>
        </p:nvSpPr>
        <p:spPr>
          <a:xfrm>
            <a:off x="1028700" y="1028700"/>
            <a:ext cx="14835430" cy="9048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5975"/>
              <a:buFont typeface="Arial"/>
              <a:buNone/>
            </a:pPr>
            <a:r>
              <a:rPr b="1" i="0" lang="en-US" sz="5975" u="none" cap="none" strike="noStrike">
                <a:solidFill>
                  <a:srgbClr val="FFFFFF"/>
                </a:solidFill>
                <a:latin typeface="Poppins"/>
                <a:ea typeface="Poppins"/>
                <a:cs typeface="Poppins"/>
                <a:sym typeface="Poppins"/>
              </a:rPr>
              <a:t>EJEMPLO</a:t>
            </a:r>
            <a:endParaRPr b="0" i="0" sz="1400" u="none" cap="none" strike="noStrike">
              <a:solidFill>
                <a:srgbClr val="000000"/>
              </a:solidFill>
              <a:latin typeface="Arial"/>
              <a:ea typeface="Arial"/>
              <a:cs typeface="Arial"/>
              <a:sym typeface="Arial"/>
            </a:endParaRPr>
          </a:p>
        </p:txBody>
      </p:sp>
      <p:sp>
        <p:nvSpPr>
          <p:cNvPr id="159" name="Google Shape;159;p8"/>
          <p:cNvSpPr txBox="1"/>
          <p:nvPr/>
        </p:nvSpPr>
        <p:spPr>
          <a:xfrm>
            <a:off x="8776669" y="1671865"/>
            <a:ext cx="8482631" cy="4667250"/>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Clr>
                <a:srgbClr val="000000"/>
              </a:buClr>
              <a:buSzPts val="3099"/>
              <a:buFont typeface="Arial"/>
              <a:buNone/>
            </a:pPr>
            <a:r>
              <a:rPr b="0" i="0" lang="en-US" sz="3099" u="none" cap="none" strike="noStrike">
                <a:solidFill>
                  <a:srgbClr val="FFFFFF"/>
                </a:solidFill>
                <a:latin typeface="Poppins Medium"/>
                <a:ea typeface="Poppins Medium"/>
                <a:cs typeface="Poppins Medium"/>
                <a:sym typeface="Poppins Medium"/>
              </a:rPr>
              <a:t>PRIMEROS(F) = { </a:t>
            </a:r>
            <a:r>
              <a:rPr b="0" i="0" lang="en-US" sz="3099" u="none" cap="none" strike="noStrike">
                <a:solidFill>
                  <a:srgbClr val="10B5BF"/>
                </a:solidFill>
                <a:latin typeface="Poppins Medium"/>
                <a:ea typeface="Poppins Medium"/>
                <a:cs typeface="Poppins Medium"/>
                <a:sym typeface="Poppins Medium"/>
              </a:rPr>
              <a:t>(</a:t>
            </a:r>
            <a:r>
              <a:rPr b="0" i="0" lang="en-US" sz="3099" u="none" cap="none" strike="noStrike">
                <a:solidFill>
                  <a:srgbClr val="FFFFFF"/>
                </a:solidFill>
                <a:latin typeface="Poppins Medium"/>
                <a:ea typeface="Poppins Medium"/>
                <a:cs typeface="Poppins Medium"/>
                <a:sym typeface="Poppins Medium"/>
              </a:rPr>
              <a:t>, </a:t>
            </a:r>
            <a:r>
              <a:rPr b="0" i="0" lang="en-US" sz="3099" u="none" cap="none" strike="noStrike">
                <a:solidFill>
                  <a:srgbClr val="10B5BF"/>
                </a:solidFill>
                <a:latin typeface="Poppins Medium"/>
                <a:ea typeface="Poppins Medium"/>
                <a:cs typeface="Poppins Medium"/>
                <a:sym typeface="Poppins Medium"/>
              </a:rPr>
              <a:t>id</a:t>
            </a:r>
            <a:r>
              <a:rPr b="0" i="0" lang="en-US" sz="3099" u="none" cap="none" strike="noStrike">
                <a:solidFill>
                  <a:srgbClr val="FFFFFF"/>
                </a:solidFill>
                <a:latin typeface="Poppins Medium"/>
                <a:ea typeface="Poppins Medium"/>
                <a:cs typeface="Poppins Medium"/>
                <a:sym typeface="Poppins Medium"/>
              </a:rPr>
              <a:t> }</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099"/>
              <a:buFont typeface="Arial"/>
              <a:buNone/>
            </a:pPr>
            <a:r>
              <a:t/>
            </a:r>
            <a:endParaRPr b="0" i="0" sz="3099" u="none" cap="none" strike="noStrike">
              <a:solidFill>
                <a:srgbClr val="FFFFFF"/>
              </a:solidFill>
              <a:latin typeface="Poppins Medium"/>
              <a:ea typeface="Poppins Medium"/>
              <a:cs typeface="Poppins Medium"/>
              <a:sym typeface="Poppins Medium"/>
            </a:endParaRPr>
          </a:p>
          <a:p>
            <a:pPr indent="0" lvl="0" marL="0" marR="0" rtl="0" algn="l">
              <a:lnSpc>
                <a:spcPct val="120006"/>
              </a:lnSpc>
              <a:spcBef>
                <a:spcPts val="0"/>
              </a:spcBef>
              <a:spcAft>
                <a:spcPts val="0"/>
              </a:spcAft>
              <a:buClr>
                <a:srgbClr val="000000"/>
              </a:buClr>
              <a:buSzPts val="3099"/>
              <a:buFont typeface="Arial"/>
              <a:buNone/>
            </a:pPr>
            <a:r>
              <a:rPr b="0" i="0" lang="en-US" sz="3099" u="none" cap="none" strike="noStrike">
                <a:solidFill>
                  <a:srgbClr val="FFFFFF"/>
                </a:solidFill>
                <a:latin typeface="Poppins Medium"/>
                <a:ea typeface="Poppins Medium"/>
                <a:cs typeface="Poppins Medium"/>
                <a:sym typeface="Poppins Medium"/>
              </a:rPr>
              <a:t>PRIMEROS(T’) = { </a:t>
            </a:r>
            <a:r>
              <a:rPr b="0" i="0" lang="en-US" sz="3099" u="none" cap="none" strike="noStrike">
                <a:solidFill>
                  <a:srgbClr val="10B5BF"/>
                </a:solidFill>
                <a:latin typeface="Poppins Medium"/>
                <a:ea typeface="Poppins Medium"/>
                <a:cs typeface="Poppins Medium"/>
                <a:sym typeface="Poppins Medium"/>
              </a:rPr>
              <a:t>*</a:t>
            </a:r>
            <a:r>
              <a:rPr b="0" i="0" lang="en-US" sz="3099" u="none" cap="none" strike="noStrike">
                <a:solidFill>
                  <a:srgbClr val="FFFFFF"/>
                </a:solidFill>
                <a:latin typeface="Poppins Medium"/>
                <a:ea typeface="Poppins Medium"/>
                <a:cs typeface="Poppins Medium"/>
                <a:sym typeface="Poppins Medium"/>
              </a:rPr>
              <a:t>, </a:t>
            </a:r>
            <a:r>
              <a:rPr b="0" i="0" lang="en-US" sz="3099" u="none" cap="none" strike="noStrike">
                <a:solidFill>
                  <a:srgbClr val="10B5BF"/>
                </a:solidFill>
                <a:latin typeface="Poppins Medium"/>
                <a:ea typeface="Poppins Medium"/>
                <a:cs typeface="Poppins Medium"/>
                <a:sym typeface="Poppins Medium"/>
              </a:rPr>
              <a:t>ε</a:t>
            </a:r>
            <a:r>
              <a:rPr b="0" i="0" lang="en-US" sz="3099" u="none" cap="none" strike="noStrike">
                <a:solidFill>
                  <a:srgbClr val="FFFFFF"/>
                </a:solidFill>
                <a:latin typeface="Poppins Medium"/>
                <a:ea typeface="Poppins Medium"/>
                <a:cs typeface="Poppins Medium"/>
                <a:sym typeface="Poppins Medium"/>
              </a:rPr>
              <a:t> }</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099"/>
              <a:buFont typeface="Arial"/>
              <a:buNone/>
            </a:pPr>
            <a:r>
              <a:t/>
            </a:r>
            <a:endParaRPr b="0" i="0" sz="3099" u="none" cap="none" strike="noStrike">
              <a:solidFill>
                <a:srgbClr val="FFFFFF"/>
              </a:solidFill>
              <a:latin typeface="Poppins Medium"/>
              <a:ea typeface="Poppins Medium"/>
              <a:cs typeface="Poppins Medium"/>
              <a:sym typeface="Poppins Medium"/>
            </a:endParaRPr>
          </a:p>
          <a:p>
            <a:pPr indent="0" lvl="0" marL="0" marR="0" rtl="0" algn="l">
              <a:lnSpc>
                <a:spcPct val="120006"/>
              </a:lnSpc>
              <a:spcBef>
                <a:spcPts val="0"/>
              </a:spcBef>
              <a:spcAft>
                <a:spcPts val="0"/>
              </a:spcAft>
              <a:buClr>
                <a:srgbClr val="000000"/>
              </a:buClr>
              <a:buSzPts val="3099"/>
              <a:buFont typeface="Arial"/>
              <a:buNone/>
            </a:pPr>
            <a:r>
              <a:rPr b="0" i="0" lang="en-US" sz="3099" u="none" cap="none" strike="noStrike">
                <a:solidFill>
                  <a:srgbClr val="FFFFFF"/>
                </a:solidFill>
                <a:latin typeface="Poppins Medium"/>
                <a:ea typeface="Poppins Medium"/>
                <a:cs typeface="Poppins Medium"/>
                <a:sym typeface="Poppins Medium"/>
              </a:rPr>
              <a:t>PRIMEROS(T) = PRIMEROS(F) = { </a:t>
            </a:r>
            <a:r>
              <a:rPr b="0" i="0" lang="en-US" sz="3099" u="none" cap="none" strike="noStrike">
                <a:solidFill>
                  <a:srgbClr val="10B5BF"/>
                </a:solidFill>
                <a:latin typeface="Poppins Medium"/>
                <a:ea typeface="Poppins Medium"/>
                <a:cs typeface="Poppins Medium"/>
                <a:sym typeface="Poppins Medium"/>
              </a:rPr>
              <a:t>(</a:t>
            </a:r>
            <a:r>
              <a:rPr b="0" i="0" lang="en-US" sz="3099" u="none" cap="none" strike="noStrike">
                <a:solidFill>
                  <a:srgbClr val="FFFFFF"/>
                </a:solidFill>
                <a:latin typeface="Poppins Medium"/>
                <a:ea typeface="Poppins Medium"/>
                <a:cs typeface="Poppins Medium"/>
                <a:sym typeface="Poppins Medium"/>
              </a:rPr>
              <a:t>, </a:t>
            </a:r>
            <a:r>
              <a:rPr b="0" i="0" lang="en-US" sz="3099" u="none" cap="none" strike="noStrike">
                <a:solidFill>
                  <a:srgbClr val="10B5BF"/>
                </a:solidFill>
                <a:latin typeface="Poppins Medium"/>
                <a:ea typeface="Poppins Medium"/>
                <a:cs typeface="Poppins Medium"/>
                <a:sym typeface="Poppins Medium"/>
              </a:rPr>
              <a:t>id</a:t>
            </a:r>
            <a:r>
              <a:rPr b="0" i="0" lang="en-US" sz="3099" u="none" cap="none" strike="noStrike">
                <a:solidFill>
                  <a:srgbClr val="FFFFFF"/>
                </a:solidFill>
                <a:latin typeface="Poppins Medium"/>
                <a:ea typeface="Poppins Medium"/>
                <a:cs typeface="Poppins Medium"/>
                <a:sym typeface="Poppins Medium"/>
              </a:rPr>
              <a:t> }</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099"/>
              <a:buFont typeface="Arial"/>
              <a:buNone/>
            </a:pPr>
            <a:r>
              <a:t/>
            </a:r>
            <a:endParaRPr b="0" i="0" sz="3099" u="none" cap="none" strike="noStrike">
              <a:solidFill>
                <a:srgbClr val="FFFFFF"/>
              </a:solidFill>
              <a:latin typeface="Poppins Medium"/>
              <a:ea typeface="Poppins Medium"/>
              <a:cs typeface="Poppins Medium"/>
              <a:sym typeface="Poppins Medium"/>
            </a:endParaRPr>
          </a:p>
          <a:p>
            <a:pPr indent="0" lvl="0" marL="0" marR="0" rtl="0" algn="l">
              <a:lnSpc>
                <a:spcPct val="120006"/>
              </a:lnSpc>
              <a:spcBef>
                <a:spcPts val="0"/>
              </a:spcBef>
              <a:spcAft>
                <a:spcPts val="0"/>
              </a:spcAft>
              <a:buClr>
                <a:srgbClr val="000000"/>
              </a:buClr>
              <a:buSzPts val="3099"/>
              <a:buFont typeface="Arial"/>
              <a:buNone/>
            </a:pPr>
            <a:r>
              <a:rPr b="0" i="0" lang="en-US" sz="3099" u="none" cap="none" strike="noStrike">
                <a:solidFill>
                  <a:srgbClr val="FFFFFF"/>
                </a:solidFill>
                <a:latin typeface="Poppins Medium"/>
                <a:ea typeface="Poppins Medium"/>
                <a:cs typeface="Poppins Medium"/>
                <a:sym typeface="Poppins Medium"/>
              </a:rPr>
              <a:t>PRIMEROS(E’) = { </a:t>
            </a:r>
            <a:r>
              <a:rPr b="0" i="0" lang="en-US" sz="3099" u="none" cap="none" strike="noStrike">
                <a:solidFill>
                  <a:srgbClr val="10B5BF"/>
                </a:solidFill>
                <a:latin typeface="Poppins Medium"/>
                <a:ea typeface="Poppins Medium"/>
                <a:cs typeface="Poppins Medium"/>
                <a:sym typeface="Poppins Medium"/>
              </a:rPr>
              <a:t>+</a:t>
            </a:r>
            <a:r>
              <a:rPr b="0" i="0" lang="en-US" sz="3099" u="none" cap="none" strike="noStrike">
                <a:solidFill>
                  <a:srgbClr val="FFFFFF"/>
                </a:solidFill>
                <a:latin typeface="Poppins Medium"/>
                <a:ea typeface="Poppins Medium"/>
                <a:cs typeface="Poppins Medium"/>
                <a:sym typeface="Poppins Medium"/>
              </a:rPr>
              <a:t>, </a:t>
            </a:r>
            <a:r>
              <a:rPr b="0" i="0" lang="en-US" sz="3099" u="none" cap="none" strike="noStrike">
                <a:solidFill>
                  <a:srgbClr val="10B5BF"/>
                </a:solidFill>
                <a:latin typeface="Poppins Medium"/>
                <a:ea typeface="Poppins Medium"/>
                <a:cs typeface="Poppins Medium"/>
                <a:sym typeface="Poppins Medium"/>
              </a:rPr>
              <a:t>ε</a:t>
            </a:r>
            <a:r>
              <a:rPr b="0" i="0" lang="en-US" sz="3099" u="none" cap="none" strike="noStrike">
                <a:solidFill>
                  <a:srgbClr val="FFFFFF"/>
                </a:solidFill>
                <a:latin typeface="Poppins Medium"/>
                <a:ea typeface="Poppins Medium"/>
                <a:cs typeface="Poppins Medium"/>
                <a:sym typeface="Poppins Medium"/>
              </a:rPr>
              <a:t> }</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099"/>
              <a:buFont typeface="Arial"/>
              <a:buNone/>
            </a:pPr>
            <a:r>
              <a:t/>
            </a:r>
            <a:endParaRPr b="0" i="0" sz="3099" u="none" cap="none" strike="noStrike">
              <a:solidFill>
                <a:srgbClr val="FFFFFF"/>
              </a:solidFill>
              <a:latin typeface="Poppins Medium"/>
              <a:ea typeface="Poppins Medium"/>
              <a:cs typeface="Poppins Medium"/>
              <a:sym typeface="Poppins Medium"/>
            </a:endParaRPr>
          </a:p>
          <a:p>
            <a:pPr indent="0" lvl="0" marL="0" marR="0" rtl="0" algn="l">
              <a:lnSpc>
                <a:spcPct val="120006"/>
              </a:lnSpc>
              <a:spcBef>
                <a:spcPts val="0"/>
              </a:spcBef>
              <a:spcAft>
                <a:spcPts val="0"/>
              </a:spcAft>
              <a:buClr>
                <a:srgbClr val="000000"/>
              </a:buClr>
              <a:buSzPts val="3099"/>
              <a:buFont typeface="Arial"/>
              <a:buNone/>
            </a:pPr>
            <a:r>
              <a:rPr b="0" i="0" lang="en-US" sz="3099" u="none" cap="none" strike="noStrike">
                <a:solidFill>
                  <a:srgbClr val="FFFFFF"/>
                </a:solidFill>
                <a:latin typeface="Poppins Medium"/>
                <a:ea typeface="Poppins Medium"/>
                <a:cs typeface="Poppins Medium"/>
                <a:sym typeface="Poppins Medium"/>
              </a:rPr>
              <a:t>PRIMEROS(E) = PRIMEROS(T) = { </a:t>
            </a:r>
            <a:r>
              <a:rPr b="0" i="0" lang="en-US" sz="3099" u="none" cap="none" strike="noStrike">
                <a:solidFill>
                  <a:srgbClr val="10B5BF"/>
                </a:solidFill>
                <a:latin typeface="Poppins Medium"/>
                <a:ea typeface="Poppins Medium"/>
                <a:cs typeface="Poppins Medium"/>
                <a:sym typeface="Poppins Medium"/>
              </a:rPr>
              <a:t>(</a:t>
            </a:r>
            <a:r>
              <a:rPr b="0" i="0" lang="en-US" sz="3099" u="none" cap="none" strike="noStrike">
                <a:solidFill>
                  <a:srgbClr val="FFFFFF"/>
                </a:solidFill>
                <a:latin typeface="Poppins Medium"/>
                <a:ea typeface="Poppins Medium"/>
                <a:cs typeface="Poppins Medium"/>
                <a:sym typeface="Poppins Medium"/>
              </a:rPr>
              <a:t>, </a:t>
            </a:r>
            <a:r>
              <a:rPr b="0" i="0" lang="en-US" sz="3099" u="none" cap="none" strike="noStrike">
                <a:solidFill>
                  <a:srgbClr val="10B5BF"/>
                </a:solidFill>
                <a:latin typeface="Poppins Medium"/>
                <a:ea typeface="Poppins Medium"/>
                <a:cs typeface="Poppins Medium"/>
                <a:sym typeface="Poppins Medium"/>
              </a:rPr>
              <a:t>id</a:t>
            </a:r>
            <a:r>
              <a:rPr b="0" i="0" lang="en-US" sz="3099" u="none" cap="none" strike="noStrike">
                <a:solidFill>
                  <a:srgbClr val="FFFFFF"/>
                </a:solidFill>
                <a:latin typeface="Poppins Medium"/>
                <a:ea typeface="Poppins Medium"/>
                <a:cs typeface="Poppins Medium"/>
                <a:sym typeface="Poppins Medium"/>
              </a:rPr>
              <a:t> }</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099"/>
              <a:buFont typeface="Arial"/>
              <a:buNone/>
            </a:pPr>
            <a:r>
              <a:t/>
            </a:r>
            <a:endParaRPr b="0" i="0" sz="3099" u="none" cap="none" strike="noStrike">
              <a:solidFill>
                <a:srgbClr val="FFFFFF"/>
              </a:solidFill>
              <a:latin typeface="Poppins Medium"/>
              <a:ea typeface="Poppins Medium"/>
              <a:cs typeface="Poppins Medium"/>
              <a:sym typeface="Poppins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63" name="Shape 163"/>
        <p:cNvGrpSpPr/>
        <p:nvPr/>
      </p:nvGrpSpPr>
      <p:grpSpPr>
        <a:xfrm>
          <a:off x="0" y="0"/>
          <a:ext cx="0" cy="0"/>
          <a:chOff x="0" y="0"/>
          <a:chExt cx="0" cy="0"/>
        </a:xfrm>
      </p:grpSpPr>
      <p:cxnSp>
        <p:nvCxnSpPr>
          <p:cNvPr id="164" name="Google Shape;164;p9"/>
          <p:cNvCxnSpPr/>
          <p:nvPr/>
        </p:nvCxnSpPr>
        <p:spPr>
          <a:xfrm>
            <a:off x="1738415" y="2912596"/>
            <a:ext cx="14811170" cy="0"/>
          </a:xfrm>
          <a:prstGeom prst="straightConnector1">
            <a:avLst/>
          </a:prstGeom>
          <a:noFill/>
          <a:ln cap="rnd" cmpd="sng" w="19050">
            <a:solidFill>
              <a:srgbClr val="10B5BF"/>
            </a:solidFill>
            <a:prstDash val="solid"/>
            <a:round/>
            <a:headEnd len="sm" w="sm" type="none"/>
            <a:tailEnd len="sm" w="sm" type="none"/>
          </a:ln>
        </p:spPr>
      </p:cxnSp>
      <p:grpSp>
        <p:nvGrpSpPr>
          <p:cNvPr id="165" name="Google Shape;165;p9"/>
          <p:cNvGrpSpPr/>
          <p:nvPr/>
        </p:nvGrpSpPr>
        <p:grpSpPr>
          <a:xfrm>
            <a:off x="3181048" y="4749938"/>
            <a:ext cx="11925904" cy="3458902"/>
            <a:chOff x="0" y="0"/>
            <a:chExt cx="15901205" cy="4611868"/>
          </a:xfrm>
        </p:grpSpPr>
        <p:sp>
          <p:nvSpPr>
            <p:cNvPr id="166" name="Google Shape;166;p9"/>
            <p:cNvSpPr/>
            <p:nvPr/>
          </p:nvSpPr>
          <p:spPr>
            <a:xfrm>
              <a:off x="0" y="0"/>
              <a:ext cx="15901205" cy="2287710"/>
            </a:xfrm>
            <a:custGeom>
              <a:rect b="b" l="l" r="r" t="t"/>
              <a:pathLst>
                <a:path extrusionOk="0" h="2287710" w="15901205">
                  <a:moveTo>
                    <a:pt x="0" y="0"/>
                  </a:moveTo>
                  <a:lnTo>
                    <a:pt x="15901205" y="0"/>
                  </a:lnTo>
                  <a:lnTo>
                    <a:pt x="15901205" y="2287710"/>
                  </a:lnTo>
                  <a:lnTo>
                    <a:pt x="0" y="2287710"/>
                  </a:lnTo>
                  <a:lnTo>
                    <a:pt x="0" y="0"/>
                  </a:lnTo>
                  <a:close/>
                </a:path>
              </a:pathLst>
            </a:custGeom>
            <a:blipFill rotWithShape="1">
              <a:blip r:embed="rId3">
                <a:alphaModFix/>
              </a:blip>
              <a:stretch>
                <a:fillRect b="-298295" l="0" r="0" t="0"/>
              </a:stretch>
            </a:blipFill>
            <a:ln>
              <a:noFill/>
            </a:ln>
          </p:spPr>
        </p:sp>
        <p:sp>
          <p:nvSpPr>
            <p:cNvPr id="167" name="Google Shape;167;p9"/>
            <p:cNvSpPr/>
            <p:nvPr/>
          </p:nvSpPr>
          <p:spPr>
            <a:xfrm>
              <a:off x="1058963" y="2287710"/>
              <a:ext cx="14842242" cy="2324158"/>
            </a:xfrm>
            <a:custGeom>
              <a:rect b="b" l="l" r="r" t="t"/>
              <a:pathLst>
                <a:path extrusionOk="0" h="2324158" w="14842242">
                  <a:moveTo>
                    <a:pt x="0" y="0"/>
                  </a:moveTo>
                  <a:lnTo>
                    <a:pt x="14842242" y="0"/>
                  </a:lnTo>
                  <a:lnTo>
                    <a:pt x="14842242" y="2324157"/>
                  </a:lnTo>
                  <a:lnTo>
                    <a:pt x="0" y="2324157"/>
                  </a:lnTo>
                  <a:lnTo>
                    <a:pt x="0" y="0"/>
                  </a:lnTo>
                  <a:close/>
                </a:path>
              </a:pathLst>
            </a:custGeom>
            <a:blipFill rotWithShape="1">
              <a:blip r:embed="rId3">
                <a:alphaModFix/>
              </a:blip>
              <a:stretch>
                <a:fillRect b="0" l="0" r="-7130" t="-292049"/>
              </a:stretch>
            </a:blipFill>
            <a:ln>
              <a:noFill/>
            </a:ln>
          </p:spPr>
        </p:sp>
        <p:sp>
          <p:nvSpPr>
            <p:cNvPr id="168" name="Google Shape;168;p9"/>
            <p:cNvSpPr/>
            <p:nvPr/>
          </p:nvSpPr>
          <p:spPr>
            <a:xfrm>
              <a:off x="0" y="2287710"/>
              <a:ext cx="1058963" cy="2324158"/>
            </a:xfrm>
            <a:custGeom>
              <a:rect b="b" l="l" r="r" t="t"/>
              <a:pathLst>
                <a:path extrusionOk="0" h="2324158" w="1058963">
                  <a:moveTo>
                    <a:pt x="0" y="0"/>
                  </a:moveTo>
                  <a:lnTo>
                    <a:pt x="1058963" y="0"/>
                  </a:lnTo>
                  <a:lnTo>
                    <a:pt x="1058963" y="2324157"/>
                  </a:lnTo>
                  <a:lnTo>
                    <a:pt x="0" y="2324157"/>
                  </a:lnTo>
                  <a:lnTo>
                    <a:pt x="0" y="0"/>
                  </a:lnTo>
                  <a:close/>
                </a:path>
              </a:pathLst>
            </a:custGeom>
            <a:blipFill rotWithShape="1">
              <a:blip r:embed="rId4">
                <a:alphaModFix/>
              </a:blip>
              <a:stretch>
                <a:fillRect b="-327281" l="-75233" r="-1950619" t="-145128"/>
              </a:stretch>
            </a:blipFill>
            <a:ln>
              <a:noFill/>
            </a:ln>
          </p:spPr>
        </p:sp>
      </p:grpSp>
      <p:sp>
        <p:nvSpPr>
          <p:cNvPr id="169" name="Google Shape;169;p9"/>
          <p:cNvSpPr txBox="1"/>
          <p:nvPr/>
        </p:nvSpPr>
        <p:spPr>
          <a:xfrm>
            <a:off x="1738415" y="1336209"/>
            <a:ext cx="14811170" cy="105727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000"/>
              <a:buFont typeface="Arial"/>
              <a:buNone/>
            </a:pPr>
            <a:r>
              <a:rPr b="1" i="0" lang="en-US" sz="7000" u="none" cap="none" strike="noStrike">
                <a:solidFill>
                  <a:srgbClr val="FFFFFF"/>
                </a:solidFill>
                <a:latin typeface="Poppins"/>
                <a:ea typeface="Poppins"/>
                <a:cs typeface="Poppins"/>
                <a:sym typeface="Poppins"/>
              </a:rPr>
              <a:t>Calculo de siguientes</a:t>
            </a:r>
            <a:endParaRPr b="0" i="0" sz="1400" u="none" cap="none" strike="noStrike">
              <a:solidFill>
                <a:srgbClr val="000000"/>
              </a:solidFill>
              <a:latin typeface="Arial"/>
              <a:ea typeface="Arial"/>
              <a:cs typeface="Arial"/>
              <a:sym typeface="Arial"/>
            </a:endParaRPr>
          </a:p>
        </p:txBody>
      </p:sp>
      <p:sp>
        <p:nvSpPr>
          <p:cNvPr id="170" name="Google Shape;170;p9"/>
          <p:cNvSpPr txBox="1"/>
          <p:nvPr/>
        </p:nvSpPr>
        <p:spPr>
          <a:xfrm>
            <a:off x="1738415" y="3178948"/>
            <a:ext cx="14811170" cy="105664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Devuelve el conjunto de símbolos terminales que pueden aparecer inmediatamente después de un símbolo no terminal en una gramática.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74" name="Shape 174"/>
        <p:cNvGrpSpPr/>
        <p:nvPr/>
      </p:nvGrpSpPr>
      <p:grpSpPr>
        <a:xfrm>
          <a:off x="0" y="0"/>
          <a:ext cx="0" cy="0"/>
          <a:chOff x="0" y="0"/>
          <a:chExt cx="0" cy="0"/>
        </a:xfrm>
      </p:grpSpPr>
      <p:cxnSp>
        <p:nvCxnSpPr>
          <p:cNvPr id="175" name="Google Shape;175;p10"/>
          <p:cNvCxnSpPr/>
          <p:nvPr/>
        </p:nvCxnSpPr>
        <p:spPr>
          <a:xfrm>
            <a:off x="1738415" y="2912596"/>
            <a:ext cx="14811170" cy="0"/>
          </a:xfrm>
          <a:prstGeom prst="straightConnector1">
            <a:avLst/>
          </a:prstGeom>
          <a:noFill/>
          <a:ln cap="rnd" cmpd="sng" w="19050">
            <a:solidFill>
              <a:srgbClr val="10B5BF"/>
            </a:solidFill>
            <a:prstDash val="solid"/>
            <a:round/>
            <a:headEnd len="sm" w="sm" type="none"/>
            <a:tailEnd len="sm" w="sm" type="none"/>
          </a:ln>
        </p:spPr>
      </p:cxnSp>
      <p:sp>
        <p:nvSpPr>
          <p:cNvPr id="176" name="Google Shape;176;p10"/>
          <p:cNvSpPr txBox="1"/>
          <p:nvPr/>
        </p:nvSpPr>
        <p:spPr>
          <a:xfrm>
            <a:off x="1738415" y="1336209"/>
            <a:ext cx="14811170" cy="105727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000"/>
              <a:buFont typeface="Arial"/>
              <a:buNone/>
            </a:pPr>
            <a:r>
              <a:rPr b="1" i="0" lang="en-US" sz="7000" u="none" cap="none" strike="noStrike">
                <a:solidFill>
                  <a:srgbClr val="FFFFFF"/>
                </a:solidFill>
                <a:latin typeface="Poppins"/>
                <a:ea typeface="Poppins"/>
                <a:cs typeface="Poppins"/>
                <a:sym typeface="Poppins"/>
              </a:rPr>
              <a:t>Calculo de siguientes</a:t>
            </a:r>
            <a:endParaRPr b="0" i="0" sz="1400" u="none" cap="none" strike="noStrike">
              <a:solidFill>
                <a:srgbClr val="000000"/>
              </a:solidFill>
              <a:latin typeface="Arial"/>
              <a:ea typeface="Arial"/>
              <a:cs typeface="Arial"/>
              <a:sym typeface="Arial"/>
            </a:endParaRPr>
          </a:p>
        </p:txBody>
      </p:sp>
      <p:sp>
        <p:nvSpPr>
          <p:cNvPr id="177" name="Google Shape;177;p10"/>
          <p:cNvSpPr txBox="1"/>
          <p:nvPr/>
        </p:nvSpPr>
        <p:spPr>
          <a:xfrm>
            <a:off x="1738415" y="3092693"/>
            <a:ext cx="14811170" cy="52324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10D3F9"/>
                </a:solidFill>
                <a:latin typeface="Poppins Light"/>
                <a:ea typeface="Poppins Light"/>
                <a:cs typeface="Poppins Light"/>
                <a:sym typeface="Poppins Light"/>
              </a:rPr>
              <a:t>En otras palabras:</a:t>
            </a:r>
            <a:endParaRPr b="0" i="0" sz="1400" u="none" cap="none" strike="noStrike">
              <a:solidFill>
                <a:srgbClr val="000000"/>
              </a:solidFill>
              <a:latin typeface="Arial"/>
              <a:ea typeface="Arial"/>
              <a:cs typeface="Arial"/>
              <a:sym typeface="Arial"/>
            </a:endParaRPr>
          </a:p>
        </p:txBody>
      </p:sp>
      <p:sp>
        <p:nvSpPr>
          <p:cNvPr id="178" name="Google Shape;178;p10"/>
          <p:cNvSpPr txBox="1"/>
          <p:nvPr/>
        </p:nvSpPr>
        <p:spPr>
          <a:xfrm>
            <a:off x="1643981" y="4617394"/>
            <a:ext cx="14811170" cy="2123440"/>
          </a:xfrm>
          <a:prstGeom prst="rect">
            <a:avLst/>
          </a:prstGeom>
          <a:noFill/>
          <a:ln>
            <a:noFill/>
          </a:ln>
        </p:spPr>
        <p:txBody>
          <a:bodyPr anchorCtr="0" anchor="t" bIns="0" lIns="0" spcFirstLastPara="1" rIns="0" wrap="square" tIns="0">
            <a:spAutoFit/>
          </a:bodyPr>
          <a:lstStyle/>
          <a:p>
            <a:pPr indent="-326548" lvl="1" marL="653095" marR="0" rtl="0" algn="just">
              <a:lnSpc>
                <a:spcPct val="140013"/>
              </a:lnSpc>
              <a:spcBef>
                <a:spcPts val="0"/>
              </a:spcBef>
              <a:spcAft>
                <a:spcPts val="0"/>
              </a:spcAft>
              <a:buClr>
                <a:srgbClr val="FFFFFF"/>
              </a:buClr>
              <a:buSzPts val="3024"/>
              <a:buFont typeface="Poppins Light"/>
              <a:buAutoNum type="arabicPeriod"/>
            </a:pPr>
            <a:r>
              <a:rPr b="0" i="0" lang="en-US" sz="3024" u="none" cap="none" strike="noStrike">
                <a:solidFill>
                  <a:srgbClr val="FFFFFF"/>
                </a:solidFill>
                <a:latin typeface="Poppins Light"/>
                <a:ea typeface="Poppins Light"/>
                <a:cs typeface="Poppins Light"/>
                <a:sym typeface="Poppins Light"/>
              </a:rPr>
              <a:t>Colocar $ en Siguiente(S), donde S es el símbolo inicial</a:t>
            </a:r>
            <a:endParaRPr b="0" i="0" sz="1400" u="none" cap="none" strike="noStrike">
              <a:solidFill>
                <a:srgbClr val="000000"/>
              </a:solidFill>
              <a:latin typeface="Arial"/>
              <a:ea typeface="Arial"/>
              <a:cs typeface="Arial"/>
              <a:sym typeface="Arial"/>
            </a:endParaRPr>
          </a:p>
          <a:p>
            <a:pPr indent="-326548" lvl="1" marL="653095" marR="0" rtl="0" algn="just">
              <a:lnSpc>
                <a:spcPct val="140013"/>
              </a:lnSpc>
              <a:spcBef>
                <a:spcPts val="0"/>
              </a:spcBef>
              <a:spcAft>
                <a:spcPts val="0"/>
              </a:spcAft>
              <a:buClr>
                <a:srgbClr val="FFFFFF"/>
              </a:buClr>
              <a:buSzPts val="3024"/>
              <a:buFont typeface="Poppins Light"/>
              <a:buAutoNum type="arabicPeriod"/>
            </a:pPr>
            <a:r>
              <a:rPr b="0" i="0" lang="en-US" sz="3024" u="none" cap="none" strike="noStrike">
                <a:solidFill>
                  <a:srgbClr val="FFFFFF"/>
                </a:solidFill>
                <a:latin typeface="Poppins Light"/>
                <a:ea typeface="Poppins Light"/>
                <a:cs typeface="Poppins Light"/>
                <a:sym typeface="Poppins Light"/>
              </a:rPr>
              <a:t>Si A -&gt; aBb, entonces Siguiente(B) contiene Primero(b) excepto ε</a:t>
            </a:r>
            <a:endParaRPr b="0" i="0" sz="1400" u="none" cap="none" strike="noStrike">
              <a:solidFill>
                <a:srgbClr val="000000"/>
              </a:solidFill>
              <a:latin typeface="Arial"/>
              <a:ea typeface="Arial"/>
              <a:cs typeface="Arial"/>
              <a:sym typeface="Arial"/>
            </a:endParaRPr>
          </a:p>
          <a:p>
            <a:pPr indent="-326548" lvl="1" marL="653095" marR="0" rtl="0" algn="just">
              <a:lnSpc>
                <a:spcPct val="140013"/>
              </a:lnSpc>
              <a:spcBef>
                <a:spcPts val="0"/>
              </a:spcBef>
              <a:spcAft>
                <a:spcPts val="0"/>
              </a:spcAft>
              <a:buClr>
                <a:srgbClr val="FFFFFF"/>
              </a:buClr>
              <a:buSzPts val="3024"/>
              <a:buFont typeface="Poppins Light"/>
              <a:buAutoNum type="arabicPeriod"/>
            </a:pPr>
            <a:r>
              <a:rPr b="0" i="0" lang="en-US" sz="3024" u="none" cap="none" strike="noStrike">
                <a:solidFill>
                  <a:srgbClr val="FFFFFF"/>
                </a:solidFill>
                <a:latin typeface="Poppins Light"/>
                <a:ea typeface="Poppins Light"/>
                <a:cs typeface="Poppins Light"/>
                <a:sym typeface="Poppins Light"/>
              </a:rPr>
              <a:t>Si A -&gt; aB o A -&gt; aBb, donde Primero(b) contiene ε, entonces Siguiente(B) contendrá a Siguiente(A).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82" name="Shape 182"/>
        <p:cNvGrpSpPr/>
        <p:nvPr/>
      </p:nvGrpSpPr>
      <p:grpSpPr>
        <a:xfrm>
          <a:off x="0" y="0"/>
          <a:ext cx="0" cy="0"/>
          <a:chOff x="0" y="0"/>
          <a:chExt cx="0" cy="0"/>
        </a:xfrm>
      </p:grpSpPr>
      <p:sp>
        <p:nvSpPr>
          <p:cNvPr id="183" name="Google Shape;183;p11"/>
          <p:cNvSpPr/>
          <p:nvPr/>
        </p:nvSpPr>
        <p:spPr>
          <a:xfrm>
            <a:off x="8805862" y="6432793"/>
            <a:ext cx="8254246" cy="3577588"/>
          </a:xfrm>
          <a:custGeom>
            <a:rect b="b" l="l" r="r" t="t"/>
            <a:pathLst>
              <a:path extrusionOk="0" h="3577588" w="8254246">
                <a:moveTo>
                  <a:pt x="0" y="0"/>
                </a:moveTo>
                <a:lnTo>
                  <a:pt x="8254246" y="0"/>
                </a:lnTo>
                <a:lnTo>
                  <a:pt x="8254246" y="3577588"/>
                </a:lnTo>
                <a:lnTo>
                  <a:pt x="0" y="3577588"/>
                </a:lnTo>
                <a:lnTo>
                  <a:pt x="0" y="0"/>
                </a:lnTo>
                <a:close/>
              </a:path>
            </a:pathLst>
          </a:custGeom>
          <a:blipFill rotWithShape="1">
            <a:blip r:embed="rId3">
              <a:alphaModFix/>
            </a:blip>
            <a:stretch>
              <a:fillRect b="0" l="0" r="0" t="0"/>
            </a:stretch>
          </a:blipFill>
          <a:ln>
            <a:noFill/>
          </a:ln>
        </p:spPr>
      </p:sp>
      <p:sp>
        <p:nvSpPr>
          <p:cNvPr id="184" name="Google Shape;184;p11"/>
          <p:cNvSpPr txBox="1"/>
          <p:nvPr/>
        </p:nvSpPr>
        <p:spPr>
          <a:xfrm>
            <a:off x="1563559" y="2559153"/>
            <a:ext cx="4616860" cy="3267075"/>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Clr>
                <a:srgbClr val="000000"/>
              </a:buClr>
              <a:buSzPts val="3099"/>
              <a:buFont typeface="Arial"/>
              <a:buNone/>
            </a:pPr>
            <a:r>
              <a:rPr b="0" i="0" lang="en-US" sz="3099" u="none" cap="none" strike="noStrike">
                <a:solidFill>
                  <a:srgbClr val="10B5BF"/>
                </a:solidFill>
                <a:latin typeface="Poppins Medium"/>
                <a:ea typeface="Poppins Medium"/>
                <a:cs typeface="Poppins Medium"/>
                <a:sym typeface="Poppins Medium"/>
              </a:rPr>
              <a:t>Sea la gramática</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099"/>
              <a:buFont typeface="Arial"/>
              <a:buNone/>
            </a:pPr>
            <a:r>
              <a:rPr b="0" i="0" lang="en-US" sz="3099" u="none" cap="none" strike="noStrike">
                <a:solidFill>
                  <a:srgbClr val="10B5BF"/>
                </a:solidFill>
                <a:latin typeface="Poppins Medium"/>
                <a:ea typeface="Poppins Medium"/>
                <a:cs typeface="Poppins Medium"/>
                <a:sym typeface="Poppins Medium"/>
              </a:rPr>
              <a:t>E -&gt; T E’</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099"/>
              <a:buFont typeface="Arial"/>
              <a:buNone/>
            </a:pPr>
            <a:r>
              <a:rPr b="0" i="0" lang="en-US" sz="3099" u="none" cap="none" strike="noStrike">
                <a:solidFill>
                  <a:srgbClr val="10B5BF"/>
                </a:solidFill>
                <a:latin typeface="Poppins Medium"/>
                <a:ea typeface="Poppins Medium"/>
                <a:cs typeface="Poppins Medium"/>
                <a:sym typeface="Poppins Medium"/>
              </a:rPr>
              <a:t>E’ -&gt; + T E’ | ε</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099"/>
              <a:buFont typeface="Arial"/>
              <a:buNone/>
            </a:pPr>
            <a:r>
              <a:rPr b="0" i="0" lang="en-US" sz="3099" u="none" cap="none" strike="noStrike">
                <a:solidFill>
                  <a:srgbClr val="10B5BF"/>
                </a:solidFill>
                <a:latin typeface="Poppins Medium"/>
                <a:ea typeface="Poppins Medium"/>
                <a:cs typeface="Poppins Medium"/>
                <a:sym typeface="Poppins Medium"/>
              </a:rPr>
              <a:t>T -&gt; F T’</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099"/>
              <a:buFont typeface="Arial"/>
              <a:buNone/>
            </a:pPr>
            <a:r>
              <a:rPr b="0" i="0" lang="en-US" sz="3099" u="none" cap="none" strike="noStrike">
                <a:solidFill>
                  <a:srgbClr val="10B5BF"/>
                </a:solidFill>
                <a:latin typeface="Poppins Medium"/>
                <a:ea typeface="Poppins Medium"/>
                <a:cs typeface="Poppins Medium"/>
                <a:sym typeface="Poppins Medium"/>
              </a:rPr>
              <a:t>T’ -&gt; * F T’ | ε</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099"/>
              <a:buFont typeface="Arial"/>
              <a:buNone/>
            </a:pPr>
            <a:r>
              <a:rPr b="0" i="0" lang="en-US" sz="3099" u="none" cap="none" strike="noStrike">
                <a:solidFill>
                  <a:srgbClr val="10B5BF"/>
                </a:solidFill>
                <a:latin typeface="Poppins Medium"/>
                <a:ea typeface="Poppins Medium"/>
                <a:cs typeface="Poppins Medium"/>
                <a:sym typeface="Poppins Medium"/>
              </a:rPr>
              <a:t>F -&gt; ( E ) | id</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099"/>
              <a:buFont typeface="Arial"/>
              <a:buNone/>
            </a:pPr>
            <a:r>
              <a:rPr b="0" i="0" lang="en-US" sz="3099" u="none" cap="none" strike="noStrike">
                <a:solidFill>
                  <a:srgbClr val="10B5BF"/>
                </a:solidFill>
                <a:latin typeface="Poppins Medium"/>
                <a:ea typeface="Poppins Medium"/>
                <a:cs typeface="Poppins Medium"/>
                <a:sym typeface="Poppins Medium"/>
              </a:rPr>
              <a:t>Calcular los siguientes</a:t>
            </a:r>
            <a:endParaRPr b="0" i="0" sz="1400" u="none" cap="none" strike="noStrike">
              <a:solidFill>
                <a:srgbClr val="000000"/>
              </a:solidFill>
              <a:latin typeface="Arial"/>
              <a:ea typeface="Arial"/>
              <a:cs typeface="Arial"/>
              <a:sym typeface="Arial"/>
            </a:endParaRPr>
          </a:p>
        </p:txBody>
      </p:sp>
      <p:sp>
        <p:nvSpPr>
          <p:cNvPr id="185" name="Google Shape;185;p11"/>
          <p:cNvSpPr txBox="1"/>
          <p:nvPr/>
        </p:nvSpPr>
        <p:spPr>
          <a:xfrm>
            <a:off x="1028700" y="1028700"/>
            <a:ext cx="14835430" cy="9048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5975"/>
              <a:buFont typeface="Arial"/>
              <a:buNone/>
            </a:pPr>
            <a:r>
              <a:rPr b="1" i="0" lang="en-US" sz="5975" u="none" cap="none" strike="noStrike">
                <a:solidFill>
                  <a:srgbClr val="FFFFFF"/>
                </a:solidFill>
                <a:latin typeface="Poppins"/>
                <a:ea typeface="Poppins"/>
                <a:cs typeface="Poppins"/>
                <a:sym typeface="Poppins"/>
              </a:rPr>
              <a:t>EJEMPLO</a:t>
            </a:r>
            <a:endParaRPr b="0" i="0" sz="1400" u="none" cap="none" strike="noStrike">
              <a:solidFill>
                <a:srgbClr val="000000"/>
              </a:solidFill>
              <a:latin typeface="Arial"/>
              <a:ea typeface="Arial"/>
              <a:cs typeface="Arial"/>
              <a:sym typeface="Arial"/>
            </a:endParaRPr>
          </a:p>
        </p:txBody>
      </p:sp>
      <p:sp>
        <p:nvSpPr>
          <p:cNvPr id="186" name="Google Shape;186;p11"/>
          <p:cNvSpPr txBox="1"/>
          <p:nvPr/>
        </p:nvSpPr>
        <p:spPr>
          <a:xfrm>
            <a:off x="8805850" y="1028700"/>
            <a:ext cx="8482500" cy="5628900"/>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Clr>
                <a:srgbClr val="000000"/>
              </a:buClr>
              <a:buSzPts val="3099"/>
              <a:buFont typeface="Arial"/>
              <a:buNone/>
            </a:pPr>
            <a:r>
              <a:rPr b="0" i="0" lang="en-US" sz="3099" u="none" cap="none" strike="noStrike">
                <a:solidFill>
                  <a:srgbClr val="FFFFFF"/>
                </a:solidFill>
                <a:latin typeface="Poppins Medium"/>
                <a:ea typeface="Poppins Medium"/>
                <a:cs typeface="Poppins Medium"/>
                <a:sym typeface="Poppins Medium"/>
              </a:rPr>
              <a:t>SIGUIENTES(E) = { </a:t>
            </a:r>
            <a:r>
              <a:rPr b="0" i="0" lang="en-US" sz="3099" u="none" cap="none" strike="noStrike">
                <a:solidFill>
                  <a:srgbClr val="10B5BF"/>
                </a:solidFill>
                <a:latin typeface="Poppins Medium"/>
                <a:ea typeface="Poppins Medium"/>
                <a:cs typeface="Poppins Medium"/>
                <a:sym typeface="Poppins Medium"/>
              </a:rPr>
              <a:t>)</a:t>
            </a:r>
            <a:r>
              <a:rPr b="0" i="0" lang="en-US" sz="3099" u="none" cap="none" strike="noStrike">
                <a:solidFill>
                  <a:srgbClr val="FFFFFF"/>
                </a:solidFill>
                <a:latin typeface="Poppins Medium"/>
                <a:ea typeface="Poppins Medium"/>
                <a:cs typeface="Poppins Medium"/>
                <a:sym typeface="Poppins Medium"/>
              </a:rPr>
              <a:t>, </a:t>
            </a:r>
            <a:r>
              <a:rPr b="0" i="0" lang="en-US" sz="3099" u="none" cap="none" strike="noStrike">
                <a:solidFill>
                  <a:srgbClr val="10B5BF"/>
                </a:solidFill>
                <a:latin typeface="Poppins Medium"/>
                <a:ea typeface="Poppins Medium"/>
                <a:cs typeface="Poppins Medium"/>
                <a:sym typeface="Poppins Medium"/>
              </a:rPr>
              <a:t>$</a:t>
            </a:r>
            <a:r>
              <a:rPr b="0" i="0" lang="en-US" sz="3099" u="none" cap="none" strike="noStrike">
                <a:solidFill>
                  <a:srgbClr val="FFFFFF"/>
                </a:solidFill>
                <a:latin typeface="Poppins Medium"/>
                <a:ea typeface="Poppins Medium"/>
                <a:cs typeface="Poppins Medium"/>
                <a:sym typeface="Poppins Medium"/>
              </a:rPr>
              <a:t> }</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099"/>
              <a:buFont typeface="Arial"/>
              <a:buNone/>
            </a:pPr>
            <a:r>
              <a:t/>
            </a:r>
            <a:endParaRPr b="0" i="0" sz="3099" u="none" cap="none" strike="noStrike">
              <a:solidFill>
                <a:srgbClr val="FFFFFF"/>
              </a:solidFill>
              <a:latin typeface="Poppins Medium"/>
              <a:ea typeface="Poppins Medium"/>
              <a:cs typeface="Poppins Medium"/>
              <a:sym typeface="Poppins Medium"/>
            </a:endParaRPr>
          </a:p>
          <a:p>
            <a:pPr indent="0" lvl="0" marL="0" marR="0" rtl="0" algn="l">
              <a:lnSpc>
                <a:spcPct val="120006"/>
              </a:lnSpc>
              <a:spcBef>
                <a:spcPts val="0"/>
              </a:spcBef>
              <a:spcAft>
                <a:spcPts val="0"/>
              </a:spcAft>
              <a:buClr>
                <a:srgbClr val="000000"/>
              </a:buClr>
              <a:buSzPts val="3099"/>
              <a:buFont typeface="Arial"/>
              <a:buNone/>
            </a:pPr>
            <a:r>
              <a:rPr b="0" i="0" lang="en-US" sz="3099" u="none" cap="none" strike="noStrike">
                <a:solidFill>
                  <a:srgbClr val="FFFFFF"/>
                </a:solidFill>
                <a:latin typeface="Poppins Medium"/>
                <a:ea typeface="Poppins Medium"/>
                <a:cs typeface="Poppins Medium"/>
                <a:sym typeface="Poppins Medium"/>
              </a:rPr>
              <a:t>SIGUIENTES(E’) = { </a:t>
            </a:r>
            <a:r>
              <a:rPr b="0" i="0" lang="en-US" sz="3099" u="none" cap="none" strike="noStrike">
                <a:solidFill>
                  <a:srgbClr val="10B5BF"/>
                </a:solidFill>
                <a:latin typeface="Poppins Medium"/>
                <a:ea typeface="Poppins Medium"/>
                <a:cs typeface="Poppins Medium"/>
                <a:sym typeface="Poppins Medium"/>
              </a:rPr>
              <a:t>)</a:t>
            </a:r>
            <a:r>
              <a:rPr b="0" i="0" lang="en-US" sz="3099" u="none" cap="none" strike="noStrike">
                <a:solidFill>
                  <a:srgbClr val="FFFFFF"/>
                </a:solidFill>
                <a:latin typeface="Poppins Medium"/>
                <a:ea typeface="Poppins Medium"/>
                <a:cs typeface="Poppins Medium"/>
                <a:sym typeface="Poppins Medium"/>
              </a:rPr>
              <a:t>, </a:t>
            </a:r>
            <a:r>
              <a:rPr b="0" i="0" lang="en-US" sz="3099" u="none" cap="none" strike="noStrike">
                <a:solidFill>
                  <a:srgbClr val="10B5BF"/>
                </a:solidFill>
                <a:latin typeface="Poppins Medium"/>
                <a:ea typeface="Poppins Medium"/>
                <a:cs typeface="Poppins Medium"/>
                <a:sym typeface="Poppins Medium"/>
              </a:rPr>
              <a:t>$</a:t>
            </a:r>
            <a:r>
              <a:rPr b="0" i="0" lang="en-US" sz="3099" u="none" cap="none" strike="noStrike">
                <a:solidFill>
                  <a:srgbClr val="FFFFFF"/>
                </a:solidFill>
                <a:latin typeface="Poppins Medium"/>
                <a:ea typeface="Poppins Medium"/>
                <a:cs typeface="Poppins Medium"/>
                <a:sym typeface="Poppins Medium"/>
              </a:rPr>
              <a:t> }</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099"/>
              <a:buFont typeface="Arial"/>
              <a:buNone/>
            </a:pPr>
            <a:r>
              <a:t/>
            </a:r>
            <a:endParaRPr b="0" i="0" sz="3099" u="none" cap="none" strike="noStrike">
              <a:solidFill>
                <a:srgbClr val="FFFFFF"/>
              </a:solidFill>
              <a:latin typeface="Poppins Medium"/>
              <a:ea typeface="Poppins Medium"/>
              <a:cs typeface="Poppins Medium"/>
              <a:sym typeface="Poppins Medium"/>
            </a:endParaRPr>
          </a:p>
          <a:p>
            <a:pPr indent="0" lvl="0" marL="0" marR="0" rtl="0" algn="l">
              <a:lnSpc>
                <a:spcPct val="120006"/>
              </a:lnSpc>
              <a:spcBef>
                <a:spcPts val="0"/>
              </a:spcBef>
              <a:spcAft>
                <a:spcPts val="0"/>
              </a:spcAft>
              <a:buClr>
                <a:srgbClr val="000000"/>
              </a:buClr>
              <a:buSzPts val="3099"/>
              <a:buFont typeface="Arial"/>
              <a:buNone/>
            </a:pPr>
            <a:r>
              <a:rPr b="0" i="0" lang="en-US" sz="3099" u="none" cap="none" strike="noStrike">
                <a:solidFill>
                  <a:srgbClr val="FFFFFF"/>
                </a:solidFill>
                <a:latin typeface="Poppins Medium"/>
                <a:ea typeface="Poppins Medium"/>
                <a:cs typeface="Poppins Medium"/>
                <a:sym typeface="Poppins Medium"/>
              </a:rPr>
              <a:t>SIGUIENTES(T) = { </a:t>
            </a:r>
            <a:r>
              <a:rPr b="0" i="0" lang="en-US" sz="3099" u="none" cap="none" strike="noStrike">
                <a:solidFill>
                  <a:srgbClr val="10B5BF"/>
                </a:solidFill>
                <a:latin typeface="Poppins Medium"/>
                <a:ea typeface="Poppins Medium"/>
                <a:cs typeface="Poppins Medium"/>
                <a:sym typeface="Poppins Medium"/>
              </a:rPr>
              <a:t>+</a:t>
            </a:r>
            <a:r>
              <a:rPr b="0" i="0" lang="en-US" sz="3099" u="none" cap="none" strike="noStrike">
                <a:solidFill>
                  <a:srgbClr val="FFFFFF"/>
                </a:solidFill>
                <a:latin typeface="Poppins Medium"/>
                <a:ea typeface="Poppins Medium"/>
                <a:cs typeface="Poppins Medium"/>
                <a:sym typeface="Poppins Medium"/>
              </a:rPr>
              <a:t>, </a:t>
            </a:r>
            <a:r>
              <a:rPr b="0" i="0" lang="en-US" sz="3099" u="none" cap="none" strike="noStrike">
                <a:solidFill>
                  <a:srgbClr val="10B5BF"/>
                </a:solidFill>
                <a:latin typeface="Poppins Medium"/>
                <a:ea typeface="Poppins Medium"/>
                <a:cs typeface="Poppins Medium"/>
                <a:sym typeface="Poppins Medium"/>
              </a:rPr>
              <a:t>)</a:t>
            </a:r>
            <a:r>
              <a:rPr b="0" i="0" lang="en-US" sz="3099" u="none" cap="none" strike="noStrike">
                <a:solidFill>
                  <a:srgbClr val="FFFFFF"/>
                </a:solidFill>
                <a:latin typeface="Poppins Medium"/>
                <a:ea typeface="Poppins Medium"/>
                <a:cs typeface="Poppins Medium"/>
                <a:sym typeface="Poppins Medium"/>
              </a:rPr>
              <a:t>, </a:t>
            </a:r>
            <a:r>
              <a:rPr b="0" i="0" lang="en-US" sz="3099" u="none" cap="none" strike="noStrike">
                <a:solidFill>
                  <a:srgbClr val="10B5BF"/>
                </a:solidFill>
                <a:latin typeface="Poppins Medium"/>
                <a:ea typeface="Poppins Medium"/>
                <a:cs typeface="Poppins Medium"/>
                <a:sym typeface="Poppins Medium"/>
              </a:rPr>
              <a:t>$</a:t>
            </a:r>
            <a:r>
              <a:rPr b="0" i="0" lang="en-US" sz="3099" u="none" cap="none" strike="noStrike">
                <a:solidFill>
                  <a:srgbClr val="FFFFFF"/>
                </a:solidFill>
                <a:latin typeface="Poppins Medium"/>
                <a:ea typeface="Poppins Medium"/>
                <a:cs typeface="Poppins Medium"/>
                <a:sym typeface="Poppins Medium"/>
              </a:rPr>
              <a:t> }</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099"/>
              <a:buFont typeface="Arial"/>
              <a:buNone/>
            </a:pPr>
            <a:r>
              <a:t/>
            </a:r>
            <a:endParaRPr b="0" i="0" sz="3099" u="none" cap="none" strike="noStrike">
              <a:solidFill>
                <a:srgbClr val="FFFFFF"/>
              </a:solidFill>
              <a:latin typeface="Poppins Medium"/>
              <a:ea typeface="Poppins Medium"/>
              <a:cs typeface="Poppins Medium"/>
              <a:sym typeface="Poppins Medium"/>
            </a:endParaRPr>
          </a:p>
          <a:p>
            <a:pPr indent="0" lvl="0" marL="0" marR="0" rtl="0" algn="l">
              <a:lnSpc>
                <a:spcPct val="120006"/>
              </a:lnSpc>
              <a:spcBef>
                <a:spcPts val="0"/>
              </a:spcBef>
              <a:spcAft>
                <a:spcPts val="0"/>
              </a:spcAft>
              <a:buClr>
                <a:srgbClr val="000000"/>
              </a:buClr>
              <a:buSzPts val="3099"/>
              <a:buFont typeface="Arial"/>
              <a:buNone/>
            </a:pPr>
            <a:r>
              <a:rPr b="0" i="0" lang="en-US" sz="3099" u="none" cap="none" strike="noStrike">
                <a:solidFill>
                  <a:srgbClr val="FFFFFF"/>
                </a:solidFill>
                <a:latin typeface="Poppins Medium"/>
                <a:ea typeface="Poppins Medium"/>
                <a:cs typeface="Poppins Medium"/>
                <a:sym typeface="Poppins Medium"/>
              </a:rPr>
              <a:t>SIGUIENTES(T’) = { </a:t>
            </a:r>
            <a:r>
              <a:rPr b="0" i="0" lang="en-US" sz="3099" u="none" cap="none" strike="noStrike">
                <a:solidFill>
                  <a:srgbClr val="10B5BF"/>
                </a:solidFill>
                <a:latin typeface="Poppins Medium"/>
                <a:ea typeface="Poppins Medium"/>
                <a:cs typeface="Poppins Medium"/>
                <a:sym typeface="Poppins Medium"/>
              </a:rPr>
              <a:t>+</a:t>
            </a:r>
            <a:r>
              <a:rPr b="0" i="0" lang="en-US" sz="3099" u="none" cap="none" strike="noStrike">
                <a:solidFill>
                  <a:srgbClr val="FFFFFF"/>
                </a:solidFill>
                <a:latin typeface="Poppins Medium"/>
                <a:ea typeface="Poppins Medium"/>
                <a:cs typeface="Poppins Medium"/>
                <a:sym typeface="Poppins Medium"/>
              </a:rPr>
              <a:t>, </a:t>
            </a:r>
            <a:r>
              <a:rPr b="0" i="0" lang="en-US" sz="3099" u="none" cap="none" strike="noStrike">
                <a:solidFill>
                  <a:srgbClr val="10B5BF"/>
                </a:solidFill>
                <a:latin typeface="Poppins Medium"/>
                <a:ea typeface="Poppins Medium"/>
                <a:cs typeface="Poppins Medium"/>
                <a:sym typeface="Poppins Medium"/>
              </a:rPr>
              <a:t>)</a:t>
            </a:r>
            <a:r>
              <a:rPr b="0" i="0" lang="en-US" sz="3099" u="none" cap="none" strike="noStrike">
                <a:solidFill>
                  <a:srgbClr val="FFFFFF"/>
                </a:solidFill>
                <a:latin typeface="Poppins Medium"/>
                <a:ea typeface="Poppins Medium"/>
                <a:cs typeface="Poppins Medium"/>
                <a:sym typeface="Poppins Medium"/>
              </a:rPr>
              <a:t>, </a:t>
            </a:r>
            <a:r>
              <a:rPr b="0" i="0" lang="en-US" sz="3099" u="none" cap="none" strike="noStrike">
                <a:solidFill>
                  <a:srgbClr val="10B5BF"/>
                </a:solidFill>
                <a:latin typeface="Poppins Medium"/>
                <a:ea typeface="Poppins Medium"/>
                <a:cs typeface="Poppins Medium"/>
                <a:sym typeface="Poppins Medium"/>
              </a:rPr>
              <a:t>$</a:t>
            </a:r>
            <a:r>
              <a:rPr b="0" i="0" lang="en-US" sz="3099" u="none" cap="none" strike="noStrike">
                <a:solidFill>
                  <a:srgbClr val="FFFFFF"/>
                </a:solidFill>
                <a:latin typeface="Poppins Medium"/>
                <a:ea typeface="Poppins Medium"/>
                <a:cs typeface="Poppins Medium"/>
                <a:sym typeface="Poppins Medium"/>
              </a:rPr>
              <a:t> }</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099"/>
              <a:buFont typeface="Arial"/>
              <a:buNone/>
            </a:pPr>
            <a:r>
              <a:t/>
            </a:r>
            <a:endParaRPr b="0" i="0" sz="3099" u="none" cap="none" strike="noStrike">
              <a:solidFill>
                <a:srgbClr val="FFFFFF"/>
              </a:solidFill>
              <a:latin typeface="Poppins Medium"/>
              <a:ea typeface="Poppins Medium"/>
              <a:cs typeface="Poppins Medium"/>
              <a:sym typeface="Poppins Medium"/>
            </a:endParaRPr>
          </a:p>
          <a:p>
            <a:pPr indent="0" lvl="0" marL="0" marR="0" rtl="0" algn="l">
              <a:lnSpc>
                <a:spcPct val="120006"/>
              </a:lnSpc>
              <a:spcBef>
                <a:spcPts val="0"/>
              </a:spcBef>
              <a:spcAft>
                <a:spcPts val="0"/>
              </a:spcAft>
              <a:buClr>
                <a:srgbClr val="000000"/>
              </a:buClr>
              <a:buSzPts val="3099"/>
              <a:buFont typeface="Arial"/>
              <a:buNone/>
            </a:pPr>
            <a:r>
              <a:rPr b="0" i="0" lang="en-US" sz="3099" u="none" cap="none" strike="noStrike">
                <a:solidFill>
                  <a:srgbClr val="FFFFFF"/>
                </a:solidFill>
                <a:latin typeface="Poppins Medium"/>
                <a:ea typeface="Poppins Medium"/>
                <a:cs typeface="Poppins Medium"/>
                <a:sym typeface="Poppins Medium"/>
              </a:rPr>
              <a:t>PRIMEROS(F) = { </a:t>
            </a:r>
            <a:r>
              <a:rPr b="0" i="0" lang="en-US" sz="3099" u="none" cap="none" strike="noStrike">
                <a:solidFill>
                  <a:srgbClr val="10B5BF"/>
                </a:solidFill>
                <a:latin typeface="Poppins Medium"/>
                <a:ea typeface="Poppins Medium"/>
                <a:cs typeface="Poppins Medium"/>
                <a:sym typeface="Poppins Medium"/>
              </a:rPr>
              <a:t>*</a:t>
            </a:r>
            <a:r>
              <a:rPr b="0" i="0" lang="en-US" sz="3099" u="none" cap="none" strike="noStrike">
                <a:solidFill>
                  <a:srgbClr val="FFFFFF"/>
                </a:solidFill>
                <a:latin typeface="Poppins Medium"/>
                <a:ea typeface="Poppins Medium"/>
                <a:cs typeface="Poppins Medium"/>
                <a:sym typeface="Poppins Medium"/>
              </a:rPr>
              <a:t>, </a:t>
            </a:r>
            <a:r>
              <a:rPr b="0" i="0" lang="en-US" sz="3099" u="none" cap="none" strike="noStrike">
                <a:solidFill>
                  <a:srgbClr val="10B5BF"/>
                </a:solidFill>
                <a:latin typeface="Poppins Medium"/>
                <a:ea typeface="Poppins Medium"/>
                <a:cs typeface="Poppins Medium"/>
                <a:sym typeface="Poppins Medium"/>
              </a:rPr>
              <a:t>+</a:t>
            </a:r>
            <a:r>
              <a:rPr b="0" i="0" lang="en-US" sz="3099" u="none" cap="none" strike="noStrike">
                <a:solidFill>
                  <a:srgbClr val="FFFFFF"/>
                </a:solidFill>
                <a:latin typeface="Poppins Medium"/>
                <a:ea typeface="Poppins Medium"/>
                <a:cs typeface="Poppins Medium"/>
                <a:sym typeface="Poppins Medium"/>
              </a:rPr>
              <a:t>, </a:t>
            </a:r>
            <a:r>
              <a:rPr b="0" i="0" lang="en-US" sz="3099" u="none" cap="none" strike="noStrike">
                <a:solidFill>
                  <a:srgbClr val="10B5BF"/>
                </a:solidFill>
                <a:latin typeface="Poppins Medium"/>
                <a:ea typeface="Poppins Medium"/>
                <a:cs typeface="Poppins Medium"/>
                <a:sym typeface="Poppins Medium"/>
              </a:rPr>
              <a:t>)</a:t>
            </a:r>
            <a:r>
              <a:rPr b="0" i="0" lang="en-US" sz="3099" u="none" cap="none" strike="noStrike">
                <a:solidFill>
                  <a:srgbClr val="FFFFFF"/>
                </a:solidFill>
                <a:latin typeface="Poppins Medium"/>
                <a:ea typeface="Poppins Medium"/>
                <a:cs typeface="Poppins Medium"/>
                <a:sym typeface="Poppins Medium"/>
              </a:rPr>
              <a:t>, </a:t>
            </a:r>
            <a:r>
              <a:rPr b="0" i="0" lang="en-US" sz="3099" u="none" cap="none" strike="noStrike">
                <a:solidFill>
                  <a:srgbClr val="10B5BF"/>
                </a:solidFill>
                <a:latin typeface="Poppins Medium"/>
                <a:ea typeface="Poppins Medium"/>
                <a:cs typeface="Poppins Medium"/>
                <a:sym typeface="Poppins Medium"/>
              </a:rPr>
              <a:t>$</a:t>
            </a:r>
            <a:r>
              <a:rPr b="0" i="0" lang="en-US" sz="3099" u="none" cap="none" strike="noStrike">
                <a:solidFill>
                  <a:srgbClr val="FFFFFF"/>
                </a:solidFill>
                <a:latin typeface="Poppins Medium"/>
                <a:ea typeface="Poppins Medium"/>
                <a:cs typeface="Poppins Medium"/>
                <a:sym typeface="Poppins Medium"/>
              </a:rPr>
              <a:t> }</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099"/>
              <a:buFont typeface="Arial"/>
              <a:buNone/>
            </a:pPr>
            <a:r>
              <a:t/>
            </a:r>
            <a:endParaRPr b="0" i="0" sz="3099" u="none" cap="none" strike="noStrike">
              <a:solidFill>
                <a:srgbClr val="FFFFFF"/>
              </a:solidFill>
              <a:latin typeface="Poppins Medium"/>
              <a:ea typeface="Poppins Medium"/>
              <a:cs typeface="Poppins Medium"/>
              <a:sym typeface="Poppins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90" name="Shape 190"/>
        <p:cNvGrpSpPr/>
        <p:nvPr/>
      </p:nvGrpSpPr>
      <p:grpSpPr>
        <a:xfrm>
          <a:off x="0" y="0"/>
          <a:ext cx="0" cy="0"/>
          <a:chOff x="0" y="0"/>
          <a:chExt cx="0" cy="0"/>
        </a:xfrm>
      </p:grpSpPr>
      <p:grpSp>
        <p:nvGrpSpPr>
          <p:cNvPr id="191" name="Google Shape;191;p12"/>
          <p:cNvGrpSpPr/>
          <p:nvPr/>
        </p:nvGrpSpPr>
        <p:grpSpPr>
          <a:xfrm>
            <a:off x="1738415" y="1028700"/>
            <a:ext cx="14811170" cy="5891836"/>
            <a:chOff x="0" y="0"/>
            <a:chExt cx="19748227" cy="7855781"/>
          </a:xfrm>
        </p:grpSpPr>
        <p:sp>
          <p:nvSpPr>
            <p:cNvPr id="192" name="Google Shape;192;p12"/>
            <p:cNvSpPr txBox="1"/>
            <p:nvPr/>
          </p:nvSpPr>
          <p:spPr>
            <a:xfrm>
              <a:off x="0" y="2913152"/>
              <a:ext cx="19748227" cy="4942629"/>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Las gramáticas descendentes son un tipo de gramáticas que generan cadenas comenzando por el símbolo inicial y aplicando las reglas para llegar a los terminales.</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3024"/>
                <a:buFont typeface="Arial"/>
                <a:buNone/>
              </a:pPr>
              <a:r>
                <a:t/>
              </a:r>
              <a:endParaRPr b="0" i="0" sz="3024" u="none" cap="none" strike="noStrike">
                <a:solidFill>
                  <a:srgbClr val="FFFFFF"/>
                </a:solidFill>
                <a:latin typeface="Poppins Light"/>
                <a:ea typeface="Poppins Light"/>
                <a:cs typeface="Poppins Light"/>
                <a:sym typeface="Poppins Light"/>
              </a:endParaRPr>
            </a:p>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El análisis sintáctico descendente (LL) intenta encontrar entre las producciones de la gramática la derivación por la izquierda del símbolo inicial para una cadena de entrada</a:t>
              </a:r>
              <a:endParaRPr b="0" i="0" sz="1400" u="none" cap="none" strike="noStrike">
                <a:solidFill>
                  <a:srgbClr val="000000"/>
                </a:solidFill>
                <a:latin typeface="Arial"/>
                <a:ea typeface="Arial"/>
                <a:cs typeface="Arial"/>
                <a:sym typeface="Arial"/>
              </a:endParaRPr>
            </a:p>
          </p:txBody>
        </p:sp>
        <p:sp>
          <p:nvSpPr>
            <p:cNvPr id="193" name="Google Shape;193;p12"/>
            <p:cNvSpPr txBox="1"/>
            <p:nvPr/>
          </p:nvSpPr>
          <p:spPr>
            <a:xfrm>
              <a:off x="0" y="0"/>
              <a:ext cx="19748227" cy="1409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7000"/>
                <a:buFont typeface="Arial"/>
                <a:buNone/>
              </a:pPr>
              <a:r>
                <a:rPr b="1" i="0" lang="en-US" sz="7000" u="none" cap="none" strike="noStrike">
                  <a:solidFill>
                    <a:srgbClr val="FFFFFF"/>
                  </a:solidFill>
                  <a:latin typeface="Poppins"/>
                  <a:ea typeface="Poppins"/>
                  <a:cs typeface="Poppins"/>
                  <a:sym typeface="Poppins"/>
                </a:rPr>
                <a:t>Gramáticas Descendentes</a:t>
              </a:r>
              <a:endParaRPr b="0" i="0" sz="1400" u="none" cap="none" strike="noStrike">
                <a:solidFill>
                  <a:srgbClr val="000000"/>
                </a:solidFill>
                <a:latin typeface="Arial"/>
                <a:ea typeface="Arial"/>
                <a:cs typeface="Arial"/>
                <a:sym typeface="Arial"/>
              </a:endParaRPr>
            </a:p>
          </p:txBody>
        </p:sp>
        <p:cxnSp>
          <p:nvCxnSpPr>
            <p:cNvPr id="194" name="Google Shape;194;p12"/>
            <p:cNvCxnSpPr/>
            <p:nvPr/>
          </p:nvCxnSpPr>
          <p:spPr>
            <a:xfrm>
              <a:off x="0" y="2192427"/>
              <a:ext cx="19748227" cy="0"/>
            </a:xfrm>
            <a:prstGeom prst="straightConnector1">
              <a:avLst/>
            </a:prstGeom>
            <a:noFill/>
            <a:ln cap="rnd" cmpd="sng" w="25400">
              <a:solidFill>
                <a:srgbClr val="10B5BF"/>
              </a:solidFill>
              <a:prstDash val="solid"/>
              <a:round/>
              <a:headEnd len="sm" w="sm" type="none"/>
              <a:tailEnd len="sm" w="sm" type="none"/>
            </a:ln>
          </p:spPr>
        </p:cxn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98" name="Shape 198"/>
        <p:cNvGrpSpPr/>
        <p:nvPr/>
      </p:nvGrpSpPr>
      <p:grpSpPr>
        <a:xfrm>
          <a:off x="0" y="0"/>
          <a:ext cx="0" cy="0"/>
          <a:chOff x="0" y="0"/>
          <a:chExt cx="0" cy="0"/>
        </a:xfrm>
      </p:grpSpPr>
      <p:grpSp>
        <p:nvGrpSpPr>
          <p:cNvPr id="199" name="Google Shape;199;p13"/>
          <p:cNvGrpSpPr/>
          <p:nvPr/>
        </p:nvGrpSpPr>
        <p:grpSpPr>
          <a:xfrm>
            <a:off x="1738415" y="761270"/>
            <a:ext cx="14811170" cy="5891836"/>
            <a:chOff x="0" y="0"/>
            <a:chExt cx="19748227" cy="7855781"/>
          </a:xfrm>
        </p:grpSpPr>
        <p:sp>
          <p:nvSpPr>
            <p:cNvPr id="200" name="Google Shape;200;p13"/>
            <p:cNvSpPr txBox="1"/>
            <p:nvPr/>
          </p:nvSpPr>
          <p:spPr>
            <a:xfrm>
              <a:off x="0" y="2913152"/>
              <a:ext cx="19748227" cy="4942629"/>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Los algoritmos de familia LL(k) son un conjunto de métodos de análisis sintáctico predictivo utilizados para procesar gramáticas libres de contexto. Estos algoritmos se basan en la lectura de entrada de izquierda a derecha y realizan una derivación izquierda más a la vez. El término LL(k) se refiere a análisis sintáctico 'L' para leer de izquierda a derecha, construyendo la derivación 'L' más a la izquierda, con un número finito 'k' de símbolos de búsqueda hacia adelante para tomar decisiones.</a:t>
              </a:r>
              <a:endParaRPr b="0" i="0" sz="1400" u="none" cap="none" strike="noStrike">
                <a:solidFill>
                  <a:srgbClr val="000000"/>
                </a:solidFill>
                <a:latin typeface="Arial"/>
                <a:ea typeface="Arial"/>
                <a:cs typeface="Arial"/>
                <a:sym typeface="Arial"/>
              </a:endParaRPr>
            </a:p>
          </p:txBody>
        </p:sp>
        <p:sp>
          <p:nvSpPr>
            <p:cNvPr id="201" name="Google Shape;201;p13"/>
            <p:cNvSpPr txBox="1"/>
            <p:nvPr/>
          </p:nvSpPr>
          <p:spPr>
            <a:xfrm>
              <a:off x="0" y="0"/>
              <a:ext cx="19748227" cy="1409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7000"/>
                <a:buFont typeface="Arial"/>
                <a:buNone/>
              </a:pPr>
              <a:r>
                <a:rPr b="1" i="0" lang="en-US" sz="7000" u="none" cap="none" strike="noStrike">
                  <a:solidFill>
                    <a:srgbClr val="FFFFFF"/>
                  </a:solidFill>
                  <a:latin typeface="Poppins"/>
                  <a:ea typeface="Poppins"/>
                  <a:cs typeface="Poppins"/>
                  <a:sym typeface="Poppins"/>
                </a:rPr>
                <a:t>Algoritmos de familia LL(k)</a:t>
              </a:r>
              <a:endParaRPr b="0" i="0" sz="1400" u="none" cap="none" strike="noStrike">
                <a:solidFill>
                  <a:srgbClr val="000000"/>
                </a:solidFill>
                <a:latin typeface="Arial"/>
                <a:ea typeface="Arial"/>
                <a:cs typeface="Arial"/>
                <a:sym typeface="Arial"/>
              </a:endParaRPr>
            </a:p>
          </p:txBody>
        </p:sp>
        <p:cxnSp>
          <p:nvCxnSpPr>
            <p:cNvPr id="202" name="Google Shape;202;p13"/>
            <p:cNvCxnSpPr/>
            <p:nvPr/>
          </p:nvCxnSpPr>
          <p:spPr>
            <a:xfrm>
              <a:off x="0" y="2192427"/>
              <a:ext cx="19748227" cy="0"/>
            </a:xfrm>
            <a:prstGeom prst="straightConnector1">
              <a:avLst/>
            </a:prstGeom>
            <a:noFill/>
            <a:ln cap="rnd" cmpd="sng" w="25400">
              <a:solidFill>
                <a:srgbClr val="10B5BF"/>
              </a:solidFill>
              <a:prstDash val="solid"/>
              <a:round/>
              <a:headEnd len="sm" w="sm" type="none"/>
              <a:tailEnd len="sm" w="sm" type="none"/>
            </a:ln>
          </p:spPr>
        </p:cxnSp>
      </p:grpSp>
      <p:sp>
        <p:nvSpPr>
          <p:cNvPr id="203" name="Google Shape;203;p13"/>
          <p:cNvSpPr/>
          <p:nvPr/>
        </p:nvSpPr>
        <p:spPr>
          <a:xfrm>
            <a:off x="3704889" y="7458869"/>
            <a:ext cx="11170023" cy="2218678"/>
          </a:xfrm>
          <a:custGeom>
            <a:rect b="b" l="l" r="r" t="t"/>
            <a:pathLst>
              <a:path extrusionOk="0" h="2218678" w="11170023">
                <a:moveTo>
                  <a:pt x="0" y="0"/>
                </a:moveTo>
                <a:lnTo>
                  <a:pt x="11170022" y="0"/>
                </a:lnTo>
                <a:lnTo>
                  <a:pt x="11170022" y="2218677"/>
                </a:lnTo>
                <a:lnTo>
                  <a:pt x="0" y="2218677"/>
                </a:lnTo>
                <a:lnTo>
                  <a:pt x="0" y="0"/>
                </a:lnTo>
                <a:close/>
              </a:path>
            </a:pathLst>
          </a:custGeom>
          <a:blipFill rotWithShape="1">
            <a:blip r:embed="rId3">
              <a:alphaModFix/>
            </a:blip>
            <a:stretch>
              <a:fillRect b="-2147" l="0" r="0" t="0"/>
            </a:stretch>
          </a:blipFill>
          <a:ln>
            <a:noFill/>
          </a:ln>
        </p:spPr>
      </p:sp>
      <p:sp>
        <p:nvSpPr>
          <p:cNvPr id="204" name="Google Shape;204;p13"/>
          <p:cNvSpPr/>
          <p:nvPr/>
        </p:nvSpPr>
        <p:spPr>
          <a:xfrm>
            <a:off x="3792414" y="7531844"/>
            <a:ext cx="3549268" cy="885947"/>
          </a:xfrm>
          <a:custGeom>
            <a:rect b="b" l="l" r="r" t="t"/>
            <a:pathLst>
              <a:path extrusionOk="0" h="885947" w="3549268">
                <a:moveTo>
                  <a:pt x="0" y="0"/>
                </a:moveTo>
                <a:lnTo>
                  <a:pt x="3549268" y="0"/>
                </a:lnTo>
                <a:lnTo>
                  <a:pt x="3549268" y="885946"/>
                </a:lnTo>
                <a:lnTo>
                  <a:pt x="0" y="885946"/>
                </a:lnTo>
                <a:lnTo>
                  <a:pt x="0" y="0"/>
                </a:lnTo>
                <a:close/>
              </a:path>
            </a:pathLst>
          </a:custGeom>
          <a:blipFill rotWithShape="1">
            <a:blip r:embed="rId3">
              <a:alphaModFix/>
            </a:blip>
            <a:stretch>
              <a:fillRect b="-155806" l="-214702" r="0" t="0"/>
            </a:stretch>
          </a:blipFill>
          <a:ln>
            <a:noFill/>
          </a:ln>
        </p:spPr>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08" name="Shape 208"/>
        <p:cNvGrpSpPr/>
        <p:nvPr/>
      </p:nvGrpSpPr>
      <p:grpSpPr>
        <a:xfrm>
          <a:off x="0" y="0"/>
          <a:ext cx="0" cy="0"/>
          <a:chOff x="0" y="0"/>
          <a:chExt cx="0" cy="0"/>
        </a:xfrm>
      </p:grpSpPr>
      <p:grpSp>
        <p:nvGrpSpPr>
          <p:cNvPr id="209" name="Google Shape;209;p14"/>
          <p:cNvGrpSpPr/>
          <p:nvPr/>
        </p:nvGrpSpPr>
        <p:grpSpPr>
          <a:xfrm>
            <a:off x="1738415" y="1385265"/>
            <a:ext cx="14811170" cy="3758236"/>
            <a:chOff x="0" y="0"/>
            <a:chExt cx="19748227" cy="5010981"/>
          </a:xfrm>
        </p:grpSpPr>
        <p:sp>
          <p:nvSpPr>
            <p:cNvPr id="210" name="Google Shape;210;p14"/>
            <p:cNvSpPr txBox="1"/>
            <p:nvPr/>
          </p:nvSpPr>
          <p:spPr>
            <a:xfrm>
              <a:off x="0" y="2913152"/>
              <a:ext cx="19748227" cy="2097829"/>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Un análisis sintáctico ascendente corresponde a la construcción de un árbol de análisis sintáctico para una cadena de entrada que empieza en las hojas (la parte inferior) y avanza hacia la raíz (la parte superior).</a:t>
              </a:r>
              <a:endParaRPr b="0" i="0" sz="1400" u="none" cap="none" strike="noStrike">
                <a:solidFill>
                  <a:srgbClr val="000000"/>
                </a:solidFill>
                <a:latin typeface="Arial"/>
                <a:ea typeface="Arial"/>
                <a:cs typeface="Arial"/>
                <a:sym typeface="Arial"/>
              </a:endParaRPr>
            </a:p>
          </p:txBody>
        </p:sp>
        <p:sp>
          <p:nvSpPr>
            <p:cNvPr id="211" name="Google Shape;211;p14"/>
            <p:cNvSpPr txBox="1"/>
            <p:nvPr/>
          </p:nvSpPr>
          <p:spPr>
            <a:xfrm>
              <a:off x="0" y="0"/>
              <a:ext cx="19748227" cy="1409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7000"/>
                <a:buFont typeface="Arial"/>
                <a:buNone/>
              </a:pPr>
              <a:r>
                <a:rPr b="1" i="0" lang="en-US" sz="7000" u="none" cap="none" strike="noStrike">
                  <a:solidFill>
                    <a:srgbClr val="FFFFFF"/>
                  </a:solidFill>
                  <a:latin typeface="Poppins"/>
                  <a:ea typeface="Poppins"/>
                  <a:cs typeface="Poppins"/>
                  <a:sym typeface="Poppins"/>
                </a:rPr>
                <a:t>Gramáticas Ascendentes</a:t>
              </a:r>
              <a:endParaRPr b="0" i="0" sz="1400" u="none" cap="none" strike="noStrike">
                <a:solidFill>
                  <a:srgbClr val="000000"/>
                </a:solidFill>
                <a:latin typeface="Arial"/>
                <a:ea typeface="Arial"/>
                <a:cs typeface="Arial"/>
                <a:sym typeface="Arial"/>
              </a:endParaRPr>
            </a:p>
          </p:txBody>
        </p:sp>
        <p:cxnSp>
          <p:nvCxnSpPr>
            <p:cNvPr id="212" name="Google Shape;212;p14"/>
            <p:cNvCxnSpPr/>
            <p:nvPr/>
          </p:nvCxnSpPr>
          <p:spPr>
            <a:xfrm>
              <a:off x="0" y="2192427"/>
              <a:ext cx="19748227" cy="0"/>
            </a:xfrm>
            <a:prstGeom prst="straightConnector1">
              <a:avLst/>
            </a:prstGeom>
            <a:noFill/>
            <a:ln cap="rnd" cmpd="sng" w="25400">
              <a:solidFill>
                <a:srgbClr val="10B5BF"/>
              </a:solidFill>
              <a:prstDash val="solid"/>
              <a:round/>
              <a:headEnd len="sm" w="sm" type="none"/>
              <a:tailEnd len="sm" w="sm" type="none"/>
            </a:ln>
          </p:spPr>
        </p:cxnSp>
      </p:grpSp>
      <p:sp>
        <p:nvSpPr>
          <p:cNvPr id="213" name="Google Shape;213;p14"/>
          <p:cNvSpPr/>
          <p:nvPr/>
        </p:nvSpPr>
        <p:spPr>
          <a:xfrm>
            <a:off x="3073982" y="6110154"/>
            <a:ext cx="12140036" cy="3148146"/>
          </a:xfrm>
          <a:custGeom>
            <a:rect b="b" l="l" r="r" t="t"/>
            <a:pathLst>
              <a:path extrusionOk="0" h="3148146" w="12140036">
                <a:moveTo>
                  <a:pt x="0" y="0"/>
                </a:moveTo>
                <a:lnTo>
                  <a:pt x="12140036" y="0"/>
                </a:lnTo>
                <a:lnTo>
                  <a:pt x="12140036" y="3148146"/>
                </a:lnTo>
                <a:lnTo>
                  <a:pt x="0" y="3148146"/>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17" name="Shape 217"/>
        <p:cNvGrpSpPr/>
        <p:nvPr/>
      </p:nvGrpSpPr>
      <p:grpSpPr>
        <a:xfrm>
          <a:off x="0" y="0"/>
          <a:ext cx="0" cy="0"/>
          <a:chOff x="0" y="0"/>
          <a:chExt cx="0" cy="0"/>
        </a:xfrm>
      </p:grpSpPr>
      <p:grpSp>
        <p:nvGrpSpPr>
          <p:cNvPr id="218" name="Google Shape;218;p15"/>
          <p:cNvGrpSpPr/>
          <p:nvPr/>
        </p:nvGrpSpPr>
        <p:grpSpPr>
          <a:xfrm>
            <a:off x="1738415" y="2361470"/>
            <a:ext cx="14811170" cy="4291636"/>
            <a:chOff x="0" y="0"/>
            <a:chExt cx="19748227" cy="5722181"/>
          </a:xfrm>
        </p:grpSpPr>
        <p:sp>
          <p:nvSpPr>
            <p:cNvPr id="219" name="Google Shape;219;p15"/>
            <p:cNvSpPr txBox="1"/>
            <p:nvPr/>
          </p:nvSpPr>
          <p:spPr>
            <a:xfrm>
              <a:off x="0" y="2913152"/>
              <a:ext cx="19748227" cy="2809029"/>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Los algoritmos de familia LL(k) son un conjunto de métodos de análisis sintáctico ascendente que utiliza información del lookahead (mirada hacia adelante) de tamaño k para determinar qué acción tomar en cada paso del análisis.</a:t>
              </a:r>
              <a:endParaRPr b="0" i="0" sz="1400" u="none" cap="none" strike="noStrike">
                <a:solidFill>
                  <a:srgbClr val="000000"/>
                </a:solidFill>
                <a:latin typeface="Arial"/>
                <a:ea typeface="Arial"/>
                <a:cs typeface="Arial"/>
                <a:sym typeface="Arial"/>
              </a:endParaRPr>
            </a:p>
          </p:txBody>
        </p:sp>
        <p:sp>
          <p:nvSpPr>
            <p:cNvPr id="220" name="Google Shape;220;p15"/>
            <p:cNvSpPr txBox="1"/>
            <p:nvPr/>
          </p:nvSpPr>
          <p:spPr>
            <a:xfrm>
              <a:off x="0" y="0"/>
              <a:ext cx="19748227" cy="1409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7000"/>
                <a:buFont typeface="Arial"/>
                <a:buNone/>
              </a:pPr>
              <a:r>
                <a:rPr b="1" i="0" lang="en-US" sz="7000" u="none" cap="none" strike="noStrike">
                  <a:solidFill>
                    <a:srgbClr val="FFFFFF"/>
                  </a:solidFill>
                  <a:latin typeface="Poppins"/>
                  <a:ea typeface="Poppins"/>
                  <a:cs typeface="Poppins"/>
                  <a:sym typeface="Poppins"/>
                </a:rPr>
                <a:t>Algoritmos de familia LR(k)</a:t>
              </a:r>
              <a:endParaRPr b="0" i="0" sz="1400" u="none" cap="none" strike="noStrike">
                <a:solidFill>
                  <a:srgbClr val="000000"/>
                </a:solidFill>
                <a:latin typeface="Arial"/>
                <a:ea typeface="Arial"/>
                <a:cs typeface="Arial"/>
                <a:sym typeface="Arial"/>
              </a:endParaRPr>
            </a:p>
          </p:txBody>
        </p:sp>
        <p:cxnSp>
          <p:nvCxnSpPr>
            <p:cNvPr id="221" name="Google Shape;221;p15"/>
            <p:cNvCxnSpPr/>
            <p:nvPr/>
          </p:nvCxnSpPr>
          <p:spPr>
            <a:xfrm>
              <a:off x="0" y="2192427"/>
              <a:ext cx="19748227" cy="0"/>
            </a:xfrm>
            <a:prstGeom prst="straightConnector1">
              <a:avLst/>
            </a:prstGeom>
            <a:noFill/>
            <a:ln cap="rnd" cmpd="sng" w="25400">
              <a:solidFill>
                <a:srgbClr val="10B5BF"/>
              </a:solidFill>
              <a:prstDash val="solid"/>
              <a:round/>
              <a:headEnd len="sm" w="sm" type="none"/>
              <a:tailEnd len="sm" w="sm" type="none"/>
            </a:ln>
          </p:spPr>
        </p:cxn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25" name="Shape 225"/>
        <p:cNvGrpSpPr/>
        <p:nvPr/>
      </p:nvGrpSpPr>
      <p:grpSpPr>
        <a:xfrm>
          <a:off x="0" y="0"/>
          <a:ext cx="0" cy="0"/>
          <a:chOff x="0" y="0"/>
          <a:chExt cx="0" cy="0"/>
        </a:xfrm>
      </p:grpSpPr>
      <p:grpSp>
        <p:nvGrpSpPr>
          <p:cNvPr id="226" name="Google Shape;226;p16"/>
          <p:cNvGrpSpPr/>
          <p:nvPr/>
        </p:nvGrpSpPr>
        <p:grpSpPr>
          <a:xfrm>
            <a:off x="1738415" y="1028700"/>
            <a:ext cx="14811170" cy="3301989"/>
            <a:chOff x="0" y="0"/>
            <a:chExt cx="19748227" cy="4402652"/>
          </a:xfrm>
        </p:grpSpPr>
        <p:sp>
          <p:nvSpPr>
            <p:cNvPr id="227" name="Google Shape;227;p16"/>
            <p:cNvSpPr txBox="1"/>
            <p:nvPr/>
          </p:nvSpPr>
          <p:spPr>
            <a:xfrm>
              <a:off x="0" y="2913152"/>
              <a:ext cx="19748100" cy="148950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Para demostrar que una gramática es ambigua es suficiente con encontrar dos árboles de derivación diferentes para la misma frase.</a:t>
              </a:r>
              <a:endParaRPr b="0" i="0" sz="1400" u="none" cap="none" strike="noStrike">
                <a:solidFill>
                  <a:srgbClr val="000000"/>
                </a:solidFill>
                <a:latin typeface="Arial"/>
                <a:ea typeface="Arial"/>
                <a:cs typeface="Arial"/>
                <a:sym typeface="Arial"/>
              </a:endParaRPr>
            </a:p>
          </p:txBody>
        </p:sp>
        <p:sp>
          <p:nvSpPr>
            <p:cNvPr id="228" name="Google Shape;228;p16"/>
            <p:cNvSpPr txBox="1"/>
            <p:nvPr/>
          </p:nvSpPr>
          <p:spPr>
            <a:xfrm>
              <a:off x="0" y="0"/>
              <a:ext cx="19748227" cy="1409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7000"/>
                <a:buFont typeface="Arial"/>
                <a:buNone/>
              </a:pPr>
              <a:r>
                <a:rPr b="1" i="0" lang="en-US" sz="7000" u="none" cap="none" strike="noStrike">
                  <a:solidFill>
                    <a:srgbClr val="FFFFFF"/>
                  </a:solidFill>
                  <a:latin typeface="Poppins"/>
                  <a:ea typeface="Poppins"/>
                  <a:cs typeface="Poppins"/>
                  <a:sym typeface="Poppins"/>
                </a:rPr>
                <a:t>Ambiguedad</a:t>
              </a:r>
              <a:endParaRPr b="0" i="0" sz="1400" u="none" cap="none" strike="noStrike">
                <a:solidFill>
                  <a:srgbClr val="000000"/>
                </a:solidFill>
                <a:latin typeface="Arial"/>
                <a:ea typeface="Arial"/>
                <a:cs typeface="Arial"/>
                <a:sym typeface="Arial"/>
              </a:endParaRPr>
            </a:p>
          </p:txBody>
        </p:sp>
        <p:cxnSp>
          <p:nvCxnSpPr>
            <p:cNvPr id="229" name="Google Shape;229;p16"/>
            <p:cNvCxnSpPr/>
            <p:nvPr/>
          </p:nvCxnSpPr>
          <p:spPr>
            <a:xfrm>
              <a:off x="0" y="2192427"/>
              <a:ext cx="19748227" cy="0"/>
            </a:xfrm>
            <a:prstGeom prst="straightConnector1">
              <a:avLst/>
            </a:prstGeom>
            <a:noFill/>
            <a:ln cap="rnd" cmpd="sng" w="25400">
              <a:solidFill>
                <a:srgbClr val="10B5BF"/>
              </a:solidFill>
              <a:prstDash val="solid"/>
              <a:round/>
              <a:headEnd len="sm" w="sm" type="none"/>
              <a:tailEnd len="sm" w="sm" type="none"/>
            </a:ln>
          </p:spPr>
        </p:cxnSp>
      </p:grpSp>
      <p:sp>
        <p:nvSpPr>
          <p:cNvPr id="230" name="Google Shape;230;p16"/>
          <p:cNvSpPr/>
          <p:nvPr/>
        </p:nvSpPr>
        <p:spPr>
          <a:xfrm>
            <a:off x="7608665" y="5143500"/>
            <a:ext cx="3070670" cy="4114800"/>
          </a:xfrm>
          <a:custGeom>
            <a:rect b="b" l="l" r="r" t="t"/>
            <a:pathLst>
              <a:path extrusionOk="0" h="4114800" w="3070670">
                <a:moveTo>
                  <a:pt x="0" y="0"/>
                </a:moveTo>
                <a:lnTo>
                  <a:pt x="3070670" y="0"/>
                </a:lnTo>
                <a:lnTo>
                  <a:pt x="3070670" y="4114800"/>
                </a:lnTo>
                <a:lnTo>
                  <a:pt x="0" y="4114800"/>
                </a:lnTo>
                <a:lnTo>
                  <a:pt x="0" y="0"/>
                </a:lnTo>
                <a:close/>
              </a:path>
            </a:pathLst>
          </a:custGeom>
          <a:blipFill rotWithShape="1">
            <a:blip r:embed="rId3">
              <a:alphaModFix/>
            </a:blip>
            <a:stretch>
              <a:fillRect b="0" l="0" r="0" t="0"/>
            </a:stretch>
          </a:blipFill>
          <a:ln>
            <a:noFill/>
          </a:ln>
        </p:spPr>
      </p:sp>
      <p:sp>
        <p:nvSpPr>
          <p:cNvPr id="231" name="Google Shape;231;p16"/>
          <p:cNvSpPr/>
          <p:nvPr/>
        </p:nvSpPr>
        <p:spPr>
          <a:xfrm>
            <a:off x="12146185" y="5110328"/>
            <a:ext cx="3522935" cy="4147972"/>
          </a:xfrm>
          <a:custGeom>
            <a:rect b="b" l="l" r="r" t="t"/>
            <a:pathLst>
              <a:path extrusionOk="0" h="4147972" w="3522935">
                <a:moveTo>
                  <a:pt x="0" y="0"/>
                </a:moveTo>
                <a:lnTo>
                  <a:pt x="3522935" y="0"/>
                </a:lnTo>
                <a:lnTo>
                  <a:pt x="3522935" y="4147972"/>
                </a:lnTo>
                <a:lnTo>
                  <a:pt x="0" y="4147972"/>
                </a:lnTo>
                <a:lnTo>
                  <a:pt x="0" y="0"/>
                </a:lnTo>
                <a:close/>
              </a:path>
            </a:pathLst>
          </a:custGeom>
          <a:blipFill rotWithShape="1">
            <a:blip r:embed="rId4">
              <a:alphaModFix/>
            </a:blip>
            <a:stretch>
              <a:fillRect b="0" l="0" r="0" t="0"/>
            </a:stretch>
          </a:blipFill>
          <a:ln>
            <a:noFill/>
          </a:ln>
        </p:spPr>
      </p:sp>
      <p:sp>
        <p:nvSpPr>
          <p:cNvPr id="232" name="Google Shape;232;p16"/>
          <p:cNvSpPr/>
          <p:nvPr/>
        </p:nvSpPr>
        <p:spPr>
          <a:xfrm>
            <a:off x="2453544" y="5048122"/>
            <a:ext cx="3688271" cy="4305555"/>
          </a:xfrm>
          <a:custGeom>
            <a:rect b="b" l="l" r="r" t="t"/>
            <a:pathLst>
              <a:path extrusionOk="0" h="4305555" w="3688271">
                <a:moveTo>
                  <a:pt x="0" y="0"/>
                </a:moveTo>
                <a:lnTo>
                  <a:pt x="3688271" y="0"/>
                </a:lnTo>
                <a:lnTo>
                  <a:pt x="3688271" y="4305556"/>
                </a:lnTo>
                <a:lnTo>
                  <a:pt x="0" y="4305556"/>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36" name="Shape 236"/>
        <p:cNvGrpSpPr/>
        <p:nvPr/>
      </p:nvGrpSpPr>
      <p:grpSpPr>
        <a:xfrm>
          <a:off x="0" y="0"/>
          <a:ext cx="0" cy="0"/>
          <a:chOff x="0" y="0"/>
          <a:chExt cx="0" cy="0"/>
        </a:xfrm>
      </p:grpSpPr>
      <p:cxnSp>
        <p:nvCxnSpPr>
          <p:cNvPr id="237" name="Google Shape;237;p17"/>
          <p:cNvCxnSpPr/>
          <p:nvPr/>
        </p:nvCxnSpPr>
        <p:spPr>
          <a:xfrm>
            <a:off x="1738415" y="2673020"/>
            <a:ext cx="14811170" cy="0"/>
          </a:xfrm>
          <a:prstGeom prst="straightConnector1">
            <a:avLst/>
          </a:prstGeom>
          <a:noFill/>
          <a:ln cap="rnd" cmpd="sng" w="19050">
            <a:solidFill>
              <a:srgbClr val="10B5BF"/>
            </a:solidFill>
            <a:prstDash val="solid"/>
            <a:round/>
            <a:headEnd len="sm" w="sm" type="none"/>
            <a:tailEnd len="sm" w="sm" type="none"/>
          </a:ln>
        </p:spPr>
      </p:cxnSp>
      <p:sp>
        <p:nvSpPr>
          <p:cNvPr id="238" name="Google Shape;238;p17"/>
          <p:cNvSpPr/>
          <p:nvPr/>
        </p:nvSpPr>
        <p:spPr>
          <a:xfrm>
            <a:off x="5845300" y="4631130"/>
            <a:ext cx="6597399" cy="1363708"/>
          </a:xfrm>
          <a:custGeom>
            <a:rect b="b" l="l" r="r" t="t"/>
            <a:pathLst>
              <a:path extrusionOk="0" h="1363708" w="6597399">
                <a:moveTo>
                  <a:pt x="0" y="0"/>
                </a:moveTo>
                <a:lnTo>
                  <a:pt x="6597400" y="0"/>
                </a:lnTo>
                <a:lnTo>
                  <a:pt x="6597400" y="1363708"/>
                </a:lnTo>
                <a:lnTo>
                  <a:pt x="0" y="1363708"/>
                </a:lnTo>
                <a:lnTo>
                  <a:pt x="0" y="0"/>
                </a:lnTo>
                <a:close/>
              </a:path>
            </a:pathLst>
          </a:custGeom>
          <a:blipFill rotWithShape="1">
            <a:blip r:embed="rId3">
              <a:alphaModFix/>
            </a:blip>
            <a:stretch>
              <a:fillRect b="0" l="0" r="0" t="0"/>
            </a:stretch>
          </a:blipFill>
          <a:ln>
            <a:noFill/>
          </a:ln>
        </p:spPr>
      </p:sp>
      <p:sp>
        <p:nvSpPr>
          <p:cNvPr id="239" name="Google Shape;239;p17"/>
          <p:cNvSpPr txBox="1"/>
          <p:nvPr/>
        </p:nvSpPr>
        <p:spPr>
          <a:xfrm>
            <a:off x="1738415" y="1028700"/>
            <a:ext cx="14811170" cy="10572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7000"/>
              <a:buFont typeface="Arial"/>
              <a:buNone/>
            </a:pPr>
            <a:r>
              <a:rPr b="1" i="0" lang="en-US" sz="7000" u="none" cap="none" strike="noStrike">
                <a:solidFill>
                  <a:srgbClr val="FFFFFF"/>
                </a:solidFill>
                <a:latin typeface="Poppins"/>
                <a:ea typeface="Poppins"/>
                <a:cs typeface="Poppins"/>
                <a:sym typeface="Poppins"/>
              </a:rPr>
              <a:t>Eliminación de la ambigüedad</a:t>
            </a:r>
            <a:endParaRPr b="0" i="0" sz="1400" u="none" cap="none" strike="noStrike">
              <a:solidFill>
                <a:srgbClr val="000000"/>
              </a:solidFill>
              <a:latin typeface="Arial"/>
              <a:ea typeface="Arial"/>
              <a:cs typeface="Arial"/>
              <a:sym typeface="Arial"/>
            </a:endParaRPr>
          </a:p>
        </p:txBody>
      </p:sp>
      <p:sp>
        <p:nvSpPr>
          <p:cNvPr id="240" name="Google Shape;240;p17"/>
          <p:cNvSpPr txBox="1"/>
          <p:nvPr/>
        </p:nvSpPr>
        <p:spPr>
          <a:xfrm>
            <a:off x="1738415" y="2954730"/>
            <a:ext cx="14811170" cy="1400175"/>
          </a:xfrm>
          <a:prstGeom prst="rect">
            <a:avLst/>
          </a:prstGeom>
          <a:noFill/>
          <a:ln>
            <a:noFill/>
          </a:ln>
        </p:spPr>
        <p:txBody>
          <a:bodyPr anchorCtr="0" anchor="t" bIns="0" lIns="0" spcFirstLastPara="1" rIns="0" wrap="square" tIns="0">
            <a:spAutoFit/>
          </a:bodyPr>
          <a:lstStyle/>
          <a:p>
            <a:pPr indent="0" lvl="0" marL="0" marR="0" rtl="0" algn="just">
              <a:lnSpc>
                <a:spcPct val="120006"/>
              </a:lnSpc>
              <a:spcBef>
                <a:spcPts val="0"/>
              </a:spcBef>
              <a:spcAft>
                <a:spcPts val="0"/>
              </a:spcAft>
              <a:buClr>
                <a:srgbClr val="000000"/>
              </a:buClr>
              <a:buSzPts val="3099"/>
              <a:buFont typeface="Arial"/>
              <a:buNone/>
            </a:pPr>
            <a:r>
              <a:rPr b="0" i="0" lang="en-US" sz="3099" u="none" cap="none" strike="noStrike">
                <a:solidFill>
                  <a:srgbClr val="FFFFFF"/>
                </a:solidFill>
                <a:latin typeface="Poppins Medium"/>
                <a:ea typeface="Poppins Medium"/>
                <a:cs typeface="Poppins Medium"/>
                <a:sym typeface="Poppins Medium"/>
              </a:rPr>
              <a:t>Algunas veces, una gramática ambigua puede reescribirse para eliminar la ambigüedad. Como ejemplo vamos a eliminar la ambigüedad de la siguiente gramática:</a:t>
            </a:r>
            <a:endParaRPr b="0" i="0" sz="1400" u="none" cap="none" strike="noStrike">
              <a:solidFill>
                <a:srgbClr val="000000"/>
              </a:solidFill>
              <a:latin typeface="Arial"/>
              <a:ea typeface="Arial"/>
              <a:cs typeface="Arial"/>
              <a:sym typeface="Arial"/>
            </a:endParaRPr>
          </a:p>
        </p:txBody>
      </p:sp>
      <p:sp>
        <p:nvSpPr>
          <p:cNvPr id="241" name="Google Shape;241;p17"/>
          <p:cNvSpPr txBox="1"/>
          <p:nvPr/>
        </p:nvSpPr>
        <p:spPr>
          <a:xfrm>
            <a:off x="3885111" y="6861613"/>
            <a:ext cx="10517777" cy="466725"/>
          </a:xfrm>
          <a:prstGeom prst="rect">
            <a:avLst/>
          </a:prstGeom>
          <a:noFill/>
          <a:ln>
            <a:noFill/>
          </a:ln>
        </p:spPr>
        <p:txBody>
          <a:bodyPr anchorCtr="0" anchor="t" bIns="0" lIns="0" spcFirstLastPara="1" rIns="0" wrap="square" tIns="0">
            <a:spAutoFit/>
          </a:bodyPr>
          <a:lstStyle/>
          <a:p>
            <a:pPr indent="0" lvl="0" marL="0" marR="0" rtl="0" algn="just">
              <a:lnSpc>
                <a:spcPct val="120006"/>
              </a:lnSpc>
              <a:spcBef>
                <a:spcPts val="0"/>
              </a:spcBef>
              <a:spcAft>
                <a:spcPts val="0"/>
              </a:spcAft>
              <a:buClr>
                <a:srgbClr val="000000"/>
              </a:buClr>
              <a:buSzPts val="3099"/>
              <a:buFont typeface="Arial"/>
              <a:buNone/>
            </a:pPr>
            <a:r>
              <a:rPr b="0" i="0" lang="en-US" sz="3099" u="none" cap="none" strike="noStrike">
                <a:solidFill>
                  <a:srgbClr val="FFFFFF"/>
                </a:solidFill>
                <a:latin typeface="Poppins Medium"/>
                <a:ea typeface="Poppins Medium"/>
                <a:cs typeface="Poppins Medium"/>
                <a:sym typeface="Poppins Medium"/>
              </a:rPr>
              <a:t>Aquí “otra” representa a cualquier otra instrucción.</a:t>
            </a:r>
            <a:endParaRPr b="0" i="0" sz="1400" u="none" cap="none" strike="noStrike">
              <a:solidFill>
                <a:srgbClr val="000000"/>
              </a:solidFill>
              <a:latin typeface="Arial"/>
              <a:ea typeface="Arial"/>
              <a:cs typeface="Arial"/>
              <a:sym typeface="Arial"/>
            </a:endParaRPr>
          </a:p>
        </p:txBody>
      </p:sp>
      <p:sp>
        <p:nvSpPr>
          <p:cNvPr id="242" name="Google Shape;242;p17"/>
          <p:cNvSpPr/>
          <p:nvPr/>
        </p:nvSpPr>
        <p:spPr>
          <a:xfrm>
            <a:off x="14002057" y="6172200"/>
            <a:ext cx="6217418" cy="4114800"/>
          </a:xfrm>
          <a:custGeom>
            <a:rect b="b" l="l" r="r" t="t"/>
            <a:pathLst>
              <a:path extrusionOk="0" h="4114800" w="6217418">
                <a:moveTo>
                  <a:pt x="0" y="0"/>
                </a:moveTo>
                <a:lnTo>
                  <a:pt x="6217417" y="0"/>
                </a:lnTo>
                <a:lnTo>
                  <a:pt x="6217417" y="4114800"/>
                </a:lnTo>
                <a:lnTo>
                  <a:pt x="0" y="4114800"/>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46" name="Shape 246"/>
        <p:cNvGrpSpPr/>
        <p:nvPr/>
      </p:nvGrpSpPr>
      <p:grpSpPr>
        <a:xfrm>
          <a:off x="0" y="0"/>
          <a:ext cx="0" cy="0"/>
          <a:chOff x="0" y="0"/>
          <a:chExt cx="0" cy="0"/>
        </a:xfrm>
      </p:grpSpPr>
      <p:cxnSp>
        <p:nvCxnSpPr>
          <p:cNvPr id="247" name="Google Shape;247;p18"/>
          <p:cNvCxnSpPr/>
          <p:nvPr/>
        </p:nvCxnSpPr>
        <p:spPr>
          <a:xfrm>
            <a:off x="1738415" y="2673020"/>
            <a:ext cx="14811170" cy="0"/>
          </a:xfrm>
          <a:prstGeom prst="straightConnector1">
            <a:avLst/>
          </a:prstGeom>
          <a:noFill/>
          <a:ln cap="rnd" cmpd="sng" w="19050">
            <a:solidFill>
              <a:srgbClr val="10B5BF"/>
            </a:solidFill>
            <a:prstDash val="solid"/>
            <a:round/>
            <a:headEnd len="sm" w="sm" type="none"/>
            <a:tailEnd len="sm" w="sm" type="none"/>
          </a:ln>
        </p:spPr>
      </p:cxnSp>
      <p:sp>
        <p:nvSpPr>
          <p:cNvPr id="248" name="Google Shape;248;p18"/>
          <p:cNvSpPr/>
          <p:nvPr/>
        </p:nvSpPr>
        <p:spPr>
          <a:xfrm>
            <a:off x="8435427" y="4058640"/>
            <a:ext cx="8114158" cy="5404420"/>
          </a:xfrm>
          <a:custGeom>
            <a:rect b="b" l="l" r="r" t="t"/>
            <a:pathLst>
              <a:path extrusionOk="0" h="5404420" w="8114158">
                <a:moveTo>
                  <a:pt x="0" y="0"/>
                </a:moveTo>
                <a:lnTo>
                  <a:pt x="8114158" y="0"/>
                </a:lnTo>
                <a:lnTo>
                  <a:pt x="8114158" y="5404420"/>
                </a:lnTo>
                <a:lnTo>
                  <a:pt x="0" y="5404420"/>
                </a:lnTo>
                <a:lnTo>
                  <a:pt x="0" y="0"/>
                </a:lnTo>
                <a:close/>
              </a:path>
            </a:pathLst>
          </a:custGeom>
          <a:blipFill rotWithShape="1">
            <a:blip r:embed="rId3">
              <a:alphaModFix/>
            </a:blip>
            <a:stretch>
              <a:fillRect b="0" l="0" r="0" t="0"/>
            </a:stretch>
          </a:blipFill>
          <a:ln>
            <a:noFill/>
          </a:ln>
        </p:spPr>
      </p:sp>
      <p:sp>
        <p:nvSpPr>
          <p:cNvPr id="249" name="Google Shape;249;p18"/>
          <p:cNvSpPr txBox="1"/>
          <p:nvPr/>
        </p:nvSpPr>
        <p:spPr>
          <a:xfrm>
            <a:off x="1738415" y="1028700"/>
            <a:ext cx="14811170" cy="10572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7000"/>
              <a:buFont typeface="Arial"/>
              <a:buNone/>
            </a:pPr>
            <a:r>
              <a:rPr b="1" i="0" lang="en-US" sz="7000" u="none" cap="none" strike="noStrike">
                <a:solidFill>
                  <a:srgbClr val="FFFFFF"/>
                </a:solidFill>
                <a:latin typeface="Poppins"/>
                <a:ea typeface="Poppins"/>
                <a:cs typeface="Poppins"/>
                <a:sym typeface="Poppins"/>
              </a:rPr>
              <a:t>Eliminación de la ambigüedad</a:t>
            </a:r>
            <a:endParaRPr b="0" i="0" sz="1400" u="none" cap="none" strike="noStrike">
              <a:solidFill>
                <a:srgbClr val="000000"/>
              </a:solidFill>
              <a:latin typeface="Arial"/>
              <a:ea typeface="Arial"/>
              <a:cs typeface="Arial"/>
              <a:sym typeface="Arial"/>
            </a:endParaRPr>
          </a:p>
        </p:txBody>
      </p:sp>
      <p:sp>
        <p:nvSpPr>
          <p:cNvPr id="250" name="Google Shape;250;p18"/>
          <p:cNvSpPr txBox="1"/>
          <p:nvPr/>
        </p:nvSpPr>
        <p:spPr>
          <a:xfrm>
            <a:off x="1738415" y="3125190"/>
            <a:ext cx="14811170" cy="933450"/>
          </a:xfrm>
          <a:prstGeom prst="rect">
            <a:avLst/>
          </a:prstGeom>
          <a:noFill/>
          <a:ln>
            <a:noFill/>
          </a:ln>
        </p:spPr>
        <p:txBody>
          <a:bodyPr anchorCtr="0" anchor="t" bIns="0" lIns="0" spcFirstLastPara="1" rIns="0" wrap="square" tIns="0">
            <a:spAutoFit/>
          </a:bodyPr>
          <a:lstStyle/>
          <a:p>
            <a:pPr indent="0" lvl="0" marL="0" marR="0" rtl="0" algn="just">
              <a:lnSpc>
                <a:spcPct val="120006"/>
              </a:lnSpc>
              <a:spcBef>
                <a:spcPts val="0"/>
              </a:spcBef>
              <a:spcAft>
                <a:spcPts val="0"/>
              </a:spcAft>
              <a:buClr>
                <a:srgbClr val="000000"/>
              </a:buClr>
              <a:buSzPts val="3099"/>
              <a:buFont typeface="Arial"/>
              <a:buNone/>
            </a:pPr>
            <a:r>
              <a:rPr b="0" i="0" lang="en-US" sz="3099" u="none" cap="none" strike="noStrike">
                <a:solidFill>
                  <a:srgbClr val="FFFFFF"/>
                </a:solidFill>
                <a:latin typeface="Poppins Medium"/>
                <a:ea typeface="Poppins Medium"/>
                <a:cs typeface="Poppins Medium"/>
                <a:sym typeface="Poppins Medium"/>
              </a:rPr>
              <a:t>Si evaluamos la cadena </a:t>
            </a:r>
            <a:r>
              <a:rPr b="0" i="0" lang="en-US" sz="3099" u="none" cap="none" strike="noStrike">
                <a:solidFill>
                  <a:srgbClr val="10D3F9"/>
                </a:solidFill>
                <a:latin typeface="Poppins Medium"/>
                <a:ea typeface="Poppins Medium"/>
                <a:cs typeface="Poppins Medium"/>
                <a:sym typeface="Poppins Medium"/>
              </a:rPr>
              <a:t>If E1 then if E2 then S1 else S2</a:t>
            </a:r>
            <a:r>
              <a:rPr b="0" i="0" lang="en-US" sz="3099" u="none" cap="none" strike="noStrike">
                <a:solidFill>
                  <a:srgbClr val="FFFFFF"/>
                </a:solidFill>
                <a:latin typeface="Poppins Medium"/>
                <a:ea typeface="Poppins Medium"/>
                <a:cs typeface="Poppins Medium"/>
                <a:sym typeface="Poppins Medium"/>
              </a:rPr>
              <a:t>, obtendremos estos arboles</a:t>
            </a:r>
            <a:endParaRPr b="0" i="0" sz="1400" u="none" cap="none" strike="noStrike">
              <a:solidFill>
                <a:srgbClr val="000000"/>
              </a:solidFill>
              <a:latin typeface="Arial"/>
              <a:ea typeface="Arial"/>
              <a:cs typeface="Arial"/>
              <a:sym typeface="Arial"/>
            </a:endParaRPr>
          </a:p>
        </p:txBody>
      </p:sp>
      <p:sp>
        <p:nvSpPr>
          <p:cNvPr id="251" name="Google Shape;251;p18"/>
          <p:cNvSpPr/>
          <p:nvPr/>
        </p:nvSpPr>
        <p:spPr>
          <a:xfrm>
            <a:off x="1165252" y="5397142"/>
            <a:ext cx="6597399" cy="1363708"/>
          </a:xfrm>
          <a:custGeom>
            <a:rect b="b" l="l" r="r" t="t"/>
            <a:pathLst>
              <a:path extrusionOk="0" h="1363708" w="6597399">
                <a:moveTo>
                  <a:pt x="0" y="0"/>
                </a:moveTo>
                <a:lnTo>
                  <a:pt x="6597399" y="0"/>
                </a:lnTo>
                <a:lnTo>
                  <a:pt x="6597399" y="1363708"/>
                </a:lnTo>
                <a:lnTo>
                  <a:pt x="0" y="1363708"/>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55" name="Shape 255"/>
        <p:cNvGrpSpPr/>
        <p:nvPr/>
      </p:nvGrpSpPr>
      <p:grpSpPr>
        <a:xfrm>
          <a:off x="0" y="0"/>
          <a:ext cx="0" cy="0"/>
          <a:chOff x="0" y="0"/>
          <a:chExt cx="0" cy="0"/>
        </a:xfrm>
      </p:grpSpPr>
      <p:cxnSp>
        <p:nvCxnSpPr>
          <p:cNvPr id="256" name="Google Shape;256;p19"/>
          <p:cNvCxnSpPr/>
          <p:nvPr/>
        </p:nvCxnSpPr>
        <p:spPr>
          <a:xfrm>
            <a:off x="1738415" y="2673020"/>
            <a:ext cx="14811170" cy="0"/>
          </a:xfrm>
          <a:prstGeom prst="straightConnector1">
            <a:avLst/>
          </a:prstGeom>
          <a:noFill/>
          <a:ln cap="rnd" cmpd="sng" w="19050">
            <a:solidFill>
              <a:srgbClr val="10B5BF"/>
            </a:solidFill>
            <a:prstDash val="solid"/>
            <a:round/>
            <a:headEnd len="sm" w="sm" type="none"/>
            <a:tailEnd len="sm" w="sm" type="none"/>
          </a:ln>
        </p:spPr>
      </p:cxnSp>
      <p:sp>
        <p:nvSpPr>
          <p:cNvPr id="257" name="Google Shape;257;p19"/>
          <p:cNvSpPr/>
          <p:nvPr/>
        </p:nvSpPr>
        <p:spPr>
          <a:xfrm>
            <a:off x="3784992" y="5096865"/>
            <a:ext cx="10718016" cy="2474701"/>
          </a:xfrm>
          <a:custGeom>
            <a:rect b="b" l="l" r="r" t="t"/>
            <a:pathLst>
              <a:path extrusionOk="0" h="2474701" w="10718016">
                <a:moveTo>
                  <a:pt x="0" y="0"/>
                </a:moveTo>
                <a:lnTo>
                  <a:pt x="10718016" y="0"/>
                </a:lnTo>
                <a:lnTo>
                  <a:pt x="10718016" y="2474701"/>
                </a:lnTo>
                <a:lnTo>
                  <a:pt x="0" y="2474701"/>
                </a:lnTo>
                <a:lnTo>
                  <a:pt x="0" y="0"/>
                </a:lnTo>
                <a:close/>
              </a:path>
            </a:pathLst>
          </a:custGeom>
          <a:blipFill rotWithShape="1">
            <a:blip r:embed="rId3">
              <a:alphaModFix/>
            </a:blip>
            <a:stretch>
              <a:fillRect b="0" l="0" r="0" t="0"/>
            </a:stretch>
          </a:blipFill>
          <a:ln>
            <a:noFill/>
          </a:ln>
        </p:spPr>
      </p:sp>
      <p:sp>
        <p:nvSpPr>
          <p:cNvPr id="258" name="Google Shape;258;p19"/>
          <p:cNvSpPr txBox="1"/>
          <p:nvPr/>
        </p:nvSpPr>
        <p:spPr>
          <a:xfrm>
            <a:off x="1738415" y="1028700"/>
            <a:ext cx="14811170" cy="10572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7000"/>
              <a:buFont typeface="Arial"/>
              <a:buNone/>
            </a:pPr>
            <a:r>
              <a:rPr b="1" i="0" lang="en-US" sz="7000" u="none" cap="none" strike="noStrike">
                <a:solidFill>
                  <a:srgbClr val="FFFFFF"/>
                </a:solidFill>
                <a:latin typeface="Poppins"/>
                <a:ea typeface="Poppins"/>
                <a:cs typeface="Poppins"/>
                <a:sym typeface="Poppins"/>
              </a:rPr>
              <a:t>Eliminación de la ambigüedad</a:t>
            </a:r>
            <a:endParaRPr b="0" i="0" sz="1400" u="none" cap="none" strike="noStrike">
              <a:solidFill>
                <a:srgbClr val="000000"/>
              </a:solidFill>
              <a:latin typeface="Arial"/>
              <a:ea typeface="Arial"/>
              <a:cs typeface="Arial"/>
              <a:sym typeface="Arial"/>
            </a:endParaRPr>
          </a:p>
        </p:txBody>
      </p:sp>
      <p:sp>
        <p:nvSpPr>
          <p:cNvPr id="259" name="Google Shape;259;p19"/>
          <p:cNvSpPr txBox="1"/>
          <p:nvPr/>
        </p:nvSpPr>
        <p:spPr>
          <a:xfrm>
            <a:off x="1738415" y="3125190"/>
            <a:ext cx="14811170" cy="933450"/>
          </a:xfrm>
          <a:prstGeom prst="rect">
            <a:avLst/>
          </a:prstGeom>
          <a:noFill/>
          <a:ln>
            <a:noFill/>
          </a:ln>
        </p:spPr>
        <p:txBody>
          <a:bodyPr anchorCtr="0" anchor="t" bIns="0" lIns="0" spcFirstLastPara="1" rIns="0" wrap="square" tIns="0">
            <a:spAutoFit/>
          </a:bodyPr>
          <a:lstStyle/>
          <a:p>
            <a:pPr indent="0" lvl="0" marL="0" marR="0" rtl="0" algn="just">
              <a:lnSpc>
                <a:spcPct val="120006"/>
              </a:lnSpc>
              <a:spcBef>
                <a:spcPts val="0"/>
              </a:spcBef>
              <a:spcAft>
                <a:spcPts val="0"/>
              </a:spcAft>
              <a:buClr>
                <a:srgbClr val="000000"/>
              </a:buClr>
              <a:buSzPts val="3099"/>
              <a:buFont typeface="Arial"/>
              <a:buNone/>
            </a:pPr>
            <a:r>
              <a:rPr b="0" i="0" lang="en-US" sz="3099" u="none" cap="none" strike="noStrike">
                <a:solidFill>
                  <a:srgbClr val="FFFFFF"/>
                </a:solidFill>
                <a:latin typeface="Poppins Medium"/>
                <a:ea typeface="Poppins Medium"/>
                <a:cs typeface="Poppins Medium"/>
                <a:sym typeface="Poppins Medium"/>
              </a:rPr>
              <a:t>Si reescribimos la gramatica de la siguiente forma podemos eliminar la ambiguedad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63" name="Shape 263"/>
        <p:cNvGrpSpPr/>
        <p:nvPr/>
      </p:nvGrpSpPr>
      <p:grpSpPr>
        <a:xfrm>
          <a:off x="0" y="0"/>
          <a:ext cx="0" cy="0"/>
          <a:chOff x="0" y="0"/>
          <a:chExt cx="0" cy="0"/>
        </a:xfrm>
      </p:grpSpPr>
      <p:cxnSp>
        <p:nvCxnSpPr>
          <p:cNvPr id="264" name="Google Shape;264;p20"/>
          <p:cNvCxnSpPr/>
          <p:nvPr/>
        </p:nvCxnSpPr>
        <p:spPr>
          <a:xfrm>
            <a:off x="1738415" y="2673020"/>
            <a:ext cx="14811170" cy="0"/>
          </a:xfrm>
          <a:prstGeom prst="straightConnector1">
            <a:avLst/>
          </a:prstGeom>
          <a:noFill/>
          <a:ln cap="rnd" cmpd="sng" w="19050">
            <a:solidFill>
              <a:srgbClr val="10B5BF"/>
            </a:solidFill>
            <a:prstDash val="solid"/>
            <a:round/>
            <a:headEnd len="sm" w="sm" type="none"/>
            <a:tailEnd len="sm" w="sm" type="none"/>
          </a:ln>
        </p:spPr>
      </p:cxnSp>
      <p:sp>
        <p:nvSpPr>
          <p:cNvPr id="265" name="Google Shape;265;p20"/>
          <p:cNvSpPr/>
          <p:nvPr/>
        </p:nvSpPr>
        <p:spPr>
          <a:xfrm>
            <a:off x="10332470" y="4639665"/>
            <a:ext cx="6926830" cy="4613603"/>
          </a:xfrm>
          <a:custGeom>
            <a:rect b="b" l="l" r="r" t="t"/>
            <a:pathLst>
              <a:path extrusionOk="0" h="4613603" w="6926830">
                <a:moveTo>
                  <a:pt x="0" y="0"/>
                </a:moveTo>
                <a:lnTo>
                  <a:pt x="6926830" y="0"/>
                </a:lnTo>
                <a:lnTo>
                  <a:pt x="6926830" y="4613603"/>
                </a:lnTo>
                <a:lnTo>
                  <a:pt x="0" y="4613603"/>
                </a:lnTo>
                <a:lnTo>
                  <a:pt x="0" y="0"/>
                </a:lnTo>
                <a:close/>
              </a:path>
            </a:pathLst>
          </a:custGeom>
          <a:blipFill rotWithShape="1">
            <a:blip r:embed="rId3">
              <a:alphaModFix/>
            </a:blip>
            <a:stretch>
              <a:fillRect b="0" l="0" r="0" t="0"/>
            </a:stretch>
          </a:blipFill>
          <a:ln>
            <a:noFill/>
          </a:ln>
        </p:spPr>
      </p:sp>
      <p:sp>
        <p:nvSpPr>
          <p:cNvPr id="266" name="Google Shape;266;p20"/>
          <p:cNvSpPr/>
          <p:nvPr/>
        </p:nvSpPr>
        <p:spPr>
          <a:xfrm>
            <a:off x="1738415" y="4639665"/>
            <a:ext cx="6615561" cy="4613603"/>
          </a:xfrm>
          <a:custGeom>
            <a:rect b="b" l="l" r="r" t="t"/>
            <a:pathLst>
              <a:path extrusionOk="0" h="4613603" w="6615561">
                <a:moveTo>
                  <a:pt x="0" y="0"/>
                </a:moveTo>
                <a:lnTo>
                  <a:pt x="6615561" y="0"/>
                </a:lnTo>
                <a:lnTo>
                  <a:pt x="6615561" y="4613603"/>
                </a:lnTo>
                <a:lnTo>
                  <a:pt x="0" y="4613603"/>
                </a:lnTo>
                <a:lnTo>
                  <a:pt x="0" y="0"/>
                </a:lnTo>
                <a:close/>
              </a:path>
            </a:pathLst>
          </a:custGeom>
          <a:blipFill rotWithShape="1">
            <a:blip r:embed="rId4">
              <a:alphaModFix/>
            </a:blip>
            <a:stretch>
              <a:fillRect b="0" l="0" r="0" t="0"/>
            </a:stretch>
          </a:blipFill>
          <a:ln>
            <a:noFill/>
          </a:ln>
        </p:spPr>
      </p:sp>
      <p:sp>
        <p:nvSpPr>
          <p:cNvPr id="267" name="Google Shape;267;p20"/>
          <p:cNvSpPr txBox="1"/>
          <p:nvPr/>
        </p:nvSpPr>
        <p:spPr>
          <a:xfrm>
            <a:off x="1738415" y="1028700"/>
            <a:ext cx="14811170" cy="10572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7000"/>
              <a:buFont typeface="Arial"/>
              <a:buNone/>
            </a:pPr>
            <a:r>
              <a:rPr b="1" i="0" lang="en-US" sz="7000" u="none" cap="none" strike="noStrike">
                <a:solidFill>
                  <a:srgbClr val="FFFFFF"/>
                </a:solidFill>
                <a:latin typeface="Poppins"/>
                <a:ea typeface="Poppins"/>
                <a:cs typeface="Poppins"/>
                <a:sym typeface="Poppins"/>
              </a:rPr>
              <a:t>Eliminación de la ambigüedad</a:t>
            </a:r>
            <a:endParaRPr b="0" i="0" sz="1400" u="none" cap="none" strike="noStrike">
              <a:solidFill>
                <a:srgbClr val="000000"/>
              </a:solidFill>
              <a:latin typeface="Arial"/>
              <a:ea typeface="Arial"/>
              <a:cs typeface="Arial"/>
              <a:sym typeface="Arial"/>
            </a:endParaRPr>
          </a:p>
        </p:txBody>
      </p:sp>
      <p:sp>
        <p:nvSpPr>
          <p:cNvPr id="268" name="Google Shape;268;p20"/>
          <p:cNvSpPr txBox="1"/>
          <p:nvPr/>
        </p:nvSpPr>
        <p:spPr>
          <a:xfrm>
            <a:off x="1738415" y="2814017"/>
            <a:ext cx="14811170" cy="466725"/>
          </a:xfrm>
          <a:prstGeom prst="rect">
            <a:avLst/>
          </a:prstGeom>
          <a:noFill/>
          <a:ln>
            <a:noFill/>
          </a:ln>
        </p:spPr>
        <p:txBody>
          <a:bodyPr anchorCtr="0" anchor="t" bIns="0" lIns="0" spcFirstLastPara="1" rIns="0" wrap="square" tIns="0">
            <a:spAutoFit/>
          </a:bodyPr>
          <a:lstStyle/>
          <a:p>
            <a:pPr indent="0" lvl="0" marL="0" marR="0" rtl="0" algn="just">
              <a:lnSpc>
                <a:spcPct val="120006"/>
              </a:lnSpc>
              <a:spcBef>
                <a:spcPts val="0"/>
              </a:spcBef>
              <a:spcAft>
                <a:spcPts val="0"/>
              </a:spcAft>
              <a:buClr>
                <a:srgbClr val="000000"/>
              </a:buClr>
              <a:buSzPts val="3099"/>
              <a:buFont typeface="Arial"/>
              <a:buNone/>
            </a:pPr>
            <a:r>
              <a:rPr b="0" i="0" lang="en-US" sz="3099" u="none" cap="none" strike="noStrike">
                <a:solidFill>
                  <a:srgbClr val="10D3F9"/>
                </a:solidFill>
                <a:latin typeface="Poppins Medium"/>
                <a:ea typeface="Poppins Medium"/>
                <a:cs typeface="Poppins Medium"/>
                <a:sym typeface="Poppins Medium"/>
              </a:rPr>
              <a:t>If E1 then if E2 then S1 else S2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72" name="Shape 272"/>
        <p:cNvGrpSpPr/>
        <p:nvPr/>
      </p:nvGrpSpPr>
      <p:grpSpPr>
        <a:xfrm>
          <a:off x="0" y="0"/>
          <a:ext cx="0" cy="0"/>
          <a:chOff x="0" y="0"/>
          <a:chExt cx="0" cy="0"/>
        </a:xfrm>
      </p:grpSpPr>
      <p:cxnSp>
        <p:nvCxnSpPr>
          <p:cNvPr id="273" name="Google Shape;273;p21"/>
          <p:cNvCxnSpPr/>
          <p:nvPr/>
        </p:nvCxnSpPr>
        <p:spPr>
          <a:xfrm>
            <a:off x="1738415" y="2673020"/>
            <a:ext cx="14811170" cy="0"/>
          </a:xfrm>
          <a:prstGeom prst="straightConnector1">
            <a:avLst/>
          </a:prstGeom>
          <a:noFill/>
          <a:ln cap="rnd" cmpd="sng" w="19050">
            <a:solidFill>
              <a:srgbClr val="10B5BF"/>
            </a:solidFill>
            <a:prstDash val="solid"/>
            <a:round/>
            <a:headEnd len="sm" w="sm" type="none"/>
            <a:tailEnd len="sm" w="sm" type="none"/>
          </a:ln>
        </p:spPr>
      </p:cxnSp>
      <p:sp>
        <p:nvSpPr>
          <p:cNvPr id="274" name="Google Shape;274;p21"/>
          <p:cNvSpPr txBox="1"/>
          <p:nvPr/>
        </p:nvSpPr>
        <p:spPr>
          <a:xfrm>
            <a:off x="1738415" y="3125190"/>
            <a:ext cx="14811170" cy="3267075"/>
          </a:xfrm>
          <a:prstGeom prst="rect">
            <a:avLst/>
          </a:prstGeom>
          <a:noFill/>
          <a:ln>
            <a:noFill/>
          </a:ln>
        </p:spPr>
        <p:txBody>
          <a:bodyPr anchorCtr="0" anchor="t" bIns="0" lIns="0" spcFirstLastPara="1" rIns="0" wrap="square" tIns="0">
            <a:spAutoFit/>
          </a:bodyPr>
          <a:lstStyle/>
          <a:p>
            <a:pPr indent="0" lvl="0" marL="0" marR="0" rtl="0" algn="just">
              <a:lnSpc>
                <a:spcPct val="120006"/>
              </a:lnSpc>
              <a:spcBef>
                <a:spcPts val="0"/>
              </a:spcBef>
              <a:spcAft>
                <a:spcPts val="0"/>
              </a:spcAft>
              <a:buClr>
                <a:srgbClr val="000000"/>
              </a:buClr>
              <a:buSzPts val="3099"/>
              <a:buFont typeface="Arial"/>
              <a:buNone/>
            </a:pPr>
            <a:r>
              <a:rPr b="0" i="0" lang="en-US" sz="3099" u="none" cap="none" strike="noStrike">
                <a:solidFill>
                  <a:srgbClr val="FFFFFF"/>
                </a:solidFill>
                <a:latin typeface="Poppins Medium"/>
                <a:ea typeface="Poppins Medium"/>
                <a:cs typeface="Poppins Medium"/>
                <a:sym typeface="Poppins Medium"/>
              </a:rPr>
              <a:t>Una gramática es recursiva por la izquierda si tiene una terminal </a:t>
            </a:r>
            <a:r>
              <a:rPr b="0" i="0" lang="en-US" sz="3099" u="none" cap="none" strike="noStrike">
                <a:solidFill>
                  <a:srgbClr val="10D3F9"/>
                </a:solidFill>
                <a:latin typeface="Poppins Medium"/>
                <a:ea typeface="Poppins Medium"/>
                <a:cs typeface="Poppins Medium"/>
                <a:sym typeface="Poppins Medium"/>
              </a:rPr>
              <a:t>A</a:t>
            </a:r>
            <a:r>
              <a:rPr b="0" i="0" lang="en-US" sz="3099" u="none" cap="none" strike="noStrike">
                <a:solidFill>
                  <a:srgbClr val="FFFFFF"/>
                </a:solidFill>
                <a:latin typeface="Poppins Medium"/>
                <a:ea typeface="Poppins Medium"/>
                <a:cs typeface="Poppins Medium"/>
                <a:sym typeface="Poppins Medium"/>
              </a:rPr>
              <a:t> tal que haya una derivación </a:t>
            </a:r>
            <a:r>
              <a:rPr b="0" i="0" lang="en-US" sz="3099" u="none" cap="none" strike="noStrike">
                <a:solidFill>
                  <a:srgbClr val="10D3F9"/>
                </a:solidFill>
                <a:latin typeface="Poppins Medium"/>
                <a:ea typeface="Poppins Medium"/>
                <a:cs typeface="Poppins Medium"/>
                <a:sym typeface="Poppins Medium"/>
              </a:rPr>
              <a:t>A -&gt; Aa</a:t>
            </a:r>
            <a:r>
              <a:rPr b="0" i="0" lang="en-US" sz="3099" u="none" cap="none" strike="noStrike">
                <a:solidFill>
                  <a:srgbClr val="FFFFFF"/>
                </a:solidFill>
                <a:latin typeface="Poppins Medium"/>
                <a:ea typeface="Poppins Medium"/>
                <a:cs typeface="Poppins Medium"/>
                <a:sym typeface="Poppins Medium"/>
              </a:rPr>
              <a:t> para cierta cadena </a:t>
            </a:r>
            <a:r>
              <a:rPr b="0" i="0" lang="en-US" sz="3099" u="none" cap="none" strike="noStrike">
                <a:solidFill>
                  <a:srgbClr val="10D3F9"/>
                </a:solidFill>
                <a:latin typeface="Poppins Medium"/>
                <a:ea typeface="Poppins Medium"/>
                <a:cs typeface="Poppins Medium"/>
                <a:sym typeface="Poppins Medium"/>
              </a:rPr>
              <a:t>a</a:t>
            </a:r>
            <a:r>
              <a:rPr b="0" i="0" lang="en-US" sz="3099" u="none" cap="none" strike="noStrike">
                <a:solidFill>
                  <a:srgbClr val="FFFFFF"/>
                </a:solidFill>
                <a:latin typeface="Poppins Medium"/>
                <a:ea typeface="Poppins Medium"/>
                <a:cs typeface="Poppins Medium"/>
                <a:sym typeface="Poppins Medium"/>
              </a:rPr>
              <a:t>.  Los métodos de análisis sintáctico descendentes no pueden manejar las gramáticas recursivas por la izquierda, por lo que se necesita una transformación para eliminar la recursividad por la izquierda.</a:t>
            </a:r>
            <a:endParaRPr b="0" i="0" sz="1400" u="none" cap="none" strike="noStrike">
              <a:solidFill>
                <a:srgbClr val="000000"/>
              </a:solidFill>
              <a:latin typeface="Arial"/>
              <a:ea typeface="Arial"/>
              <a:cs typeface="Arial"/>
              <a:sym typeface="Arial"/>
            </a:endParaRPr>
          </a:p>
          <a:p>
            <a:pPr indent="0" lvl="0" marL="0" marR="0" rtl="0" algn="just">
              <a:lnSpc>
                <a:spcPct val="120006"/>
              </a:lnSpc>
              <a:spcBef>
                <a:spcPts val="0"/>
              </a:spcBef>
              <a:spcAft>
                <a:spcPts val="0"/>
              </a:spcAft>
              <a:buClr>
                <a:srgbClr val="000000"/>
              </a:buClr>
              <a:buSzPts val="3099"/>
              <a:buFont typeface="Arial"/>
              <a:buNone/>
            </a:pPr>
            <a:r>
              <a:t/>
            </a:r>
            <a:endParaRPr b="0" i="0" sz="3099" u="none" cap="none" strike="noStrike">
              <a:solidFill>
                <a:srgbClr val="FFFFFF"/>
              </a:solidFill>
              <a:latin typeface="Poppins Medium"/>
              <a:ea typeface="Poppins Medium"/>
              <a:cs typeface="Poppins Medium"/>
              <a:sym typeface="Poppins Medium"/>
            </a:endParaRPr>
          </a:p>
          <a:p>
            <a:pPr indent="0" lvl="0" marL="0" marR="0" rtl="0" algn="just">
              <a:lnSpc>
                <a:spcPct val="120006"/>
              </a:lnSpc>
              <a:spcBef>
                <a:spcPts val="0"/>
              </a:spcBef>
              <a:spcAft>
                <a:spcPts val="0"/>
              </a:spcAft>
              <a:buClr>
                <a:srgbClr val="000000"/>
              </a:buClr>
              <a:buSzPts val="3099"/>
              <a:buFont typeface="Arial"/>
              <a:buNone/>
            </a:pPr>
            <a:r>
              <a:rPr b="0" i="0" lang="en-US" sz="3099" u="none" cap="none" strike="noStrike">
                <a:solidFill>
                  <a:srgbClr val="FFFFFF"/>
                </a:solidFill>
                <a:latin typeface="Poppins Medium"/>
                <a:ea typeface="Poppins Medium"/>
                <a:cs typeface="Poppins Medium"/>
                <a:sym typeface="Poppins Medium"/>
              </a:rPr>
              <a:t>Ejemplo: </a:t>
            </a:r>
            <a:endParaRPr b="0" i="0" sz="1400" u="none" cap="none" strike="noStrike">
              <a:solidFill>
                <a:srgbClr val="000000"/>
              </a:solidFill>
              <a:latin typeface="Arial"/>
              <a:ea typeface="Arial"/>
              <a:cs typeface="Arial"/>
              <a:sym typeface="Arial"/>
            </a:endParaRPr>
          </a:p>
        </p:txBody>
      </p:sp>
      <p:sp>
        <p:nvSpPr>
          <p:cNvPr id="275" name="Google Shape;275;p21"/>
          <p:cNvSpPr txBox="1"/>
          <p:nvPr/>
        </p:nvSpPr>
        <p:spPr>
          <a:xfrm>
            <a:off x="1738415" y="500062"/>
            <a:ext cx="14811170" cy="21145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7000"/>
              <a:buFont typeface="Arial"/>
              <a:buNone/>
            </a:pPr>
            <a:r>
              <a:rPr b="1" i="0" lang="en-US" sz="7000" u="none" cap="none" strike="noStrike">
                <a:solidFill>
                  <a:srgbClr val="FFFFFF"/>
                </a:solidFill>
                <a:latin typeface="Poppins"/>
                <a:ea typeface="Poppins"/>
                <a:cs typeface="Poppins"/>
                <a:sym typeface="Poppins"/>
              </a:rPr>
              <a:t>Eliminación de la recursividad por la izquierda</a:t>
            </a:r>
            <a:endParaRPr b="0" i="0" sz="1400" u="none" cap="none" strike="noStrike">
              <a:solidFill>
                <a:srgbClr val="000000"/>
              </a:solidFill>
              <a:latin typeface="Arial"/>
              <a:ea typeface="Arial"/>
              <a:cs typeface="Arial"/>
              <a:sym typeface="Arial"/>
            </a:endParaRPr>
          </a:p>
        </p:txBody>
      </p:sp>
      <p:grpSp>
        <p:nvGrpSpPr>
          <p:cNvPr id="276" name="Google Shape;276;p21"/>
          <p:cNvGrpSpPr/>
          <p:nvPr/>
        </p:nvGrpSpPr>
        <p:grpSpPr>
          <a:xfrm>
            <a:off x="6053232" y="6906615"/>
            <a:ext cx="6181537" cy="1400175"/>
            <a:chOff x="0" y="0"/>
            <a:chExt cx="8242049" cy="1866900"/>
          </a:xfrm>
        </p:grpSpPr>
        <p:grpSp>
          <p:nvGrpSpPr>
            <p:cNvPr id="277" name="Google Shape;277;p21"/>
            <p:cNvGrpSpPr/>
            <p:nvPr/>
          </p:nvGrpSpPr>
          <p:grpSpPr>
            <a:xfrm>
              <a:off x="3162168" y="291887"/>
              <a:ext cx="1283126" cy="1283126"/>
              <a:chOff x="0" y="0"/>
              <a:chExt cx="812800" cy="812800"/>
            </a:xfrm>
          </p:grpSpPr>
          <p:sp>
            <p:nvSpPr>
              <p:cNvPr id="278" name="Google Shape;278;p21"/>
              <p:cNvSpPr/>
              <p:nvPr/>
            </p:nvSpPr>
            <p:spPr>
              <a:xfrm>
                <a:off x="0" y="0"/>
                <a:ext cx="812800" cy="812800"/>
              </a:xfrm>
              <a:custGeom>
                <a:rect b="b" l="l" r="r" t="t"/>
                <a:pathLst>
                  <a:path extrusionOk="0"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00FFFF"/>
              </a:solidFill>
              <a:ln>
                <a:noFill/>
              </a:ln>
            </p:spPr>
          </p:sp>
          <p:sp>
            <p:nvSpPr>
              <p:cNvPr id="279" name="Google Shape;279;p21"/>
              <p:cNvSpPr txBox="1"/>
              <p:nvPr/>
            </p:nvSpPr>
            <p:spPr>
              <a:xfrm>
                <a:off x="0" y="165100"/>
                <a:ext cx="711200" cy="444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0" name="Google Shape;280;p21"/>
            <p:cNvSpPr txBox="1"/>
            <p:nvPr/>
          </p:nvSpPr>
          <p:spPr>
            <a:xfrm>
              <a:off x="0" y="330413"/>
              <a:ext cx="2019168" cy="1244600"/>
            </a:xfrm>
            <a:prstGeom prst="rect">
              <a:avLst/>
            </a:prstGeom>
            <a:noFill/>
            <a:ln>
              <a:noFill/>
            </a:ln>
          </p:spPr>
          <p:txBody>
            <a:bodyPr anchorCtr="0" anchor="t" bIns="0" lIns="0" spcFirstLastPara="1" rIns="0" wrap="square" tIns="0">
              <a:spAutoFit/>
            </a:bodyPr>
            <a:lstStyle/>
            <a:p>
              <a:pPr indent="0" lvl="0" marL="0" marR="0" rtl="0" algn="just">
                <a:lnSpc>
                  <a:spcPct val="120006"/>
                </a:lnSpc>
                <a:spcBef>
                  <a:spcPts val="0"/>
                </a:spcBef>
                <a:spcAft>
                  <a:spcPts val="0"/>
                </a:spcAft>
                <a:buClr>
                  <a:srgbClr val="000000"/>
                </a:buClr>
                <a:buSzPts val="3099"/>
                <a:buFont typeface="Arial"/>
                <a:buNone/>
              </a:pPr>
              <a:r>
                <a:rPr b="0" i="0" lang="en-US" sz="3099" u="none" cap="none" strike="noStrike">
                  <a:solidFill>
                    <a:srgbClr val="FFFFFF"/>
                  </a:solidFill>
                  <a:latin typeface="Poppins Medium"/>
                  <a:ea typeface="Poppins Medium"/>
                  <a:cs typeface="Poppins Medium"/>
                  <a:sym typeface="Poppins Medium"/>
                </a:rPr>
                <a:t>A -&gt; Aa</a:t>
              </a:r>
              <a:endParaRPr b="0" i="0" sz="1400" u="none" cap="none" strike="noStrike">
                <a:solidFill>
                  <a:srgbClr val="000000"/>
                </a:solidFill>
                <a:latin typeface="Arial"/>
                <a:ea typeface="Arial"/>
                <a:cs typeface="Arial"/>
                <a:sym typeface="Arial"/>
              </a:endParaRPr>
            </a:p>
            <a:p>
              <a:pPr indent="0" lvl="0" marL="0" marR="0" rtl="0" algn="just">
                <a:lnSpc>
                  <a:spcPct val="120006"/>
                </a:lnSpc>
                <a:spcBef>
                  <a:spcPts val="0"/>
                </a:spcBef>
                <a:spcAft>
                  <a:spcPts val="0"/>
                </a:spcAft>
                <a:buClr>
                  <a:srgbClr val="000000"/>
                </a:buClr>
                <a:buSzPts val="3099"/>
                <a:buFont typeface="Arial"/>
                <a:buNone/>
              </a:pPr>
              <a:r>
                <a:rPr b="0" i="0" lang="en-US" sz="3099" u="none" cap="none" strike="noStrike">
                  <a:solidFill>
                    <a:srgbClr val="FFFFFF"/>
                  </a:solidFill>
                  <a:latin typeface="Poppins Medium"/>
                  <a:ea typeface="Poppins Medium"/>
                  <a:cs typeface="Poppins Medium"/>
                  <a:sym typeface="Poppins Medium"/>
                </a:rPr>
                <a:t>A -&gt; b</a:t>
              </a:r>
              <a:endParaRPr b="0" i="0" sz="1400" u="none" cap="none" strike="noStrike">
                <a:solidFill>
                  <a:srgbClr val="000000"/>
                </a:solidFill>
                <a:latin typeface="Arial"/>
                <a:ea typeface="Arial"/>
                <a:cs typeface="Arial"/>
                <a:sym typeface="Arial"/>
              </a:endParaRPr>
            </a:p>
          </p:txBody>
        </p:sp>
        <p:sp>
          <p:nvSpPr>
            <p:cNvPr id="281" name="Google Shape;281;p21"/>
            <p:cNvSpPr txBox="1"/>
            <p:nvPr/>
          </p:nvSpPr>
          <p:spPr>
            <a:xfrm>
              <a:off x="5593222" y="0"/>
              <a:ext cx="2648827" cy="1866900"/>
            </a:xfrm>
            <a:prstGeom prst="rect">
              <a:avLst/>
            </a:prstGeom>
            <a:noFill/>
            <a:ln>
              <a:noFill/>
            </a:ln>
          </p:spPr>
          <p:txBody>
            <a:bodyPr anchorCtr="0" anchor="t" bIns="0" lIns="0" spcFirstLastPara="1" rIns="0" wrap="square" tIns="0">
              <a:spAutoFit/>
            </a:bodyPr>
            <a:lstStyle/>
            <a:p>
              <a:pPr indent="0" lvl="0" marL="0" marR="0" rtl="0" algn="just">
                <a:lnSpc>
                  <a:spcPct val="120006"/>
                </a:lnSpc>
                <a:spcBef>
                  <a:spcPts val="0"/>
                </a:spcBef>
                <a:spcAft>
                  <a:spcPts val="0"/>
                </a:spcAft>
                <a:buClr>
                  <a:srgbClr val="000000"/>
                </a:buClr>
                <a:buSzPts val="3099"/>
                <a:buFont typeface="Arial"/>
                <a:buNone/>
              </a:pPr>
              <a:r>
                <a:rPr b="0" i="0" lang="en-US" sz="3099" u="none" cap="none" strike="noStrike">
                  <a:solidFill>
                    <a:srgbClr val="FFFFFF"/>
                  </a:solidFill>
                  <a:latin typeface="Poppins Medium"/>
                  <a:ea typeface="Poppins Medium"/>
                  <a:cs typeface="Poppins Medium"/>
                  <a:sym typeface="Poppins Medium"/>
                </a:rPr>
                <a:t>A -&gt; b A’</a:t>
              </a:r>
              <a:endParaRPr b="0" i="0" sz="1400" u="none" cap="none" strike="noStrike">
                <a:solidFill>
                  <a:srgbClr val="000000"/>
                </a:solidFill>
                <a:latin typeface="Arial"/>
                <a:ea typeface="Arial"/>
                <a:cs typeface="Arial"/>
                <a:sym typeface="Arial"/>
              </a:endParaRPr>
            </a:p>
            <a:p>
              <a:pPr indent="0" lvl="0" marL="0" marR="0" rtl="0" algn="just">
                <a:lnSpc>
                  <a:spcPct val="120006"/>
                </a:lnSpc>
                <a:spcBef>
                  <a:spcPts val="0"/>
                </a:spcBef>
                <a:spcAft>
                  <a:spcPts val="0"/>
                </a:spcAft>
                <a:buClr>
                  <a:srgbClr val="000000"/>
                </a:buClr>
                <a:buSzPts val="3099"/>
                <a:buFont typeface="Arial"/>
                <a:buNone/>
              </a:pPr>
              <a:r>
                <a:rPr b="0" i="0" lang="en-US" sz="3099" u="none" cap="none" strike="noStrike">
                  <a:solidFill>
                    <a:srgbClr val="FFFFFF"/>
                  </a:solidFill>
                  <a:latin typeface="Poppins Medium"/>
                  <a:ea typeface="Poppins Medium"/>
                  <a:cs typeface="Poppins Medium"/>
                  <a:sym typeface="Poppins Medium"/>
                </a:rPr>
                <a:t>A’ -&gt; a A’</a:t>
              </a:r>
              <a:endParaRPr b="0" i="0" sz="1400" u="none" cap="none" strike="noStrike">
                <a:solidFill>
                  <a:srgbClr val="000000"/>
                </a:solidFill>
                <a:latin typeface="Arial"/>
                <a:ea typeface="Arial"/>
                <a:cs typeface="Arial"/>
                <a:sym typeface="Arial"/>
              </a:endParaRPr>
            </a:p>
            <a:p>
              <a:pPr indent="0" lvl="0" marL="0" marR="0" rtl="0" algn="just">
                <a:lnSpc>
                  <a:spcPct val="120006"/>
                </a:lnSpc>
                <a:spcBef>
                  <a:spcPts val="0"/>
                </a:spcBef>
                <a:spcAft>
                  <a:spcPts val="0"/>
                </a:spcAft>
                <a:buClr>
                  <a:srgbClr val="000000"/>
                </a:buClr>
                <a:buSzPts val="3099"/>
                <a:buFont typeface="Arial"/>
                <a:buNone/>
              </a:pPr>
              <a:r>
                <a:rPr b="0" i="0" lang="en-US" sz="3099" u="none" cap="none" strike="noStrike">
                  <a:solidFill>
                    <a:srgbClr val="FFFFFF"/>
                  </a:solidFill>
                  <a:latin typeface="Poppins Medium"/>
                  <a:ea typeface="Poppins Medium"/>
                  <a:cs typeface="Poppins Medium"/>
                  <a:sym typeface="Poppins Medium"/>
                </a:rPr>
                <a:t>A’ -&gt; ε</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85" name="Shape 285"/>
        <p:cNvGrpSpPr/>
        <p:nvPr/>
      </p:nvGrpSpPr>
      <p:grpSpPr>
        <a:xfrm>
          <a:off x="0" y="0"/>
          <a:ext cx="0" cy="0"/>
          <a:chOff x="0" y="0"/>
          <a:chExt cx="0" cy="0"/>
        </a:xfrm>
      </p:grpSpPr>
      <p:cxnSp>
        <p:nvCxnSpPr>
          <p:cNvPr id="286" name="Google Shape;286;p22"/>
          <p:cNvCxnSpPr/>
          <p:nvPr/>
        </p:nvCxnSpPr>
        <p:spPr>
          <a:xfrm>
            <a:off x="1738415" y="2673020"/>
            <a:ext cx="14811170" cy="0"/>
          </a:xfrm>
          <a:prstGeom prst="straightConnector1">
            <a:avLst/>
          </a:prstGeom>
          <a:noFill/>
          <a:ln cap="rnd" cmpd="sng" w="19050">
            <a:solidFill>
              <a:srgbClr val="10B5BF"/>
            </a:solidFill>
            <a:prstDash val="solid"/>
            <a:round/>
            <a:headEnd len="sm" w="sm" type="none"/>
            <a:tailEnd len="sm" w="sm" type="none"/>
          </a:ln>
        </p:spPr>
      </p:cxnSp>
      <p:sp>
        <p:nvSpPr>
          <p:cNvPr id="287" name="Google Shape;287;p22"/>
          <p:cNvSpPr txBox="1"/>
          <p:nvPr/>
        </p:nvSpPr>
        <p:spPr>
          <a:xfrm>
            <a:off x="1738415" y="3125190"/>
            <a:ext cx="14811170" cy="3267075"/>
          </a:xfrm>
          <a:prstGeom prst="rect">
            <a:avLst/>
          </a:prstGeom>
          <a:noFill/>
          <a:ln>
            <a:noFill/>
          </a:ln>
        </p:spPr>
        <p:txBody>
          <a:bodyPr anchorCtr="0" anchor="t" bIns="0" lIns="0" spcFirstLastPara="1" rIns="0" wrap="square" tIns="0">
            <a:spAutoFit/>
          </a:bodyPr>
          <a:lstStyle/>
          <a:p>
            <a:pPr indent="0" lvl="0" marL="0" marR="0" rtl="0" algn="just">
              <a:lnSpc>
                <a:spcPct val="120006"/>
              </a:lnSpc>
              <a:spcBef>
                <a:spcPts val="0"/>
              </a:spcBef>
              <a:spcAft>
                <a:spcPts val="0"/>
              </a:spcAft>
              <a:buClr>
                <a:srgbClr val="000000"/>
              </a:buClr>
              <a:buSzPts val="3099"/>
              <a:buFont typeface="Arial"/>
              <a:buNone/>
            </a:pPr>
            <a:r>
              <a:rPr b="0" i="0" lang="en-US" sz="3099" u="none" cap="none" strike="noStrike">
                <a:solidFill>
                  <a:srgbClr val="FFFFFF"/>
                </a:solidFill>
                <a:latin typeface="Poppins Medium"/>
                <a:ea typeface="Poppins Medium"/>
                <a:cs typeface="Poppins Medium"/>
                <a:sym typeface="Poppins Medium"/>
              </a:rPr>
              <a:t>La factorización por la izquierda es una transformación gramatical, útil para producir una gramática adecuada para el análisis sintáctico predictivo, o descendente. Cuando la elección entre dos producciones A alternativas no está clara, tal vez podamos rescribir las producciones para diferir la decisión hasta haber visto la suficiente entrada como para poder realizar la elección correcta.</a:t>
            </a:r>
            <a:endParaRPr b="0" i="0" sz="1400" u="none" cap="none" strike="noStrike">
              <a:solidFill>
                <a:srgbClr val="000000"/>
              </a:solidFill>
              <a:latin typeface="Arial"/>
              <a:ea typeface="Arial"/>
              <a:cs typeface="Arial"/>
              <a:sym typeface="Arial"/>
            </a:endParaRPr>
          </a:p>
          <a:p>
            <a:pPr indent="0" lvl="0" marL="0" marR="0" rtl="0" algn="just">
              <a:lnSpc>
                <a:spcPct val="120006"/>
              </a:lnSpc>
              <a:spcBef>
                <a:spcPts val="0"/>
              </a:spcBef>
              <a:spcAft>
                <a:spcPts val="0"/>
              </a:spcAft>
              <a:buClr>
                <a:srgbClr val="000000"/>
              </a:buClr>
              <a:buSzPts val="3099"/>
              <a:buFont typeface="Arial"/>
              <a:buNone/>
            </a:pPr>
            <a:r>
              <a:rPr b="0" i="0" lang="en-US" sz="3099" u="none" cap="none" strike="noStrike">
                <a:solidFill>
                  <a:srgbClr val="FFFFFF"/>
                </a:solidFill>
                <a:latin typeface="Poppins Medium"/>
                <a:ea typeface="Poppins Medium"/>
                <a:cs typeface="Poppins Medium"/>
                <a:sym typeface="Poppins Medium"/>
              </a:rPr>
              <a:t>Ejemplo: </a:t>
            </a:r>
            <a:endParaRPr b="0" i="0" sz="1400" u="none" cap="none" strike="noStrike">
              <a:solidFill>
                <a:srgbClr val="000000"/>
              </a:solidFill>
              <a:latin typeface="Arial"/>
              <a:ea typeface="Arial"/>
              <a:cs typeface="Arial"/>
              <a:sym typeface="Arial"/>
            </a:endParaRPr>
          </a:p>
        </p:txBody>
      </p:sp>
      <p:sp>
        <p:nvSpPr>
          <p:cNvPr id="288" name="Google Shape;288;p22"/>
          <p:cNvSpPr txBox="1"/>
          <p:nvPr/>
        </p:nvSpPr>
        <p:spPr>
          <a:xfrm>
            <a:off x="1738415" y="1028700"/>
            <a:ext cx="14811170" cy="10572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7000"/>
              <a:buFont typeface="Arial"/>
              <a:buNone/>
            </a:pPr>
            <a:r>
              <a:rPr b="1" i="0" lang="en-US" sz="7000" u="none" cap="none" strike="noStrike">
                <a:solidFill>
                  <a:srgbClr val="FFFFFF"/>
                </a:solidFill>
                <a:latin typeface="Poppins"/>
                <a:ea typeface="Poppins"/>
                <a:cs typeface="Poppins"/>
                <a:sym typeface="Poppins"/>
              </a:rPr>
              <a:t>Factorización por la izquierda</a:t>
            </a:r>
            <a:endParaRPr b="0" i="0" sz="1400" u="none" cap="none" strike="noStrike">
              <a:solidFill>
                <a:srgbClr val="000000"/>
              </a:solidFill>
              <a:latin typeface="Arial"/>
              <a:ea typeface="Arial"/>
              <a:cs typeface="Arial"/>
              <a:sym typeface="Arial"/>
            </a:endParaRPr>
          </a:p>
        </p:txBody>
      </p:sp>
      <p:grpSp>
        <p:nvGrpSpPr>
          <p:cNvPr id="289" name="Google Shape;289;p22"/>
          <p:cNvGrpSpPr/>
          <p:nvPr/>
        </p:nvGrpSpPr>
        <p:grpSpPr>
          <a:xfrm>
            <a:off x="4914162" y="6924675"/>
            <a:ext cx="8459676" cy="2333625"/>
            <a:chOff x="0" y="0"/>
            <a:chExt cx="11279568" cy="3111500"/>
          </a:xfrm>
        </p:grpSpPr>
        <p:grpSp>
          <p:nvGrpSpPr>
            <p:cNvPr id="290" name="Google Shape;290;p22"/>
            <p:cNvGrpSpPr/>
            <p:nvPr/>
          </p:nvGrpSpPr>
          <p:grpSpPr>
            <a:xfrm>
              <a:off x="5111502" y="914187"/>
              <a:ext cx="1283126" cy="1283126"/>
              <a:chOff x="0" y="0"/>
              <a:chExt cx="812800" cy="812800"/>
            </a:xfrm>
          </p:grpSpPr>
          <p:sp>
            <p:nvSpPr>
              <p:cNvPr id="291" name="Google Shape;291;p22"/>
              <p:cNvSpPr/>
              <p:nvPr/>
            </p:nvSpPr>
            <p:spPr>
              <a:xfrm>
                <a:off x="0" y="0"/>
                <a:ext cx="812800" cy="812800"/>
              </a:xfrm>
              <a:custGeom>
                <a:rect b="b" l="l" r="r" t="t"/>
                <a:pathLst>
                  <a:path extrusionOk="0"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00FFFF"/>
              </a:solidFill>
              <a:ln>
                <a:noFill/>
              </a:ln>
            </p:spPr>
          </p:sp>
          <p:sp>
            <p:nvSpPr>
              <p:cNvPr id="292" name="Google Shape;292;p22"/>
              <p:cNvSpPr txBox="1"/>
              <p:nvPr/>
            </p:nvSpPr>
            <p:spPr>
              <a:xfrm>
                <a:off x="0" y="165100"/>
                <a:ext cx="711200" cy="444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3" name="Google Shape;293;p22"/>
            <p:cNvSpPr txBox="1"/>
            <p:nvPr/>
          </p:nvSpPr>
          <p:spPr>
            <a:xfrm>
              <a:off x="0" y="311150"/>
              <a:ext cx="3638302" cy="2489200"/>
            </a:xfrm>
            <a:prstGeom prst="rect">
              <a:avLst/>
            </a:prstGeom>
            <a:noFill/>
            <a:ln>
              <a:noFill/>
            </a:ln>
          </p:spPr>
          <p:txBody>
            <a:bodyPr anchorCtr="0" anchor="t" bIns="0" lIns="0" spcFirstLastPara="1" rIns="0" wrap="square" tIns="0">
              <a:spAutoFit/>
            </a:bodyPr>
            <a:lstStyle/>
            <a:p>
              <a:pPr indent="0" lvl="0" marL="0" marR="0" rtl="0" algn="just">
                <a:lnSpc>
                  <a:spcPct val="120006"/>
                </a:lnSpc>
                <a:spcBef>
                  <a:spcPts val="0"/>
                </a:spcBef>
                <a:spcAft>
                  <a:spcPts val="0"/>
                </a:spcAft>
                <a:buClr>
                  <a:srgbClr val="000000"/>
                </a:buClr>
                <a:buSzPts val="3099"/>
                <a:buFont typeface="Arial"/>
                <a:buNone/>
              </a:pPr>
              <a:r>
                <a:rPr b="0" i="0" lang="en-US" sz="3099" u="none" cap="none" strike="noStrike">
                  <a:solidFill>
                    <a:srgbClr val="FFFFFF"/>
                  </a:solidFill>
                  <a:latin typeface="Poppins Medium"/>
                  <a:ea typeface="Poppins Medium"/>
                  <a:cs typeface="Poppins Medium"/>
                  <a:sym typeface="Poppins Medium"/>
                </a:rPr>
                <a:t>S -&gt; i E t S</a:t>
              </a:r>
              <a:endParaRPr b="0" i="0" sz="1400" u="none" cap="none" strike="noStrike">
                <a:solidFill>
                  <a:srgbClr val="000000"/>
                </a:solidFill>
                <a:latin typeface="Arial"/>
                <a:ea typeface="Arial"/>
                <a:cs typeface="Arial"/>
                <a:sym typeface="Arial"/>
              </a:endParaRPr>
            </a:p>
            <a:p>
              <a:pPr indent="0" lvl="0" marL="0" marR="0" rtl="0" algn="just">
                <a:lnSpc>
                  <a:spcPct val="120006"/>
                </a:lnSpc>
                <a:spcBef>
                  <a:spcPts val="0"/>
                </a:spcBef>
                <a:spcAft>
                  <a:spcPts val="0"/>
                </a:spcAft>
                <a:buClr>
                  <a:srgbClr val="000000"/>
                </a:buClr>
                <a:buSzPts val="3099"/>
                <a:buFont typeface="Arial"/>
                <a:buNone/>
              </a:pPr>
              <a:r>
                <a:rPr b="0" i="0" lang="en-US" sz="3099" u="none" cap="none" strike="noStrike">
                  <a:solidFill>
                    <a:srgbClr val="FFFFFF"/>
                  </a:solidFill>
                  <a:latin typeface="Poppins Medium"/>
                  <a:ea typeface="Poppins Medium"/>
                  <a:cs typeface="Poppins Medium"/>
                  <a:sym typeface="Poppins Medium"/>
                </a:rPr>
                <a:t>S -&gt; i E t S e S</a:t>
              </a:r>
              <a:endParaRPr b="0" i="0" sz="1400" u="none" cap="none" strike="noStrike">
                <a:solidFill>
                  <a:srgbClr val="000000"/>
                </a:solidFill>
                <a:latin typeface="Arial"/>
                <a:ea typeface="Arial"/>
                <a:cs typeface="Arial"/>
                <a:sym typeface="Arial"/>
              </a:endParaRPr>
            </a:p>
            <a:p>
              <a:pPr indent="0" lvl="0" marL="0" marR="0" rtl="0" algn="just">
                <a:lnSpc>
                  <a:spcPct val="120006"/>
                </a:lnSpc>
                <a:spcBef>
                  <a:spcPts val="0"/>
                </a:spcBef>
                <a:spcAft>
                  <a:spcPts val="0"/>
                </a:spcAft>
                <a:buClr>
                  <a:srgbClr val="000000"/>
                </a:buClr>
                <a:buSzPts val="3099"/>
                <a:buFont typeface="Arial"/>
                <a:buNone/>
              </a:pPr>
              <a:r>
                <a:rPr b="0" i="0" lang="en-US" sz="3099" u="none" cap="none" strike="noStrike">
                  <a:solidFill>
                    <a:srgbClr val="FFFFFF"/>
                  </a:solidFill>
                  <a:latin typeface="Poppins Medium"/>
                  <a:ea typeface="Poppins Medium"/>
                  <a:cs typeface="Poppins Medium"/>
                  <a:sym typeface="Poppins Medium"/>
                </a:rPr>
                <a:t>S -&gt; a</a:t>
              </a:r>
              <a:endParaRPr b="0" i="0" sz="1400" u="none" cap="none" strike="noStrike">
                <a:solidFill>
                  <a:srgbClr val="000000"/>
                </a:solidFill>
                <a:latin typeface="Arial"/>
                <a:ea typeface="Arial"/>
                <a:cs typeface="Arial"/>
                <a:sym typeface="Arial"/>
              </a:endParaRPr>
            </a:p>
            <a:p>
              <a:pPr indent="0" lvl="0" marL="0" marR="0" rtl="0" algn="just">
                <a:lnSpc>
                  <a:spcPct val="120006"/>
                </a:lnSpc>
                <a:spcBef>
                  <a:spcPts val="0"/>
                </a:spcBef>
                <a:spcAft>
                  <a:spcPts val="0"/>
                </a:spcAft>
                <a:buClr>
                  <a:srgbClr val="000000"/>
                </a:buClr>
                <a:buSzPts val="3099"/>
                <a:buFont typeface="Arial"/>
                <a:buNone/>
              </a:pPr>
              <a:r>
                <a:rPr b="0" i="0" lang="en-US" sz="3099" u="none" cap="none" strike="noStrike">
                  <a:solidFill>
                    <a:srgbClr val="FFFFFF"/>
                  </a:solidFill>
                  <a:latin typeface="Poppins Medium"/>
                  <a:ea typeface="Poppins Medium"/>
                  <a:cs typeface="Poppins Medium"/>
                  <a:sym typeface="Poppins Medium"/>
                </a:rPr>
                <a:t>E -&gt; b</a:t>
              </a:r>
              <a:endParaRPr b="0" i="0" sz="1400" u="none" cap="none" strike="noStrike">
                <a:solidFill>
                  <a:srgbClr val="000000"/>
                </a:solidFill>
                <a:latin typeface="Arial"/>
                <a:ea typeface="Arial"/>
                <a:cs typeface="Arial"/>
                <a:sym typeface="Arial"/>
              </a:endParaRPr>
            </a:p>
          </p:txBody>
        </p:sp>
        <p:sp>
          <p:nvSpPr>
            <p:cNvPr id="294" name="Google Shape;294;p22"/>
            <p:cNvSpPr txBox="1"/>
            <p:nvPr/>
          </p:nvSpPr>
          <p:spPr>
            <a:xfrm>
              <a:off x="7866825" y="0"/>
              <a:ext cx="3412743" cy="3111500"/>
            </a:xfrm>
            <a:prstGeom prst="rect">
              <a:avLst/>
            </a:prstGeom>
            <a:noFill/>
            <a:ln>
              <a:noFill/>
            </a:ln>
          </p:spPr>
          <p:txBody>
            <a:bodyPr anchorCtr="0" anchor="t" bIns="0" lIns="0" spcFirstLastPara="1" rIns="0" wrap="square" tIns="0">
              <a:spAutoFit/>
            </a:bodyPr>
            <a:lstStyle/>
            <a:p>
              <a:pPr indent="0" lvl="0" marL="0" marR="0" rtl="0" algn="just">
                <a:lnSpc>
                  <a:spcPct val="120006"/>
                </a:lnSpc>
                <a:spcBef>
                  <a:spcPts val="0"/>
                </a:spcBef>
                <a:spcAft>
                  <a:spcPts val="0"/>
                </a:spcAft>
                <a:buClr>
                  <a:srgbClr val="000000"/>
                </a:buClr>
                <a:buSzPts val="3099"/>
                <a:buFont typeface="Arial"/>
                <a:buNone/>
              </a:pPr>
              <a:r>
                <a:rPr b="0" i="0" lang="en-US" sz="3099" u="none" cap="none" strike="noStrike">
                  <a:solidFill>
                    <a:srgbClr val="FFFFFF"/>
                  </a:solidFill>
                  <a:latin typeface="Poppins Medium"/>
                  <a:ea typeface="Poppins Medium"/>
                  <a:cs typeface="Poppins Medium"/>
                  <a:sym typeface="Poppins Medium"/>
                </a:rPr>
                <a:t>S -&gt; i E t S S’</a:t>
              </a:r>
              <a:endParaRPr b="0" i="0" sz="1400" u="none" cap="none" strike="noStrike">
                <a:solidFill>
                  <a:srgbClr val="000000"/>
                </a:solidFill>
                <a:latin typeface="Arial"/>
                <a:ea typeface="Arial"/>
                <a:cs typeface="Arial"/>
                <a:sym typeface="Arial"/>
              </a:endParaRPr>
            </a:p>
            <a:p>
              <a:pPr indent="0" lvl="0" marL="0" marR="0" rtl="0" algn="just">
                <a:lnSpc>
                  <a:spcPct val="120006"/>
                </a:lnSpc>
                <a:spcBef>
                  <a:spcPts val="0"/>
                </a:spcBef>
                <a:spcAft>
                  <a:spcPts val="0"/>
                </a:spcAft>
                <a:buClr>
                  <a:srgbClr val="000000"/>
                </a:buClr>
                <a:buSzPts val="3099"/>
                <a:buFont typeface="Arial"/>
                <a:buNone/>
              </a:pPr>
              <a:r>
                <a:rPr b="0" i="0" lang="en-US" sz="3099" u="none" cap="none" strike="noStrike">
                  <a:solidFill>
                    <a:srgbClr val="FFFFFF"/>
                  </a:solidFill>
                  <a:latin typeface="Poppins Medium"/>
                  <a:ea typeface="Poppins Medium"/>
                  <a:cs typeface="Poppins Medium"/>
                  <a:sym typeface="Poppins Medium"/>
                </a:rPr>
                <a:t>S -&gt; a</a:t>
              </a:r>
              <a:endParaRPr b="0" i="0" sz="1400" u="none" cap="none" strike="noStrike">
                <a:solidFill>
                  <a:srgbClr val="000000"/>
                </a:solidFill>
                <a:latin typeface="Arial"/>
                <a:ea typeface="Arial"/>
                <a:cs typeface="Arial"/>
                <a:sym typeface="Arial"/>
              </a:endParaRPr>
            </a:p>
            <a:p>
              <a:pPr indent="0" lvl="0" marL="0" marR="0" rtl="0" algn="just">
                <a:lnSpc>
                  <a:spcPct val="120006"/>
                </a:lnSpc>
                <a:spcBef>
                  <a:spcPts val="0"/>
                </a:spcBef>
                <a:spcAft>
                  <a:spcPts val="0"/>
                </a:spcAft>
                <a:buClr>
                  <a:srgbClr val="000000"/>
                </a:buClr>
                <a:buSzPts val="3099"/>
                <a:buFont typeface="Arial"/>
                <a:buNone/>
              </a:pPr>
              <a:r>
                <a:rPr b="0" i="0" lang="en-US" sz="3099" u="none" cap="none" strike="noStrike">
                  <a:solidFill>
                    <a:srgbClr val="FFFFFF"/>
                  </a:solidFill>
                  <a:latin typeface="Poppins Medium"/>
                  <a:ea typeface="Poppins Medium"/>
                  <a:cs typeface="Poppins Medium"/>
                  <a:sym typeface="Poppins Medium"/>
                </a:rPr>
                <a:t>S’ -&gt; e S</a:t>
              </a:r>
              <a:endParaRPr b="0" i="0" sz="1400" u="none" cap="none" strike="noStrike">
                <a:solidFill>
                  <a:srgbClr val="000000"/>
                </a:solidFill>
                <a:latin typeface="Arial"/>
                <a:ea typeface="Arial"/>
                <a:cs typeface="Arial"/>
                <a:sym typeface="Arial"/>
              </a:endParaRPr>
            </a:p>
            <a:p>
              <a:pPr indent="0" lvl="0" marL="0" marR="0" rtl="0" algn="just">
                <a:lnSpc>
                  <a:spcPct val="120006"/>
                </a:lnSpc>
                <a:spcBef>
                  <a:spcPts val="0"/>
                </a:spcBef>
                <a:spcAft>
                  <a:spcPts val="0"/>
                </a:spcAft>
                <a:buClr>
                  <a:srgbClr val="000000"/>
                </a:buClr>
                <a:buSzPts val="3099"/>
                <a:buFont typeface="Arial"/>
                <a:buNone/>
              </a:pPr>
              <a:r>
                <a:rPr b="0" i="0" lang="en-US" sz="3099" u="none" cap="none" strike="noStrike">
                  <a:solidFill>
                    <a:srgbClr val="FFFFFF"/>
                  </a:solidFill>
                  <a:latin typeface="Poppins Medium"/>
                  <a:ea typeface="Poppins Medium"/>
                  <a:cs typeface="Poppins Medium"/>
                  <a:sym typeface="Poppins Medium"/>
                </a:rPr>
                <a:t>S’ -&gt; ε</a:t>
              </a:r>
              <a:endParaRPr b="0" i="0" sz="1400" u="none" cap="none" strike="noStrike">
                <a:solidFill>
                  <a:srgbClr val="000000"/>
                </a:solidFill>
                <a:latin typeface="Arial"/>
                <a:ea typeface="Arial"/>
                <a:cs typeface="Arial"/>
                <a:sym typeface="Arial"/>
              </a:endParaRPr>
            </a:p>
            <a:p>
              <a:pPr indent="0" lvl="0" marL="0" marR="0" rtl="0" algn="just">
                <a:lnSpc>
                  <a:spcPct val="120006"/>
                </a:lnSpc>
                <a:spcBef>
                  <a:spcPts val="0"/>
                </a:spcBef>
                <a:spcAft>
                  <a:spcPts val="0"/>
                </a:spcAft>
                <a:buClr>
                  <a:srgbClr val="000000"/>
                </a:buClr>
                <a:buSzPts val="3099"/>
                <a:buFont typeface="Arial"/>
                <a:buNone/>
              </a:pPr>
              <a:r>
                <a:rPr b="0" i="0" lang="en-US" sz="3099" u="none" cap="none" strike="noStrike">
                  <a:solidFill>
                    <a:srgbClr val="FFFFFF"/>
                  </a:solidFill>
                  <a:latin typeface="Poppins Medium"/>
                  <a:ea typeface="Poppins Medium"/>
                  <a:cs typeface="Poppins Medium"/>
                  <a:sym typeface="Poppins Medium"/>
                </a:rPr>
                <a:t>E -&gt; b</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g35f49d31fe3_1_0"/>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VALORES Y ACTITUD</a:t>
            </a:r>
            <a:endParaRPr b="0" i="0" sz="1400" u="none" cap="none" strike="noStrike">
              <a:solidFill>
                <a:srgbClr val="000000"/>
              </a:solidFill>
              <a:latin typeface="Impact"/>
              <a:ea typeface="Impact"/>
              <a:cs typeface="Impact"/>
              <a:sym typeface="Impact"/>
            </a:endParaRPr>
          </a:p>
        </p:txBody>
      </p:sp>
      <p:sp>
        <p:nvSpPr>
          <p:cNvPr id="300" name="Google Shape;300;g35f49d31fe3_1_0"/>
          <p:cNvSpPr txBox="1"/>
          <p:nvPr/>
        </p:nvSpPr>
        <p:spPr>
          <a:xfrm>
            <a:off x="1116325" y="2896175"/>
            <a:ext cx="16685700" cy="5238900"/>
          </a:xfrm>
          <a:prstGeom prst="rect">
            <a:avLst/>
          </a:prstGeom>
          <a:noFill/>
          <a:ln>
            <a:noFill/>
          </a:ln>
        </p:spPr>
        <p:txBody>
          <a:bodyPr anchorCtr="0" anchor="t" bIns="0" lIns="0" spcFirstLastPara="1" rIns="0" wrap="square" tIns="0">
            <a:spAutoFit/>
          </a:bodyPr>
          <a:lstStyle/>
          <a:p>
            <a:pPr indent="-428688" lvl="0" marL="457200" marR="0" rtl="0" algn="ctr">
              <a:lnSpc>
                <a:spcPct val="140019"/>
              </a:lnSpc>
              <a:spcBef>
                <a:spcPts val="0"/>
              </a:spcBef>
              <a:spcAft>
                <a:spcPts val="0"/>
              </a:spcAft>
              <a:buClr>
                <a:srgbClr val="131416"/>
              </a:buClr>
              <a:buSzPts val="3151"/>
              <a:buFont typeface="Arial"/>
              <a:buChar char="●"/>
            </a:pPr>
            <a:r>
              <a:rPr b="1" i="0" lang="en-US" sz="3151" u="none" cap="none" strike="noStrike">
                <a:solidFill>
                  <a:srgbClr val="131416"/>
                </a:solidFill>
                <a:latin typeface="Arial"/>
                <a:ea typeface="Arial"/>
                <a:cs typeface="Arial"/>
                <a:sym typeface="Arial"/>
              </a:rPr>
              <a:t>Responsabilidad: </a:t>
            </a:r>
            <a:r>
              <a:rPr b="0" i="0" lang="en-US" sz="3151" u="none" cap="none" strike="noStrike">
                <a:solidFill>
                  <a:srgbClr val="131416"/>
                </a:solidFill>
                <a:latin typeface="Arial"/>
                <a:ea typeface="Arial"/>
                <a:cs typeface="Arial"/>
                <a:sym typeface="Arial"/>
              </a:rPr>
              <a:t>Tomar la iniciativa en la resolución de ejercicios y el trabajo con </a:t>
            </a:r>
            <a:r>
              <a:rPr lang="en-US" sz="3151">
                <a:solidFill>
                  <a:srgbClr val="131416"/>
                </a:solidFill>
              </a:rPr>
              <a:t>gramáticas</a:t>
            </a:r>
            <a:r>
              <a:rPr lang="en-US" sz="3151">
                <a:solidFill>
                  <a:srgbClr val="131416"/>
                </a:solidFill>
              </a:rPr>
              <a:t> independientes del contexto</a:t>
            </a:r>
            <a:r>
              <a:rPr b="0" i="0" lang="en-US" sz="3151" u="none" cap="none" strike="noStrike">
                <a:solidFill>
                  <a:srgbClr val="131416"/>
                </a:solidFill>
                <a:latin typeface="Arial"/>
                <a:ea typeface="Arial"/>
                <a:cs typeface="Arial"/>
                <a:sym typeface="Arial"/>
              </a:rPr>
              <a:t>.</a:t>
            </a:r>
            <a:endParaRPr b="0" i="0" sz="3151" u="none" cap="none" strike="noStrike">
              <a:solidFill>
                <a:srgbClr val="131416"/>
              </a:solidFill>
              <a:latin typeface="Arial"/>
              <a:ea typeface="Arial"/>
              <a:cs typeface="Arial"/>
              <a:sym typeface="Arial"/>
            </a:endParaRPr>
          </a:p>
          <a:p>
            <a:pPr indent="-428688" lvl="0" marL="457200" marR="0" rtl="0" algn="ctr">
              <a:lnSpc>
                <a:spcPct val="140019"/>
              </a:lnSpc>
              <a:spcBef>
                <a:spcPts val="0"/>
              </a:spcBef>
              <a:spcAft>
                <a:spcPts val="0"/>
              </a:spcAft>
              <a:buClr>
                <a:srgbClr val="131416"/>
              </a:buClr>
              <a:buSzPts val="3151"/>
              <a:buFont typeface="Arial"/>
              <a:buChar char="●"/>
            </a:pPr>
            <a:r>
              <a:rPr b="1" i="0" lang="en-US" sz="3151" u="none" cap="none" strike="noStrike">
                <a:solidFill>
                  <a:srgbClr val="131416"/>
                </a:solidFill>
                <a:latin typeface="Arial"/>
                <a:ea typeface="Arial"/>
                <a:cs typeface="Arial"/>
                <a:sym typeface="Arial"/>
              </a:rPr>
              <a:t>Colaboración: </a:t>
            </a:r>
            <a:r>
              <a:rPr b="0" i="0" lang="en-US" sz="3151" u="none" cap="none" strike="noStrike">
                <a:solidFill>
                  <a:srgbClr val="131416"/>
                </a:solidFill>
                <a:latin typeface="Arial"/>
                <a:ea typeface="Arial"/>
                <a:cs typeface="Arial"/>
                <a:sym typeface="Arial"/>
              </a:rPr>
              <a:t>El aprendizaje mediante discusiones y trabajo en equipo, tanto en la práctica como en la resolución de dudas, fomenta un ambiente de colaboración entre los estudiantes.</a:t>
            </a:r>
            <a:endParaRPr b="0" i="0" sz="3151" u="none" cap="none" strike="noStrike">
              <a:solidFill>
                <a:srgbClr val="131416"/>
              </a:solidFill>
              <a:latin typeface="Arial"/>
              <a:ea typeface="Arial"/>
              <a:cs typeface="Arial"/>
              <a:sym typeface="Arial"/>
            </a:endParaRPr>
          </a:p>
          <a:p>
            <a:pPr indent="-428688" lvl="0" marL="457200" marR="0" rtl="0" algn="ctr">
              <a:lnSpc>
                <a:spcPct val="140019"/>
              </a:lnSpc>
              <a:spcBef>
                <a:spcPts val="0"/>
              </a:spcBef>
              <a:spcAft>
                <a:spcPts val="0"/>
              </a:spcAft>
              <a:buClr>
                <a:srgbClr val="131416"/>
              </a:buClr>
              <a:buSzPts val="3151"/>
              <a:buFont typeface="Arial"/>
              <a:buChar char="●"/>
            </a:pPr>
            <a:r>
              <a:rPr b="1" i="0" lang="en-US" sz="3151" u="none" cap="none" strike="noStrike">
                <a:solidFill>
                  <a:srgbClr val="131416"/>
                </a:solidFill>
                <a:latin typeface="Arial"/>
                <a:ea typeface="Arial"/>
                <a:cs typeface="Arial"/>
                <a:sym typeface="Arial"/>
              </a:rPr>
              <a:t>Aplicación del conocimiento:</a:t>
            </a:r>
            <a:r>
              <a:rPr b="0" i="0" lang="en-US" sz="3151" u="none" cap="none" strike="noStrike">
                <a:solidFill>
                  <a:srgbClr val="131416"/>
                </a:solidFill>
                <a:latin typeface="Arial"/>
                <a:ea typeface="Arial"/>
                <a:cs typeface="Arial"/>
                <a:sym typeface="Arial"/>
              </a:rPr>
              <a:t> Reforzar los conceptos teóricos mediante ejercicios prácticos asegura que los estudiantes comprendan</a:t>
            </a:r>
            <a:r>
              <a:rPr lang="en-US" sz="3151">
                <a:solidFill>
                  <a:srgbClr val="131416"/>
                </a:solidFill>
              </a:rPr>
              <a:t> la resolución de </a:t>
            </a:r>
            <a:r>
              <a:rPr lang="en-US" sz="3151">
                <a:solidFill>
                  <a:srgbClr val="131416"/>
                </a:solidFill>
              </a:rPr>
              <a:t>gramáticas</a:t>
            </a:r>
            <a:r>
              <a:rPr lang="en-US" sz="3151">
                <a:solidFill>
                  <a:srgbClr val="131416"/>
                </a:solidFill>
              </a:rPr>
              <a:t> tipo dos</a:t>
            </a:r>
            <a:r>
              <a:rPr b="0" i="0" lang="en-US" sz="3151" u="none" cap="none" strike="noStrike">
                <a:solidFill>
                  <a:srgbClr val="131416"/>
                </a:solidFill>
                <a:latin typeface="Arial"/>
                <a:ea typeface="Arial"/>
                <a:cs typeface="Arial"/>
                <a:sym typeface="Arial"/>
              </a:rPr>
              <a:t> en situaciones reales.</a:t>
            </a:r>
            <a:endParaRPr b="0" i="0" sz="3151" u="none" cap="none" strike="noStrike">
              <a:solidFill>
                <a:srgbClr val="131416"/>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g35f49d31fe3_0_169"/>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i="0" lang="en-US" sz="6900" u="none" cap="none" strike="noStrike">
                <a:solidFill>
                  <a:srgbClr val="131416"/>
                </a:solidFill>
                <a:latin typeface="Impact"/>
                <a:ea typeface="Impact"/>
                <a:cs typeface="Impact"/>
                <a:sym typeface="Impact"/>
              </a:rPr>
              <a:t>REFERENCIAS </a:t>
            </a:r>
            <a:endParaRPr>
              <a:latin typeface="Impact"/>
              <a:ea typeface="Impact"/>
              <a:cs typeface="Impact"/>
              <a:sym typeface="Impact"/>
            </a:endParaRPr>
          </a:p>
        </p:txBody>
      </p:sp>
      <p:sp>
        <p:nvSpPr>
          <p:cNvPr id="306" name="Google Shape;306;g35f49d31fe3_0_169"/>
          <p:cNvSpPr txBox="1"/>
          <p:nvPr/>
        </p:nvSpPr>
        <p:spPr>
          <a:xfrm>
            <a:off x="5803381" y="4280604"/>
            <a:ext cx="6911400" cy="3201600"/>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None/>
            </a:pPr>
            <a:r>
              <a:rPr lang="en-US" sz="3151">
                <a:solidFill>
                  <a:srgbClr val="131416"/>
                </a:solidFill>
              </a:rPr>
              <a:t>Aho, A., Sethi, R., &amp; Ullman, J. D. (2008). Compilers: Principles, Techniques, and Tools (2da ed.). Pearson Addison-Wesley.</a:t>
            </a:r>
            <a:endParaRPr sz="3151">
              <a:solidFill>
                <a:srgbClr val="131416"/>
              </a:solidFill>
            </a:endParaRPr>
          </a:p>
          <a:p>
            <a:pPr indent="0" lvl="0" marL="0" marR="0" rtl="0" algn="l">
              <a:lnSpc>
                <a:spcPct val="140019"/>
              </a:lnSpc>
              <a:spcBef>
                <a:spcPts val="0"/>
              </a:spcBef>
              <a:spcAft>
                <a:spcPts val="0"/>
              </a:spcAft>
              <a:buNone/>
            </a:pPr>
            <a:r>
              <a:t/>
            </a:r>
            <a:endParaRPr sz="3151">
              <a:solidFill>
                <a:srgbClr val="131416"/>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g35f49d31fe3_0_176"/>
          <p:cNvSpPr txBox="1"/>
          <p:nvPr/>
        </p:nvSpPr>
        <p:spPr>
          <a:xfrm>
            <a:off x="4437795" y="3389104"/>
            <a:ext cx="8658900" cy="1915200"/>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None/>
            </a:pPr>
            <a:r>
              <a:rPr i="0" lang="en-US" sz="6099" u="none" cap="none" strike="noStrike">
                <a:solidFill>
                  <a:srgbClr val="131416"/>
                </a:solidFill>
                <a:latin typeface="Impact"/>
                <a:ea typeface="Impact"/>
                <a:cs typeface="Impact"/>
                <a:sym typeface="Impact"/>
              </a:rPr>
              <a:t>¡GRACIAS POR SU  ATENCIÓN!</a:t>
            </a:r>
            <a:endParaRPr>
              <a:latin typeface="Impact"/>
              <a:ea typeface="Impact"/>
              <a:cs typeface="Impact"/>
              <a:sym typeface="Impact"/>
            </a:endParaRPr>
          </a:p>
          <a:p>
            <a:pPr indent="0" lvl="0" marL="0" marR="0" rtl="0" algn="just">
              <a:lnSpc>
                <a:spcPct val="104000"/>
              </a:lnSpc>
              <a:spcBef>
                <a:spcPts val="0"/>
              </a:spcBef>
              <a:spcAft>
                <a:spcPts val="0"/>
              </a:spcAft>
              <a:buNone/>
            </a:pPr>
            <a:r>
              <a:t/>
            </a:r>
            <a:endParaRPr i="0" sz="6099" u="none" cap="none" strike="noStrike">
              <a:solidFill>
                <a:srgbClr val="131416"/>
              </a:solidFill>
              <a:latin typeface="Impact"/>
              <a:ea typeface="Impact"/>
              <a:cs typeface="Impact"/>
              <a:sym typeface="Impact"/>
            </a:endParaRPr>
          </a:p>
        </p:txBody>
      </p:sp>
      <p:sp>
        <p:nvSpPr>
          <p:cNvPr id="312" name="Google Shape;312;g35f49d31fe3_0_176"/>
          <p:cNvSpPr txBox="1"/>
          <p:nvPr/>
        </p:nvSpPr>
        <p:spPr>
          <a:xfrm>
            <a:off x="5414714" y="5958103"/>
            <a:ext cx="6705000" cy="769500"/>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5000" u="none" cap="none" strike="noStrike">
                <a:solidFill>
                  <a:srgbClr val="131416"/>
                </a:solidFill>
                <a:latin typeface="Arial"/>
                <a:ea typeface="Arial"/>
                <a:cs typeface="Arial"/>
                <a:sym typeface="Arial"/>
              </a:rPr>
              <a:t>DUDAS</a:t>
            </a:r>
            <a:endParaRPr/>
          </a:p>
        </p:txBody>
      </p:sp>
      <p:sp>
        <p:nvSpPr>
          <p:cNvPr id="313" name="Google Shape;313;g35f49d31fe3_0_176"/>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314" name="Google Shape;314;g35f49d31fe3_0_176"/>
          <p:cNvSpPr txBox="1"/>
          <p:nvPr/>
        </p:nvSpPr>
        <p:spPr>
          <a:xfrm>
            <a:off x="2411098" y="7899735"/>
            <a:ext cx="13465800" cy="763500"/>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