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embeddedFontLst>
    <p:embeddedFont>
      <p:font typeface="Lobster"/>
      <p:regular r:id="rId16"/>
    </p:embeddedFont>
    <p:embeddedFont>
      <p:font typeface="Pacifico"/>
      <p:regular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gfC5FV0DImjR6yoLQ1kl35gokD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acifico-regular.fntdata"/><Relationship Id="rId16" Type="http://schemas.openxmlformats.org/officeDocument/2006/relationships/font" Target="fonts/Lobster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01581ed3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g3a01581ed3e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ceae3e62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5ceae3e625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01581ed3e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a01581ed3e_1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63300" y="6439750"/>
            <a:ext cx="1387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Laboratorio Organización de Lenguajes y Compiladores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506650" y="2479350"/>
            <a:ext cx="132747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Presentación del curso y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01581ed3e_1_0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5" name="Google Shape;95;g3a01581ed3e_1_0"/>
          <p:cNvSpPr txBox="1"/>
          <p:nvPr/>
        </p:nvSpPr>
        <p:spPr>
          <a:xfrm>
            <a:off x="1957640" y="3759150"/>
            <a:ext cx="14372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Domina los conceptos fundamentales del compilador para analizar y diseñar traductores en proyectos de software que requieran procesamiento de lenguajes.</a:t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1593399" y="4651950"/>
            <a:ext cx="38580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Presentación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670400" y="5554500"/>
            <a:ext cx="48129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Conociendo a los estudiantes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1216230" y="4472668"/>
            <a:ext cx="4919700" cy="17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8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99"/>
              <a:buFont typeface="Arial"/>
              <a:buNone/>
            </a:pPr>
            <a:r>
              <a:rPr b="0" i="0" lang="en-US" sz="44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de Quizizz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670402" y="7349450"/>
            <a:ext cx="4258500" cy="8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Programa del curso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670400" y="6457050"/>
            <a:ext cx="60603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Diagnóstico del curso anterior (LFP1)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593400" y="8389350"/>
            <a:ext cx="6645600" cy="84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lnSpc>
                <a:spcPct val="14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99"/>
              <a:buFont typeface="Arial"/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Diagnostico de este curso (Compi1)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1" name="Google Shape;111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Bienvenida y Presentación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539160" y="4652327"/>
            <a:ext cx="7209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¿Quién es el aux?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/>
        </p:nvSpPr>
        <p:spPr>
          <a:xfrm>
            <a:off x="1374889" y="3027816"/>
            <a:ext cx="126255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4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Cada estudiante deberá compartir:</a:t>
            </a:r>
            <a:endParaRPr b="0" i="0" sz="34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6087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25"/>
              <a:buFont typeface="Arial"/>
              <a:buChar char="●"/>
            </a:pPr>
            <a:r>
              <a:rPr b="0" i="0" lang="en-US" sz="34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Nombre, Intereses o expectativas sobre el curso.</a:t>
            </a:r>
            <a:endParaRPr b="0" i="0" sz="34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6087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25"/>
              <a:buFont typeface="Arial"/>
              <a:buChar char="●"/>
            </a:pPr>
            <a:r>
              <a:rPr b="0" i="0" lang="en-US" sz="34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Experiencia previa relacionada con el tema (si aplica).</a:t>
            </a:r>
            <a:endParaRPr b="0" i="0" sz="34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6087" lvl="0" marL="45720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425"/>
              <a:buFont typeface="Arial"/>
              <a:buChar char="●"/>
            </a:pPr>
            <a:r>
              <a:rPr b="0" i="0" lang="en-US" sz="34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 dato curioso sobre sí mismo.</a:t>
            </a:r>
            <a:endParaRPr b="0" i="0" sz="3425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de estudiantes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Evaluación de conocimientos previos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0" name="Google Shape;130;p8"/>
          <p:cNvSpPr txBox="1"/>
          <p:nvPr/>
        </p:nvSpPr>
        <p:spPr>
          <a:xfrm>
            <a:off x="8777825" y="3649725"/>
            <a:ext cx="7699800" cy="49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Vamos a evaluar qué recuerdan de LFP. 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temas se nos dificultan y que temas son más amenos. 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/>
        </p:nvSpPr>
        <p:spPr>
          <a:xfrm>
            <a:off x="2491990" y="9385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Presentación de programa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36" name="Google Shape;136;p7"/>
          <p:cNvSpPr txBox="1"/>
          <p:nvPr/>
        </p:nvSpPr>
        <p:spPr>
          <a:xfrm>
            <a:off x="2679550" y="3572725"/>
            <a:ext cx="10287000" cy="43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Competencias y objetivos del curso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b="0" i="0" lang="en-US" sz="3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Temarios y Contenidos Principales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5ceae3e625_0_21"/>
          <p:cNvSpPr txBox="1"/>
          <p:nvPr/>
        </p:nvSpPr>
        <p:spPr>
          <a:xfrm>
            <a:off x="2476590" y="10925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Diagnóstico del nuevo contenido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2" name="Google Shape;142;g35ceae3e625_0_21"/>
          <p:cNvSpPr txBox="1"/>
          <p:nvPr/>
        </p:nvSpPr>
        <p:spPr>
          <a:xfrm>
            <a:off x="1093375" y="3880725"/>
            <a:ext cx="7699800" cy="49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Veremos </a:t>
            </a: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</a:t>
            </a: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temas se repiten de LFP a compi 1, </a:t>
            </a: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</a:t>
            </a: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temas son nuevos. </a:t>
            </a:r>
            <a:b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(Aquí los repitentes </a:t>
            </a:r>
            <a:r>
              <a:rPr lang="en-US" sz="3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deberían</a:t>
            </a:r>
            <a:r>
              <a:rPr b="0" i="0" lang="en-US" sz="3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manejarse mejor)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01581ed3e_1_80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 Y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48" name="Google Shape;148;g3a01581ed3e_1_80"/>
          <p:cNvSpPr txBox="1"/>
          <p:nvPr/>
        </p:nvSpPr>
        <p:spPr>
          <a:xfrm>
            <a:off x="1116325" y="2896175"/>
            <a:ext cx="16685700" cy="45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Razonamiento lógico: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Comprender y aplicar conceptos como las gramáticas libres de contexto y las derivaciones requiere una sólida capacidad de análisis y pensamiento estructurado.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8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Responsabilidad: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Asumir un compromiso con el proceso de aprendizaje, realizando los ejercicios y actividades asignadas para reforzar los conceptos adquiridos.</a:t>
            </a:r>
            <a:endParaRPr b="0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28688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Comunicación: </a:t>
            </a: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Participar en las discusiones y cuestionarios para compartir ideas y dudas, asegurando la comprensión de los temas tratados.</a:t>
            </a:r>
            <a:endParaRPr b="1" i="0" sz="3151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