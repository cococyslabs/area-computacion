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y="10287000" cx="18288000"/>
  <p:notesSz cx="6858000" cy="9144000"/>
  <p:embeddedFontLst>
    <p:embeddedFont>
      <p:font typeface="Poppins"/>
      <p:regular r:id="rId28"/>
      <p:bold r:id="rId29"/>
      <p:italic r:id="rId30"/>
      <p:boldItalic r:id="rId31"/>
    </p:embeddedFont>
    <p:embeddedFont>
      <p:font typeface="Poppins Light"/>
      <p:regular r:id="rId32"/>
      <p:bold r:id="rId33"/>
      <p:italic r:id="rId34"/>
      <p:boldItalic r:id="rId35"/>
    </p:embeddedFont>
    <p:embeddedFont>
      <p:font typeface="Poppins Medium"/>
      <p:regular r:id="rId36"/>
      <p:bold r:id="rId37"/>
      <p:italic r:id="rId38"/>
      <p:boldItalic r:id="rId39"/>
    </p:embeddedFont>
    <p:embeddedFont>
      <p:font typeface="Open Sans"/>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4" roundtripDataSignature="AMtx7mib9vQ2EJvpDgMgFTWKYGHhoAhx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4BF29CF-7652-4639-94FF-90951891C316}">
  <a:tblStyle styleId="{B4BF29CF-7652-4639-94FF-90951891C316}"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regular.fntdata"/><Relationship Id="rId20" Type="http://schemas.openxmlformats.org/officeDocument/2006/relationships/slide" Target="slides/slide13.xml"/><Relationship Id="rId42" Type="http://schemas.openxmlformats.org/officeDocument/2006/relationships/font" Target="fonts/OpenSans-italic.fntdata"/><Relationship Id="rId41" Type="http://schemas.openxmlformats.org/officeDocument/2006/relationships/font" Target="fonts/OpenSans-bold.fntdata"/><Relationship Id="rId22" Type="http://schemas.openxmlformats.org/officeDocument/2006/relationships/slide" Target="slides/slide15.xml"/><Relationship Id="rId44" Type="http://customschemas.google.com/relationships/presentationmetadata" Target="metadata"/><Relationship Id="rId21" Type="http://schemas.openxmlformats.org/officeDocument/2006/relationships/slide" Target="slides/slide14.xml"/><Relationship Id="rId43" Type="http://schemas.openxmlformats.org/officeDocument/2006/relationships/font" Target="fonts/OpenSans-boldItalic.fntdata"/><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font" Target="fonts/Poppins-regular.fntdata"/><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Poppins-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Poppins-boldItalic.fntdata"/><Relationship Id="rId30" Type="http://schemas.openxmlformats.org/officeDocument/2006/relationships/font" Target="fonts/Poppins-italic.fntdata"/><Relationship Id="rId11" Type="http://schemas.openxmlformats.org/officeDocument/2006/relationships/slide" Target="slides/slide4.xml"/><Relationship Id="rId33" Type="http://schemas.openxmlformats.org/officeDocument/2006/relationships/font" Target="fonts/PoppinsLight-bold.fntdata"/><Relationship Id="rId10" Type="http://schemas.openxmlformats.org/officeDocument/2006/relationships/slide" Target="slides/slide3.xml"/><Relationship Id="rId32" Type="http://schemas.openxmlformats.org/officeDocument/2006/relationships/font" Target="fonts/PoppinsLight-regular.fntdata"/><Relationship Id="rId13" Type="http://schemas.openxmlformats.org/officeDocument/2006/relationships/slide" Target="slides/slide6.xml"/><Relationship Id="rId35" Type="http://schemas.openxmlformats.org/officeDocument/2006/relationships/font" Target="fonts/PoppinsLight-boldItalic.fntdata"/><Relationship Id="rId12" Type="http://schemas.openxmlformats.org/officeDocument/2006/relationships/slide" Target="slides/slide5.xml"/><Relationship Id="rId34" Type="http://schemas.openxmlformats.org/officeDocument/2006/relationships/font" Target="fonts/PoppinsLight-italic.fntdata"/><Relationship Id="rId15" Type="http://schemas.openxmlformats.org/officeDocument/2006/relationships/slide" Target="slides/slide8.xml"/><Relationship Id="rId37" Type="http://schemas.openxmlformats.org/officeDocument/2006/relationships/font" Target="fonts/PoppinsMedium-bold.fntdata"/><Relationship Id="rId14" Type="http://schemas.openxmlformats.org/officeDocument/2006/relationships/slide" Target="slides/slide7.xml"/><Relationship Id="rId36" Type="http://schemas.openxmlformats.org/officeDocument/2006/relationships/font" Target="fonts/PoppinsMedium-regular.fntdata"/><Relationship Id="rId17" Type="http://schemas.openxmlformats.org/officeDocument/2006/relationships/slide" Target="slides/slide10.xml"/><Relationship Id="rId39" Type="http://schemas.openxmlformats.org/officeDocument/2006/relationships/font" Target="fonts/PoppinsMedium-boldItalic.fntdata"/><Relationship Id="rId16" Type="http://schemas.openxmlformats.org/officeDocument/2006/relationships/slide" Target="slides/slide9.xml"/><Relationship Id="rId38" Type="http://schemas.openxmlformats.org/officeDocument/2006/relationships/font" Target="fonts/PoppinsMedium-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5c6a5069e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5" name="Google Shape;165;g35c6a5069e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5c6a5069ec_0_4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g35c6a5069ec_0_4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 name="Google Shape;21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8" name="Google Shape;21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7" name="Google Shape;22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4" name="Google Shape;23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1" name="Google Shape;24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9" name="Google Shape;24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7" name="Google Shape;25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5" name="Google Shape;27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8" name="Google Shape;28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6" name="Google Shape;29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3" name="Google Shape;30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5c6a5069ec_0_5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9" name="Google Shape;309;g35c6a5069ec_0_5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5" name="Google Shape;31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3" name="Google Shape;32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6095485301_0_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9" name="Google Shape;329;g36095485301_0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6"/>
          <p:cNvSpPr/>
          <p:nvPr>
            <p:ph idx="2" type="pic"/>
          </p:nvPr>
        </p:nvSpPr>
        <p:spPr>
          <a:xfrm>
            <a:off x="1792288" y="612775"/>
            <a:ext cx="5486400" cy="4114800"/>
          </a:xfrm>
          <a:prstGeom prst="rect">
            <a:avLst/>
          </a:prstGeom>
          <a:noFill/>
          <a:ln>
            <a:noFill/>
          </a:ln>
        </p:spPr>
      </p:sp>
      <p:sp>
        <p:nvSpPr>
          <p:cNvPr id="64" name="Google Shape;64;p2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g36095485301_0_9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g36095485301_0_9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g36095485301_0_9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g36095485301_0_97"/>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g36095485301_0_9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93" name="Google Shape;93;g36095485301_0_9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g36095485301_0_9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g36095485301_0_9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6" name="Shape 96"/>
        <p:cNvGrpSpPr/>
        <p:nvPr/>
      </p:nvGrpSpPr>
      <p:grpSpPr>
        <a:xfrm>
          <a:off x="0" y="0"/>
          <a:ext cx="0" cy="0"/>
          <a:chOff x="0" y="0"/>
          <a:chExt cx="0" cy="0"/>
        </a:xfrm>
      </p:grpSpPr>
      <p:sp>
        <p:nvSpPr>
          <p:cNvPr id="97" name="Google Shape;97;g36095485301_0_10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g36095485301_0_10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9" name="Google Shape;99;g36095485301_0_10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g36095485301_0_10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g36095485301_0_10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g36095485301_0_109"/>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g36095485301_0_109"/>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05" name="Google Shape;105;g36095485301_0_10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g36095485301_0_10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g36095485301_0_10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g36095485301_0_1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g36095485301_0_115"/>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1" name="Google Shape;111;g36095485301_0_115"/>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2" name="Google Shape;112;g36095485301_0_11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g36095485301_0_11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g36095485301_0_11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g36095485301_0_1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g36095485301_0_122"/>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18" name="Google Shape;118;g36095485301_0_122"/>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19" name="Google Shape;119;g36095485301_0_122"/>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0" name="Google Shape;120;g36095485301_0_122"/>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1" name="Google Shape;121;g36095485301_0_12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g36095485301_0_12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g36095485301_0_12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g36095485301_0_1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g36095485301_0_13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g36095485301_0_13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g36095485301_0_13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9" name="Shape 129"/>
        <p:cNvGrpSpPr/>
        <p:nvPr/>
      </p:nvGrpSpPr>
      <p:grpSpPr>
        <a:xfrm>
          <a:off x="0" y="0"/>
          <a:ext cx="0" cy="0"/>
          <a:chOff x="0" y="0"/>
          <a:chExt cx="0" cy="0"/>
        </a:xfrm>
      </p:grpSpPr>
      <p:sp>
        <p:nvSpPr>
          <p:cNvPr id="130" name="Google Shape;130;g36095485301_0_136"/>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g36095485301_0_136"/>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32" name="Google Shape;132;g36095485301_0_136"/>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33" name="Google Shape;133;g36095485301_0_13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g36095485301_0_13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g36095485301_0_13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g36095485301_0_143"/>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g36095485301_0_143"/>
          <p:cNvSpPr/>
          <p:nvPr>
            <p:ph idx="2" type="pic"/>
          </p:nvPr>
        </p:nvSpPr>
        <p:spPr>
          <a:xfrm>
            <a:off x="1792288" y="612775"/>
            <a:ext cx="5486400" cy="4114800"/>
          </a:xfrm>
          <a:prstGeom prst="rect">
            <a:avLst/>
          </a:prstGeom>
          <a:noFill/>
          <a:ln>
            <a:noFill/>
          </a:ln>
        </p:spPr>
      </p:sp>
      <p:sp>
        <p:nvSpPr>
          <p:cNvPr id="139" name="Google Shape;139;g36095485301_0_143"/>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40" name="Google Shape;140;g36095485301_0_14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g36095485301_0_14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g36095485301_0_14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3" name="Shape 143"/>
        <p:cNvGrpSpPr/>
        <p:nvPr/>
      </p:nvGrpSpPr>
      <p:grpSpPr>
        <a:xfrm>
          <a:off x="0" y="0"/>
          <a:ext cx="0" cy="0"/>
          <a:chOff x="0" y="0"/>
          <a:chExt cx="0" cy="0"/>
        </a:xfrm>
      </p:grpSpPr>
      <p:sp>
        <p:nvSpPr>
          <p:cNvPr id="144" name="Google Shape;144;g36095485301_0_1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g36095485301_0_150"/>
          <p:cNvSpPr txBox="1"/>
          <p:nvPr>
            <p:ph idx="1" type="body"/>
          </p:nvPr>
        </p:nvSpPr>
        <p:spPr>
          <a:xfrm rot="5400000">
            <a:off x="2308951" y="-251550"/>
            <a:ext cx="4526100"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6" name="Google Shape;146;g36095485301_0_15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g36095485301_0_15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g36095485301_0_15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9" name="Shape 149"/>
        <p:cNvGrpSpPr/>
        <p:nvPr/>
      </p:nvGrpSpPr>
      <p:grpSpPr>
        <a:xfrm>
          <a:off x="0" y="0"/>
          <a:ext cx="0" cy="0"/>
          <a:chOff x="0" y="0"/>
          <a:chExt cx="0" cy="0"/>
        </a:xfrm>
      </p:grpSpPr>
      <p:sp>
        <p:nvSpPr>
          <p:cNvPr id="150" name="Google Shape;150;g36095485301_0_156"/>
          <p:cNvSpPr txBox="1"/>
          <p:nvPr>
            <p:ph type="title"/>
          </p:nvPr>
        </p:nvSpPr>
        <p:spPr>
          <a:xfrm rot="5400000">
            <a:off x="4732351" y="2171689"/>
            <a:ext cx="5851500"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g36095485301_0_156"/>
          <p:cNvSpPr txBox="1"/>
          <p:nvPr>
            <p:ph idx="1" type="body"/>
          </p:nvPr>
        </p:nvSpPr>
        <p:spPr>
          <a:xfrm rot="5400000">
            <a:off x="541350" y="190487"/>
            <a:ext cx="5851500"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2" name="Google Shape;152;g36095485301_0_15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g36095485301_0_15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g36095485301_0_15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g36095485301_0_8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2" name="Google Shape;82;g36095485301_0_87"/>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3" name="Google Shape;83;g36095485301_0_8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4" name="Google Shape;84;g36095485301_0_8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5" name="Google Shape;85;g36095485301_0_8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9.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
          <p:cNvSpPr/>
          <p:nvPr/>
        </p:nvSpPr>
        <p:spPr>
          <a:xfrm>
            <a:off x="-335523" y="-352450"/>
            <a:ext cx="18254198" cy="10287002"/>
          </a:xfrm>
          <a:custGeom>
            <a:rect b="b" l="l" r="r" t="t"/>
            <a:pathLst>
              <a:path extrusionOk="0" h="10287002" w="18254198">
                <a:moveTo>
                  <a:pt x="0" y="0"/>
                </a:moveTo>
                <a:lnTo>
                  <a:pt x="18254198" y="0"/>
                </a:lnTo>
                <a:lnTo>
                  <a:pt x="18254198" y="10287002"/>
                </a:lnTo>
                <a:lnTo>
                  <a:pt x="0" y="10287002"/>
                </a:lnTo>
                <a:lnTo>
                  <a:pt x="0" y="0"/>
                </a:lnTo>
                <a:close/>
              </a:path>
            </a:pathLst>
          </a:custGeom>
          <a:blipFill rotWithShape="1">
            <a:blip r:embed="rId3">
              <a:alphaModFix/>
            </a:blip>
            <a:stretch>
              <a:fillRect b="0" l="0" r="0" t="0"/>
            </a:stretch>
          </a:blipFill>
          <a:ln>
            <a:noFill/>
          </a:ln>
        </p:spPr>
      </p:sp>
      <p:graphicFrame>
        <p:nvGraphicFramePr>
          <p:cNvPr id="160" name="Google Shape;160;p1"/>
          <p:cNvGraphicFramePr/>
          <p:nvPr/>
        </p:nvGraphicFramePr>
        <p:xfrm>
          <a:off x="10656400" y="1940050"/>
          <a:ext cx="3000000" cy="3000000"/>
        </p:xfrm>
        <a:graphic>
          <a:graphicData uri="http://schemas.openxmlformats.org/drawingml/2006/table">
            <a:tbl>
              <a:tblPr>
                <a:noFill/>
                <a:tableStyleId>{B4BF29CF-7652-4639-94FF-90951891C316}</a:tableStyleId>
              </a:tblPr>
              <a:tblGrid>
                <a:gridCol w="3030175"/>
                <a:gridCol w="4335825"/>
              </a:tblGrid>
              <a:tr h="716750">
                <a:tc>
                  <a:txBody>
                    <a:bodyPr/>
                    <a:lstStyle/>
                    <a:p>
                      <a:pPr indent="0" lvl="0" marL="0" marR="0" rtl="0" algn="l">
                        <a:lnSpc>
                          <a:spcPct val="120000"/>
                        </a:lnSpc>
                        <a:spcBef>
                          <a:spcPts val="0"/>
                        </a:spcBef>
                        <a:spcAft>
                          <a:spcPts val="0"/>
                        </a:spcAft>
                        <a:buClr>
                          <a:srgbClr val="000000"/>
                        </a:buClr>
                        <a:buSzPts val="2840"/>
                        <a:buFont typeface="Arial"/>
                        <a:buNone/>
                      </a:pPr>
                      <a:r>
                        <a:rPr b="1" lang="en-US" sz="2840" u="none" cap="none" strike="noStrike">
                          <a:solidFill>
                            <a:srgbClr val="000000"/>
                          </a:solidFill>
                          <a:latin typeface="Arial"/>
                          <a:ea typeface="Arial"/>
                          <a:cs typeface="Arial"/>
                          <a:sym typeface="Arial"/>
                        </a:rPr>
                        <a:t>Día, Fecha:</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20007"/>
                        </a:lnSpc>
                        <a:spcBef>
                          <a:spcPts val="0"/>
                        </a:spcBef>
                        <a:spcAft>
                          <a:spcPts val="0"/>
                        </a:spcAft>
                        <a:buClr>
                          <a:srgbClr val="000000"/>
                        </a:buClr>
                        <a:buSzPts val="2799"/>
                        <a:buFont typeface="Arial"/>
                        <a:buNone/>
                      </a:pPr>
                      <a:r>
                        <a:rPr lang="en-US" sz="2799" u="none" cap="none" strike="noStrike">
                          <a:solidFill>
                            <a:srgbClr val="000000"/>
                          </a:solidFill>
                          <a:latin typeface="Arial"/>
                          <a:ea typeface="Arial"/>
                          <a:cs typeface="Arial"/>
                          <a:sym typeface="Arial"/>
                        </a:rPr>
                        <a:t>15/07/202</a:t>
                      </a:r>
                      <a:r>
                        <a:rPr lang="en-US" sz="2799"/>
                        <a:t>6</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16750">
                <a:tc>
                  <a:txBody>
                    <a:bodyPr/>
                    <a:lstStyle/>
                    <a:p>
                      <a:pPr indent="0" lvl="0" marL="0" marR="0" rtl="0" algn="l">
                        <a:lnSpc>
                          <a:spcPct val="120000"/>
                        </a:lnSpc>
                        <a:spcBef>
                          <a:spcPts val="0"/>
                        </a:spcBef>
                        <a:spcAft>
                          <a:spcPts val="0"/>
                        </a:spcAft>
                        <a:buClr>
                          <a:srgbClr val="000000"/>
                        </a:buClr>
                        <a:buSzPts val="2840"/>
                        <a:buFont typeface="Arial"/>
                        <a:buNone/>
                      </a:pPr>
                      <a:r>
                        <a:rPr b="1" lang="en-US" sz="2840" u="none" cap="none" strike="noStrike">
                          <a:solidFill>
                            <a:srgbClr val="000000"/>
                          </a:solidFill>
                          <a:latin typeface="Arial"/>
                          <a:ea typeface="Arial"/>
                          <a:cs typeface="Arial"/>
                          <a:sym typeface="Arial"/>
                        </a:rPr>
                        <a:t>Hora de inicio:</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lnSpc>
                          <a:spcPct val="120007"/>
                        </a:lnSpc>
                        <a:spcBef>
                          <a:spcPts val="0"/>
                        </a:spcBef>
                        <a:spcAft>
                          <a:spcPts val="0"/>
                        </a:spcAft>
                        <a:buClr>
                          <a:srgbClr val="000000"/>
                        </a:buClr>
                        <a:buSzPts val="2799"/>
                        <a:buFont typeface="Arial"/>
                        <a:buNone/>
                      </a:pPr>
                      <a:r>
                        <a:t/>
                      </a:r>
                      <a:endParaRPr sz="1100" u="none" cap="none" strike="noStrike"/>
                    </a:p>
                  </a:txBody>
                  <a:tcPr marT="91425" marB="91425" marR="91425" marL="914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
        <p:nvSpPr>
          <p:cNvPr id="161" name="Google Shape;161;p1"/>
          <p:cNvSpPr txBox="1"/>
          <p:nvPr/>
        </p:nvSpPr>
        <p:spPr>
          <a:xfrm>
            <a:off x="2971773" y="4512775"/>
            <a:ext cx="14140280" cy="1600200"/>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Clr>
                <a:srgbClr val="000000"/>
              </a:buClr>
              <a:buSzPts val="4999"/>
              <a:buFont typeface="Arial"/>
              <a:buNone/>
            </a:pPr>
            <a:r>
              <a:rPr b="0" i="0" lang="en-US" sz="4999" u="none" cap="none" strike="noStrike">
                <a:solidFill>
                  <a:srgbClr val="000000"/>
                </a:solidFill>
                <a:latin typeface="Arial"/>
                <a:ea typeface="Arial"/>
                <a:cs typeface="Arial"/>
                <a:sym typeface="Arial"/>
              </a:rPr>
              <a:t>Organización de Lenguajes y Compiladores 1 [&lt;SECCION&gt;]</a:t>
            </a:r>
            <a:endParaRPr b="0" i="0" sz="1400" u="none" cap="none" strike="noStrike">
              <a:solidFill>
                <a:srgbClr val="000000"/>
              </a:solidFill>
              <a:latin typeface="Arial"/>
              <a:ea typeface="Arial"/>
              <a:cs typeface="Arial"/>
              <a:sym typeface="Arial"/>
            </a:endParaRPr>
          </a:p>
        </p:txBody>
      </p:sp>
      <p:sp>
        <p:nvSpPr>
          <p:cNvPr id="162" name="Google Shape;162;p1"/>
          <p:cNvSpPr txBox="1"/>
          <p:nvPr/>
        </p:nvSpPr>
        <p:spPr>
          <a:xfrm>
            <a:off x="3648825" y="6027250"/>
            <a:ext cx="10990350" cy="6858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4000"/>
              <a:buFont typeface="Arial"/>
              <a:buNone/>
            </a:pPr>
            <a:r>
              <a:rPr b="0" i="0" lang="en-US" sz="4000" u="none" cap="none" strike="noStrike">
                <a:solidFill>
                  <a:srgbClr val="000000"/>
                </a:solidFill>
                <a:latin typeface="Arial"/>
                <a:ea typeface="Arial"/>
                <a:cs typeface="Arial"/>
                <a:sym typeface="Arial"/>
              </a:rPr>
              <a:t>&lt;NOMBRE&gt;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5c6a5069ec_0_0"/>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168" name="Google Shape;168;g35c6a5069ec_0_0"/>
          <p:cNvSpPr txBox="1"/>
          <p:nvPr/>
        </p:nvSpPr>
        <p:spPr>
          <a:xfrm>
            <a:off x="1063300" y="6439750"/>
            <a:ext cx="13875300" cy="184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Laboratorio Organización de Lenguajes y Compiladores 1</a:t>
            </a:r>
            <a:endParaRPr b="1" i="0" sz="5000" u="none" cap="none" strike="noStrike">
              <a:solidFill>
                <a:srgbClr val="131416"/>
              </a:solidFill>
              <a:latin typeface="Open Sans"/>
              <a:ea typeface="Open Sans"/>
              <a:cs typeface="Open Sans"/>
              <a:sym typeface="Open Sans"/>
            </a:endParaRPr>
          </a:p>
        </p:txBody>
      </p:sp>
      <p:sp>
        <p:nvSpPr>
          <p:cNvPr id="169" name="Google Shape;169;g35c6a5069ec_0_0"/>
          <p:cNvSpPr txBox="1"/>
          <p:nvPr/>
        </p:nvSpPr>
        <p:spPr>
          <a:xfrm>
            <a:off x="2506650" y="2479350"/>
            <a:ext cx="13274700" cy="1416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chemeClr val="dk1"/>
              </a:buClr>
              <a:buSzPts val="1100"/>
              <a:buFont typeface="Arial"/>
              <a:buNone/>
            </a:pPr>
            <a:r>
              <a:rPr b="1" i="0" lang="en-US" sz="9200" u="none" cap="none" strike="noStrike">
                <a:solidFill>
                  <a:srgbClr val="131416"/>
                </a:solidFill>
                <a:latin typeface="Open Sans"/>
                <a:ea typeface="Open Sans"/>
                <a:cs typeface="Open Sans"/>
                <a:sym typeface="Open Sans"/>
              </a:rPr>
              <a:t>Análisis Sintáctico</a:t>
            </a:r>
            <a:endParaRPr b="1" i="0" sz="9200" u="none" cap="none" strike="noStrike">
              <a:solidFill>
                <a:srgbClr val="131416"/>
              </a:solidFill>
              <a:latin typeface="Open Sans"/>
              <a:ea typeface="Open Sans"/>
              <a:cs typeface="Open Sans"/>
              <a:sym typeface="Open Sans"/>
            </a:endParaRPr>
          </a:p>
        </p:txBody>
      </p:sp>
      <p:sp>
        <p:nvSpPr>
          <p:cNvPr id="170" name="Google Shape;170;g35c6a5069ec_0_0"/>
          <p:cNvSpPr txBox="1"/>
          <p:nvPr/>
        </p:nvSpPr>
        <p:spPr>
          <a:xfrm>
            <a:off x="1063303" y="8745251"/>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Ingeniería de Ciencias Y Sistemas</a:t>
            </a:r>
            <a:endParaRPr b="1" i="0" sz="2499" u="none" cap="none" strike="noStrike">
              <a:solidFill>
                <a:srgbClr val="131416"/>
              </a:solidFill>
              <a:latin typeface="Open Sans"/>
              <a:ea typeface="Open Sans"/>
              <a:cs typeface="Open Sans"/>
              <a:sym typeface="Open Sans"/>
            </a:endParaRPr>
          </a:p>
        </p:txBody>
      </p:sp>
      <p:sp>
        <p:nvSpPr>
          <p:cNvPr id="171" name="Google Shape;171;g35c6a5069ec_0_0"/>
          <p:cNvSpPr txBox="1"/>
          <p:nvPr/>
        </p:nvSpPr>
        <p:spPr>
          <a:xfrm>
            <a:off x="1028700" y="9210675"/>
            <a:ext cx="6667500" cy="38460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Ingeniería</a:t>
            </a:r>
            <a:endParaRPr b="1" i="0" sz="2499" u="none" cap="none" strike="noStrike">
              <a:solidFill>
                <a:srgbClr val="131416"/>
              </a:solidFill>
              <a:latin typeface="Open Sans"/>
              <a:ea typeface="Open Sans"/>
              <a:cs typeface="Open Sans"/>
              <a:sym typeface="Open Sans"/>
            </a:endParaRPr>
          </a:p>
        </p:txBody>
      </p:sp>
      <p:sp>
        <p:nvSpPr>
          <p:cNvPr id="172" name="Google Shape;172;g35c6a5069ec_0_0"/>
          <p:cNvSpPr txBox="1"/>
          <p:nvPr/>
        </p:nvSpPr>
        <p:spPr>
          <a:xfrm>
            <a:off x="228600" y="9588254"/>
            <a:ext cx="811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35c6a5069ec_0_404"/>
          <p:cNvSpPr txBox="1"/>
          <p:nvPr/>
        </p:nvSpPr>
        <p:spPr>
          <a:xfrm>
            <a:off x="1374889" y="654364"/>
            <a:ext cx="13991100" cy="93870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COMPETENCIA QUE DESARROLLAREMOS</a:t>
            </a:r>
            <a:endParaRPr b="0" i="0" sz="1400" u="none" cap="none" strike="noStrike">
              <a:solidFill>
                <a:srgbClr val="000000"/>
              </a:solidFill>
              <a:latin typeface="Impact"/>
              <a:ea typeface="Impact"/>
              <a:cs typeface="Impact"/>
              <a:sym typeface="Impact"/>
            </a:endParaRPr>
          </a:p>
        </p:txBody>
      </p:sp>
      <p:sp>
        <p:nvSpPr>
          <p:cNvPr id="178" name="Google Shape;178;g35c6a5069ec_0_404"/>
          <p:cNvSpPr txBox="1"/>
          <p:nvPr/>
        </p:nvSpPr>
        <p:spPr>
          <a:xfrm>
            <a:off x="1957640" y="3759150"/>
            <a:ext cx="14372700" cy="23397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chemeClr val="dk1"/>
              </a:buClr>
              <a:buSzPts val="1100"/>
              <a:buFont typeface="Arial"/>
              <a:buNone/>
            </a:pPr>
            <a:r>
              <a:rPr b="1" i="0" lang="en-US" sz="4000" u="none" cap="none" strike="noStrike">
                <a:solidFill>
                  <a:srgbClr val="131416"/>
                </a:solidFill>
                <a:latin typeface="Open Sans"/>
                <a:ea typeface="Open Sans"/>
                <a:cs typeface="Open Sans"/>
                <a:sym typeface="Open Sans"/>
              </a:rPr>
              <a:t>Domina los conceptos fundamentales del compilador para analizar y diseñar traductores en proyectos de software que requieran procesamiento de lenguajes.</a:t>
            </a:r>
            <a:endParaRPr b="1" i="0" sz="4000" u="none" cap="none" strike="noStrike">
              <a:solidFill>
                <a:srgbClr val="131416"/>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182" name="Shape 182"/>
        <p:cNvGrpSpPr/>
        <p:nvPr/>
      </p:nvGrpSpPr>
      <p:grpSpPr>
        <a:xfrm>
          <a:off x="0" y="0"/>
          <a:ext cx="0" cy="0"/>
          <a:chOff x="0" y="0"/>
          <a:chExt cx="0" cy="0"/>
        </a:xfrm>
      </p:grpSpPr>
      <p:sp>
        <p:nvSpPr>
          <p:cNvPr id="183" name="Google Shape;183;p2"/>
          <p:cNvSpPr/>
          <p:nvPr/>
        </p:nvSpPr>
        <p:spPr>
          <a:xfrm rot="-5400000">
            <a:off x="4813056" y="4060775"/>
            <a:ext cx="6173936" cy="2165449"/>
          </a:xfrm>
          <a:custGeom>
            <a:rect b="b" l="l" r="r" t="t"/>
            <a:pathLst>
              <a:path extrusionOk="0" h="2165449" w="6173936">
                <a:moveTo>
                  <a:pt x="0" y="0"/>
                </a:moveTo>
                <a:lnTo>
                  <a:pt x="6173936" y="0"/>
                </a:lnTo>
                <a:lnTo>
                  <a:pt x="6173936" y="2165450"/>
                </a:lnTo>
                <a:lnTo>
                  <a:pt x="0" y="2165450"/>
                </a:lnTo>
                <a:lnTo>
                  <a:pt x="0" y="0"/>
                </a:lnTo>
                <a:close/>
              </a:path>
            </a:pathLst>
          </a:custGeom>
          <a:blipFill rotWithShape="1">
            <a:blip r:embed="rId3">
              <a:alphaModFix/>
            </a:blip>
            <a:stretch>
              <a:fillRect b="0" l="0" r="0" t="0"/>
            </a:stretch>
          </a:blipFill>
          <a:ln>
            <a:noFill/>
          </a:ln>
        </p:spPr>
      </p:sp>
      <p:sp>
        <p:nvSpPr>
          <p:cNvPr id="184" name="Google Shape;184;p2"/>
          <p:cNvSpPr txBox="1"/>
          <p:nvPr/>
        </p:nvSpPr>
        <p:spPr>
          <a:xfrm>
            <a:off x="1028700" y="4457700"/>
            <a:ext cx="6077873" cy="1371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9000"/>
              <a:buFont typeface="Arial"/>
              <a:buNone/>
            </a:pPr>
            <a:r>
              <a:rPr b="1" i="0" lang="en-US" sz="9000" u="none" cap="none" strike="noStrike">
                <a:solidFill>
                  <a:srgbClr val="FFFFFF"/>
                </a:solidFill>
                <a:latin typeface="Poppins"/>
                <a:ea typeface="Poppins"/>
                <a:cs typeface="Poppins"/>
                <a:sym typeface="Poppins"/>
              </a:rPr>
              <a:t>AGENDA</a:t>
            </a:r>
            <a:endParaRPr b="0" i="0" sz="1400" u="none" cap="none" strike="noStrike">
              <a:solidFill>
                <a:srgbClr val="000000"/>
              </a:solidFill>
              <a:latin typeface="Arial"/>
              <a:ea typeface="Arial"/>
              <a:cs typeface="Arial"/>
              <a:sym typeface="Arial"/>
            </a:endParaRPr>
          </a:p>
        </p:txBody>
      </p:sp>
      <p:grpSp>
        <p:nvGrpSpPr>
          <p:cNvPr id="185" name="Google Shape;185;p2"/>
          <p:cNvGrpSpPr/>
          <p:nvPr/>
        </p:nvGrpSpPr>
        <p:grpSpPr>
          <a:xfrm>
            <a:off x="11324952" y="1400175"/>
            <a:ext cx="5887350" cy="1247775"/>
            <a:chOff x="0" y="12700"/>
            <a:chExt cx="7849800" cy="1663700"/>
          </a:xfrm>
        </p:grpSpPr>
        <p:cxnSp>
          <p:nvCxnSpPr>
            <p:cNvPr id="186" name="Google Shape;186;p2"/>
            <p:cNvCxnSpPr/>
            <p:nvPr/>
          </p:nvCxnSpPr>
          <p:spPr>
            <a:xfrm>
              <a:off x="0" y="12700"/>
              <a:ext cx="7849800" cy="0"/>
            </a:xfrm>
            <a:prstGeom prst="straightConnector1">
              <a:avLst/>
            </a:prstGeom>
            <a:noFill/>
            <a:ln cap="rnd" cmpd="sng" w="25400">
              <a:solidFill>
                <a:srgbClr val="10B5BF"/>
              </a:solidFill>
              <a:prstDash val="solid"/>
              <a:round/>
              <a:headEnd len="sm" w="sm" type="none"/>
              <a:tailEnd len="sm" w="sm" type="none"/>
            </a:ln>
          </p:spPr>
        </p:cxnSp>
        <p:cxnSp>
          <p:nvCxnSpPr>
            <p:cNvPr id="187" name="Google Shape;187;p2"/>
            <p:cNvCxnSpPr/>
            <p:nvPr/>
          </p:nvCxnSpPr>
          <p:spPr>
            <a:xfrm>
              <a:off x="0" y="1676400"/>
              <a:ext cx="7849800" cy="0"/>
            </a:xfrm>
            <a:prstGeom prst="straightConnector1">
              <a:avLst/>
            </a:prstGeom>
            <a:noFill/>
            <a:ln cap="rnd" cmpd="sng" w="25400">
              <a:solidFill>
                <a:srgbClr val="10B5BF"/>
              </a:solidFill>
              <a:prstDash val="solid"/>
              <a:round/>
              <a:headEnd len="sm" w="sm" type="none"/>
              <a:tailEnd len="sm" w="sm" type="none"/>
            </a:ln>
          </p:spPr>
        </p:cxnSp>
        <p:sp>
          <p:nvSpPr>
            <p:cNvPr id="188" name="Google Shape;188;p2"/>
            <p:cNvSpPr txBox="1"/>
            <p:nvPr/>
          </p:nvSpPr>
          <p:spPr>
            <a:xfrm>
              <a:off x="0" y="488950"/>
              <a:ext cx="7849800" cy="6156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999"/>
                <a:buFont typeface="Arial"/>
                <a:buNone/>
              </a:pPr>
              <a:r>
                <a:rPr b="0" i="0" lang="en-US" sz="2999" u="none" cap="none" strike="noStrike">
                  <a:solidFill>
                    <a:srgbClr val="FFFFFF"/>
                  </a:solidFill>
                  <a:latin typeface="Poppins Light"/>
                  <a:ea typeface="Poppins Light"/>
                  <a:cs typeface="Poppins Light"/>
                  <a:sym typeface="Poppins Light"/>
                </a:rPr>
                <a:t>Análisis Sintáctico</a:t>
              </a:r>
              <a:endParaRPr b="0" i="0" sz="1400" u="none" cap="none" strike="noStrike">
                <a:solidFill>
                  <a:srgbClr val="000000"/>
                </a:solidFill>
                <a:latin typeface="Arial"/>
                <a:ea typeface="Arial"/>
                <a:cs typeface="Arial"/>
                <a:sym typeface="Arial"/>
              </a:endParaRPr>
            </a:p>
          </p:txBody>
        </p:sp>
      </p:grpSp>
      <p:grpSp>
        <p:nvGrpSpPr>
          <p:cNvPr id="189" name="Google Shape;189;p2"/>
          <p:cNvGrpSpPr/>
          <p:nvPr/>
        </p:nvGrpSpPr>
        <p:grpSpPr>
          <a:xfrm>
            <a:off x="11324952" y="2647950"/>
            <a:ext cx="5887350" cy="1247775"/>
            <a:chOff x="0" y="12700"/>
            <a:chExt cx="7849800" cy="1663700"/>
          </a:xfrm>
        </p:grpSpPr>
        <p:cxnSp>
          <p:nvCxnSpPr>
            <p:cNvPr id="190" name="Google Shape;190;p2"/>
            <p:cNvCxnSpPr/>
            <p:nvPr/>
          </p:nvCxnSpPr>
          <p:spPr>
            <a:xfrm>
              <a:off x="0" y="12700"/>
              <a:ext cx="7849800" cy="0"/>
            </a:xfrm>
            <a:prstGeom prst="straightConnector1">
              <a:avLst/>
            </a:prstGeom>
            <a:noFill/>
            <a:ln cap="rnd" cmpd="sng" w="25400">
              <a:solidFill>
                <a:srgbClr val="10B5BF"/>
              </a:solidFill>
              <a:prstDash val="solid"/>
              <a:round/>
              <a:headEnd len="sm" w="sm" type="none"/>
              <a:tailEnd len="sm" w="sm" type="none"/>
            </a:ln>
          </p:spPr>
        </p:cxnSp>
        <p:cxnSp>
          <p:nvCxnSpPr>
            <p:cNvPr id="191" name="Google Shape;191;p2"/>
            <p:cNvCxnSpPr/>
            <p:nvPr/>
          </p:nvCxnSpPr>
          <p:spPr>
            <a:xfrm>
              <a:off x="0" y="1676400"/>
              <a:ext cx="7849800" cy="0"/>
            </a:xfrm>
            <a:prstGeom prst="straightConnector1">
              <a:avLst/>
            </a:prstGeom>
            <a:noFill/>
            <a:ln cap="rnd" cmpd="sng" w="25400">
              <a:solidFill>
                <a:srgbClr val="10B5BF"/>
              </a:solidFill>
              <a:prstDash val="solid"/>
              <a:round/>
              <a:headEnd len="sm" w="sm" type="none"/>
              <a:tailEnd len="sm" w="sm" type="none"/>
            </a:ln>
          </p:spPr>
        </p:cxnSp>
        <p:sp>
          <p:nvSpPr>
            <p:cNvPr id="192" name="Google Shape;192;p2"/>
            <p:cNvSpPr txBox="1"/>
            <p:nvPr/>
          </p:nvSpPr>
          <p:spPr>
            <a:xfrm>
              <a:off x="0" y="488950"/>
              <a:ext cx="7849800" cy="6156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999"/>
                <a:buFont typeface="Arial"/>
                <a:buNone/>
              </a:pPr>
              <a:r>
                <a:rPr b="0" i="0" lang="en-US" sz="2999" u="none" cap="none" strike="noStrike">
                  <a:solidFill>
                    <a:srgbClr val="FFFFFF"/>
                  </a:solidFill>
                  <a:latin typeface="Poppins Light"/>
                  <a:ea typeface="Poppins Light"/>
                  <a:cs typeface="Poppins Light"/>
                  <a:sym typeface="Poppins Light"/>
                </a:rPr>
                <a:t>Video</a:t>
              </a:r>
              <a:endParaRPr b="0" i="0" sz="1400" u="none" cap="none" strike="noStrike">
                <a:solidFill>
                  <a:srgbClr val="000000"/>
                </a:solidFill>
                <a:latin typeface="Arial"/>
                <a:ea typeface="Arial"/>
                <a:cs typeface="Arial"/>
                <a:sym typeface="Arial"/>
              </a:endParaRPr>
            </a:p>
          </p:txBody>
        </p:sp>
      </p:grpSp>
      <p:grpSp>
        <p:nvGrpSpPr>
          <p:cNvPr id="193" name="Google Shape;193;p2"/>
          <p:cNvGrpSpPr/>
          <p:nvPr/>
        </p:nvGrpSpPr>
        <p:grpSpPr>
          <a:xfrm>
            <a:off x="11324952" y="3895725"/>
            <a:ext cx="5887350" cy="1247775"/>
            <a:chOff x="0" y="12700"/>
            <a:chExt cx="7849800" cy="1663700"/>
          </a:xfrm>
        </p:grpSpPr>
        <p:cxnSp>
          <p:nvCxnSpPr>
            <p:cNvPr id="194" name="Google Shape;194;p2"/>
            <p:cNvCxnSpPr/>
            <p:nvPr/>
          </p:nvCxnSpPr>
          <p:spPr>
            <a:xfrm>
              <a:off x="0" y="12700"/>
              <a:ext cx="7849800" cy="0"/>
            </a:xfrm>
            <a:prstGeom prst="straightConnector1">
              <a:avLst/>
            </a:prstGeom>
            <a:noFill/>
            <a:ln cap="rnd" cmpd="sng" w="25400">
              <a:solidFill>
                <a:srgbClr val="10B5BF"/>
              </a:solidFill>
              <a:prstDash val="solid"/>
              <a:round/>
              <a:headEnd len="sm" w="sm" type="none"/>
              <a:tailEnd len="sm" w="sm" type="none"/>
            </a:ln>
          </p:spPr>
        </p:cxnSp>
        <p:cxnSp>
          <p:nvCxnSpPr>
            <p:cNvPr id="195" name="Google Shape;195;p2"/>
            <p:cNvCxnSpPr/>
            <p:nvPr/>
          </p:nvCxnSpPr>
          <p:spPr>
            <a:xfrm>
              <a:off x="0" y="1676400"/>
              <a:ext cx="7849800" cy="0"/>
            </a:xfrm>
            <a:prstGeom prst="straightConnector1">
              <a:avLst/>
            </a:prstGeom>
            <a:noFill/>
            <a:ln cap="rnd" cmpd="sng" w="25400">
              <a:solidFill>
                <a:srgbClr val="10B5BF"/>
              </a:solidFill>
              <a:prstDash val="solid"/>
              <a:round/>
              <a:headEnd len="sm" w="sm" type="none"/>
              <a:tailEnd len="sm" w="sm" type="none"/>
            </a:ln>
          </p:spPr>
        </p:cxnSp>
        <p:sp>
          <p:nvSpPr>
            <p:cNvPr id="196" name="Google Shape;196;p2"/>
            <p:cNvSpPr txBox="1"/>
            <p:nvPr/>
          </p:nvSpPr>
          <p:spPr>
            <a:xfrm>
              <a:off x="0" y="488950"/>
              <a:ext cx="7849800" cy="6156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999"/>
                <a:buFont typeface="Arial"/>
                <a:buNone/>
              </a:pPr>
              <a:r>
                <a:rPr b="0" i="0" lang="en-US" sz="2999" u="none" cap="none" strike="noStrike">
                  <a:solidFill>
                    <a:srgbClr val="FFFFFF"/>
                  </a:solidFill>
                  <a:latin typeface="Poppins Light"/>
                  <a:ea typeface="Poppins Light"/>
                  <a:cs typeface="Poppins Light"/>
                  <a:sym typeface="Poppins Light"/>
                </a:rPr>
                <a:t>Lectura</a:t>
              </a:r>
              <a:endParaRPr b="0" i="0" sz="1400" u="none" cap="none" strike="noStrike">
                <a:solidFill>
                  <a:srgbClr val="000000"/>
                </a:solidFill>
                <a:latin typeface="Arial"/>
                <a:ea typeface="Arial"/>
                <a:cs typeface="Arial"/>
                <a:sym typeface="Arial"/>
              </a:endParaRPr>
            </a:p>
          </p:txBody>
        </p:sp>
      </p:grpSp>
      <p:grpSp>
        <p:nvGrpSpPr>
          <p:cNvPr id="197" name="Google Shape;197;p2"/>
          <p:cNvGrpSpPr/>
          <p:nvPr/>
        </p:nvGrpSpPr>
        <p:grpSpPr>
          <a:xfrm>
            <a:off x="11324940" y="5143500"/>
            <a:ext cx="5887350" cy="1247775"/>
            <a:chOff x="0" y="12700"/>
            <a:chExt cx="7849800" cy="1663700"/>
          </a:xfrm>
        </p:grpSpPr>
        <p:cxnSp>
          <p:nvCxnSpPr>
            <p:cNvPr id="198" name="Google Shape;198;p2"/>
            <p:cNvCxnSpPr/>
            <p:nvPr/>
          </p:nvCxnSpPr>
          <p:spPr>
            <a:xfrm>
              <a:off x="0" y="12700"/>
              <a:ext cx="7849800" cy="0"/>
            </a:xfrm>
            <a:prstGeom prst="straightConnector1">
              <a:avLst/>
            </a:prstGeom>
            <a:noFill/>
            <a:ln cap="rnd" cmpd="sng" w="25400">
              <a:solidFill>
                <a:srgbClr val="10B5BF"/>
              </a:solidFill>
              <a:prstDash val="solid"/>
              <a:round/>
              <a:headEnd len="sm" w="sm" type="none"/>
              <a:tailEnd len="sm" w="sm" type="none"/>
            </a:ln>
          </p:spPr>
        </p:cxnSp>
        <p:cxnSp>
          <p:nvCxnSpPr>
            <p:cNvPr id="199" name="Google Shape;199;p2"/>
            <p:cNvCxnSpPr/>
            <p:nvPr/>
          </p:nvCxnSpPr>
          <p:spPr>
            <a:xfrm>
              <a:off x="0" y="1676400"/>
              <a:ext cx="7849800" cy="0"/>
            </a:xfrm>
            <a:prstGeom prst="straightConnector1">
              <a:avLst/>
            </a:prstGeom>
            <a:noFill/>
            <a:ln cap="rnd" cmpd="sng" w="25400">
              <a:solidFill>
                <a:srgbClr val="10B5BF"/>
              </a:solidFill>
              <a:prstDash val="solid"/>
              <a:round/>
              <a:headEnd len="sm" w="sm" type="none"/>
              <a:tailEnd len="sm" w="sm" type="none"/>
            </a:ln>
          </p:spPr>
        </p:cxnSp>
        <p:sp>
          <p:nvSpPr>
            <p:cNvPr id="200" name="Google Shape;200;p2"/>
            <p:cNvSpPr txBox="1"/>
            <p:nvPr/>
          </p:nvSpPr>
          <p:spPr>
            <a:xfrm>
              <a:off x="0" y="488950"/>
              <a:ext cx="7849800" cy="6156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999"/>
                <a:buFont typeface="Arial"/>
                <a:buNone/>
              </a:pPr>
              <a:r>
                <a:rPr b="0" i="0" lang="en-US" sz="2999" u="none" cap="none" strike="noStrike">
                  <a:solidFill>
                    <a:srgbClr val="FFFFFF"/>
                  </a:solidFill>
                  <a:latin typeface="Poppins Light"/>
                  <a:ea typeface="Poppins Light"/>
                  <a:cs typeface="Poppins Light"/>
                  <a:sym typeface="Poppins Light"/>
                </a:rPr>
                <a:t>Ejemplo</a:t>
              </a:r>
              <a:endParaRPr b="0" i="0" sz="1400" u="none" cap="none" strike="noStrike">
                <a:solidFill>
                  <a:srgbClr val="000000"/>
                </a:solidFill>
                <a:latin typeface="Arial"/>
                <a:ea typeface="Arial"/>
                <a:cs typeface="Arial"/>
                <a:sym typeface="Arial"/>
              </a:endParaRPr>
            </a:p>
          </p:txBody>
        </p:sp>
      </p:grpSp>
      <p:grpSp>
        <p:nvGrpSpPr>
          <p:cNvPr id="201" name="Google Shape;201;p2"/>
          <p:cNvGrpSpPr/>
          <p:nvPr/>
        </p:nvGrpSpPr>
        <p:grpSpPr>
          <a:xfrm>
            <a:off x="11324940" y="6391274"/>
            <a:ext cx="5887350" cy="1247775"/>
            <a:chOff x="0" y="12700"/>
            <a:chExt cx="7849800" cy="1663700"/>
          </a:xfrm>
        </p:grpSpPr>
        <p:cxnSp>
          <p:nvCxnSpPr>
            <p:cNvPr id="202" name="Google Shape;202;p2"/>
            <p:cNvCxnSpPr/>
            <p:nvPr/>
          </p:nvCxnSpPr>
          <p:spPr>
            <a:xfrm>
              <a:off x="0" y="12700"/>
              <a:ext cx="7849800" cy="0"/>
            </a:xfrm>
            <a:prstGeom prst="straightConnector1">
              <a:avLst/>
            </a:prstGeom>
            <a:noFill/>
            <a:ln cap="rnd" cmpd="sng" w="25400">
              <a:solidFill>
                <a:srgbClr val="10B5BF"/>
              </a:solidFill>
              <a:prstDash val="solid"/>
              <a:round/>
              <a:headEnd len="sm" w="sm" type="none"/>
              <a:tailEnd len="sm" w="sm" type="none"/>
            </a:ln>
          </p:spPr>
        </p:cxnSp>
        <p:cxnSp>
          <p:nvCxnSpPr>
            <p:cNvPr id="203" name="Google Shape;203;p2"/>
            <p:cNvCxnSpPr/>
            <p:nvPr/>
          </p:nvCxnSpPr>
          <p:spPr>
            <a:xfrm>
              <a:off x="0" y="1676400"/>
              <a:ext cx="7849800" cy="0"/>
            </a:xfrm>
            <a:prstGeom prst="straightConnector1">
              <a:avLst/>
            </a:prstGeom>
            <a:noFill/>
            <a:ln cap="rnd" cmpd="sng" w="25400">
              <a:solidFill>
                <a:srgbClr val="10B5BF"/>
              </a:solidFill>
              <a:prstDash val="solid"/>
              <a:round/>
              <a:headEnd len="sm" w="sm" type="none"/>
              <a:tailEnd len="sm" w="sm" type="none"/>
            </a:ln>
          </p:spPr>
        </p:cxnSp>
        <p:sp>
          <p:nvSpPr>
            <p:cNvPr id="204" name="Google Shape;204;p2"/>
            <p:cNvSpPr txBox="1"/>
            <p:nvPr/>
          </p:nvSpPr>
          <p:spPr>
            <a:xfrm>
              <a:off x="0" y="488950"/>
              <a:ext cx="7849800" cy="6156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999"/>
                <a:buFont typeface="Arial"/>
                <a:buNone/>
              </a:pPr>
              <a:r>
                <a:rPr b="0" i="0" lang="en-US" sz="2999" u="none" cap="none" strike="noStrike">
                  <a:solidFill>
                    <a:srgbClr val="FFFFFF"/>
                  </a:solidFill>
                  <a:latin typeface="Poppins Light"/>
                  <a:ea typeface="Poppins Light"/>
                  <a:cs typeface="Poppins Light"/>
                  <a:sym typeface="Poppins Light"/>
                </a:rPr>
                <a:t>Actividad</a:t>
              </a:r>
              <a:endParaRPr b="0" i="0" sz="1400" u="none" cap="none" strike="noStrike">
                <a:solidFill>
                  <a:srgbClr val="000000"/>
                </a:solidFill>
                <a:latin typeface="Arial"/>
                <a:ea typeface="Arial"/>
                <a:cs typeface="Arial"/>
                <a:sym typeface="Arial"/>
              </a:endParaRPr>
            </a:p>
          </p:txBody>
        </p:sp>
      </p:grpSp>
      <p:grpSp>
        <p:nvGrpSpPr>
          <p:cNvPr id="205" name="Google Shape;205;p2"/>
          <p:cNvGrpSpPr/>
          <p:nvPr/>
        </p:nvGrpSpPr>
        <p:grpSpPr>
          <a:xfrm>
            <a:off x="11324940" y="7639050"/>
            <a:ext cx="5887350" cy="1247775"/>
            <a:chOff x="0" y="12700"/>
            <a:chExt cx="7849800" cy="1663700"/>
          </a:xfrm>
        </p:grpSpPr>
        <p:cxnSp>
          <p:nvCxnSpPr>
            <p:cNvPr id="206" name="Google Shape;206;p2"/>
            <p:cNvCxnSpPr/>
            <p:nvPr/>
          </p:nvCxnSpPr>
          <p:spPr>
            <a:xfrm>
              <a:off x="0" y="12700"/>
              <a:ext cx="7849800" cy="0"/>
            </a:xfrm>
            <a:prstGeom prst="straightConnector1">
              <a:avLst/>
            </a:prstGeom>
            <a:noFill/>
            <a:ln cap="rnd" cmpd="sng" w="25400">
              <a:solidFill>
                <a:srgbClr val="10B5BF"/>
              </a:solidFill>
              <a:prstDash val="solid"/>
              <a:round/>
              <a:headEnd len="sm" w="sm" type="none"/>
              <a:tailEnd len="sm" w="sm" type="none"/>
            </a:ln>
          </p:spPr>
        </p:cxnSp>
        <p:cxnSp>
          <p:nvCxnSpPr>
            <p:cNvPr id="207" name="Google Shape;207;p2"/>
            <p:cNvCxnSpPr/>
            <p:nvPr/>
          </p:nvCxnSpPr>
          <p:spPr>
            <a:xfrm>
              <a:off x="0" y="1676400"/>
              <a:ext cx="7849800" cy="0"/>
            </a:xfrm>
            <a:prstGeom prst="straightConnector1">
              <a:avLst/>
            </a:prstGeom>
            <a:noFill/>
            <a:ln cap="rnd" cmpd="sng" w="25400">
              <a:solidFill>
                <a:srgbClr val="10B5BF"/>
              </a:solidFill>
              <a:prstDash val="solid"/>
              <a:round/>
              <a:headEnd len="sm" w="sm" type="none"/>
              <a:tailEnd len="sm" w="sm" type="none"/>
            </a:ln>
          </p:spPr>
        </p:cxnSp>
        <p:sp>
          <p:nvSpPr>
            <p:cNvPr id="208" name="Google Shape;208;p2"/>
            <p:cNvSpPr txBox="1"/>
            <p:nvPr/>
          </p:nvSpPr>
          <p:spPr>
            <a:xfrm>
              <a:off x="0" y="488950"/>
              <a:ext cx="7849800" cy="6156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2999"/>
                <a:buFont typeface="Arial"/>
                <a:buNone/>
              </a:pPr>
              <a:r>
                <a:rPr b="0" i="0" lang="en-US" sz="2999" u="none" cap="none" strike="noStrike">
                  <a:solidFill>
                    <a:srgbClr val="FFFFFF"/>
                  </a:solidFill>
                  <a:latin typeface="Poppins Light"/>
                  <a:ea typeface="Poppins Light"/>
                  <a:cs typeface="Poppins Light"/>
                  <a:sym typeface="Poppins Light"/>
                </a:rPr>
                <a:t>Custrionario</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12" name="Shape 212"/>
        <p:cNvGrpSpPr/>
        <p:nvPr/>
      </p:nvGrpSpPr>
      <p:grpSpPr>
        <a:xfrm>
          <a:off x="0" y="0"/>
          <a:ext cx="0" cy="0"/>
          <a:chOff x="0" y="0"/>
          <a:chExt cx="0" cy="0"/>
        </a:xfrm>
      </p:grpSpPr>
      <p:sp>
        <p:nvSpPr>
          <p:cNvPr id="213" name="Google Shape;213;p3"/>
          <p:cNvSpPr/>
          <p:nvPr/>
        </p:nvSpPr>
        <p:spPr>
          <a:xfrm>
            <a:off x="7844421" y="-156579"/>
            <a:ext cx="10443579" cy="10443579"/>
          </a:xfrm>
          <a:custGeom>
            <a:rect b="b" l="l" r="r" t="t"/>
            <a:pathLst>
              <a:path extrusionOk="0" h="10443579" w="10443579">
                <a:moveTo>
                  <a:pt x="0" y="0"/>
                </a:moveTo>
                <a:lnTo>
                  <a:pt x="10443579" y="0"/>
                </a:lnTo>
                <a:lnTo>
                  <a:pt x="10443579" y="10443579"/>
                </a:lnTo>
                <a:lnTo>
                  <a:pt x="0" y="10443579"/>
                </a:lnTo>
                <a:lnTo>
                  <a:pt x="0" y="0"/>
                </a:lnTo>
                <a:close/>
              </a:path>
            </a:pathLst>
          </a:custGeom>
          <a:blipFill rotWithShape="1">
            <a:blip r:embed="rId3">
              <a:alphaModFix/>
            </a:blip>
            <a:stretch>
              <a:fillRect b="0" l="0" r="0" t="0"/>
            </a:stretch>
          </a:blipFill>
          <a:ln>
            <a:noFill/>
          </a:ln>
        </p:spPr>
      </p:sp>
      <p:sp>
        <p:nvSpPr>
          <p:cNvPr id="214" name="Google Shape;214;p3"/>
          <p:cNvSpPr txBox="1"/>
          <p:nvPr/>
        </p:nvSpPr>
        <p:spPr>
          <a:xfrm>
            <a:off x="1028700" y="1942616"/>
            <a:ext cx="11646135" cy="14573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9500"/>
              <a:buFont typeface="Arial"/>
              <a:buNone/>
            </a:pPr>
            <a:r>
              <a:rPr b="1" i="0" lang="en-US" sz="9500" u="none" cap="none" strike="noStrike">
                <a:solidFill>
                  <a:srgbClr val="20E5F6"/>
                </a:solidFill>
                <a:latin typeface="Poppins"/>
                <a:ea typeface="Poppins"/>
                <a:cs typeface="Poppins"/>
                <a:sym typeface="Poppins"/>
              </a:rPr>
              <a:t>Análisis Sintáctico</a:t>
            </a:r>
            <a:endParaRPr b="0" i="0" sz="1400" u="none" cap="none" strike="noStrike">
              <a:solidFill>
                <a:srgbClr val="000000"/>
              </a:solidFill>
              <a:latin typeface="Arial"/>
              <a:ea typeface="Arial"/>
              <a:cs typeface="Arial"/>
              <a:sym typeface="Arial"/>
            </a:endParaRPr>
          </a:p>
        </p:txBody>
      </p:sp>
      <p:sp>
        <p:nvSpPr>
          <p:cNvPr id="215" name="Google Shape;215;p3"/>
          <p:cNvSpPr/>
          <p:nvPr/>
        </p:nvSpPr>
        <p:spPr>
          <a:xfrm>
            <a:off x="5203276" y="4331358"/>
            <a:ext cx="3296984" cy="4114800"/>
          </a:xfrm>
          <a:custGeom>
            <a:rect b="b" l="l" r="r" t="t"/>
            <a:pathLst>
              <a:path extrusionOk="0" h="4114800" w="3296984">
                <a:moveTo>
                  <a:pt x="0" y="0"/>
                </a:moveTo>
                <a:lnTo>
                  <a:pt x="3296983" y="0"/>
                </a:lnTo>
                <a:lnTo>
                  <a:pt x="3296983" y="4114800"/>
                </a:lnTo>
                <a:lnTo>
                  <a:pt x="0" y="4114800"/>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19" name="Shape 219"/>
        <p:cNvGrpSpPr/>
        <p:nvPr/>
      </p:nvGrpSpPr>
      <p:grpSpPr>
        <a:xfrm>
          <a:off x="0" y="0"/>
          <a:ext cx="0" cy="0"/>
          <a:chOff x="0" y="0"/>
          <a:chExt cx="0" cy="0"/>
        </a:xfrm>
      </p:grpSpPr>
      <p:grpSp>
        <p:nvGrpSpPr>
          <p:cNvPr id="220" name="Google Shape;220;p4"/>
          <p:cNvGrpSpPr/>
          <p:nvPr/>
        </p:nvGrpSpPr>
        <p:grpSpPr>
          <a:xfrm>
            <a:off x="1738415" y="494242"/>
            <a:ext cx="14811170" cy="5358436"/>
            <a:chOff x="0" y="0"/>
            <a:chExt cx="19748227" cy="7144581"/>
          </a:xfrm>
        </p:grpSpPr>
        <p:sp>
          <p:nvSpPr>
            <p:cNvPr id="221" name="Google Shape;221;p4"/>
            <p:cNvSpPr txBox="1"/>
            <p:nvPr/>
          </p:nvSpPr>
          <p:spPr>
            <a:xfrm>
              <a:off x="0" y="2913152"/>
              <a:ext cx="19748227" cy="4231429"/>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El análisis sintáctico es la segunda fase del compilador (también llamado parser), este transforma su entrada en un árbol de derivación o árbol de sintaxis abstracta.</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El análisis sintáctico utiliza el flujo de tokens procedente del analizador léxico para crear una representación intermedia, generalmente arboles, que describa la estructura gramatical y su jerarquía.</a:t>
              </a:r>
              <a:endParaRPr b="0" i="0" sz="1400" u="none" cap="none" strike="noStrike">
                <a:solidFill>
                  <a:srgbClr val="000000"/>
                </a:solidFill>
                <a:latin typeface="Arial"/>
                <a:ea typeface="Arial"/>
                <a:cs typeface="Arial"/>
                <a:sym typeface="Arial"/>
              </a:endParaRPr>
            </a:p>
          </p:txBody>
        </p:sp>
        <p:sp>
          <p:nvSpPr>
            <p:cNvPr id="222" name="Google Shape;222;p4"/>
            <p:cNvSpPr txBox="1"/>
            <p:nvPr/>
          </p:nvSpPr>
          <p:spPr>
            <a:xfrm>
              <a:off x="0" y="0"/>
              <a:ext cx="19748227" cy="1409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¿Qué es?</a:t>
              </a:r>
              <a:endParaRPr b="0" i="0" sz="1400" u="none" cap="none" strike="noStrike">
                <a:solidFill>
                  <a:srgbClr val="000000"/>
                </a:solidFill>
                <a:latin typeface="Arial"/>
                <a:ea typeface="Arial"/>
                <a:cs typeface="Arial"/>
                <a:sym typeface="Arial"/>
              </a:endParaRPr>
            </a:p>
          </p:txBody>
        </p:sp>
        <p:cxnSp>
          <p:nvCxnSpPr>
            <p:cNvPr id="223" name="Google Shape;223;p4"/>
            <p:cNvCxnSpPr/>
            <p:nvPr/>
          </p:nvCxnSpPr>
          <p:spPr>
            <a:xfrm>
              <a:off x="0" y="2192427"/>
              <a:ext cx="19748227" cy="0"/>
            </a:xfrm>
            <a:prstGeom prst="straightConnector1">
              <a:avLst/>
            </a:prstGeom>
            <a:noFill/>
            <a:ln cap="rnd" cmpd="sng" w="25400">
              <a:solidFill>
                <a:srgbClr val="10B5BF"/>
              </a:solidFill>
              <a:prstDash val="solid"/>
              <a:round/>
              <a:headEnd len="sm" w="sm" type="none"/>
              <a:tailEnd len="sm" w="sm" type="none"/>
            </a:ln>
          </p:spPr>
        </p:cxnSp>
      </p:grpSp>
      <p:sp>
        <p:nvSpPr>
          <p:cNvPr id="224" name="Google Shape;224;p4"/>
          <p:cNvSpPr/>
          <p:nvPr/>
        </p:nvSpPr>
        <p:spPr>
          <a:xfrm>
            <a:off x="6490899" y="7300531"/>
            <a:ext cx="5306203" cy="2146089"/>
          </a:xfrm>
          <a:custGeom>
            <a:rect b="b" l="l" r="r" t="t"/>
            <a:pathLst>
              <a:path extrusionOk="0" h="2146089" w="5306203">
                <a:moveTo>
                  <a:pt x="0" y="0"/>
                </a:moveTo>
                <a:lnTo>
                  <a:pt x="5306202" y="0"/>
                </a:lnTo>
                <a:lnTo>
                  <a:pt x="5306202" y="2146088"/>
                </a:lnTo>
                <a:lnTo>
                  <a:pt x="0" y="2146088"/>
                </a:lnTo>
                <a:lnTo>
                  <a:pt x="0" y="0"/>
                </a:lnTo>
                <a:close/>
              </a:path>
            </a:pathLst>
          </a:custGeom>
          <a:blipFill rotWithShape="1">
            <a:blip r:embed="rId3">
              <a:alphaModFix/>
            </a:blip>
            <a:stretch>
              <a:fillRect b="-365755" l="-63553" r="0" t="-81979"/>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28" name="Shape 228"/>
        <p:cNvGrpSpPr/>
        <p:nvPr/>
      </p:nvGrpSpPr>
      <p:grpSpPr>
        <a:xfrm>
          <a:off x="0" y="0"/>
          <a:ext cx="0" cy="0"/>
          <a:chOff x="0" y="0"/>
          <a:chExt cx="0" cy="0"/>
        </a:xfrm>
      </p:grpSpPr>
      <p:sp>
        <p:nvSpPr>
          <p:cNvPr id="229" name="Google Shape;229;p5"/>
          <p:cNvSpPr/>
          <p:nvPr/>
        </p:nvSpPr>
        <p:spPr>
          <a:xfrm>
            <a:off x="6975682" y="1347015"/>
            <a:ext cx="4336635" cy="7592970"/>
          </a:xfrm>
          <a:custGeom>
            <a:rect b="b" l="l" r="r" t="t"/>
            <a:pathLst>
              <a:path extrusionOk="0" h="7592970" w="4336635">
                <a:moveTo>
                  <a:pt x="0" y="0"/>
                </a:moveTo>
                <a:lnTo>
                  <a:pt x="4336636" y="0"/>
                </a:lnTo>
                <a:lnTo>
                  <a:pt x="4336636" y="7592970"/>
                </a:lnTo>
                <a:lnTo>
                  <a:pt x="0" y="7592970"/>
                </a:lnTo>
                <a:lnTo>
                  <a:pt x="0" y="0"/>
                </a:lnTo>
                <a:close/>
              </a:path>
            </a:pathLst>
          </a:custGeom>
          <a:blipFill rotWithShape="1">
            <a:blip r:embed="rId3">
              <a:alphaModFix/>
            </a:blip>
            <a:stretch>
              <a:fillRect b="0" l="0" r="0" t="0"/>
            </a:stretch>
          </a:blipFill>
          <a:ln>
            <a:noFill/>
          </a:ln>
        </p:spPr>
      </p:sp>
      <p:sp>
        <p:nvSpPr>
          <p:cNvPr id="230" name="Google Shape;230;p5"/>
          <p:cNvSpPr/>
          <p:nvPr/>
        </p:nvSpPr>
        <p:spPr>
          <a:xfrm>
            <a:off x="14002057" y="6172200"/>
            <a:ext cx="6217418" cy="4114800"/>
          </a:xfrm>
          <a:custGeom>
            <a:rect b="b" l="l" r="r" t="t"/>
            <a:pathLst>
              <a:path extrusionOk="0" h="4114800" w="6217418">
                <a:moveTo>
                  <a:pt x="0" y="0"/>
                </a:moveTo>
                <a:lnTo>
                  <a:pt x="6217417" y="0"/>
                </a:lnTo>
                <a:lnTo>
                  <a:pt x="6217417" y="4114800"/>
                </a:lnTo>
                <a:lnTo>
                  <a:pt x="0" y="4114800"/>
                </a:lnTo>
                <a:lnTo>
                  <a:pt x="0" y="0"/>
                </a:lnTo>
                <a:close/>
              </a:path>
            </a:pathLst>
          </a:custGeom>
          <a:blipFill rotWithShape="1">
            <a:blip r:embed="rId4">
              <a:alphaModFix/>
            </a:blip>
            <a:stretch>
              <a:fillRect b="0" l="0" r="0" t="0"/>
            </a:stretch>
          </a:blipFill>
          <a:ln>
            <a:noFill/>
          </a:ln>
        </p:spPr>
      </p:sp>
      <p:sp>
        <p:nvSpPr>
          <p:cNvPr id="231" name="Google Shape;231;p5"/>
          <p:cNvSpPr/>
          <p:nvPr/>
        </p:nvSpPr>
        <p:spPr>
          <a:xfrm rot="10800000">
            <a:off x="-2080009" y="0"/>
            <a:ext cx="6217418" cy="4114800"/>
          </a:xfrm>
          <a:custGeom>
            <a:rect b="b" l="l" r="r" t="t"/>
            <a:pathLst>
              <a:path extrusionOk="0" h="4114800" w="6217418">
                <a:moveTo>
                  <a:pt x="0" y="0"/>
                </a:moveTo>
                <a:lnTo>
                  <a:pt x="6217418" y="0"/>
                </a:lnTo>
                <a:lnTo>
                  <a:pt x="6217418" y="4114800"/>
                </a:lnTo>
                <a:lnTo>
                  <a:pt x="0" y="4114800"/>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35" name="Shape 235"/>
        <p:cNvGrpSpPr/>
        <p:nvPr/>
      </p:nvGrpSpPr>
      <p:grpSpPr>
        <a:xfrm>
          <a:off x="0" y="0"/>
          <a:ext cx="0" cy="0"/>
          <a:chOff x="0" y="0"/>
          <a:chExt cx="0" cy="0"/>
        </a:xfrm>
      </p:grpSpPr>
      <p:sp>
        <p:nvSpPr>
          <p:cNvPr id="236" name="Google Shape;236;p6"/>
          <p:cNvSpPr txBox="1"/>
          <p:nvPr/>
        </p:nvSpPr>
        <p:spPr>
          <a:xfrm>
            <a:off x="1738415" y="283996"/>
            <a:ext cx="14811300" cy="23703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Gramáticas independientes del contexto</a:t>
            </a:r>
            <a:endParaRPr b="0" i="0" sz="1400" u="none" cap="none" strike="noStrike">
              <a:solidFill>
                <a:srgbClr val="000000"/>
              </a:solidFill>
              <a:latin typeface="Arial"/>
              <a:ea typeface="Arial"/>
              <a:cs typeface="Arial"/>
              <a:sym typeface="Arial"/>
            </a:endParaRPr>
          </a:p>
        </p:txBody>
      </p:sp>
      <p:cxnSp>
        <p:nvCxnSpPr>
          <p:cNvPr id="237" name="Google Shape;237;p6"/>
          <p:cNvCxnSpPr/>
          <p:nvPr/>
        </p:nvCxnSpPr>
        <p:spPr>
          <a:xfrm>
            <a:off x="1738415" y="2912596"/>
            <a:ext cx="14811170" cy="0"/>
          </a:xfrm>
          <a:prstGeom prst="straightConnector1">
            <a:avLst/>
          </a:prstGeom>
          <a:noFill/>
          <a:ln cap="rnd" cmpd="sng" w="19050">
            <a:solidFill>
              <a:srgbClr val="10B5BF"/>
            </a:solidFill>
            <a:prstDash val="solid"/>
            <a:round/>
            <a:headEnd len="sm" w="sm" type="none"/>
            <a:tailEnd len="sm" w="sm" type="none"/>
          </a:ln>
        </p:spPr>
      </p:cxnSp>
      <p:sp>
        <p:nvSpPr>
          <p:cNvPr id="238" name="Google Shape;238;p6"/>
          <p:cNvSpPr txBox="1"/>
          <p:nvPr/>
        </p:nvSpPr>
        <p:spPr>
          <a:xfrm>
            <a:off x="1185775" y="3429000"/>
            <a:ext cx="16123500" cy="565260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2700"/>
              <a:buFont typeface="Arial"/>
              <a:buNone/>
            </a:pPr>
            <a:r>
              <a:rPr b="0" i="0" lang="en-US" sz="2700" u="none" cap="none" strike="noStrike">
                <a:solidFill>
                  <a:srgbClr val="FFFFFF"/>
                </a:solidFill>
                <a:latin typeface="Poppins Light"/>
                <a:ea typeface="Poppins Light"/>
                <a:cs typeface="Poppins Light"/>
                <a:sym typeface="Poppins Light"/>
              </a:rPr>
              <a:t>Una gramática independiente del contexto (o también llamada libre del contexto) tiene 4 componentes:</a:t>
            </a:r>
            <a:endParaRPr b="0" i="0" sz="2700" u="none" cap="none" strike="noStrike">
              <a:solidFill>
                <a:srgbClr val="000000"/>
              </a:solidFill>
              <a:latin typeface="Arial"/>
              <a:ea typeface="Arial"/>
              <a:cs typeface="Arial"/>
              <a:sym typeface="Arial"/>
            </a:endParaRPr>
          </a:p>
          <a:p>
            <a:pPr indent="-305974" lvl="1" marL="653095" marR="0" rtl="0" algn="just">
              <a:lnSpc>
                <a:spcPct val="140013"/>
              </a:lnSpc>
              <a:spcBef>
                <a:spcPts val="0"/>
              </a:spcBef>
              <a:spcAft>
                <a:spcPts val="0"/>
              </a:spcAft>
              <a:buClr>
                <a:srgbClr val="FFFFFF"/>
              </a:buClr>
              <a:buSzPts val="2700"/>
              <a:buFont typeface="Poppins Light"/>
              <a:buAutoNum type="arabicPeriod"/>
            </a:pPr>
            <a:r>
              <a:rPr b="0" i="0" lang="en-US" sz="2700" u="none" cap="none" strike="noStrike">
                <a:solidFill>
                  <a:srgbClr val="FFFFFF"/>
                </a:solidFill>
                <a:latin typeface="Poppins Light"/>
                <a:ea typeface="Poppins Light"/>
                <a:cs typeface="Poppins Light"/>
                <a:sym typeface="Poppins Light"/>
              </a:rPr>
              <a:t>Un conjunto de símbolos </a:t>
            </a:r>
            <a:r>
              <a:rPr b="1" i="0" lang="en-US" sz="2700" u="none" cap="none" strike="noStrike">
                <a:solidFill>
                  <a:srgbClr val="10B5BF"/>
                </a:solidFill>
                <a:latin typeface="Poppins"/>
                <a:ea typeface="Poppins"/>
                <a:cs typeface="Poppins"/>
                <a:sym typeface="Poppins"/>
              </a:rPr>
              <a:t>terminales </a:t>
            </a:r>
            <a:r>
              <a:rPr b="0" i="0" lang="en-US" sz="2700" u="none" cap="none" strike="noStrike">
                <a:solidFill>
                  <a:srgbClr val="FFFFFF"/>
                </a:solidFill>
                <a:latin typeface="Poppins Light"/>
                <a:ea typeface="Poppins Light"/>
                <a:cs typeface="Poppins Light"/>
                <a:sym typeface="Poppins Light"/>
              </a:rPr>
              <a:t>a los que comúnmente se le conoce como “</a:t>
            </a:r>
            <a:r>
              <a:rPr b="0" i="0" lang="en-US" sz="2700" u="none" cap="none" strike="noStrike">
                <a:solidFill>
                  <a:srgbClr val="10B5BF"/>
                </a:solidFill>
                <a:latin typeface="Poppins Light"/>
                <a:ea typeface="Poppins Light"/>
                <a:cs typeface="Poppins Light"/>
                <a:sym typeface="Poppins Light"/>
              </a:rPr>
              <a:t>tokens</a:t>
            </a:r>
            <a:r>
              <a:rPr b="0" i="0" lang="en-US" sz="2700" u="none" cap="none" strike="noStrike">
                <a:solidFill>
                  <a:srgbClr val="FFFFFF"/>
                </a:solidFill>
                <a:latin typeface="Poppins Light"/>
                <a:ea typeface="Poppins Light"/>
                <a:cs typeface="Poppins Light"/>
                <a:sym typeface="Poppins Light"/>
              </a:rPr>
              <a:t>”. Los terminales son los símbolos elementales del lenguaje definido por la gramática.</a:t>
            </a:r>
            <a:endParaRPr b="0" i="0" sz="2700" u="none" cap="none" strike="noStrike">
              <a:solidFill>
                <a:srgbClr val="000000"/>
              </a:solidFill>
              <a:latin typeface="Arial"/>
              <a:ea typeface="Arial"/>
              <a:cs typeface="Arial"/>
              <a:sym typeface="Arial"/>
            </a:endParaRPr>
          </a:p>
          <a:p>
            <a:pPr indent="-305974" lvl="1" marL="653095" marR="0" rtl="0" algn="just">
              <a:lnSpc>
                <a:spcPct val="140013"/>
              </a:lnSpc>
              <a:spcBef>
                <a:spcPts val="0"/>
              </a:spcBef>
              <a:spcAft>
                <a:spcPts val="0"/>
              </a:spcAft>
              <a:buClr>
                <a:srgbClr val="FFFFFF"/>
              </a:buClr>
              <a:buSzPts val="2700"/>
              <a:buFont typeface="Poppins Light"/>
              <a:buAutoNum type="arabicPeriod"/>
            </a:pPr>
            <a:r>
              <a:rPr b="0" i="0" lang="en-US" sz="2700" u="none" cap="none" strike="noStrike">
                <a:solidFill>
                  <a:srgbClr val="FFFFFF"/>
                </a:solidFill>
                <a:latin typeface="Poppins Light"/>
                <a:ea typeface="Poppins Light"/>
                <a:cs typeface="Poppins Light"/>
                <a:sym typeface="Poppins Light"/>
              </a:rPr>
              <a:t>Un conjunto de </a:t>
            </a:r>
            <a:r>
              <a:rPr b="0" i="0" lang="en-US" sz="2700" u="none" cap="none" strike="noStrike">
                <a:solidFill>
                  <a:srgbClr val="10B5BF"/>
                </a:solidFill>
                <a:latin typeface="Poppins Light"/>
                <a:ea typeface="Poppins Light"/>
                <a:cs typeface="Poppins Light"/>
                <a:sym typeface="Poppins Light"/>
              </a:rPr>
              <a:t>no terminales</a:t>
            </a:r>
            <a:r>
              <a:rPr b="0" i="0" lang="en-US" sz="2700" u="none" cap="none" strike="noStrike">
                <a:solidFill>
                  <a:srgbClr val="FFFFFF"/>
                </a:solidFill>
                <a:latin typeface="Poppins Light"/>
                <a:ea typeface="Poppins Light"/>
                <a:cs typeface="Poppins Light"/>
                <a:sym typeface="Poppins Light"/>
              </a:rPr>
              <a:t>, a los que comúnmente se les conoce como “</a:t>
            </a:r>
            <a:r>
              <a:rPr b="0" i="0" lang="en-US" sz="2700" u="none" cap="none" strike="noStrike">
                <a:solidFill>
                  <a:srgbClr val="10B5BF"/>
                </a:solidFill>
                <a:latin typeface="Poppins Light"/>
                <a:ea typeface="Poppins Light"/>
                <a:cs typeface="Poppins Light"/>
                <a:sym typeface="Poppins Light"/>
              </a:rPr>
              <a:t>variables sintácticas</a:t>
            </a:r>
            <a:r>
              <a:rPr b="0" i="0" lang="en-US" sz="2700" u="none" cap="none" strike="noStrike">
                <a:solidFill>
                  <a:srgbClr val="FFFFFF"/>
                </a:solidFill>
                <a:latin typeface="Poppins Light"/>
                <a:ea typeface="Poppins Light"/>
                <a:cs typeface="Poppins Light"/>
                <a:sym typeface="Poppins Light"/>
              </a:rPr>
              <a:t>”. Cada no terminal representa un conjunto de cadenas o terminales.</a:t>
            </a:r>
            <a:endParaRPr b="0" i="0" sz="2700" u="none" cap="none" strike="noStrike">
              <a:solidFill>
                <a:srgbClr val="000000"/>
              </a:solidFill>
              <a:latin typeface="Arial"/>
              <a:ea typeface="Arial"/>
              <a:cs typeface="Arial"/>
              <a:sym typeface="Arial"/>
            </a:endParaRPr>
          </a:p>
          <a:p>
            <a:pPr indent="-305974" lvl="1" marL="653095" marR="0" rtl="0" algn="just">
              <a:lnSpc>
                <a:spcPct val="140013"/>
              </a:lnSpc>
              <a:spcBef>
                <a:spcPts val="0"/>
              </a:spcBef>
              <a:spcAft>
                <a:spcPts val="0"/>
              </a:spcAft>
              <a:buClr>
                <a:srgbClr val="FFFFFF"/>
              </a:buClr>
              <a:buSzPts val="2700"/>
              <a:buFont typeface="Poppins Light"/>
              <a:buAutoNum type="arabicPeriod"/>
            </a:pPr>
            <a:r>
              <a:rPr b="0" i="0" lang="en-US" sz="2700" u="none" cap="none" strike="noStrike">
                <a:solidFill>
                  <a:srgbClr val="FFFFFF"/>
                </a:solidFill>
                <a:latin typeface="Poppins Light"/>
                <a:ea typeface="Poppins Light"/>
                <a:cs typeface="Poppins Light"/>
                <a:sym typeface="Poppins Light"/>
              </a:rPr>
              <a:t>Un conjunto de </a:t>
            </a:r>
            <a:r>
              <a:rPr b="0" i="0" lang="en-US" sz="2700" u="none" cap="none" strike="noStrike">
                <a:solidFill>
                  <a:srgbClr val="10B5BF"/>
                </a:solidFill>
                <a:latin typeface="Poppins Light"/>
                <a:ea typeface="Poppins Light"/>
                <a:cs typeface="Poppins Light"/>
                <a:sym typeface="Poppins Light"/>
              </a:rPr>
              <a:t>producciones</a:t>
            </a:r>
            <a:r>
              <a:rPr b="0" i="0" lang="en-US" sz="2700" u="none" cap="none" strike="noStrike">
                <a:solidFill>
                  <a:srgbClr val="FFFFFF"/>
                </a:solidFill>
                <a:latin typeface="Poppins Light"/>
                <a:ea typeface="Poppins Light"/>
                <a:cs typeface="Poppins Light"/>
                <a:sym typeface="Poppins Light"/>
              </a:rPr>
              <a:t>, en donde cada produccion consiste en un no terminal, llamada </a:t>
            </a:r>
            <a:r>
              <a:rPr b="0" i="0" lang="en-US" sz="2700" u="none" cap="none" strike="noStrike">
                <a:solidFill>
                  <a:srgbClr val="10B5BF"/>
                </a:solidFill>
                <a:latin typeface="Poppins Light"/>
                <a:ea typeface="Poppins Light"/>
                <a:cs typeface="Poppins Light"/>
                <a:sym typeface="Poppins Light"/>
              </a:rPr>
              <a:t>encabezado</a:t>
            </a:r>
            <a:r>
              <a:rPr b="0" i="0" lang="en-US" sz="2700" u="none" cap="none" strike="noStrike">
                <a:solidFill>
                  <a:srgbClr val="FFFFFF"/>
                </a:solidFill>
                <a:latin typeface="Poppins Light"/>
                <a:ea typeface="Poppins Light"/>
                <a:cs typeface="Poppins Light"/>
                <a:sym typeface="Poppins Light"/>
              </a:rPr>
              <a:t> o </a:t>
            </a:r>
            <a:r>
              <a:rPr b="0" i="0" lang="en-US" sz="2700" u="none" cap="none" strike="noStrike">
                <a:solidFill>
                  <a:srgbClr val="10B5BF"/>
                </a:solidFill>
                <a:latin typeface="Poppins Light"/>
                <a:ea typeface="Poppins Light"/>
                <a:cs typeface="Poppins Light"/>
                <a:sym typeface="Poppins Light"/>
              </a:rPr>
              <a:t>lado izquierdo de la producción</a:t>
            </a:r>
            <a:r>
              <a:rPr b="0" i="0" lang="en-US" sz="2700" u="none" cap="none" strike="noStrike">
                <a:solidFill>
                  <a:srgbClr val="FFFFFF"/>
                </a:solidFill>
                <a:latin typeface="Poppins Light"/>
                <a:ea typeface="Poppins Light"/>
                <a:cs typeface="Poppins Light"/>
                <a:sym typeface="Poppins Light"/>
              </a:rPr>
              <a:t>, una flecha y una secuencia de terminales y no terminales llamada </a:t>
            </a:r>
            <a:r>
              <a:rPr b="0" i="0" lang="en-US" sz="2700" u="none" cap="none" strike="noStrike">
                <a:solidFill>
                  <a:srgbClr val="10B5BF"/>
                </a:solidFill>
                <a:latin typeface="Poppins Light"/>
                <a:ea typeface="Poppins Light"/>
                <a:cs typeface="Poppins Light"/>
                <a:sym typeface="Poppins Light"/>
              </a:rPr>
              <a:t>cuerpo o lado derecho de la producción.</a:t>
            </a:r>
            <a:endParaRPr b="0" i="0" sz="2700" u="none" cap="none" strike="noStrike">
              <a:solidFill>
                <a:srgbClr val="000000"/>
              </a:solidFill>
              <a:latin typeface="Arial"/>
              <a:ea typeface="Arial"/>
              <a:cs typeface="Arial"/>
              <a:sym typeface="Arial"/>
            </a:endParaRPr>
          </a:p>
          <a:p>
            <a:pPr indent="-305974" lvl="1" marL="653095" marR="0" rtl="0" algn="just">
              <a:lnSpc>
                <a:spcPct val="140013"/>
              </a:lnSpc>
              <a:spcBef>
                <a:spcPts val="0"/>
              </a:spcBef>
              <a:spcAft>
                <a:spcPts val="0"/>
              </a:spcAft>
              <a:buClr>
                <a:srgbClr val="FFFFFF"/>
              </a:buClr>
              <a:buSzPts val="2700"/>
              <a:buFont typeface="Poppins Light"/>
              <a:buAutoNum type="arabicPeriod"/>
            </a:pPr>
            <a:r>
              <a:rPr b="0" i="0" lang="en-US" sz="2700" u="none" cap="none" strike="noStrike">
                <a:solidFill>
                  <a:srgbClr val="FFFFFF"/>
                </a:solidFill>
                <a:latin typeface="Poppins Light"/>
                <a:ea typeface="Poppins Light"/>
                <a:cs typeface="Poppins Light"/>
                <a:sym typeface="Poppins Light"/>
              </a:rPr>
              <a:t>Una designación de una de los no terminales como el </a:t>
            </a:r>
            <a:r>
              <a:rPr b="0" i="0" lang="en-US" sz="2700" u="none" cap="none" strike="noStrike">
                <a:solidFill>
                  <a:srgbClr val="10B5BF"/>
                </a:solidFill>
                <a:latin typeface="Poppins Light"/>
                <a:ea typeface="Poppins Light"/>
                <a:cs typeface="Poppins Light"/>
                <a:sym typeface="Poppins Light"/>
              </a:rPr>
              <a:t>símbolo inicial</a:t>
            </a:r>
            <a:endParaRPr b="0" i="0" sz="27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42" name="Shape 242"/>
        <p:cNvGrpSpPr/>
        <p:nvPr/>
      </p:nvGrpSpPr>
      <p:grpSpPr>
        <a:xfrm>
          <a:off x="0" y="0"/>
          <a:ext cx="0" cy="0"/>
          <a:chOff x="0" y="0"/>
          <a:chExt cx="0" cy="0"/>
        </a:xfrm>
      </p:grpSpPr>
      <p:sp>
        <p:nvSpPr>
          <p:cNvPr id="243" name="Google Shape;243;p7"/>
          <p:cNvSpPr txBox="1"/>
          <p:nvPr/>
        </p:nvSpPr>
        <p:spPr>
          <a:xfrm>
            <a:off x="1738415" y="807571"/>
            <a:ext cx="14811170" cy="211455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Gramáticas independientes del contexto</a:t>
            </a:r>
            <a:endParaRPr b="0" i="0" sz="1400" u="none" cap="none" strike="noStrike">
              <a:solidFill>
                <a:srgbClr val="000000"/>
              </a:solidFill>
              <a:latin typeface="Arial"/>
              <a:ea typeface="Arial"/>
              <a:cs typeface="Arial"/>
              <a:sym typeface="Arial"/>
            </a:endParaRPr>
          </a:p>
        </p:txBody>
      </p:sp>
      <p:cxnSp>
        <p:nvCxnSpPr>
          <p:cNvPr id="244" name="Google Shape;244;p7"/>
          <p:cNvCxnSpPr/>
          <p:nvPr/>
        </p:nvCxnSpPr>
        <p:spPr>
          <a:xfrm>
            <a:off x="1738415" y="2912596"/>
            <a:ext cx="14811170" cy="0"/>
          </a:xfrm>
          <a:prstGeom prst="straightConnector1">
            <a:avLst/>
          </a:prstGeom>
          <a:noFill/>
          <a:ln cap="rnd" cmpd="sng" w="19050">
            <a:solidFill>
              <a:srgbClr val="10B5BF"/>
            </a:solidFill>
            <a:prstDash val="solid"/>
            <a:round/>
            <a:headEnd len="sm" w="sm" type="none"/>
            <a:tailEnd len="sm" w="sm" type="none"/>
          </a:ln>
        </p:spPr>
      </p:cxnSp>
      <p:sp>
        <p:nvSpPr>
          <p:cNvPr id="245" name="Google Shape;245;p7"/>
          <p:cNvSpPr txBox="1"/>
          <p:nvPr/>
        </p:nvSpPr>
        <p:spPr>
          <a:xfrm>
            <a:off x="5590776" y="3478768"/>
            <a:ext cx="7704336" cy="532384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G = {T, N, S, P}</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T = { +, -, 1, 2, 3, 4, 5, 6, 7, 8, 9}</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N = { lista, digito }</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P= { </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           lista -&gt; lista + digito</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           lista -&gt; lista - digito</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           lista -&gt; digito</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          digito -&gt; 1 | 2 | 3 | 4 | 5 | 6 | 7 | 8 | 9 </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S = lista</a:t>
            </a:r>
            <a:endParaRPr b="0" i="0" sz="1400" u="none" cap="none" strike="noStrike">
              <a:solidFill>
                <a:srgbClr val="000000"/>
              </a:solidFill>
              <a:latin typeface="Arial"/>
              <a:ea typeface="Arial"/>
              <a:cs typeface="Arial"/>
              <a:sym typeface="Arial"/>
            </a:endParaRPr>
          </a:p>
        </p:txBody>
      </p:sp>
      <p:sp>
        <p:nvSpPr>
          <p:cNvPr id="246" name="Google Shape;246;p7"/>
          <p:cNvSpPr/>
          <p:nvPr/>
        </p:nvSpPr>
        <p:spPr>
          <a:xfrm rot="-2700000">
            <a:off x="12891985" y="8270593"/>
            <a:ext cx="7315200" cy="1064029"/>
          </a:xfrm>
          <a:custGeom>
            <a:rect b="b" l="l" r="r" t="t"/>
            <a:pathLst>
              <a:path extrusionOk="0" h="1064029" w="7315200">
                <a:moveTo>
                  <a:pt x="0" y="0"/>
                </a:moveTo>
                <a:lnTo>
                  <a:pt x="7315200" y="0"/>
                </a:lnTo>
                <a:lnTo>
                  <a:pt x="7315200" y="1064029"/>
                </a:lnTo>
                <a:lnTo>
                  <a:pt x="0" y="1064029"/>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50" name="Shape 250"/>
        <p:cNvGrpSpPr/>
        <p:nvPr/>
      </p:nvGrpSpPr>
      <p:grpSpPr>
        <a:xfrm>
          <a:off x="0" y="0"/>
          <a:ext cx="0" cy="0"/>
          <a:chOff x="0" y="0"/>
          <a:chExt cx="0" cy="0"/>
        </a:xfrm>
      </p:grpSpPr>
      <p:grpSp>
        <p:nvGrpSpPr>
          <p:cNvPr id="251" name="Google Shape;251;p8"/>
          <p:cNvGrpSpPr/>
          <p:nvPr/>
        </p:nvGrpSpPr>
        <p:grpSpPr>
          <a:xfrm>
            <a:off x="1738415" y="1028700"/>
            <a:ext cx="14811170" cy="6862405"/>
            <a:chOff x="0" y="0"/>
            <a:chExt cx="19748227" cy="9149873"/>
          </a:xfrm>
        </p:grpSpPr>
        <p:sp>
          <p:nvSpPr>
            <p:cNvPr id="252" name="Google Shape;252;p8"/>
            <p:cNvSpPr txBox="1"/>
            <p:nvPr/>
          </p:nvSpPr>
          <p:spPr>
            <a:xfrm>
              <a:off x="13" y="2913173"/>
              <a:ext cx="19748100" cy="623670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La idea central es que se considera que una producción como una regla de escritura, donde el no terminal de la izquierda es sustituido por la cadena del lado derecho de la producción.</a:t>
              </a:r>
              <a:br>
                <a:rPr b="0" i="0" lang="en-US" sz="3024" u="none" cap="none" strike="noStrike">
                  <a:solidFill>
                    <a:srgbClr val="FFFFFF"/>
                  </a:solidFill>
                  <a:latin typeface="Poppins Light"/>
                  <a:ea typeface="Poppins Light"/>
                  <a:cs typeface="Poppins Light"/>
                  <a:sym typeface="Poppins Light"/>
                </a:rPr>
              </a:br>
              <a:endParaRPr b="0" i="0" sz="1400" u="none" cap="none" strike="noStrike">
                <a:solidFill>
                  <a:srgbClr val="000000"/>
                </a:solidFill>
                <a:latin typeface="Arial"/>
                <a:ea typeface="Arial"/>
                <a:cs typeface="Arial"/>
                <a:sym typeface="Arial"/>
              </a:endParaRPr>
            </a:p>
            <a:p>
              <a:pPr indent="-326548" lvl="1" marL="653095" marR="0" rtl="0" algn="just">
                <a:lnSpc>
                  <a:spcPct val="140013"/>
                </a:lnSpc>
                <a:spcBef>
                  <a:spcPts val="0"/>
                </a:spcBef>
                <a:spcAft>
                  <a:spcPts val="0"/>
                </a:spcAft>
                <a:buClr>
                  <a:srgbClr val="10D3F9"/>
                </a:buClr>
                <a:buSzPts val="3024"/>
                <a:buFont typeface="Arial"/>
                <a:buChar char="•"/>
              </a:pPr>
              <a:r>
                <a:rPr b="0" i="0" lang="en-US" sz="3024" u="none" cap="none" strike="noStrike">
                  <a:solidFill>
                    <a:srgbClr val="10D3F9"/>
                  </a:solidFill>
                  <a:latin typeface="Poppins Light"/>
                  <a:ea typeface="Poppins Light"/>
                  <a:cs typeface="Poppins Light"/>
                  <a:sym typeface="Poppins Light"/>
                </a:rPr>
                <a:t>Derivación por la izquierda</a:t>
              </a:r>
              <a:r>
                <a:rPr b="0" i="0" lang="en-US" sz="3024" u="none" cap="none" strike="noStrike">
                  <a:solidFill>
                    <a:srgbClr val="FFFFFF"/>
                  </a:solidFill>
                  <a:latin typeface="Poppins Light"/>
                  <a:ea typeface="Poppins Light"/>
                  <a:cs typeface="Poppins Light"/>
                  <a:sym typeface="Poppins Light"/>
                </a:rPr>
                <a:t>: es la derivación donde el no terminal más a la izquierda de cualquier forma de frase se sustituye en cada paso.</a:t>
              </a:r>
              <a:endParaRPr b="0" i="0" sz="1400" u="none" cap="none" strike="noStrike">
                <a:solidFill>
                  <a:srgbClr val="000000"/>
                </a:solidFill>
                <a:latin typeface="Arial"/>
                <a:ea typeface="Arial"/>
                <a:cs typeface="Arial"/>
                <a:sym typeface="Arial"/>
              </a:endParaRPr>
            </a:p>
            <a:p>
              <a:pPr indent="-326548" lvl="1" marL="653095" marR="0" rtl="0" algn="just">
                <a:lnSpc>
                  <a:spcPct val="140013"/>
                </a:lnSpc>
                <a:spcBef>
                  <a:spcPts val="0"/>
                </a:spcBef>
                <a:spcAft>
                  <a:spcPts val="0"/>
                </a:spcAft>
                <a:buClr>
                  <a:srgbClr val="10D3F9"/>
                </a:buClr>
                <a:buSzPts val="3024"/>
                <a:buFont typeface="Arial"/>
                <a:buChar char="•"/>
              </a:pPr>
              <a:r>
                <a:rPr b="0" i="0" lang="en-US" sz="3024" u="none" cap="none" strike="noStrike">
                  <a:solidFill>
                    <a:srgbClr val="10D3F9"/>
                  </a:solidFill>
                  <a:latin typeface="Poppins Light"/>
                  <a:ea typeface="Poppins Light"/>
                  <a:cs typeface="Poppins Light"/>
                  <a:sym typeface="Poppins Light"/>
                </a:rPr>
                <a:t>Derivación por la derecha</a:t>
              </a:r>
              <a:r>
                <a:rPr b="0" i="0" lang="en-US" sz="3024" u="none" cap="none" strike="noStrike">
                  <a:solidFill>
                    <a:srgbClr val="FFFFFF"/>
                  </a:solidFill>
                  <a:latin typeface="Poppins Light"/>
                  <a:ea typeface="Poppins Light"/>
                  <a:cs typeface="Poppins Light"/>
                  <a:sym typeface="Poppins Light"/>
                </a:rPr>
                <a:t>: es la derivación donde el no terminal mas a la derecha se sustituye en cada paso.</a:t>
              </a:r>
              <a:endParaRPr b="0" i="0" sz="1400" u="none" cap="none" strike="noStrike">
                <a:solidFill>
                  <a:srgbClr val="000000"/>
                </a:solidFill>
                <a:latin typeface="Arial"/>
                <a:ea typeface="Arial"/>
                <a:cs typeface="Arial"/>
                <a:sym typeface="Arial"/>
              </a:endParaRPr>
            </a:p>
          </p:txBody>
        </p:sp>
        <p:sp>
          <p:nvSpPr>
            <p:cNvPr id="253" name="Google Shape;253;p8"/>
            <p:cNvSpPr txBox="1"/>
            <p:nvPr/>
          </p:nvSpPr>
          <p:spPr>
            <a:xfrm>
              <a:off x="0" y="0"/>
              <a:ext cx="19748227" cy="1409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Derivaciones</a:t>
              </a:r>
              <a:endParaRPr b="0" i="0" sz="1400" u="none" cap="none" strike="noStrike">
                <a:solidFill>
                  <a:srgbClr val="000000"/>
                </a:solidFill>
                <a:latin typeface="Arial"/>
                <a:ea typeface="Arial"/>
                <a:cs typeface="Arial"/>
                <a:sym typeface="Arial"/>
              </a:endParaRPr>
            </a:p>
          </p:txBody>
        </p:sp>
        <p:cxnSp>
          <p:nvCxnSpPr>
            <p:cNvPr id="254" name="Google Shape;254;p8"/>
            <p:cNvCxnSpPr/>
            <p:nvPr/>
          </p:nvCxnSpPr>
          <p:spPr>
            <a:xfrm>
              <a:off x="0" y="2192427"/>
              <a:ext cx="19748227" cy="0"/>
            </a:xfrm>
            <a:prstGeom prst="straightConnector1">
              <a:avLst/>
            </a:prstGeom>
            <a:noFill/>
            <a:ln cap="rnd" cmpd="sng" w="25400">
              <a:solidFill>
                <a:srgbClr val="10B5BF"/>
              </a:solidFill>
              <a:prstDash val="solid"/>
              <a:round/>
              <a:headEnd len="sm" w="sm" type="none"/>
              <a:tailEnd len="sm" w="sm" type="none"/>
            </a:ln>
          </p:spPr>
        </p:cxn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58" name="Shape 258"/>
        <p:cNvGrpSpPr/>
        <p:nvPr/>
      </p:nvGrpSpPr>
      <p:grpSpPr>
        <a:xfrm>
          <a:off x="0" y="0"/>
          <a:ext cx="0" cy="0"/>
          <a:chOff x="0" y="0"/>
          <a:chExt cx="0" cy="0"/>
        </a:xfrm>
      </p:grpSpPr>
      <p:cxnSp>
        <p:nvCxnSpPr>
          <p:cNvPr id="259" name="Google Shape;259;p9"/>
          <p:cNvCxnSpPr/>
          <p:nvPr/>
        </p:nvCxnSpPr>
        <p:spPr>
          <a:xfrm>
            <a:off x="1738415" y="2095500"/>
            <a:ext cx="14811170" cy="0"/>
          </a:xfrm>
          <a:prstGeom prst="straightConnector1">
            <a:avLst/>
          </a:prstGeom>
          <a:noFill/>
          <a:ln cap="rnd" cmpd="sng" w="19050">
            <a:solidFill>
              <a:srgbClr val="10B5BF"/>
            </a:solidFill>
            <a:prstDash val="solid"/>
            <a:round/>
            <a:headEnd len="sm" w="sm" type="none"/>
            <a:tailEnd len="sm" w="sm" type="none"/>
          </a:ln>
        </p:spPr>
      </p:cxnSp>
      <p:sp>
        <p:nvSpPr>
          <p:cNvPr id="260" name="Google Shape;260;p9"/>
          <p:cNvSpPr/>
          <p:nvPr/>
        </p:nvSpPr>
        <p:spPr>
          <a:xfrm>
            <a:off x="4321277" y="2703779"/>
            <a:ext cx="9645445" cy="6648610"/>
          </a:xfrm>
          <a:custGeom>
            <a:rect b="b" l="l" r="r" t="t"/>
            <a:pathLst>
              <a:path extrusionOk="0" h="6648610" w="9645445">
                <a:moveTo>
                  <a:pt x="0" y="0"/>
                </a:moveTo>
                <a:lnTo>
                  <a:pt x="9645446" y="0"/>
                </a:lnTo>
                <a:lnTo>
                  <a:pt x="9645446" y="6648610"/>
                </a:lnTo>
                <a:lnTo>
                  <a:pt x="0" y="6648610"/>
                </a:lnTo>
                <a:lnTo>
                  <a:pt x="0" y="0"/>
                </a:lnTo>
                <a:close/>
              </a:path>
            </a:pathLst>
          </a:custGeom>
          <a:blipFill rotWithShape="1">
            <a:blip r:embed="rId3">
              <a:alphaModFix/>
            </a:blip>
            <a:stretch>
              <a:fillRect b="0" l="0" r="0" t="0"/>
            </a:stretch>
          </a:blipFill>
          <a:ln>
            <a:noFill/>
          </a:ln>
        </p:spPr>
      </p:sp>
      <p:sp>
        <p:nvSpPr>
          <p:cNvPr id="261" name="Google Shape;261;p9"/>
          <p:cNvSpPr txBox="1"/>
          <p:nvPr/>
        </p:nvSpPr>
        <p:spPr>
          <a:xfrm>
            <a:off x="1587416" y="1028700"/>
            <a:ext cx="15520885" cy="10572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Árbol de Derivación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65" name="Shape 265"/>
        <p:cNvGrpSpPr/>
        <p:nvPr/>
      </p:nvGrpSpPr>
      <p:grpSpPr>
        <a:xfrm>
          <a:off x="0" y="0"/>
          <a:ext cx="0" cy="0"/>
          <a:chOff x="0" y="0"/>
          <a:chExt cx="0" cy="0"/>
        </a:xfrm>
      </p:grpSpPr>
      <p:grpSp>
        <p:nvGrpSpPr>
          <p:cNvPr id="266" name="Google Shape;266;p10"/>
          <p:cNvGrpSpPr/>
          <p:nvPr/>
        </p:nvGrpSpPr>
        <p:grpSpPr>
          <a:xfrm>
            <a:off x="1738415" y="1028700"/>
            <a:ext cx="14811170" cy="3302004"/>
            <a:chOff x="0" y="0"/>
            <a:chExt cx="19748227" cy="4402672"/>
          </a:xfrm>
        </p:grpSpPr>
        <p:sp>
          <p:nvSpPr>
            <p:cNvPr id="267" name="Google Shape;267;p10"/>
            <p:cNvSpPr txBox="1"/>
            <p:nvPr/>
          </p:nvSpPr>
          <p:spPr>
            <a:xfrm>
              <a:off x="13" y="2913172"/>
              <a:ext cx="19748100" cy="148950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Para demostrar que una gramática es ambigua es suficiente con encontrar dos </a:t>
              </a:r>
              <a:r>
                <a:rPr lang="en-US" sz="3024">
                  <a:solidFill>
                    <a:srgbClr val="FFFFFF"/>
                  </a:solidFill>
                  <a:latin typeface="Poppins Light"/>
                  <a:ea typeface="Poppins Light"/>
                  <a:cs typeface="Poppins Light"/>
                  <a:sym typeface="Poppins Light"/>
                </a:rPr>
                <a:t>árboles</a:t>
              </a:r>
              <a:r>
                <a:rPr b="0" i="0" lang="en-US" sz="3024" u="none" cap="none" strike="noStrike">
                  <a:solidFill>
                    <a:srgbClr val="FFFFFF"/>
                  </a:solidFill>
                  <a:latin typeface="Poppins Light"/>
                  <a:ea typeface="Poppins Light"/>
                  <a:cs typeface="Poppins Light"/>
                  <a:sym typeface="Poppins Light"/>
                </a:rPr>
                <a:t> de derivación diferentes para la misma frase.</a:t>
              </a:r>
              <a:endParaRPr b="0" i="0" sz="1400" u="none" cap="none" strike="noStrike">
                <a:solidFill>
                  <a:srgbClr val="000000"/>
                </a:solidFill>
                <a:latin typeface="Arial"/>
                <a:ea typeface="Arial"/>
                <a:cs typeface="Arial"/>
                <a:sym typeface="Arial"/>
              </a:endParaRPr>
            </a:p>
          </p:txBody>
        </p:sp>
        <p:sp>
          <p:nvSpPr>
            <p:cNvPr id="268" name="Google Shape;268;p10"/>
            <p:cNvSpPr txBox="1"/>
            <p:nvPr/>
          </p:nvSpPr>
          <p:spPr>
            <a:xfrm>
              <a:off x="0" y="0"/>
              <a:ext cx="19748227" cy="1409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Ambiguedad</a:t>
              </a:r>
              <a:endParaRPr b="0" i="0" sz="1400" u="none" cap="none" strike="noStrike">
                <a:solidFill>
                  <a:srgbClr val="000000"/>
                </a:solidFill>
                <a:latin typeface="Arial"/>
                <a:ea typeface="Arial"/>
                <a:cs typeface="Arial"/>
                <a:sym typeface="Arial"/>
              </a:endParaRPr>
            </a:p>
          </p:txBody>
        </p:sp>
        <p:cxnSp>
          <p:nvCxnSpPr>
            <p:cNvPr id="269" name="Google Shape;269;p10"/>
            <p:cNvCxnSpPr/>
            <p:nvPr/>
          </p:nvCxnSpPr>
          <p:spPr>
            <a:xfrm>
              <a:off x="0" y="2192427"/>
              <a:ext cx="19748227" cy="0"/>
            </a:xfrm>
            <a:prstGeom prst="straightConnector1">
              <a:avLst/>
            </a:prstGeom>
            <a:noFill/>
            <a:ln cap="rnd" cmpd="sng" w="25400">
              <a:solidFill>
                <a:srgbClr val="10B5BF"/>
              </a:solidFill>
              <a:prstDash val="solid"/>
              <a:round/>
              <a:headEnd len="sm" w="sm" type="none"/>
              <a:tailEnd len="sm" w="sm" type="none"/>
            </a:ln>
          </p:spPr>
        </p:cxnSp>
      </p:grpSp>
      <p:sp>
        <p:nvSpPr>
          <p:cNvPr id="270" name="Google Shape;270;p10"/>
          <p:cNvSpPr/>
          <p:nvPr/>
        </p:nvSpPr>
        <p:spPr>
          <a:xfrm>
            <a:off x="7608665" y="5143500"/>
            <a:ext cx="3070670" cy="4114800"/>
          </a:xfrm>
          <a:custGeom>
            <a:rect b="b" l="l" r="r" t="t"/>
            <a:pathLst>
              <a:path extrusionOk="0" h="4114800" w="3070670">
                <a:moveTo>
                  <a:pt x="0" y="0"/>
                </a:moveTo>
                <a:lnTo>
                  <a:pt x="3070670" y="0"/>
                </a:lnTo>
                <a:lnTo>
                  <a:pt x="3070670" y="4114800"/>
                </a:lnTo>
                <a:lnTo>
                  <a:pt x="0" y="4114800"/>
                </a:lnTo>
                <a:lnTo>
                  <a:pt x="0" y="0"/>
                </a:lnTo>
                <a:close/>
              </a:path>
            </a:pathLst>
          </a:custGeom>
          <a:blipFill rotWithShape="1">
            <a:blip r:embed="rId3">
              <a:alphaModFix/>
            </a:blip>
            <a:stretch>
              <a:fillRect b="0" l="0" r="0" t="0"/>
            </a:stretch>
          </a:blipFill>
          <a:ln>
            <a:noFill/>
          </a:ln>
        </p:spPr>
      </p:sp>
      <p:sp>
        <p:nvSpPr>
          <p:cNvPr id="271" name="Google Shape;271;p10"/>
          <p:cNvSpPr/>
          <p:nvPr/>
        </p:nvSpPr>
        <p:spPr>
          <a:xfrm>
            <a:off x="12146185" y="5110328"/>
            <a:ext cx="3522935" cy="4147972"/>
          </a:xfrm>
          <a:custGeom>
            <a:rect b="b" l="l" r="r" t="t"/>
            <a:pathLst>
              <a:path extrusionOk="0" h="4147972" w="3522935">
                <a:moveTo>
                  <a:pt x="0" y="0"/>
                </a:moveTo>
                <a:lnTo>
                  <a:pt x="3522935" y="0"/>
                </a:lnTo>
                <a:lnTo>
                  <a:pt x="3522935" y="4147972"/>
                </a:lnTo>
                <a:lnTo>
                  <a:pt x="0" y="4147972"/>
                </a:lnTo>
                <a:lnTo>
                  <a:pt x="0" y="0"/>
                </a:lnTo>
                <a:close/>
              </a:path>
            </a:pathLst>
          </a:custGeom>
          <a:blipFill rotWithShape="1">
            <a:blip r:embed="rId4">
              <a:alphaModFix/>
            </a:blip>
            <a:stretch>
              <a:fillRect b="0" l="0" r="0" t="0"/>
            </a:stretch>
          </a:blipFill>
          <a:ln>
            <a:noFill/>
          </a:ln>
        </p:spPr>
      </p:sp>
      <p:sp>
        <p:nvSpPr>
          <p:cNvPr id="272" name="Google Shape;272;p10"/>
          <p:cNvSpPr/>
          <p:nvPr/>
        </p:nvSpPr>
        <p:spPr>
          <a:xfrm>
            <a:off x="2453544" y="5048122"/>
            <a:ext cx="3688271" cy="4305555"/>
          </a:xfrm>
          <a:custGeom>
            <a:rect b="b" l="l" r="r" t="t"/>
            <a:pathLst>
              <a:path extrusionOk="0" h="4305555" w="3688271">
                <a:moveTo>
                  <a:pt x="0" y="0"/>
                </a:moveTo>
                <a:lnTo>
                  <a:pt x="3688271" y="0"/>
                </a:lnTo>
                <a:lnTo>
                  <a:pt x="3688271" y="4305556"/>
                </a:lnTo>
                <a:lnTo>
                  <a:pt x="0" y="4305556"/>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76" name="Shape 276"/>
        <p:cNvGrpSpPr/>
        <p:nvPr/>
      </p:nvGrpSpPr>
      <p:grpSpPr>
        <a:xfrm>
          <a:off x="0" y="0"/>
          <a:ext cx="0" cy="0"/>
          <a:chOff x="0" y="0"/>
          <a:chExt cx="0" cy="0"/>
        </a:xfrm>
      </p:grpSpPr>
      <p:cxnSp>
        <p:nvCxnSpPr>
          <p:cNvPr id="277" name="Google Shape;277;p11"/>
          <p:cNvCxnSpPr/>
          <p:nvPr/>
        </p:nvCxnSpPr>
        <p:spPr>
          <a:xfrm>
            <a:off x="1738415" y="2673020"/>
            <a:ext cx="14811170" cy="0"/>
          </a:xfrm>
          <a:prstGeom prst="straightConnector1">
            <a:avLst/>
          </a:prstGeom>
          <a:noFill/>
          <a:ln cap="rnd" cmpd="sng" w="19050">
            <a:solidFill>
              <a:srgbClr val="10B5BF"/>
            </a:solidFill>
            <a:prstDash val="solid"/>
            <a:round/>
            <a:headEnd len="sm" w="sm" type="none"/>
            <a:tailEnd len="sm" w="sm" type="none"/>
          </a:ln>
        </p:spPr>
      </p:cxnSp>
      <p:sp>
        <p:nvSpPr>
          <p:cNvPr id="278" name="Google Shape;278;p11"/>
          <p:cNvSpPr/>
          <p:nvPr/>
        </p:nvSpPr>
        <p:spPr>
          <a:xfrm>
            <a:off x="1738415" y="4754955"/>
            <a:ext cx="2228766" cy="4333712"/>
          </a:xfrm>
          <a:custGeom>
            <a:rect b="b" l="l" r="r" t="t"/>
            <a:pathLst>
              <a:path extrusionOk="0" h="4333712" w="2228766">
                <a:moveTo>
                  <a:pt x="0" y="0"/>
                </a:moveTo>
                <a:lnTo>
                  <a:pt x="2228766" y="0"/>
                </a:lnTo>
                <a:lnTo>
                  <a:pt x="2228766" y="4333711"/>
                </a:lnTo>
                <a:lnTo>
                  <a:pt x="0" y="4333711"/>
                </a:lnTo>
                <a:lnTo>
                  <a:pt x="0" y="0"/>
                </a:lnTo>
                <a:close/>
              </a:path>
            </a:pathLst>
          </a:custGeom>
          <a:blipFill rotWithShape="1">
            <a:blip r:embed="rId3">
              <a:alphaModFix/>
            </a:blip>
            <a:stretch>
              <a:fillRect b="0" l="0" r="0" t="0"/>
            </a:stretch>
          </a:blipFill>
          <a:ln>
            <a:noFill/>
          </a:ln>
        </p:spPr>
      </p:sp>
      <p:sp>
        <p:nvSpPr>
          <p:cNvPr id="279" name="Google Shape;279;p11"/>
          <p:cNvSpPr/>
          <p:nvPr/>
        </p:nvSpPr>
        <p:spPr>
          <a:xfrm>
            <a:off x="7285361" y="4754955"/>
            <a:ext cx="3717279" cy="4333712"/>
          </a:xfrm>
          <a:custGeom>
            <a:rect b="b" l="l" r="r" t="t"/>
            <a:pathLst>
              <a:path extrusionOk="0" h="4333712" w="3717279">
                <a:moveTo>
                  <a:pt x="0" y="0"/>
                </a:moveTo>
                <a:lnTo>
                  <a:pt x="3717278" y="0"/>
                </a:lnTo>
                <a:lnTo>
                  <a:pt x="3717278" y="4333711"/>
                </a:lnTo>
                <a:lnTo>
                  <a:pt x="0" y="4333711"/>
                </a:lnTo>
                <a:lnTo>
                  <a:pt x="0" y="0"/>
                </a:lnTo>
                <a:close/>
              </a:path>
            </a:pathLst>
          </a:custGeom>
          <a:blipFill rotWithShape="1">
            <a:blip r:embed="rId4">
              <a:alphaModFix/>
            </a:blip>
            <a:stretch>
              <a:fillRect b="0" l="0" r="0" t="0"/>
            </a:stretch>
          </a:blipFill>
          <a:ln>
            <a:noFill/>
          </a:ln>
        </p:spPr>
      </p:sp>
      <p:sp>
        <p:nvSpPr>
          <p:cNvPr id="280" name="Google Shape;280;p11"/>
          <p:cNvSpPr/>
          <p:nvPr/>
        </p:nvSpPr>
        <p:spPr>
          <a:xfrm>
            <a:off x="13433287" y="4754955"/>
            <a:ext cx="3826013" cy="4503345"/>
          </a:xfrm>
          <a:custGeom>
            <a:rect b="b" l="l" r="r" t="t"/>
            <a:pathLst>
              <a:path extrusionOk="0" h="4503345" w="3826013">
                <a:moveTo>
                  <a:pt x="0" y="0"/>
                </a:moveTo>
                <a:lnTo>
                  <a:pt x="3826013" y="0"/>
                </a:lnTo>
                <a:lnTo>
                  <a:pt x="3826013" y="4503345"/>
                </a:lnTo>
                <a:lnTo>
                  <a:pt x="0" y="4503345"/>
                </a:lnTo>
                <a:lnTo>
                  <a:pt x="0" y="0"/>
                </a:lnTo>
                <a:close/>
              </a:path>
            </a:pathLst>
          </a:custGeom>
          <a:blipFill rotWithShape="1">
            <a:blip r:embed="rId5">
              <a:alphaModFix/>
            </a:blip>
            <a:stretch>
              <a:fillRect b="0" l="0" r="0" t="0"/>
            </a:stretch>
          </a:blipFill>
          <a:ln>
            <a:noFill/>
          </a:ln>
        </p:spPr>
      </p:sp>
      <p:grpSp>
        <p:nvGrpSpPr>
          <p:cNvPr id="281" name="Google Shape;281;p11"/>
          <p:cNvGrpSpPr/>
          <p:nvPr/>
        </p:nvGrpSpPr>
        <p:grpSpPr>
          <a:xfrm>
            <a:off x="4812337" y="6107877"/>
            <a:ext cx="1627867" cy="1627867"/>
            <a:chOff x="0" y="0"/>
            <a:chExt cx="812800" cy="812800"/>
          </a:xfrm>
        </p:grpSpPr>
        <p:sp>
          <p:nvSpPr>
            <p:cNvPr id="282" name="Google Shape;282;p11"/>
            <p:cNvSpPr/>
            <p:nvPr/>
          </p:nvSpPr>
          <p:spPr>
            <a:xfrm>
              <a:off x="0" y="0"/>
              <a:ext cx="812800" cy="812800"/>
            </a:xfrm>
            <a:custGeom>
              <a:rect b="b" l="l" r="r" t="t"/>
              <a:pathLst>
                <a:path extrusionOk="0"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00FFFF"/>
            </a:solidFill>
            <a:ln>
              <a:noFill/>
            </a:ln>
          </p:spPr>
        </p:sp>
        <p:sp>
          <p:nvSpPr>
            <p:cNvPr id="283" name="Google Shape;283;p11"/>
            <p:cNvSpPr txBox="1"/>
            <p:nvPr/>
          </p:nvSpPr>
          <p:spPr>
            <a:xfrm>
              <a:off x="0" y="165100"/>
              <a:ext cx="711200" cy="444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4" name="Google Shape;284;p11"/>
          <p:cNvSpPr txBox="1"/>
          <p:nvPr/>
        </p:nvSpPr>
        <p:spPr>
          <a:xfrm>
            <a:off x="1738415" y="1028700"/>
            <a:ext cx="14811170" cy="10572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Ambiguedad</a:t>
            </a:r>
            <a:endParaRPr b="0" i="0" sz="1400" u="none" cap="none" strike="noStrike">
              <a:solidFill>
                <a:srgbClr val="000000"/>
              </a:solidFill>
              <a:latin typeface="Arial"/>
              <a:ea typeface="Arial"/>
              <a:cs typeface="Arial"/>
              <a:sym typeface="Arial"/>
            </a:endParaRPr>
          </a:p>
        </p:txBody>
      </p:sp>
      <p:sp>
        <p:nvSpPr>
          <p:cNvPr id="285" name="Google Shape;285;p11"/>
          <p:cNvSpPr txBox="1"/>
          <p:nvPr/>
        </p:nvSpPr>
        <p:spPr>
          <a:xfrm>
            <a:off x="1738415" y="2954730"/>
            <a:ext cx="14811170" cy="933450"/>
          </a:xfrm>
          <a:prstGeom prst="rect">
            <a:avLst/>
          </a:prstGeom>
          <a:noFill/>
          <a:ln>
            <a:noFill/>
          </a:ln>
        </p:spPr>
        <p:txBody>
          <a:bodyPr anchorCtr="0" anchor="t" bIns="0" lIns="0" spcFirstLastPara="1" rIns="0" wrap="square" tIns="0">
            <a:spAutoFit/>
          </a:bodyPr>
          <a:lstStyle/>
          <a:p>
            <a:pPr indent="0" lvl="0" marL="0" marR="0" rtl="0" algn="just">
              <a:lnSpc>
                <a:spcPct val="120006"/>
              </a:lnSpc>
              <a:spcBef>
                <a:spcPts val="0"/>
              </a:spcBef>
              <a:spcAft>
                <a:spcPts val="0"/>
              </a:spcAft>
              <a:buClr>
                <a:srgbClr val="000000"/>
              </a:buClr>
              <a:buSzPts val="3099"/>
              <a:buFont typeface="Arial"/>
              <a:buNone/>
            </a:pPr>
            <a:r>
              <a:rPr b="0" i="0" lang="en-US" sz="3099" u="none" cap="none" strike="noStrike">
                <a:solidFill>
                  <a:srgbClr val="FFFFFF"/>
                </a:solidFill>
                <a:latin typeface="Poppins Medium"/>
                <a:ea typeface="Poppins Medium"/>
                <a:cs typeface="Poppins Medium"/>
                <a:sym typeface="Poppins Medium"/>
              </a:rPr>
              <a:t>Para la siguiente gramatica, c</a:t>
            </a:r>
            <a:r>
              <a:rPr b="1" i="0" lang="en-US" sz="3099" u="none" cap="none" strike="noStrike">
                <a:solidFill>
                  <a:srgbClr val="FFFFFF"/>
                </a:solidFill>
                <a:latin typeface="Poppins Medium"/>
                <a:ea typeface="Poppins Medium"/>
                <a:cs typeface="Poppins Medium"/>
                <a:sym typeface="Poppins Medium"/>
              </a:rPr>
              <a:t>onstruir el árbol de derivación  por la derecha e izquierda de la frase 2+3*5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89" name="Shape 289"/>
        <p:cNvGrpSpPr/>
        <p:nvPr/>
      </p:nvGrpSpPr>
      <p:grpSpPr>
        <a:xfrm>
          <a:off x="0" y="0"/>
          <a:ext cx="0" cy="0"/>
          <a:chOff x="0" y="0"/>
          <a:chExt cx="0" cy="0"/>
        </a:xfrm>
      </p:grpSpPr>
      <p:sp>
        <p:nvSpPr>
          <p:cNvPr id="290" name="Google Shape;290;p12"/>
          <p:cNvSpPr txBox="1"/>
          <p:nvPr/>
        </p:nvSpPr>
        <p:spPr>
          <a:xfrm>
            <a:off x="1738415" y="4792333"/>
            <a:ext cx="14811170" cy="2656840"/>
          </a:xfrm>
          <a:prstGeom prst="rect">
            <a:avLst/>
          </a:prstGeom>
          <a:noFill/>
          <a:ln>
            <a:noFill/>
          </a:ln>
        </p:spPr>
        <p:txBody>
          <a:bodyPr anchorCtr="0" anchor="t" bIns="0" lIns="0" spcFirstLastPara="1" rIns="0" wrap="square" tIns="0">
            <a:spAutoFit/>
          </a:bodyPr>
          <a:lstStyle/>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Un árbol de análisis sintáctico muestra en forma gráfica la manera en que el símbolo inicial de una gramática deriva a una cadena en el lenguaje.</a:t>
            </a:r>
            <a:endParaRPr b="0" i="0" sz="1400" u="none" cap="none" strike="noStrike">
              <a:solidFill>
                <a:srgbClr val="000000"/>
              </a:solidFill>
              <a:latin typeface="Arial"/>
              <a:ea typeface="Arial"/>
              <a:cs typeface="Arial"/>
              <a:sym typeface="Arial"/>
            </a:endParaRPr>
          </a:p>
          <a:p>
            <a:pPr indent="0" lvl="0" marL="0" marR="0" rtl="0" algn="just">
              <a:lnSpc>
                <a:spcPct val="140013"/>
              </a:lnSpc>
              <a:spcBef>
                <a:spcPts val="0"/>
              </a:spcBef>
              <a:spcAft>
                <a:spcPts val="0"/>
              </a:spcAft>
              <a:buClr>
                <a:srgbClr val="000000"/>
              </a:buClr>
              <a:buSzPts val="3024"/>
              <a:buFont typeface="Arial"/>
              <a:buNone/>
            </a:pPr>
            <a:r>
              <a:t/>
            </a:r>
            <a:endParaRPr b="0" i="0" sz="3024" u="none" cap="none" strike="noStrike">
              <a:solidFill>
                <a:srgbClr val="FFFFFF"/>
              </a:solidFill>
              <a:latin typeface="Poppins Light"/>
              <a:ea typeface="Poppins Light"/>
              <a:cs typeface="Poppins Light"/>
              <a:sym typeface="Poppins Light"/>
            </a:endParaRPr>
          </a:p>
          <a:p>
            <a:pPr indent="0" lvl="0" marL="0" marR="0" rtl="0" algn="just">
              <a:lnSpc>
                <a:spcPct val="140013"/>
              </a:lnSpc>
              <a:spcBef>
                <a:spcPts val="0"/>
              </a:spcBef>
              <a:spcAft>
                <a:spcPts val="0"/>
              </a:spcAft>
              <a:buClr>
                <a:srgbClr val="000000"/>
              </a:buClr>
              <a:buSzPts val="3024"/>
              <a:buFont typeface="Arial"/>
              <a:buNone/>
            </a:pPr>
            <a:r>
              <a:rPr b="0" i="0" lang="en-US" sz="3024" u="none" cap="none" strike="noStrike">
                <a:solidFill>
                  <a:srgbClr val="FFFFFF"/>
                </a:solidFill>
                <a:latin typeface="Poppins Light"/>
                <a:ea typeface="Poppins Light"/>
                <a:cs typeface="Poppins Light"/>
                <a:sym typeface="Poppins Light"/>
              </a:rPr>
              <a:t>Si el no terminal A tiene una producción A-&gt;XYZ, entonces un árbol de análisis sintáctico se vería de la siguiente forma:</a:t>
            </a:r>
            <a:endParaRPr b="0" i="0" sz="1400" u="none" cap="none" strike="noStrike">
              <a:solidFill>
                <a:srgbClr val="000000"/>
              </a:solidFill>
              <a:latin typeface="Arial"/>
              <a:ea typeface="Arial"/>
              <a:cs typeface="Arial"/>
              <a:sym typeface="Arial"/>
            </a:endParaRPr>
          </a:p>
        </p:txBody>
      </p:sp>
      <p:sp>
        <p:nvSpPr>
          <p:cNvPr id="291" name="Google Shape;291;p12"/>
          <p:cNvSpPr txBox="1"/>
          <p:nvPr/>
        </p:nvSpPr>
        <p:spPr>
          <a:xfrm>
            <a:off x="1383557" y="2064137"/>
            <a:ext cx="15520800" cy="1077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Árbol de análisis sintáctico </a:t>
            </a:r>
            <a:endParaRPr b="0" i="0" sz="1400" u="none" cap="none" strike="noStrike">
              <a:solidFill>
                <a:srgbClr val="000000"/>
              </a:solidFill>
              <a:latin typeface="Arial"/>
              <a:ea typeface="Arial"/>
              <a:cs typeface="Arial"/>
              <a:sym typeface="Arial"/>
            </a:endParaRPr>
          </a:p>
        </p:txBody>
      </p:sp>
      <p:cxnSp>
        <p:nvCxnSpPr>
          <p:cNvPr id="292" name="Google Shape;292;p12"/>
          <p:cNvCxnSpPr/>
          <p:nvPr/>
        </p:nvCxnSpPr>
        <p:spPr>
          <a:xfrm>
            <a:off x="1738415" y="4268458"/>
            <a:ext cx="14811170" cy="0"/>
          </a:xfrm>
          <a:prstGeom prst="straightConnector1">
            <a:avLst/>
          </a:prstGeom>
          <a:noFill/>
          <a:ln cap="rnd" cmpd="sng" w="19050">
            <a:solidFill>
              <a:srgbClr val="10B5BF"/>
            </a:solidFill>
            <a:prstDash val="solid"/>
            <a:round/>
            <a:headEnd len="sm" w="sm" type="none"/>
            <a:tailEnd len="sm" w="sm" type="none"/>
          </a:ln>
        </p:spPr>
      </p:cxnSp>
      <p:sp>
        <p:nvSpPr>
          <p:cNvPr id="293" name="Google Shape;293;p12"/>
          <p:cNvSpPr/>
          <p:nvPr/>
        </p:nvSpPr>
        <p:spPr>
          <a:xfrm>
            <a:off x="10158298" y="8310795"/>
            <a:ext cx="3238103" cy="1702080"/>
          </a:xfrm>
          <a:custGeom>
            <a:rect b="b" l="l" r="r" t="t"/>
            <a:pathLst>
              <a:path extrusionOk="0" h="1702080" w="3238103">
                <a:moveTo>
                  <a:pt x="0" y="0"/>
                </a:moveTo>
                <a:lnTo>
                  <a:pt x="3238104" y="0"/>
                </a:lnTo>
                <a:lnTo>
                  <a:pt x="3238104" y="1702080"/>
                </a:lnTo>
                <a:lnTo>
                  <a:pt x="0" y="170208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297" name="Shape 297"/>
        <p:cNvGrpSpPr/>
        <p:nvPr/>
      </p:nvGrpSpPr>
      <p:grpSpPr>
        <a:xfrm>
          <a:off x="0" y="0"/>
          <a:ext cx="0" cy="0"/>
          <a:chOff x="0" y="0"/>
          <a:chExt cx="0" cy="0"/>
        </a:xfrm>
      </p:grpSpPr>
      <p:cxnSp>
        <p:nvCxnSpPr>
          <p:cNvPr id="298" name="Google Shape;298;p13"/>
          <p:cNvCxnSpPr/>
          <p:nvPr/>
        </p:nvCxnSpPr>
        <p:spPr>
          <a:xfrm>
            <a:off x="1738415" y="2673020"/>
            <a:ext cx="14811170" cy="0"/>
          </a:xfrm>
          <a:prstGeom prst="straightConnector1">
            <a:avLst/>
          </a:prstGeom>
          <a:noFill/>
          <a:ln cap="rnd" cmpd="sng" w="19050">
            <a:solidFill>
              <a:srgbClr val="10B5BF"/>
            </a:solidFill>
            <a:prstDash val="solid"/>
            <a:round/>
            <a:headEnd len="sm" w="sm" type="none"/>
            <a:tailEnd len="sm" w="sm" type="none"/>
          </a:ln>
        </p:spPr>
      </p:cxnSp>
      <p:sp>
        <p:nvSpPr>
          <p:cNvPr id="299" name="Google Shape;299;p13"/>
          <p:cNvSpPr/>
          <p:nvPr/>
        </p:nvSpPr>
        <p:spPr>
          <a:xfrm>
            <a:off x="2445978" y="3263570"/>
            <a:ext cx="13396045" cy="5994730"/>
          </a:xfrm>
          <a:custGeom>
            <a:rect b="b" l="l" r="r" t="t"/>
            <a:pathLst>
              <a:path extrusionOk="0" h="5994730" w="13396045">
                <a:moveTo>
                  <a:pt x="0" y="0"/>
                </a:moveTo>
                <a:lnTo>
                  <a:pt x="13396044" y="0"/>
                </a:lnTo>
                <a:lnTo>
                  <a:pt x="13396044" y="5994730"/>
                </a:lnTo>
                <a:lnTo>
                  <a:pt x="0" y="5994730"/>
                </a:lnTo>
                <a:lnTo>
                  <a:pt x="0" y="0"/>
                </a:lnTo>
                <a:close/>
              </a:path>
            </a:pathLst>
          </a:custGeom>
          <a:blipFill rotWithShape="1">
            <a:blip r:embed="rId3">
              <a:alphaModFix/>
            </a:blip>
            <a:stretch>
              <a:fillRect b="0" l="0" r="0" t="0"/>
            </a:stretch>
          </a:blipFill>
          <a:ln>
            <a:noFill/>
          </a:ln>
        </p:spPr>
      </p:sp>
      <p:sp>
        <p:nvSpPr>
          <p:cNvPr id="300" name="Google Shape;300;p13"/>
          <p:cNvSpPr txBox="1"/>
          <p:nvPr/>
        </p:nvSpPr>
        <p:spPr>
          <a:xfrm>
            <a:off x="1738415" y="1028700"/>
            <a:ext cx="14811170" cy="10572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AST vs Árbol de Derivación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304" name="Shape 304"/>
        <p:cNvGrpSpPr/>
        <p:nvPr/>
      </p:nvGrpSpPr>
      <p:grpSpPr>
        <a:xfrm>
          <a:off x="0" y="0"/>
          <a:ext cx="0" cy="0"/>
          <a:chOff x="0" y="0"/>
          <a:chExt cx="0" cy="0"/>
        </a:xfrm>
      </p:grpSpPr>
      <p:sp>
        <p:nvSpPr>
          <p:cNvPr id="305" name="Google Shape;305;p14"/>
          <p:cNvSpPr/>
          <p:nvPr/>
        </p:nvSpPr>
        <p:spPr>
          <a:xfrm>
            <a:off x="3652789" y="2299258"/>
            <a:ext cx="11082521" cy="6995842"/>
          </a:xfrm>
          <a:custGeom>
            <a:rect b="b" l="l" r="r" t="t"/>
            <a:pathLst>
              <a:path extrusionOk="0" h="6995842" w="11082521">
                <a:moveTo>
                  <a:pt x="0" y="0"/>
                </a:moveTo>
                <a:lnTo>
                  <a:pt x="11082522" y="0"/>
                </a:lnTo>
                <a:lnTo>
                  <a:pt x="11082522" y="6995842"/>
                </a:lnTo>
                <a:lnTo>
                  <a:pt x="0" y="6995842"/>
                </a:lnTo>
                <a:lnTo>
                  <a:pt x="0" y="0"/>
                </a:lnTo>
                <a:close/>
              </a:path>
            </a:pathLst>
          </a:custGeom>
          <a:blipFill rotWithShape="1">
            <a:blip r:embed="rId3">
              <a:alphaModFix/>
            </a:blip>
            <a:stretch>
              <a:fillRect b="0" l="0" r="0" t="0"/>
            </a:stretch>
          </a:blipFill>
          <a:ln>
            <a:noFill/>
          </a:ln>
        </p:spPr>
      </p:sp>
      <p:sp>
        <p:nvSpPr>
          <p:cNvPr id="306" name="Google Shape;306;p14"/>
          <p:cNvSpPr txBox="1"/>
          <p:nvPr/>
        </p:nvSpPr>
        <p:spPr>
          <a:xfrm>
            <a:off x="1028700" y="746434"/>
            <a:ext cx="14811170" cy="10572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7000"/>
              <a:buFont typeface="Arial"/>
              <a:buNone/>
            </a:pPr>
            <a:r>
              <a:rPr b="1" i="0" lang="en-US" sz="7000" u="none" cap="none" strike="noStrike">
                <a:solidFill>
                  <a:srgbClr val="FFFFFF"/>
                </a:solidFill>
                <a:latin typeface="Poppins"/>
                <a:ea typeface="Poppins"/>
                <a:cs typeface="Poppins"/>
                <a:sym typeface="Poppins"/>
              </a:rPr>
              <a:t>EJEMPLO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35c6a5069ec_0_564"/>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Impact"/>
                <a:ea typeface="Impact"/>
                <a:cs typeface="Impact"/>
                <a:sym typeface="Impact"/>
              </a:rPr>
              <a:t>VALORES Y ACTITUD</a:t>
            </a:r>
            <a:endParaRPr b="0" i="0" sz="1400" u="none" cap="none" strike="noStrike">
              <a:solidFill>
                <a:srgbClr val="000000"/>
              </a:solidFill>
              <a:latin typeface="Impact"/>
              <a:ea typeface="Impact"/>
              <a:cs typeface="Impact"/>
              <a:sym typeface="Impact"/>
            </a:endParaRPr>
          </a:p>
        </p:txBody>
      </p:sp>
      <p:sp>
        <p:nvSpPr>
          <p:cNvPr id="312" name="Google Shape;312;g35c6a5069ec_0_564"/>
          <p:cNvSpPr txBox="1"/>
          <p:nvPr/>
        </p:nvSpPr>
        <p:spPr>
          <a:xfrm>
            <a:off x="1116325" y="2896175"/>
            <a:ext cx="16685700" cy="4559700"/>
          </a:xfrm>
          <a:prstGeom prst="rect">
            <a:avLst/>
          </a:prstGeom>
          <a:noFill/>
          <a:ln>
            <a:noFill/>
          </a:ln>
        </p:spPr>
        <p:txBody>
          <a:bodyPr anchorCtr="0" anchor="t" bIns="0" lIns="0" spcFirstLastPara="1" rIns="0" wrap="square" tIns="0">
            <a:spAutoFit/>
          </a:bodyPr>
          <a:lstStyle/>
          <a:p>
            <a:pPr indent="-428687" lvl="0" marL="457200" marR="0" rtl="0" algn="ctr">
              <a:lnSpc>
                <a:spcPct val="140019"/>
              </a:lnSpc>
              <a:spcBef>
                <a:spcPts val="0"/>
              </a:spcBef>
              <a:spcAft>
                <a:spcPts val="0"/>
              </a:spcAft>
              <a:buClr>
                <a:srgbClr val="131416"/>
              </a:buClr>
              <a:buSzPts val="3151"/>
              <a:buFont typeface="Arial"/>
              <a:buChar char="●"/>
            </a:pPr>
            <a:r>
              <a:rPr b="1" i="0" lang="en-US" sz="3151" u="none" cap="none" strike="noStrike">
                <a:solidFill>
                  <a:srgbClr val="131416"/>
                </a:solidFill>
                <a:latin typeface="Arial"/>
                <a:ea typeface="Arial"/>
                <a:cs typeface="Arial"/>
                <a:sym typeface="Arial"/>
              </a:rPr>
              <a:t>Razonamiento lógico: </a:t>
            </a:r>
            <a:r>
              <a:rPr b="0" i="0" lang="en-US" sz="3151" u="none" cap="none" strike="noStrike">
                <a:solidFill>
                  <a:srgbClr val="131416"/>
                </a:solidFill>
                <a:latin typeface="Arial"/>
                <a:ea typeface="Arial"/>
                <a:cs typeface="Arial"/>
                <a:sym typeface="Arial"/>
              </a:rPr>
              <a:t>Comprender y aplicar conceptos como las gramáticas libres de contexto y las derivaciones requiere una sólida capacidad de análisis y pensamiento estructurado.</a:t>
            </a:r>
            <a:endParaRPr b="0" i="0" sz="3151" u="none" cap="none" strike="noStrike">
              <a:solidFill>
                <a:srgbClr val="131416"/>
              </a:solidFill>
              <a:latin typeface="Arial"/>
              <a:ea typeface="Arial"/>
              <a:cs typeface="Arial"/>
              <a:sym typeface="Arial"/>
            </a:endParaRPr>
          </a:p>
          <a:p>
            <a:pPr indent="-428687" lvl="0" marL="457200" marR="0" rtl="0" algn="ctr">
              <a:lnSpc>
                <a:spcPct val="140019"/>
              </a:lnSpc>
              <a:spcBef>
                <a:spcPts val="0"/>
              </a:spcBef>
              <a:spcAft>
                <a:spcPts val="0"/>
              </a:spcAft>
              <a:buClr>
                <a:srgbClr val="131416"/>
              </a:buClr>
              <a:buSzPts val="3151"/>
              <a:buFont typeface="Arial"/>
              <a:buChar char="●"/>
            </a:pPr>
            <a:r>
              <a:rPr b="1" i="0" lang="en-US" sz="3151" u="none" cap="none" strike="noStrike">
                <a:solidFill>
                  <a:srgbClr val="131416"/>
                </a:solidFill>
                <a:latin typeface="Arial"/>
                <a:ea typeface="Arial"/>
                <a:cs typeface="Arial"/>
                <a:sym typeface="Arial"/>
              </a:rPr>
              <a:t>Responsabilidad: </a:t>
            </a:r>
            <a:r>
              <a:rPr b="0" i="0" lang="en-US" sz="3151" u="none" cap="none" strike="noStrike">
                <a:solidFill>
                  <a:srgbClr val="131416"/>
                </a:solidFill>
                <a:latin typeface="Arial"/>
                <a:ea typeface="Arial"/>
                <a:cs typeface="Arial"/>
                <a:sym typeface="Arial"/>
              </a:rPr>
              <a:t>Asumir un compromiso con el proceso de aprendizaje, realizando los ejercicios y actividades asignadas para reforzar los conceptos adquiridos.</a:t>
            </a:r>
            <a:endParaRPr b="0" i="0" sz="3151" u="none" cap="none" strike="noStrike">
              <a:solidFill>
                <a:srgbClr val="131416"/>
              </a:solidFill>
              <a:latin typeface="Arial"/>
              <a:ea typeface="Arial"/>
              <a:cs typeface="Arial"/>
              <a:sym typeface="Arial"/>
            </a:endParaRPr>
          </a:p>
          <a:p>
            <a:pPr indent="-428687" lvl="0" marL="457200" marR="0" rtl="0" algn="ctr">
              <a:lnSpc>
                <a:spcPct val="140019"/>
              </a:lnSpc>
              <a:spcBef>
                <a:spcPts val="0"/>
              </a:spcBef>
              <a:spcAft>
                <a:spcPts val="0"/>
              </a:spcAft>
              <a:buClr>
                <a:srgbClr val="131416"/>
              </a:buClr>
              <a:buSzPts val="3151"/>
              <a:buFont typeface="Arial"/>
              <a:buChar char="●"/>
            </a:pPr>
            <a:r>
              <a:rPr b="1" i="0" lang="en-US" sz="3151" u="none" cap="none" strike="noStrike">
                <a:solidFill>
                  <a:srgbClr val="131416"/>
                </a:solidFill>
                <a:latin typeface="Arial"/>
                <a:ea typeface="Arial"/>
                <a:cs typeface="Arial"/>
                <a:sym typeface="Arial"/>
              </a:rPr>
              <a:t>Comunicación: </a:t>
            </a:r>
            <a:r>
              <a:rPr b="0" i="0" lang="en-US" sz="3151" u="none" cap="none" strike="noStrike">
                <a:solidFill>
                  <a:srgbClr val="131416"/>
                </a:solidFill>
                <a:latin typeface="Arial"/>
                <a:ea typeface="Arial"/>
                <a:cs typeface="Arial"/>
                <a:sym typeface="Arial"/>
              </a:rPr>
              <a:t>Participar en las discusiones y cuestionarios para compartir ideas y dudas, asegurando la comprensión de los temas tratados.</a:t>
            </a:r>
            <a:endParaRPr b="1" i="0" sz="3151" u="none" cap="none" strike="noStrike">
              <a:solidFill>
                <a:srgbClr val="131416"/>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316" name="Shape 316"/>
        <p:cNvGrpSpPr/>
        <p:nvPr/>
      </p:nvGrpSpPr>
      <p:grpSpPr>
        <a:xfrm>
          <a:off x="0" y="0"/>
          <a:ext cx="0" cy="0"/>
          <a:chOff x="0" y="0"/>
          <a:chExt cx="0" cy="0"/>
        </a:xfrm>
      </p:grpSpPr>
      <p:sp>
        <p:nvSpPr>
          <p:cNvPr id="317" name="Google Shape;317;p15"/>
          <p:cNvSpPr/>
          <p:nvPr/>
        </p:nvSpPr>
        <p:spPr>
          <a:xfrm>
            <a:off x="7026942" y="4803457"/>
            <a:ext cx="3852482" cy="4114800"/>
          </a:xfrm>
          <a:custGeom>
            <a:rect b="b" l="l" r="r" t="t"/>
            <a:pathLst>
              <a:path extrusionOk="0" h="4114800" w="3852482">
                <a:moveTo>
                  <a:pt x="0" y="0"/>
                </a:moveTo>
                <a:lnTo>
                  <a:pt x="3852481" y="0"/>
                </a:lnTo>
                <a:lnTo>
                  <a:pt x="3852481" y="4114800"/>
                </a:lnTo>
                <a:lnTo>
                  <a:pt x="0" y="4114800"/>
                </a:lnTo>
                <a:lnTo>
                  <a:pt x="0" y="0"/>
                </a:lnTo>
                <a:close/>
              </a:path>
            </a:pathLst>
          </a:custGeom>
          <a:blipFill rotWithShape="1">
            <a:blip r:embed="rId3">
              <a:alphaModFix/>
            </a:blip>
            <a:stretch>
              <a:fillRect b="0" l="0" r="0" t="0"/>
            </a:stretch>
          </a:blipFill>
          <a:ln>
            <a:noFill/>
          </a:ln>
        </p:spPr>
      </p:sp>
      <p:sp>
        <p:nvSpPr>
          <p:cNvPr id="318" name="Google Shape;318;p15"/>
          <p:cNvSpPr/>
          <p:nvPr/>
        </p:nvSpPr>
        <p:spPr>
          <a:xfrm>
            <a:off x="14002057" y="6172200"/>
            <a:ext cx="6217418" cy="4114800"/>
          </a:xfrm>
          <a:custGeom>
            <a:rect b="b" l="l" r="r" t="t"/>
            <a:pathLst>
              <a:path extrusionOk="0" h="4114800" w="6217418">
                <a:moveTo>
                  <a:pt x="0" y="0"/>
                </a:moveTo>
                <a:lnTo>
                  <a:pt x="6217417" y="0"/>
                </a:lnTo>
                <a:lnTo>
                  <a:pt x="6217417" y="4114800"/>
                </a:lnTo>
                <a:lnTo>
                  <a:pt x="0" y="4114800"/>
                </a:lnTo>
                <a:lnTo>
                  <a:pt x="0" y="0"/>
                </a:lnTo>
                <a:close/>
              </a:path>
            </a:pathLst>
          </a:custGeom>
          <a:blipFill rotWithShape="1">
            <a:blip r:embed="rId4">
              <a:alphaModFix/>
            </a:blip>
            <a:stretch>
              <a:fillRect b="0" l="0" r="0" t="0"/>
            </a:stretch>
          </a:blipFill>
          <a:ln>
            <a:noFill/>
          </a:ln>
        </p:spPr>
      </p:sp>
      <p:sp>
        <p:nvSpPr>
          <p:cNvPr id="319" name="Google Shape;319;p15"/>
          <p:cNvSpPr txBox="1"/>
          <p:nvPr/>
        </p:nvSpPr>
        <p:spPr>
          <a:xfrm>
            <a:off x="3904308" y="2957502"/>
            <a:ext cx="10097749" cy="1255311"/>
          </a:xfrm>
          <a:prstGeom prst="rect">
            <a:avLst/>
          </a:prstGeom>
          <a:noFill/>
          <a:ln>
            <a:noFill/>
          </a:ln>
        </p:spPr>
        <p:txBody>
          <a:bodyPr anchorCtr="0" anchor="t" bIns="0" lIns="0" spcFirstLastPara="1" rIns="0" wrap="square" tIns="0">
            <a:spAutoFit/>
          </a:bodyPr>
          <a:lstStyle/>
          <a:p>
            <a:pPr indent="0" lvl="0" marL="0" marR="0" rtl="0" algn="ctr">
              <a:lnSpc>
                <a:spcPct val="119995"/>
              </a:lnSpc>
              <a:spcBef>
                <a:spcPts val="0"/>
              </a:spcBef>
              <a:spcAft>
                <a:spcPts val="0"/>
              </a:spcAft>
              <a:buClr>
                <a:srgbClr val="000000"/>
              </a:buClr>
              <a:buSzPts val="8237"/>
              <a:buFont typeface="Arial"/>
              <a:buNone/>
            </a:pPr>
            <a:r>
              <a:rPr b="1" i="0" lang="en-US" sz="8237" u="none" cap="none" strike="noStrike">
                <a:solidFill>
                  <a:srgbClr val="20E5F6"/>
                </a:solidFill>
                <a:latin typeface="Poppins"/>
                <a:ea typeface="Poppins"/>
                <a:cs typeface="Poppins"/>
                <a:sym typeface="Poppins"/>
              </a:rPr>
              <a:t>¿DUDAS?</a:t>
            </a:r>
            <a:endParaRPr b="0" i="0" sz="1400" u="none" cap="none" strike="noStrike">
              <a:solidFill>
                <a:srgbClr val="000000"/>
              </a:solidFill>
              <a:latin typeface="Arial"/>
              <a:ea typeface="Arial"/>
              <a:cs typeface="Arial"/>
              <a:sym typeface="Arial"/>
            </a:endParaRPr>
          </a:p>
        </p:txBody>
      </p:sp>
      <p:sp>
        <p:nvSpPr>
          <p:cNvPr id="320" name="Google Shape;320;p15"/>
          <p:cNvSpPr/>
          <p:nvPr/>
        </p:nvSpPr>
        <p:spPr>
          <a:xfrm rot="10800000">
            <a:off x="-2080009" y="0"/>
            <a:ext cx="6217418" cy="4114800"/>
          </a:xfrm>
          <a:custGeom>
            <a:rect b="b" l="l" r="r" t="t"/>
            <a:pathLst>
              <a:path extrusionOk="0" h="4114800" w="6217418">
                <a:moveTo>
                  <a:pt x="0" y="0"/>
                </a:moveTo>
                <a:lnTo>
                  <a:pt x="6217418" y="0"/>
                </a:lnTo>
                <a:lnTo>
                  <a:pt x="6217418" y="4114800"/>
                </a:lnTo>
                <a:lnTo>
                  <a:pt x="0" y="4114800"/>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324" name="Shape 324"/>
        <p:cNvGrpSpPr/>
        <p:nvPr/>
      </p:nvGrpSpPr>
      <p:grpSpPr>
        <a:xfrm>
          <a:off x="0" y="0"/>
          <a:ext cx="0" cy="0"/>
          <a:chOff x="0" y="0"/>
          <a:chExt cx="0" cy="0"/>
        </a:xfrm>
      </p:grpSpPr>
      <p:sp>
        <p:nvSpPr>
          <p:cNvPr id="325" name="Google Shape;325;p16"/>
          <p:cNvSpPr/>
          <p:nvPr/>
        </p:nvSpPr>
        <p:spPr>
          <a:xfrm>
            <a:off x="2818011" y="899336"/>
            <a:ext cx="12651979" cy="8488328"/>
          </a:xfrm>
          <a:custGeom>
            <a:rect b="b" l="l" r="r" t="t"/>
            <a:pathLst>
              <a:path extrusionOk="0" h="8488328" w="12651979">
                <a:moveTo>
                  <a:pt x="0" y="0"/>
                </a:moveTo>
                <a:lnTo>
                  <a:pt x="12651978" y="0"/>
                </a:lnTo>
                <a:lnTo>
                  <a:pt x="12651978" y="8488328"/>
                </a:lnTo>
                <a:lnTo>
                  <a:pt x="0" y="8488328"/>
                </a:lnTo>
                <a:lnTo>
                  <a:pt x="0" y="0"/>
                </a:lnTo>
                <a:close/>
              </a:path>
            </a:pathLst>
          </a:custGeom>
          <a:blipFill rotWithShape="1">
            <a:blip r:embed="rId3">
              <a:alphaModFix/>
            </a:blip>
            <a:stretch>
              <a:fillRect b="0" l="0" r="0" t="0"/>
            </a:stretch>
          </a:blipFill>
          <a:ln>
            <a:noFill/>
          </a:ln>
        </p:spPr>
      </p:sp>
      <p:sp>
        <p:nvSpPr>
          <p:cNvPr id="326" name="Google Shape;326;p16"/>
          <p:cNvSpPr txBox="1"/>
          <p:nvPr/>
        </p:nvSpPr>
        <p:spPr>
          <a:xfrm>
            <a:off x="4095126" y="3888189"/>
            <a:ext cx="10097749" cy="2510622"/>
          </a:xfrm>
          <a:prstGeom prst="rect">
            <a:avLst/>
          </a:prstGeom>
          <a:noFill/>
          <a:ln>
            <a:noFill/>
          </a:ln>
        </p:spPr>
        <p:txBody>
          <a:bodyPr anchorCtr="0" anchor="t" bIns="0" lIns="0" spcFirstLastPara="1" rIns="0" wrap="square" tIns="0">
            <a:spAutoFit/>
          </a:bodyPr>
          <a:lstStyle/>
          <a:p>
            <a:pPr indent="0" lvl="0" marL="0" marR="0" rtl="0" algn="ctr">
              <a:lnSpc>
                <a:spcPct val="119995"/>
              </a:lnSpc>
              <a:spcBef>
                <a:spcPts val="0"/>
              </a:spcBef>
              <a:spcAft>
                <a:spcPts val="0"/>
              </a:spcAft>
              <a:buClr>
                <a:srgbClr val="000000"/>
              </a:buClr>
              <a:buSzPts val="8237"/>
              <a:buFont typeface="Arial"/>
              <a:buNone/>
            </a:pPr>
            <a:r>
              <a:rPr b="1" i="0" lang="en-US" sz="8237" u="none" cap="none" strike="noStrike">
                <a:solidFill>
                  <a:srgbClr val="20E5F6"/>
                </a:solidFill>
                <a:latin typeface="Poppins"/>
                <a:ea typeface="Poppins"/>
                <a:cs typeface="Poppins"/>
                <a:sym typeface="Poppins"/>
              </a:rPr>
              <a:t>GRACIAS POR SU ATENCIÓN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1414"/>
        </a:solidFill>
      </p:bgPr>
    </p:bg>
    <p:spTree>
      <p:nvGrpSpPr>
        <p:cNvPr id="330" name="Shape 330"/>
        <p:cNvGrpSpPr/>
        <p:nvPr/>
      </p:nvGrpSpPr>
      <p:grpSpPr>
        <a:xfrm>
          <a:off x="0" y="0"/>
          <a:ext cx="0" cy="0"/>
          <a:chOff x="0" y="0"/>
          <a:chExt cx="0" cy="0"/>
        </a:xfrm>
      </p:grpSpPr>
      <p:sp>
        <p:nvSpPr>
          <p:cNvPr id="331" name="Google Shape;331;g36095485301_0_81"/>
          <p:cNvSpPr/>
          <p:nvPr/>
        </p:nvSpPr>
        <p:spPr>
          <a:xfrm>
            <a:off x="7844421" y="-156579"/>
            <a:ext cx="10443579" cy="10443579"/>
          </a:xfrm>
          <a:custGeom>
            <a:rect b="b" l="l" r="r" t="t"/>
            <a:pathLst>
              <a:path extrusionOk="0" h="10443579" w="10443579">
                <a:moveTo>
                  <a:pt x="0" y="0"/>
                </a:moveTo>
                <a:lnTo>
                  <a:pt x="10443579" y="0"/>
                </a:lnTo>
                <a:lnTo>
                  <a:pt x="10443579" y="10443579"/>
                </a:lnTo>
                <a:lnTo>
                  <a:pt x="0" y="10443579"/>
                </a:lnTo>
                <a:lnTo>
                  <a:pt x="0" y="0"/>
                </a:lnTo>
                <a:close/>
              </a:path>
            </a:pathLst>
          </a:custGeom>
          <a:blipFill rotWithShape="1">
            <a:blip r:embed="rId3">
              <a:alphaModFix/>
            </a:blip>
            <a:stretch>
              <a:fillRect b="0" l="0" r="0" t="0"/>
            </a:stretch>
          </a:blipFill>
          <a:ln>
            <a:noFill/>
          </a:ln>
        </p:spPr>
      </p:sp>
      <p:sp>
        <p:nvSpPr>
          <p:cNvPr id="332" name="Google Shape;332;g36095485301_0_81"/>
          <p:cNvSpPr txBox="1"/>
          <p:nvPr/>
        </p:nvSpPr>
        <p:spPr>
          <a:xfrm>
            <a:off x="1028700" y="1218716"/>
            <a:ext cx="11646000" cy="1462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9500"/>
              <a:buFont typeface="Arial"/>
              <a:buNone/>
            </a:pPr>
            <a:r>
              <a:rPr b="1" i="0" lang="en-US" sz="9500" u="none" cap="none" strike="noStrike">
                <a:solidFill>
                  <a:srgbClr val="20E5F6"/>
                </a:solidFill>
                <a:latin typeface="Poppins"/>
                <a:ea typeface="Poppins"/>
                <a:cs typeface="Poppins"/>
                <a:sym typeface="Poppins"/>
              </a:rPr>
              <a:t>REFERENCIAS</a:t>
            </a:r>
            <a:endParaRPr b="0" i="0" sz="1400" u="none" cap="none" strike="noStrike">
              <a:solidFill>
                <a:srgbClr val="000000"/>
              </a:solidFill>
              <a:latin typeface="Arial"/>
              <a:ea typeface="Arial"/>
              <a:cs typeface="Arial"/>
              <a:sym typeface="Arial"/>
            </a:endParaRPr>
          </a:p>
        </p:txBody>
      </p:sp>
      <p:sp>
        <p:nvSpPr>
          <p:cNvPr id="333" name="Google Shape;333;g36095485301_0_81"/>
          <p:cNvSpPr txBox="1"/>
          <p:nvPr/>
        </p:nvSpPr>
        <p:spPr>
          <a:xfrm>
            <a:off x="1419825" y="4071950"/>
            <a:ext cx="15430500" cy="1191300"/>
          </a:xfrm>
          <a:prstGeom prst="rect">
            <a:avLst/>
          </a:prstGeom>
          <a:noFill/>
          <a:ln>
            <a:noFill/>
          </a:ln>
        </p:spPr>
        <p:txBody>
          <a:bodyPr anchorCtr="0" anchor="t" bIns="91425" lIns="91425" spcFirstLastPara="1" rIns="91425" wrap="square" tIns="91425">
            <a:spAutoFit/>
          </a:bodyPr>
          <a:lstStyle/>
          <a:p>
            <a:pPr indent="-401637" lvl="0" marL="457200" marR="0" rtl="0" algn="just">
              <a:lnSpc>
                <a:spcPct val="140000"/>
              </a:lnSpc>
              <a:spcBef>
                <a:spcPts val="0"/>
              </a:spcBef>
              <a:spcAft>
                <a:spcPts val="0"/>
              </a:spcAft>
              <a:buClr>
                <a:schemeClr val="lt1"/>
              </a:buClr>
              <a:buSzPts val="2725"/>
              <a:buFont typeface="Poppins Light"/>
              <a:buChar char="●"/>
            </a:pPr>
            <a:r>
              <a:rPr b="0" i="0" lang="en-US" sz="2725" u="none" cap="none" strike="noStrike">
                <a:solidFill>
                  <a:schemeClr val="lt1"/>
                </a:solidFill>
                <a:latin typeface="Poppins Light"/>
                <a:ea typeface="Poppins Light"/>
                <a:cs typeface="Poppins Light"/>
                <a:sym typeface="Poppins Light"/>
              </a:rPr>
              <a:t>Aho, Alfred V. Compiladores. Principios, Técnicas Y Herramientas. Segunda edición Pears on education, México, (2008) ISBN: 978-970-26-1133-2</a:t>
            </a:r>
            <a:endParaRPr b="0" i="0" sz="14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