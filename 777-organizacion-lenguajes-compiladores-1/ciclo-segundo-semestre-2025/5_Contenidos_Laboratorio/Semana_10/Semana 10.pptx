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Play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Pa+363kGAm69+5g6HNTlJs6G3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DC76DF-295E-4F58-86D6-6C937AC28124}">
  <a:tblStyle styleId="{13DC76DF-295E-4F58-86D6-6C937AC2812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f43cc6cc5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f43cc6cc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f43cc6cc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9f43cc6cc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902" y="0"/>
            <a:ext cx="18254185" cy="10287000"/>
          </a:xfrm>
          <a:custGeom>
            <a:rect b="b" l="l" r="r" t="t"/>
            <a:pathLst>
              <a:path extrusionOk="0" h="13716000" w="24338914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{13DC76DF-295E-4F58-86D6-6C937AC28124}</a:tableStyleId>
              </a:tblPr>
              <a:tblGrid>
                <a:gridCol w="3028300"/>
                <a:gridCol w="4325000"/>
              </a:tblGrid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Viernes 09/05/2025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07:00 pm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4" name="Google Shape;94;p1"/>
          <p:cNvGrpSpPr/>
          <p:nvPr/>
        </p:nvGrpSpPr>
        <p:grpSpPr>
          <a:xfrm>
            <a:off x="2971773" y="4355613"/>
            <a:ext cx="14140280" cy="1208274"/>
            <a:chOff x="0" y="-209550"/>
            <a:chExt cx="18853707" cy="1611033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8853707" cy="1401483"/>
            </a:xfrm>
            <a:custGeom>
              <a:rect b="b" l="l" r="r" t="t"/>
              <a:pathLst>
                <a:path extrusionOk="0" h="1401483" w="18853707">
                  <a:moveTo>
                    <a:pt x="0" y="0"/>
                  </a:moveTo>
                  <a:lnTo>
                    <a:pt x="18853707" y="0"/>
                  </a:lnTo>
                  <a:lnTo>
                    <a:pt x="18853707" y="1401483"/>
                  </a:lnTo>
                  <a:lnTo>
                    <a:pt x="0" y="1401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0" y="-209550"/>
              <a:ext cx="18853707" cy="161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0" i="0" lang="en-US" sz="4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Organización de Lenguajes y Compiladores 1 [Sección]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2894773" y="5563887"/>
            <a:ext cx="11067350" cy="2320363"/>
            <a:chOff x="-102667" y="0"/>
            <a:chExt cx="14756467" cy="3093817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4653800" cy="1184100"/>
            </a:xfrm>
            <a:custGeom>
              <a:rect b="b" l="l" r="r" t="t"/>
              <a:pathLst>
                <a:path extrusionOk="0" h="1184100" w="14653800">
                  <a:moveTo>
                    <a:pt x="0" y="0"/>
                  </a:moveTo>
                  <a:lnTo>
                    <a:pt x="14653800" y="0"/>
                  </a:lnTo>
                  <a:lnTo>
                    <a:pt x="14653800" y="1184100"/>
                  </a:lnTo>
                  <a:lnTo>
                    <a:pt x="0" y="1184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-102667" y="1738117"/>
              <a:ext cx="14653800" cy="135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7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&lt;NOMBRE&gt;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123215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 txBox="1"/>
          <p:nvPr/>
        </p:nvSpPr>
        <p:spPr>
          <a:xfrm>
            <a:off x="3760996" y="3460115"/>
            <a:ext cx="103263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Diseño Interprete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808900" y="7966583"/>
            <a:ext cx="11512528" cy="2015399"/>
            <a:chOff x="0" y="-66675"/>
            <a:chExt cx="15350037" cy="2687198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46137" y="-66675"/>
              <a:ext cx="153039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1" i="0" lang="en-US" sz="3500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Organización de Lenguajes y Compiladores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46137" y="987424"/>
              <a:ext cx="93084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Ingenieria de Ciencias Y Sistemas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1582590"/>
              <a:ext cx="47004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2107523"/>
              <a:ext cx="85440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3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3"/>
          <p:cNvGrpSpPr/>
          <p:nvPr/>
        </p:nvGrpSpPr>
        <p:grpSpPr>
          <a:xfrm>
            <a:off x="651747" y="-320617"/>
            <a:ext cx="11375326" cy="3120467"/>
            <a:chOff x="-10" y="-95250"/>
            <a:chExt cx="15167100" cy="4160623"/>
          </a:xfrm>
        </p:grpSpPr>
        <p:sp>
          <p:nvSpPr>
            <p:cNvPr id="120" name="Google Shape;120;p3"/>
            <p:cNvSpPr txBox="1"/>
            <p:nvPr/>
          </p:nvSpPr>
          <p:spPr>
            <a:xfrm>
              <a:off x="-10" y="986773"/>
              <a:ext cx="151671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878654" y="4561463"/>
            <a:ext cx="7534277" cy="845385"/>
            <a:chOff x="0" y="-238638"/>
            <a:chExt cx="10045702" cy="1127181"/>
          </a:xfrm>
        </p:grpSpPr>
        <p:grpSp>
          <p:nvGrpSpPr>
            <p:cNvPr id="123" name="Google Shape;123;p3"/>
            <p:cNvGrpSpPr/>
            <p:nvPr/>
          </p:nvGrpSpPr>
          <p:grpSpPr>
            <a:xfrm>
              <a:off x="1317780" y="-238638"/>
              <a:ext cx="8727922" cy="1127181"/>
              <a:chOff x="0" y="-76200"/>
              <a:chExt cx="2786938" cy="359923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0" y="0"/>
                <a:ext cx="2786938" cy="283723"/>
              </a:xfrm>
              <a:custGeom>
                <a:rect b="b" l="l" r="r" t="t"/>
                <a:pathLst>
                  <a:path extrusionOk="0" h="283723" w="2786938">
                    <a:moveTo>
                      <a:pt x="2583738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583738" y="283723"/>
                    </a:lnTo>
                    <a:lnTo>
                      <a:pt x="2786938" y="141862"/>
                    </a:lnTo>
                    <a:lnTo>
                      <a:pt x="25837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Google Shape;125;p3"/>
              <p:cNvSpPr txBox="1"/>
              <p:nvPr/>
            </p:nvSpPr>
            <p:spPr>
              <a:xfrm>
                <a:off x="0" y="-76200"/>
                <a:ext cx="2672638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Expresiones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" name="Google Shape;126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27" name="Google Shape;127;p3"/>
          <p:cNvGrpSpPr/>
          <p:nvPr/>
        </p:nvGrpSpPr>
        <p:grpSpPr>
          <a:xfrm>
            <a:off x="878654" y="5399321"/>
            <a:ext cx="8265346" cy="845385"/>
            <a:chOff x="0" y="-238638"/>
            <a:chExt cx="11020461" cy="1127181"/>
          </a:xfrm>
        </p:grpSpPr>
        <p:grpSp>
          <p:nvGrpSpPr>
            <p:cNvPr id="128" name="Google Shape;128;p3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29" name="Google Shape;129;p3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Google Shape;130;p3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Definición de entornos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" name="Google Shape;131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2" name="Google Shape;132;p3"/>
          <p:cNvGrpSpPr/>
          <p:nvPr/>
        </p:nvGrpSpPr>
        <p:grpSpPr>
          <a:xfrm>
            <a:off x="878654" y="6237178"/>
            <a:ext cx="8265346" cy="845385"/>
            <a:chOff x="0" y="-238638"/>
            <a:chExt cx="11020461" cy="1127181"/>
          </a:xfrm>
        </p:grpSpPr>
        <p:grpSp>
          <p:nvGrpSpPr>
            <p:cNvPr id="133" name="Google Shape;133;p3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5" name="Google Shape;135;p3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Tabla de símbolos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" name="Google Shape;136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4" title="Gemini_Generated_Image_sfb0qdsfb0qdsfb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3862667" y="4049338"/>
            <a:ext cx="10562665" cy="29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 el patrón Intérprete integrando validaciones semánticas y ejecución de sentencias para prototipar lenguajes de dominio específico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/>
        </p:nvSpPr>
        <p:spPr>
          <a:xfrm>
            <a:off x="1028700" y="2116140"/>
            <a:ext cx="16230600" cy="526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ámbito (scope) de una variable, función o método es la región en la que estos existen o desde la cual se pueden acceder a ellos.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Esto sirve para que se pueda volver a definir una variable con un mismo nombre en diferentes partes del programa sin que haya conflictos entre ellos.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028700" y="1009650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ÁMBITOS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/>
        </p:nvSpPr>
        <p:spPr>
          <a:xfrm>
            <a:off x="1028700" y="857250"/>
            <a:ext cx="16230600" cy="6031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 una variable es declarada dentro de un bloque, esta será válida solo dentro de ese bloque y se destruirá al terminar el bloque. Adicionalmente, la variable no podrá verse ni usarse fuera del bloque (en el exterior del bloque). La variable dentro del bloque es una variable local y solo tiene alcance dentro del bloque que se creó y sus bloques hijos, pero no en bloques hermanos ni padres, una variable definida fuera de cualquier bloque es una variable global y cualquier bloque puede acceder a ella y modificarla.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4322989" y="6607739"/>
            <a:ext cx="2936311" cy="2936311"/>
          </a:xfrm>
          <a:custGeom>
            <a:rect b="b" l="l" r="r" t="t"/>
            <a:pathLst>
              <a:path extrusionOk="0" h="2936311" w="2936311">
                <a:moveTo>
                  <a:pt x="0" y="0"/>
                </a:moveTo>
                <a:lnTo>
                  <a:pt x="2936311" y="0"/>
                </a:lnTo>
                <a:lnTo>
                  <a:pt x="2936311" y="2936311"/>
                </a:lnTo>
                <a:lnTo>
                  <a:pt x="0" y="2936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5501919" y="1496860"/>
            <a:ext cx="7284162" cy="7293279"/>
          </a:xfrm>
          <a:custGeom>
            <a:rect b="b" l="l" r="r" t="t"/>
            <a:pathLst>
              <a:path extrusionOk="0" h="7293279" w="7284162">
                <a:moveTo>
                  <a:pt x="0" y="0"/>
                </a:moveTo>
                <a:lnTo>
                  <a:pt x="7284162" y="0"/>
                </a:lnTo>
                <a:lnTo>
                  <a:pt x="7284162" y="7293280"/>
                </a:lnTo>
                <a:lnTo>
                  <a:pt x="0" y="7293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8"/>
          <p:cNvGrpSpPr/>
          <p:nvPr/>
        </p:nvGrpSpPr>
        <p:grpSpPr>
          <a:xfrm>
            <a:off x="5872015" y="2556391"/>
            <a:ext cx="6543970" cy="6512264"/>
            <a:chOff x="0" y="0"/>
            <a:chExt cx="8725294" cy="8683018"/>
          </a:xfrm>
        </p:grpSpPr>
        <p:sp>
          <p:nvSpPr>
            <p:cNvPr id="167" name="Google Shape;167;p8"/>
            <p:cNvSpPr/>
            <p:nvPr/>
          </p:nvSpPr>
          <p:spPr>
            <a:xfrm>
              <a:off x="0" y="0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8" name="Google Shape;168;p8"/>
            <p:cNvSpPr/>
            <p:nvPr/>
          </p:nvSpPr>
          <p:spPr>
            <a:xfrm>
              <a:off x="3183102" y="3252396"/>
              <a:ext cx="2359091" cy="2359091"/>
            </a:xfrm>
            <a:custGeom>
              <a:rect b="b" l="l" r="r" t="t"/>
              <a:pathLst>
                <a:path extrusionOk="0" h="2359091" w="2359091">
                  <a:moveTo>
                    <a:pt x="0" y="0"/>
                  </a:moveTo>
                  <a:lnTo>
                    <a:pt x="2359090" y="0"/>
                  </a:lnTo>
                  <a:lnTo>
                    <a:pt x="2359090" y="2359091"/>
                  </a:lnTo>
                  <a:lnTo>
                    <a:pt x="0" y="23590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9" name="Google Shape;169;p8"/>
            <p:cNvSpPr/>
            <p:nvPr/>
          </p:nvSpPr>
          <p:spPr>
            <a:xfrm>
              <a:off x="5984803" y="5942527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70" name="Google Shape;170;p8"/>
            <p:cNvCxnSpPr/>
            <p:nvPr/>
          </p:nvCxnSpPr>
          <p:spPr>
            <a:xfrm>
              <a:off x="1370246" y="3185368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5643792" y="4364914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1028700" y="1000125"/>
            <a:ext cx="16230600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 APLICADOS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1028700" y="2470150"/>
            <a:ext cx="16230600" cy="493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Innovación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El estudiante explora el patrón Intérprete como una forma moderna y flexible de ejecutar lenguajes de dominio específico.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El seguimiento de la implementación y la participación en la conferencia del laboratorio requiere compromiso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Resiliencia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La depuración de un intérprete puede conllevar errores complejos, lo que refuerza la perseverancia del estudiante.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1426545" y="3735726"/>
            <a:ext cx="15434910" cy="2748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 / Documentation. (s. f.). https://gerhobbelt.github.io/jison/docs/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Compiladores : principios, técnicas y herramientas. (s. f.). Biblioteca Central USAC. https://biblos.usac.edu.gt/opac/record/271?&amp;query=@autor=FLORES%20SUAREZ,%20PEDRO&amp;recnum=1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f43cc6cc5_0_2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9f43cc6cc5_0_2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f43cc6cc5_0_7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5" name="Google Shape;195;g39f43cc6cc5_0_7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g39f43cc6cc5_0_7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