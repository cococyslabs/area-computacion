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0287000" cx="18288000"/>
  <p:notesSz cx="6858000" cy="9144000"/>
  <p:embeddedFontLst>
    <p:embeddedFont>
      <p:font typeface="Play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iCXBclGqJUq0LaPYrQs0AsHidC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2331BA-DB3D-4A39-8ECA-B7769B255E9F}">
  <a:tblStyle styleId="{012331BA-DB3D-4A39-8ECA-B7769B255E9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5.xml"/><Relationship Id="rId22" Type="http://schemas.openxmlformats.org/officeDocument/2006/relationships/font" Target="fonts/OpenSans-italic.fntdata"/><Relationship Id="rId10" Type="http://schemas.openxmlformats.org/officeDocument/2006/relationships/slide" Target="slides/slide4.xml"/><Relationship Id="rId21" Type="http://schemas.openxmlformats.org/officeDocument/2006/relationships/font" Target="fonts/OpenSans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lay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c8b5c5234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5c8b5c5234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5c8b5c5234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5c8b5c5234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g35c8b5c5234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5c8b5c5234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f43aa1868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9f43aa186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f43aa186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9f43aa1868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youtu.be/bZFqSNY2hpM?si=C0FrGFfapYVSjj-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s://nodejs.org/en/download/curren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erhobbelt.github.io/jison/docs/" TargetMode="External"/><Relationship Id="rId4" Type="http://schemas.openxmlformats.org/officeDocument/2006/relationships/hyperlink" Target="https://gerhobbelt.github.io/jison/docs/" TargetMode="External"/><Relationship Id="rId5" Type="http://schemas.openxmlformats.org/officeDocument/2006/relationships/hyperlink" Target="https://gerhobbelt.github.io/jison/docs/" TargetMode="External"/><Relationship Id="rId6" Type="http://schemas.openxmlformats.org/officeDocument/2006/relationships/hyperlink" Target="https://gerhobbelt.github.io/jison/docs/" TargetMode="External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c8b5c5234_0_0"/>
          <p:cNvSpPr/>
          <p:nvPr/>
        </p:nvSpPr>
        <p:spPr>
          <a:xfrm>
            <a:off x="16902" y="0"/>
            <a:ext cx="18254185" cy="10287000"/>
          </a:xfrm>
          <a:custGeom>
            <a:rect b="b" l="l" r="r" t="t"/>
            <a:pathLst>
              <a:path extrusionOk="0" h="13716000" w="24338914">
                <a:moveTo>
                  <a:pt x="0" y="0"/>
                </a:moveTo>
                <a:lnTo>
                  <a:pt x="24338914" y="0"/>
                </a:lnTo>
                <a:lnTo>
                  <a:pt x="24338914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9" name="Google Shape;89;g35c8b5c5234_0_0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{012331BA-DB3D-4A39-8ECA-B7769B255E9F}</a:tableStyleId>
              </a:tblPr>
              <a:tblGrid>
                <a:gridCol w="3028300"/>
                <a:gridCol w="4325000"/>
              </a:tblGrid>
              <a:tr h="7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Viernes 09/05/2025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07:00 pm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0" name="Google Shape;90;g35c8b5c5234_0_0"/>
          <p:cNvGrpSpPr/>
          <p:nvPr/>
        </p:nvGrpSpPr>
        <p:grpSpPr>
          <a:xfrm>
            <a:off x="2971773" y="4355613"/>
            <a:ext cx="14140350" cy="1208275"/>
            <a:chOff x="0" y="-209550"/>
            <a:chExt cx="18853800" cy="1611033"/>
          </a:xfrm>
        </p:grpSpPr>
        <p:sp>
          <p:nvSpPr>
            <p:cNvPr id="91" name="Google Shape;91;g35c8b5c5234_0_0"/>
            <p:cNvSpPr/>
            <p:nvPr/>
          </p:nvSpPr>
          <p:spPr>
            <a:xfrm>
              <a:off x="0" y="0"/>
              <a:ext cx="18853707" cy="1401483"/>
            </a:xfrm>
            <a:custGeom>
              <a:rect b="b" l="l" r="r" t="t"/>
              <a:pathLst>
                <a:path extrusionOk="0" h="1401483" w="18853707">
                  <a:moveTo>
                    <a:pt x="0" y="0"/>
                  </a:moveTo>
                  <a:lnTo>
                    <a:pt x="18853707" y="0"/>
                  </a:lnTo>
                  <a:lnTo>
                    <a:pt x="18853707" y="1401483"/>
                  </a:lnTo>
                  <a:lnTo>
                    <a:pt x="0" y="1401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2" name="Google Shape;92;g35c8b5c5234_0_0"/>
            <p:cNvSpPr txBox="1"/>
            <p:nvPr/>
          </p:nvSpPr>
          <p:spPr>
            <a:xfrm>
              <a:off x="0" y="-209550"/>
              <a:ext cx="18853800" cy="16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rPr b="0" i="0" lang="en-US" sz="4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Organización de Lenguajes y Compiladores 1 [C]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g35c8b5c5234_0_0"/>
          <p:cNvGrpSpPr/>
          <p:nvPr/>
        </p:nvGrpSpPr>
        <p:grpSpPr>
          <a:xfrm>
            <a:off x="2971773" y="5435300"/>
            <a:ext cx="10990350" cy="1016775"/>
            <a:chOff x="0" y="-171450"/>
            <a:chExt cx="14653800" cy="1355700"/>
          </a:xfrm>
        </p:grpSpPr>
        <p:sp>
          <p:nvSpPr>
            <p:cNvPr id="94" name="Google Shape;94;g35c8b5c5234_0_0"/>
            <p:cNvSpPr/>
            <p:nvPr/>
          </p:nvSpPr>
          <p:spPr>
            <a:xfrm>
              <a:off x="0" y="0"/>
              <a:ext cx="14653800" cy="1184100"/>
            </a:xfrm>
            <a:custGeom>
              <a:rect b="b" l="l" r="r" t="t"/>
              <a:pathLst>
                <a:path extrusionOk="0" h="1184100" w="14653800">
                  <a:moveTo>
                    <a:pt x="0" y="0"/>
                  </a:moveTo>
                  <a:lnTo>
                    <a:pt x="14653800" y="0"/>
                  </a:lnTo>
                  <a:lnTo>
                    <a:pt x="14653800" y="1184100"/>
                  </a:lnTo>
                  <a:lnTo>
                    <a:pt x="0" y="1184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5" name="Google Shape;95;g35c8b5c5234_0_0"/>
            <p:cNvSpPr txBox="1"/>
            <p:nvPr/>
          </p:nvSpPr>
          <p:spPr>
            <a:xfrm>
              <a:off x="0" y="-171450"/>
              <a:ext cx="14653800" cy="135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&lt;NOMBRE&gt;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 txBox="1"/>
          <p:nvPr/>
        </p:nvSpPr>
        <p:spPr>
          <a:xfrm>
            <a:off x="3980796" y="3460115"/>
            <a:ext cx="10326409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Herramientas de Compilación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1"/>
          <p:cNvGrpSpPr/>
          <p:nvPr/>
        </p:nvGrpSpPr>
        <p:grpSpPr>
          <a:xfrm>
            <a:off x="1028700" y="7966583"/>
            <a:ext cx="11512609" cy="2041017"/>
            <a:chOff x="0" y="-66675"/>
            <a:chExt cx="15350145" cy="2721356"/>
          </a:xfrm>
        </p:grpSpPr>
        <p:sp>
          <p:nvSpPr>
            <p:cNvPr id="103" name="Google Shape;103;p1"/>
            <p:cNvSpPr txBox="1"/>
            <p:nvPr/>
          </p:nvSpPr>
          <p:spPr>
            <a:xfrm>
              <a:off x="46137" y="-66675"/>
              <a:ext cx="15304008" cy="773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1" i="0" lang="en-US" sz="3500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Organización de Lenguajes y Compiladores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46137" y="987424"/>
              <a:ext cx="9308505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Escuela de Ingenieria de Ciencias Y Sistemas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1582590"/>
              <a:ext cx="4700389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Facultad de Ingenieria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0" y="2107523"/>
              <a:ext cx="8543925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Universidad de San Carlos de Guatemala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2"/>
          <p:cNvGrpSpPr/>
          <p:nvPr/>
        </p:nvGrpSpPr>
        <p:grpSpPr>
          <a:xfrm>
            <a:off x="878654" y="4561463"/>
            <a:ext cx="7534277" cy="845385"/>
            <a:chOff x="0" y="-238638"/>
            <a:chExt cx="10045702" cy="1127181"/>
          </a:xfrm>
        </p:grpSpPr>
        <p:grpSp>
          <p:nvGrpSpPr>
            <p:cNvPr id="112" name="Google Shape;112;p2"/>
            <p:cNvGrpSpPr/>
            <p:nvPr/>
          </p:nvGrpSpPr>
          <p:grpSpPr>
            <a:xfrm>
              <a:off x="1317780" y="-238638"/>
              <a:ext cx="8727922" cy="1127181"/>
              <a:chOff x="0" y="-76200"/>
              <a:chExt cx="2786938" cy="359923"/>
            </a:xfrm>
          </p:grpSpPr>
          <p:sp>
            <p:nvSpPr>
              <p:cNvPr id="113" name="Google Shape;113;p2"/>
              <p:cNvSpPr/>
              <p:nvPr/>
            </p:nvSpPr>
            <p:spPr>
              <a:xfrm>
                <a:off x="0" y="0"/>
                <a:ext cx="2786938" cy="283723"/>
              </a:xfrm>
              <a:custGeom>
                <a:rect b="b" l="l" r="r" t="t"/>
                <a:pathLst>
                  <a:path extrusionOk="0" h="283723" w="2786938">
                    <a:moveTo>
                      <a:pt x="2583738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583738" y="283723"/>
                    </a:lnTo>
                    <a:lnTo>
                      <a:pt x="2786938" y="141862"/>
                    </a:lnTo>
                    <a:lnTo>
                      <a:pt x="25837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4" name="Google Shape;114;p2"/>
              <p:cNvSpPr txBox="1"/>
              <p:nvPr/>
            </p:nvSpPr>
            <p:spPr>
              <a:xfrm>
                <a:off x="0" y="-76200"/>
                <a:ext cx="2672638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99"/>
                  <a:buFont typeface="Arial"/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Descarga e instalación de Jison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5" name="Google Shape;115;p2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16" name="Google Shape;116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0" name="Google Shape;120;p2"/>
          <p:cNvGrpSpPr/>
          <p:nvPr/>
        </p:nvGrpSpPr>
        <p:grpSpPr>
          <a:xfrm>
            <a:off x="651749" y="-320617"/>
            <a:ext cx="7175701" cy="3120467"/>
            <a:chOff x="-6" y="-95250"/>
            <a:chExt cx="9567600" cy="4160623"/>
          </a:xfrm>
        </p:grpSpPr>
        <p:sp>
          <p:nvSpPr>
            <p:cNvPr id="121" name="Google Shape;121;p2"/>
            <p:cNvSpPr txBox="1"/>
            <p:nvPr/>
          </p:nvSpPr>
          <p:spPr>
            <a:xfrm>
              <a:off x="-6" y="986773"/>
              <a:ext cx="95676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0208228" y="97566"/>
            <a:ext cx="9340287" cy="2813876"/>
            <a:chOff x="-1231317" y="-76200"/>
            <a:chExt cx="12453717" cy="3751835"/>
          </a:xfrm>
        </p:grpSpPr>
        <p:sp>
          <p:nvSpPr>
            <p:cNvPr id="124" name="Google Shape;124;p2"/>
            <p:cNvSpPr txBox="1"/>
            <p:nvPr/>
          </p:nvSpPr>
          <p:spPr>
            <a:xfrm>
              <a:off x="-1231317" y="597035"/>
              <a:ext cx="112224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0" y="-76200"/>
              <a:ext cx="11222400" cy="7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1739805" y="2798631"/>
            <a:ext cx="5353682" cy="1701155"/>
            <a:chOff x="0" y="-114300"/>
            <a:chExt cx="1410014" cy="448038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8" name="Google Shape;12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878654" y="5399321"/>
            <a:ext cx="8265346" cy="845385"/>
            <a:chOff x="0" y="-238638"/>
            <a:chExt cx="11020461" cy="1127181"/>
          </a:xfrm>
        </p:grpSpPr>
        <p:grpSp>
          <p:nvGrpSpPr>
            <p:cNvPr id="130" name="Google Shape;130;p2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31" name="Google Shape;131;p2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2" name="Google Shape;132;p2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99"/>
                  <a:buFont typeface="Arial"/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Escritura de expresiones regulares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3" name="Google Shape;133;p2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34" name="Google Shape;134;p2"/>
          <p:cNvGrpSpPr/>
          <p:nvPr/>
        </p:nvGrpSpPr>
        <p:grpSpPr>
          <a:xfrm>
            <a:off x="878654" y="6237178"/>
            <a:ext cx="8265346" cy="845385"/>
            <a:chOff x="0" y="-238638"/>
            <a:chExt cx="11020461" cy="1127181"/>
          </a:xfrm>
        </p:grpSpPr>
        <p:grpSp>
          <p:nvGrpSpPr>
            <p:cNvPr id="135" name="Google Shape;135;p2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36" name="Google Shape;136;p2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7" name="Google Shape;137;p2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99"/>
                  <a:buFont typeface="Arial"/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Escritura de gramáticas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" name="Google Shape;138;p2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39" name="Google Shape;139;p2"/>
          <p:cNvGrpSpPr/>
          <p:nvPr/>
        </p:nvGrpSpPr>
        <p:grpSpPr>
          <a:xfrm>
            <a:off x="878654" y="7075035"/>
            <a:ext cx="8265346" cy="845385"/>
            <a:chOff x="0" y="-238638"/>
            <a:chExt cx="11020461" cy="1127181"/>
          </a:xfrm>
        </p:grpSpPr>
        <p:grpSp>
          <p:nvGrpSpPr>
            <p:cNvPr id="140" name="Google Shape;140;p2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41" name="Google Shape;141;p2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2" name="Google Shape;142;p2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99"/>
                  <a:buFont typeface="Arial"/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Acciones gramaticales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3" name="Google Shape;143;p2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44" name="Google Shape;144;p2"/>
          <p:cNvGrpSpPr/>
          <p:nvPr/>
        </p:nvGrpSpPr>
        <p:grpSpPr>
          <a:xfrm>
            <a:off x="878654" y="7912893"/>
            <a:ext cx="8265346" cy="845385"/>
            <a:chOff x="0" y="-238638"/>
            <a:chExt cx="11020461" cy="1127181"/>
          </a:xfrm>
        </p:grpSpPr>
        <p:grpSp>
          <p:nvGrpSpPr>
            <p:cNvPr id="145" name="Google Shape;145;p2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46" name="Google Shape;146;p2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7" name="Google Shape;147;p2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99"/>
                  <a:buFont typeface="Arial"/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Manejo de errores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8" name="Google Shape;148;p2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3" title="Gemini_Generated_Image_sfb0qdsfb0qdsfb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13989"/>
            <a:ext cx="5234360" cy="717301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 txBox="1"/>
          <p:nvPr/>
        </p:nvSpPr>
        <p:spPr>
          <a:xfrm>
            <a:off x="3862667" y="4049338"/>
            <a:ext cx="10562665" cy="29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Desarrolla analizadores sintácticos con CUP y Jison, gramáticas LL/LR para validar la estructura de programas y construir AST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13980402" y="1028700"/>
            <a:ext cx="3278898" cy="918091"/>
          </a:xfrm>
          <a:custGeom>
            <a:rect b="b" l="l" r="r" t="t"/>
            <a:pathLst>
              <a:path extrusionOk="0" h="918091" w="3278898">
                <a:moveTo>
                  <a:pt x="0" y="0"/>
                </a:moveTo>
                <a:lnTo>
                  <a:pt x="3278898" y="0"/>
                </a:lnTo>
                <a:lnTo>
                  <a:pt x="3278898" y="918091"/>
                </a:lnTo>
                <a:lnTo>
                  <a:pt x="0" y="918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4"/>
          <p:cNvSpPr txBox="1"/>
          <p:nvPr/>
        </p:nvSpPr>
        <p:spPr>
          <a:xfrm>
            <a:off x="1028700" y="2116140"/>
            <a:ext cx="16230600" cy="3745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Node.js es un entorno de servidor multiplataforma de código abierto que ejecuta JavaScript.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Para poder instalarlo tenemos que descargar el instalador de la página oficial: </a:t>
            </a:r>
            <a:r>
              <a:rPr b="0" i="0" lang="en-US" sz="3500" u="sng" cap="none" strike="noStrike">
                <a:solidFill>
                  <a:srgbClr val="5271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https://nodejs.org/en/download/current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1028700" y="1009650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NODE 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/>
        </p:nvSpPr>
        <p:spPr>
          <a:xfrm>
            <a:off x="1028700" y="2116140"/>
            <a:ext cx="16230600" cy="6031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Jison toma una gramática libre de contexto como entrada y genera un archivo JavaScript capaz de analizar el lenguaje descrito por esa gramática.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Para poder instalando usaremos NodeJS por medio de npm:</a:t>
            </a:r>
            <a:r>
              <a:rPr b="0" i="0" lang="en-US" sz="3500" u="sng" cap="none" strike="noStrike">
                <a:solidFill>
                  <a:srgbClr val="5271FF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sng" cap="none" strike="noStrike">
                <a:solidFill>
                  <a:srgbClr val="5271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npm install jison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sng" cap="none" strike="noStrike">
              <a:solidFill>
                <a:srgbClr val="5271FF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sng" cap="none" strike="noStrike">
              <a:solidFill>
                <a:srgbClr val="5271FF"/>
              </a:solidFill>
              <a:latin typeface="Arial"/>
              <a:ea typeface="Arial"/>
              <a:cs typeface="Arial"/>
              <a:sym typeface="Arial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4811056" y="1028700"/>
            <a:ext cx="2448244" cy="918091"/>
          </a:xfrm>
          <a:custGeom>
            <a:rect b="b" l="l" r="r" t="t"/>
            <a:pathLst>
              <a:path extrusionOk="0" h="918091" w="2448244">
                <a:moveTo>
                  <a:pt x="0" y="0"/>
                </a:moveTo>
                <a:lnTo>
                  <a:pt x="2448244" y="0"/>
                </a:lnTo>
                <a:lnTo>
                  <a:pt x="2448244" y="918091"/>
                </a:lnTo>
                <a:lnTo>
                  <a:pt x="0" y="918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5"/>
          <p:cNvSpPr txBox="1"/>
          <p:nvPr/>
        </p:nvSpPr>
        <p:spPr>
          <a:xfrm>
            <a:off x="1028700" y="1009650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/>
          <p:nvPr/>
        </p:nvSpPr>
        <p:spPr>
          <a:xfrm>
            <a:off x="1028700" y="1009650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6"/>
          <p:cNvGrpSpPr/>
          <p:nvPr/>
        </p:nvGrpSpPr>
        <p:grpSpPr>
          <a:xfrm>
            <a:off x="5872015" y="2556391"/>
            <a:ext cx="6543970" cy="6512264"/>
            <a:chOff x="0" y="0"/>
            <a:chExt cx="8725294" cy="8683018"/>
          </a:xfrm>
        </p:grpSpPr>
        <p:sp>
          <p:nvSpPr>
            <p:cNvPr id="176" name="Google Shape;176;p6"/>
            <p:cNvSpPr/>
            <p:nvPr/>
          </p:nvSpPr>
          <p:spPr>
            <a:xfrm>
              <a:off x="0" y="0"/>
              <a:ext cx="2740491" cy="2740491"/>
            </a:xfrm>
            <a:custGeom>
              <a:rect b="b" l="l" r="r" t="t"/>
              <a:pathLst>
                <a:path extrusionOk="0" h="2740491" w="2740491">
                  <a:moveTo>
                    <a:pt x="0" y="0"/>
                  </a:moveTo>
                  <a:lnTo>
                    <a:pt x="2740491" y="0"/>
                  </a:lnTo>
                  <a:lnTo>
                    <a:pt x="2740491" y="2740491"/>
                  </a:lnTo>
                  <a:lnTo>
                    <a:pt x="0" y="2740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7" name="Google Shape;177;p6"/>
            <p:cNvSpPr/>
            <p:nvPr/>
          </p:nvSpPr>
          <p:spPr>
            <a:xfrm>
              <a:off x="3183102" y="3252396"/>
              <a:ext cx="2359091" cy="2359091"/>
            </a:xfrm>
            <a:custGeom>
              <a:rect b="b" l="l" r="r" t="t"/>
              <a:pathLst>
                <a:path extrusionOk="0" h="2359091" w="2359091">
                  <a:moveTo>
                    <a:pt x="0" y="0"/>
                  </a:moveTo>
                  <a:lnTo>
                    <a:pt x="2359090" y="0"/>
                  </a:lnTo>
                  <a:lnTo>
                    <a:pt x="2359090" y="2359091"/>
                  </a:lnTo>
                  <a:lnTo>
                    <a:pt x="0" y="23590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8" name="Google Shape;178;p6"/>
            <p:cNvSpPr/>
            <p:nvPr/>
          </p:nvSpPr>
          <p:spPr>
            <a:xfrm>
              <a:off x="5984803" y="5942527"/>
              <a:ext cx="2740491" cy="2740491"/>
            </a:xfrm>
            <a:custGeom>
              <a:rect b="b" l="l" r="r" t="t"/>
              <a:pathLst>
                <a:path extrusionOk="0" h="2740491" w="2740491">
                  <a:moveTo>
                    <a:pt x="0" y="0"/>
                  </a:moveTo>
                  <a:lnTo>
                    <a:pt x="2740491" y="0"/>
                  </a:lnTo>
                  <a:lnTo>
                    <a:pt x="2740491" y="2740491"/>
                  </a:lnTo>
                  <a:lnTo>
                    <a:pt x="0" y="2740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79" name="Google Shape;179;p6"/>
            <p:cNvCxnSpPr/>
            <p:nvPr/>
          </p:nvCxnSpPr>
          <p:spPr>
            <a:xfrm>
              <a:off x="1370246" y="3185368"/>
              <a:ext cx="1711256" cy="1246574"/>
            </a:xfrm>
            <a:prstGeom prst="straightConnector1">
              <a:avLst/>
            </a:prstGeom>
            <a:noFill/>
            <a:ln cap="flat" cmpd="sng" w="1270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80" name="Google Shape;180;p6"/>
            <p:cNvCxnSpPr/>
            <p:nvPr/>
          </p:nvCxnSpPr>
          <p:spPr>
            <a:xfrm>
              <a:off x="5643792" y="4364914"/>
              <a:ext cx="1711256" cy="1246574"/>
            </a:xfrm>
            <a:prstGeom prst="straightConnector1">
              <a:avLst/>
            </a:prstGeom>
            <a:noFill/>
            <a:ln cap="flat" cmpd="sng" w="1270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/>
        </p:nvSpPr>
        <p:spPr>
          <a:xfrm>
            <a:off x="1028700" y="1000125"/>
            <a:ext cx="16230600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 APLICADOS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1028700" y="2470150"/>
            <a:ext cx="16230600" cy="678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Responsabilidad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Se exige cumplimiento con la práctica asignada y participación activa durante los ejercicios guiados y de aplicación.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Pensamiento lógico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La construcción de gramáticas LL/LR y expresiones regulares estimula el razonamiento secuencial y estructurado.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Superación personal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Al enfrentarse a errores y fallos de ejecución, el estudiante fortalece su perseverancia y compromiso con el aprendizaje.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Adaptabilidad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El uso de herramientas como JISON, distintas a las tradicionales, permite al estudiante adquirir competencias en tecnologías modernas.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1426545" y="3735726"/>
            <a:ext cx="15434910" cy="2748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Jison / Documentation. (s. f.). https://gerhobbelt.github.io/jison/docs/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Compiladores : principios, técnicas y herramientas. (s. f.). Biblioteca Central USAC. https://biblos.usac.edu.gt/opac/record/271?&amp;query=@autor=FLORES%20SUAREZ,%20PEDRO&amp;recnum=1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f43aa1868_0_2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9f43aa1868_0_2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f43aa1868_0_86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4" name="Google Shape;204;g39f43aa1868_0_86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g39f43aa1868_0_86"/>
          <p:cNvSpPr txBox="1"/>
          <p:nvPr/>
        </p:nvSpPr>
        <p:spPr>
          <a:xfrm>
            <a:off x="2411098" y="7899735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