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Play"/>
      <p:regular r:id="rId22"/>
      <p:bold r:id="rId23"/>
    </p:embeddedFon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gmHCHzjXxDTROb5YUD/ubGn5/r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12BADD-A504-4130-A29E-7E5DF678BBCC}">
  <a:tblStyle styleId="{E412BADD-A504-4130-A29E-7E5DF678BBC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regular.fntdata"/><Relationship Id="rId21" Type="http://schemas.openxmlformats.org/officeDocument/2006/relationships/slide" Target="slides/slide15.xml"/><Relationship Id="rId24" Type="http://schemas.openxmlformats.org/officeDocument/2006/relationships/font" Target="fonts/OpenSans-regular.fntdata"/><Relationship Id="rId23" Type="http://schemas.openxmlformats.org/officeDocument/2006/relationships/font" Target="fonts/Pl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italic.fntdata"/><Relationship Id="rId25" Type="http://schemas.openxmlformats.org/officeDocument/2006/relationships/font" Target="fonts/OpenSans-bold.fntdata"/><Relationship Id="rId28" Type="http://customschemas.google.com/relationships/presentationmetadata" Target="metadata"/><Relationship Id="rId27"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f43e9c7d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9f43e9c7d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f43e9c7d0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g39f43e9c7d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hyperlink" Target="https://youtu.be/bbBefWwJ0is?si=4cyjB-321cqvVByQ" TargetMode="Externa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85" cy="10287000"/>
          </a:xfrm>
          <a:custGeom>
            <a:rect b="b" l="l" r="r" t="t"/>
            <a:pathLst>
              <a:path extrusionOk="0" h="13716000" w="24338914">
                <a:moveTo>
                  <a:pt x="0" y="0"/>
                </a:moveTo>
                <a:lnTo>
                  <a:pt x="24338914" y="0"/>
                </a:lnTo>
                <a:lnTo>
                  <a:pt x="24338914" y="13716000"/>
                </a:lnTo>
                <a:lnTo>
                  <a:pt x="0" y="13716000"/>
                </a:lnTo>
                <a:lnTo>
                  <a:pt x="0" y="0"/>
                </a:lnTo>
                <a:close/>
              </a:path>
            </a:pathLst>
          </a:custGeom>
          <a:blipFill rotWithShape="1">
            <a:blip r:embed="rId3">
              <a:alphaModFix/>
            </a:blip>
            <a:stretch>
              <a:fillRect b="0" l="0" r="0" t="0"/>
            </a:stretch>
          </a:blipFill>
          <a:ln>
            <a:noFill/>
          </a:ln>
        </p:spPr>
      </p:sp>
      <p:graphicFrame>
        <p:nvGraphicFramePr>
          <p:cNvPr id="93" name="Google Shape;93;p1"/>
          <p:cNvGraphicFramePr/>
          <p:nvPr/>
        </p:nvGraphicFramePr>
        <p:xfrm>
          <a:off x="10656400" y="1940050"/>
          <a:ext cx="3000000" cy="3000000"/>
        </p:xfrm>
        <a:graphic>
          <a:graphicData uri="http://schemas.openxmlformats.org/drawingml/2006/table">
            <a:tbl>
              <a:tblPr>
                <a:noFill/>
                <a:tableStyleId>{E412BADD-A504-4130-A29E-7E5DF678BBCC}</a:tableStyleId>
              </a:tblPr>
              <a:tblGrid>
                <a:gridCol w="3028300"/>
                <a:gridCol w="4325000"/>
              </a:tblGrid>
              <a:tr h="719150">
                <a:tc>
                  <a:txBody>
                    <a:bodyPr/>
                    <a:lstStyle/>
                    <a:p>
                      <a:pPr indent="0" lvl="0" marL="0" marR="0" rtl="0" algn="l">
                        <a:lnSpc>
                          <a:spcPct val="143978"/>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3980"/>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Viernes 09/05/2025</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9125">
                <a:tc>
                  <a:txBody>
                    <a:bodyPr/>
                    <a:lstStyle/>
                    <a:p>
                      <a:pPr indent="0" lvl="0" marL="0" marR="0" rtl="0" algn="l">
                        <a:lnSpc>
                          <a:spcPct val="143978"/>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3980"/>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07:00 pm</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pSp>
        <p:nvGrpSpPr>
          <p:cNvPr id="94" name="Google Shape;94;p1"/>
          <p:cNvGrpSpPr/>
          <p:nvPr/>
        </p:nvGrpSpPr>
        <p:grpSpPr>
          <a:xfrm>
            <a:off x="2971773" y="4355613"/>
            <a:ext cx="14140280" cy="1208274"/>
            <a:chOff x="0" y="-209550"/>
            <a:chExt cx="18853707" cy="1611033"/>
          </a:xfrm>
        </p:grpSpPr>
        <p:sp>
          <p:nvSpPr>
            <p:cNvPr id="95" name="Google Shape;95;p1"/>
            <p:cNvSpPr/>
            <p:nvPr/>
          </p:nvSpPr>
          <p:spPr>
            <a:xfrm>
              <a:off x="0" y="0"/>
              <a:ext cx="18853707" cy="1401483"/>
            </a:xfrm>
            <a:custGeom>
              <a:rect b="b" l="l" r="r" t="t"/>
              <a:pathLst>
                <a:path extrusionOk="0" h="1401483" w="18853707">
                  <a:moveTo>
                    <a:pt x="0" y="0"/>
                  </a:moveTo>
                  <a:lnTo>
                    <a:pt x="18853707" y="0"/>
                  </a:lnTo>
                  <a:lnTo>
                    <a:pt x="18853707" y="1401483"/>
                  </a:lnTo>
                  <a:lnTo>
                    <a:pt x="0" y="1401483"/>
                  </a:lnTo>
                  <a:close/>
                </a:path>
              </a:pathLst>
            </a:custGeom>
            <a:solidFill>
              <a:srgbClr val="000000">
                <a:alpha val="0"/>
              </a:srgbClr>
            </a:solidFill>
            <a:ln>
              <a:noFill/>
            </a:ln>
          </p:spPr>
        </p:sp>
        <p:sp>
          <p:nvSpPr>
            <p:cNvPr id="96" name="Google Shape;96;p1"/>
            <p:cNvSpPr txBox="1"/>
            <p:nvPr/>
          </p:nvSpPr>
          <p:spPr>
            <a:xfrm>
              <a:off x="0" y="-209550"/>
              <a:ext cx="18853707" cy="1611033"/>
            </a:xfrm>
            <a:prstGeom prst="rect">
              <a:avLst/>
            </a:prstGeom>
            <a:noFill/>
            <a:ln>
              <a:noFill/>
            </a:ln>
          </p:spPr>
          <p:txBody>
            <a:bodyPr anchorCtr="0" anchor="t" bIns="0" lIns="0" spcFirstLastPara="1" rIns="0" wrap="square" tIns="0">
              <a:noAutofit/>
            </a:bodyPr>
            <a:lstStyle/>
            <a:p>
              <a:pPr indent="0" lvl="0" marL="0" marR="0" rtl="0" algn="l">
                <a:lnSpc>
                  <a:spcPct val="143988"/>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Organización de Lenguajes y Compiladores 1 [C]</a:t>
              </a:r>
              <a:endParaRPr b="0" i="0" sz="1400" u="none" cap="none" strike="noStrike">
                <a:solidFill>
                  <a:srgbClr val="000000"/>
                </a:solidFill>
                <a:latin typeface="Arial"/>
                <a:ea typeface="Arial"/>
                <a:cs typeface="Arial"/>
                <a:sym typeface="Arial"/>
              </a:endParaRPr>
            </a:p>
          </p:txBody>
        </p:sp>
      </p:grpSp>
      <p:grpSp>
        <p:nvGrpSpPr>
          <p:cNvPr id="97" name="Google Shape;97;p1"/>
          <p:cNvGrpSpPr/>
          <p:nvPr/>
        </p:nvGrpSpPr>
        <p:grpSpPr>
          <a:xfrm>
            <a:off x="2971773" y="5435300"/>
            <a:ext cx="10990350" cy="1016663"/>
            <a:chOff x="0" y="-171450"/>
            <a:chExt cx="14653800" cy="1355550"/>
          </a:xfrm>
        </p:grpSpPr>
        <p:sp>
          <p:nvSpPr>
            <p:cNvPr id="98" name="Google Shape;98;p1"/>
            <p:cNvSpPr/>
            <p:nvPr/>
          </p:nvSpPr>
          <p:spPr>
            <a:xfrm>
              <a:off x="0" y="0"/>
              <a:ext cx="14653800" cy="1184100"/>
            </a:xfrm>
            <a:custGeom>
              <a:rect b="b" l="l" r="r" t="t"/>
              <a:pathLst>
                <a:path extrusionOk="0" h="1184100" w="14653800">
                  <a:moveTo>
                    <a:pt x="0" y="0"/>
                  </a:moveTo>
                  <a:lnTo>
                    <a:pt x="14653800" y="0"/>
                  </a:lnTo>
                  <a:lnTo>
                    <a:pt x="14653800" y="1184100"/>
                  </a:lnTo>
                  <a:lnTo>
                    <a:pt x="0" y="1184100"/>
                  </a:lnTo>
                  <a:close/>
                </a:path>
              </a:pathLst>
            </a:custGeom>
            <a:solidFill>
              <a:srgbClr val="000000">
                <a:alpha val="0"/>
              </a:srgbClr>
            </a:solidFill>
            <a:ln>
              <a:noFill/>
            </a:ln>
          </p:spPr>
        </p:sp>
        <p:sp>
          <p:nvSpPr>
            <p:cNvPr id="99" name="Google Shape;99;p1"/>
            <p:cNvSpPr txBox="1"/>
            <p:nvPr/>
          </p:nvSpPr>
          <p:spPr>
            <a:xfrm>
              <a:off x="0" y="-171450"/>
              <a:ext cx="14653800" cy="1355550"/>
            </a:xfrm>
            <a:prstGeom prst="rect">
              <a:avLst/>
            </a:prstGeom>
            <a:noFill/>
            <a:ln>
              <a:noFill/>
            </a:ln>
          </p:spPr>
          <p:txBody>
            <a:bodyPr anchorCtr="0" anchor="t" bIns="0" lIns="0" spcFirstLastPara="1" rIns="0" wrap="square" tIns="0">
              <a:noAutofit/>
            </a:bodyPr>
            <a:lstStyle/>
            <a:p>
              <a:pPr indent="0" lvl="0" marL="0" marR="0" rtl="0" algn="l">
                <a:lnSpc>
                  <a:spcPct val="143974"/>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&lt;NOMBRE&gt;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05" name="Google Shape;105;p2"/>
          <p:cNvSpPr txBox="1"/>
          <p:nvPr/>
        </p:nvSpPr>
        <p:spPr>
          <a:xfrm>
            <a:off x="3980796" y="3460115"/>
            <a:ext cx="10326409"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Diseño Interprete</a:t>
            </a:r>
            <a:endParaRPr b="0" i="0" sz="1400" u="none" cap="none" strike="noStrike">
              <a:solidFill>
                <a:srgbClr val="000000"/>
              </a:solidFill>
              <a:latin typeface="Arial"/>
              <a:ea typeface="Arial"/>
              <a:cs typeface="Arial"/>
              <a:sym typeface="Arial"/>
            </a:endParaRPr>
          </a:p>
        </p:txBody>
      </p:sp>
      <p:grpSp>
        <p:nvGrpSpPr>
          <p:cNvPr id="106" name="Google Shape;106;p2"/>
          <p:cNvGrpSpPr/>
          <p:nvPr/>
        </p:nvGrpSpPr>
        <p:grpSpPr>
          <a:xfrm>
            <a:off x="1028700" y="7966583"/>
            <a:ext cx="11512609" cy="2041017"/>
            <a:chOff x="0" y="-66675"/>
            <a:chExt cx="15350145" cy="2721356"/>
          </a:xfrm>
        </p:grpSpPr>
        <p:sp>
          <p:nvSpPr>
            <p:cNvPr id="107" name="Google Shape;107;p2"/>
            <p:cNvSpPr txBox="1"/>
            <p:nvPr/>
          </p:nvSpPr>
          <p:spPr>
            <a:xfrm>
              <a:off x="46137" y="-66675"/>
              <a:ext cx="15304008" cy="7736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131416"/>
                  </a:solidFill>
                  <a:latin typeface="Open Sans"/>
                  <a:ea typeface="Open Sans"/>
                  <a:cs typeface="Open Sans"/>
                  <a:sym typeface="Open Sans"/>
                </a:rPr>
                <a:t>Organización de Lenguajes y Compiladores 1</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46137" y="987424"/>
              <a:ext cx="9308505"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582590"/>
              <a:ext cx="4700389"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0" y="2107523"/>
              <a:ext cx="8543925"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3"/>
          <p:cNvGrpSpPr/>
          <p:nvPr/>
        </p:nvGrpSpPr>
        <p:grpSpPr>
          <a:xfrm>
            <a:off x="1866989" y="3013983"/>
            <a:ext cx="4115190" cy="1556484"/>
            <a:chOff x="0" y="-76200"/>
            <a:chExt cx="1083836" cy="409938"/>
          </a:xfrm>
        </p:grpSpPr>
        <p:sp>
          <p:nvSpPr>
            <p:cNvPr id="116" name="Google Shape;116;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7" name="Google Shape;117;p3"/>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18" name="Google Shape;118;p3"/>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grpSp>
        <p:nvGrpSpPr>
          <p:cNvPr id="119" name="Google Shape;119;p3"/>
          <p:cNvGrpSpPr/>
          <p:nvPr/>
        </p:nvGrpSpPr>
        <p:grpSpPr>
          <a:xfrm>
            <a:off x="651750" y="-320617"/>
            <a:ext cx="6980626" cy="3120467"/>
            <a:chOff x="-5" y="-95250"/>
            <a:chExt cx="9307500" cy="4160623"/>
          </a:xfrm>
        </p:grpSpPr>
        <p:sp>
          <p:nvSpPr>
            <p:cNvPr id="120" name="Google Shape;120;p3"/>
            <p:cNvSpPr txBox="1"/>
            <p:nvPr/>
          </p:nvSpPr>
          <p:spPr>
            <a:xfrm>
              <a:off x="-5" y="986773"/>
              <a:ext cx="93075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lay"/>
                  <a:ea typeface="Play"/>
                  <a:cs typeface="Play"/>
                  <a:sym typeface="Play"/>
                </a:rPr>
                <a:t>Agenda</a:t>
              </a:r>
              <a:endParaRPr b="0" i="0" sz="1400" u="none" cap="none" strike="noStrike">
                <a:solidFill>
                  <a:srgbClr val="000000"/>
                </a:solidFill>
                <a:latin typeface="Arial"/>
                <a:ea typeface="Arial"/>
                <a:cs typeface="Arial"/>
                <a:sym typeface="Arial"/>
              </a:endParaRPr>
            </a:p>
          </p:txBody>
        </p:sp>
        <p:sp>
          <p:nvSpPr>
            <p:cNvPr id="121" name="Google Shape;121;p3"/>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3"/>
          <p:cNvGrpSpPr/>
          <p:nvPr/>
        </p:nvGrpSpPr>
        <p:grpSpPr>
          <a:xfrm>
            <a:off x="11131715" y="97566"/>
            <a:ext cx="8416862" cy="2901857"/>
            <a:chOff x="0" y="-76200"/>
            <a:chExt cx="11222483" cy="3869143"/>
          </a:xfrm>
        </p:grpSpPr>
        <p:sp>
          <p:nvSpPr>
            <p:cNvPr id="123" name="Google Shape;123;p3"/>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lay"/>
                  <a:ea typeface="Play"/>
                  <a:cs typeface="Play"/>
                  <a:sym typeface="Play"/>
                </a:rPr>
                <a:t>Recursos</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5" name="Google Shape;125;p3"/>
          <p:cNvGrpSpPr/>
          <p:nvPr/>
        </p:nvGrpSpPr>
        <p:grpSpPr>
          <a:xfrm>
            <a:off x="11739805" y="2798634"/>
            <a:ext cx="5353646" cy="1701145"/>
            <a:chOff x="0" y="-114300"/>
            <a:chExt cx="1410014" cy="448038"/>
          </a:xfrm>
        </p:grpSpPr>
        <p:sp>
          <p:nvSpPr>
            <p:cNvPr id="126" name="Google Shape;126;p3"/>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7" name="Google Shape;127;p3"/>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sng" cap="none" strike="noStrike">
                  <a:solidFill>
                    <a:srgbClr val="000000"/>
                  </a:solidFill>
                  <a:latin typeface="Arial"/>
                  <a:ea typeface="Arial"/>
                  <a:cs typeface="Arial"/>
                  <a:sym typeface="Arial"/>
                  <a:hlinkClick r:id="rId4">
                    <a:extLst>
                      <a:ext uri="{A12FA001-AC4F-418D-AE19-62706E023703}">
                        <ahyp:hlinkClr val="tx"/>
                      </a:ext>
                    </a:extLst>
                  </a:hlinkClick>
                </a:rPr>
                <a:t>Link del Video</a:t>
              </a:r>
              <a:endParaRPr b="0" i="0" sz="1400" u="none" cap="none" strike="noStrike">
                <a:solidFill>
                  <a:srgbClr val="000000"/>
                </a:solidFill>
                <a:latin typeface="Arial"/>
                <a:ea typeface="Arial"/>
                <a:cs typeface="Arial"/>
                <a:sym typeface="Arial"/>
              </a:endParaRPr>
            </a:p>
          </p:txBody>
        </p:sp>
      </p:grpSp>
      <p:grpSp>
        <p:nvGrpSpPr>
          <p:cNvPr id="128" name="Google Shape;128;p3"/>
          <p:cNvGrpSpPr/>
          <p:nvPr/>
        </p:nvGrpSpPr>
        <p:grpSpPr>
          <a:xfrm>
            <a:off x="878654" y="4561463"/>
            <a:ext cx="7534277" cy="845385"/>
            <a:chOff x="0" y="-238638"/>
            <a:chExt cx="10045702" cy="1127181"/>
          </a:xfrm>
        </p:grpSpPr>
        <p:grpSp>
          <p:nvGrpSpPr>
            <p:cNvPr id="129" name="Google Shape;129;p3"/>
            <p:cNvGrpSpPr/>
            <p:nvPr/>
          </p:nvGrpSpPr>
          <p:grpSpPr>
            <a:xfrm>
              <a:off x="1317780" y="-238638"/>
              <a:ext cx="8727922" cy="1127181"/>
              <a:chOff x="0" y="-76200"/>
              <a:chExt cx="2786938" cy="359923"/>
            </a:xfrm>
          </p:grpSpPr>
          <p:sp>
            <p:nvSpPr>
              <p:cNvPr id="130" name="Google Shape;130;p3"/>
              <p:cNvSpPr/>
              <p:nvPr/>
            </p:nvSpPr>
            <p:spPr>
              <a:xfrm>
                <a:off x="0" y="0"/>
                <a:ext cx="2786938" cy="283723"/>
              </a:xfrm>
              <a:custGeom>
                <a:rect b="b" l="l" r="r" t="t"/>
                <a:pathLst>
                  <a:path extrusionOk="0" h="283723" w="2786938">
                    <a:moveTo>
                      <a:pt x="2583738" y="0"/>
                    </a:moveTo>
                    <a:lnTo>
                      <a:pt x="0" y="0"/>
                    </a:lnTo>
                    <a:lnTo>
                      <a:pt x="0" y="283723"/>
                    </a:lnTo>
                    <a:lnTo>
                      <a:pt x="2583738" y="283723"/>
                    </a:lnTo>
                    <a:lnTo>
                      <a:pt x="2786938" y="141862"/>
                    </a:lnTo>
                    <a:lnTo>
                      <a:pt x="2583738" y="0"/>
                    </a:lnTo>
                    <a:close/>
                  </a:path>
                </a:pathLst>
              </a:custGeom>
              <a:solidFill>
                <a:srgbClr val="FFFFFF"/>
              </a:solidFill>
              <a:ln>
                <a:noFill/>
              </a:ln>
            </p:spPr>
          </p:sp>
          <p:sp>
            <p:nvSpPr>
              <p:cNvPr id="131" name="Google Shape;131;p3"/>
              <p:cNvSpPr txBox="1"/>
              <p:nvPr/>
            </p:nvSpPr>
            <p:spPr>
              <a:xfrm>
                <a:off x="0" y="-76200"/>
                <a:ext cx="2672638"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Patrones de diseño</a:t>
                </a:r>
                <a:endParaRPr b="0" i="0" sz="1400" u="none" cap="none" strike="noStrike">
                  <a:solidFill>
                    <a:srgbClr val="000000"/>
                  </a:solidFill>
                  <a:latin typeface="Arial"/>
                  <a:ea typeface="Arial"/>
                  <a:cs typeface="Arial"/>
                  <a:sym typeface="Arial"/>
                </a:endParaRPr>
              </a:p>
            </p:txBody>
          </p:sp>
        </p:grpSp>
        <p:sp>
          <p:nvSpPr>
            <p:cNvPr id="132" name="Google Shape;132;p3"/>
            <p:cNvSpPr/>
            <p:nvPr/>
          </p:nvSpPr>
          <p:spPr>
            <a:xfrm>
              <a:off x="0" y="0"/>
              <a:ext cx="604478" cy="733459"/>
            </a:xfrm>
            <a:custGeom>
              <a:rect b="b" l="l" r="r" t="t"/>
              <a:pathLst>
                <a:path extrusionOk="0" h="733459" w="604478">
                  <a:moveTo>
                    <a:pt x="0" y="0"/>
                  </a:moveTo>
                  <a:lnTo>
                    <a:pt x="604478" y="0"/>
                  </a:lnTo>
                  <a:lnTo>
                    <a:pt x="604478" y="733459"/>
                  </a:lnTo>
                  <a:lnTo>
                    <a:pt x="0" y="733459"/>
                  </a:lnTo>
                  <a:lnTo>
                    <a:pt x="0" y="0"/>
                  </a:lnTo>
                  <a:close/>
                </a:path>
              </a:pathLst>
            </a:custGeom>
            <a:blipFill rotWithShape="1">
              <a:blip r:embed="rId5">
                <a:alphaModFix/>
              </a:blip>
              <a:stretch>
                <a:fillRect b="0" l="0" r="0" t="0"/>
              </a:stretch>
            </a:blipFill>
            <a:ln>
              <a:noFill/>
            </a:ln>
          </p:spPr>
        </p:sp>
      </p:grpSp>
      <p:grpSp>
        <p:nvGrpSpPr>
          <p:cNvPr id="133" name="Google Shape;133;p3"/>
          <p:cNvGrpSpPr/>
          <p:nvPr/>
        </p:nvGrpSpPr>
        <p:grpSpPr>
          <a:xfrm>
            <a:off x="878654" y="5399321"/>
            <a:ext cx="8265346" cy="845385"/>
            <a:chOff x="0" y="-238638"/>
            <a:chExt cx="11020461" cy="1127181"/>
          </a:xfrm>
        </p:grpSpPr>
        <p:grpSp>
          <p:nvGrpSpPr>
            <p:cNvPr id="134" name="Google Shape;134;p3"/>
            <p:cNvGrpSpPr/>
            <p:nvPr/>
          </p:nvGrpSpPr>
          <p:grpSpPr>
            <a:xfrm>
              <a:off x="1317780" y="-238638"/>
              <a:ext cx="9702681" cy="1127181"/>
              <a:chOff x="0" y="-76200"/>
              <a:chExt cx="3098191" cy="359923"/>
            </a:xfrm>
          </p:grpSpPr>
          <p:sp>
            <p:nvSpPr>
              <p:cNvPr id="135" name="Google Shape;135;p3"/>
              <p:cNvSpPr/>
              <p:nvPr/>
            </p:nvSpPr>
            <p:spPr>
              <a:xfrm>
                <a:off x="0" y="0"/>
                <a:ext cx="3098191" cy="283723"/>
              </a:xfrm>
              <a:custGeom>
                <a:rect b="b" l="l" r="r" t="t"/>
                <a:pathLst>
                  <a:path extrusionOk="0" h="283723" w="3098191">
                    <a:moveTo>
                      <a:pt x="2894991" y="0"/>
                    </a:moveTo>
                    <a:lnTo>
                      <a:pt x="0" y="0"/>
                    </a:lnTo>
                    <a:lnTo>
                      <a:pt x="0" y="283723"/>
                    </a:lnTo>
                    <a:lnTo>
                      <a:pt x="2894991" y="283723"/>
                    </a:lnTo>
                    <a:lnTo>
                      <a:pt x="3098191" y="141862"/>
                    </a:lnTo>
                    <a:lnTo>
                      <a:pt x="2894991" y="0"/>
                    </a:lnTo>
                    <a:close/>
                  </a:path>
                </a:pathLst>
              </a:custGeom>
              <a:solidFill>
                <a:srgbClr val="FFFFFF"/>
              </a:solidFill>
              <a:ln>
                <a:noFill/>
              </a:ln>
            </p:spPr>
          </p:sp>
          <p:sp>
            <p:nvSpPr>
              <p:cNvPr id="136" name="Google Shape;136;p3"/>
              <p:cNvSpPr txBox="1"/>
              <p:nvPr/>
            </p:nvSpPr>
            <p:spPr>
              <a:xfrm>
                <a:off x="0" y="-76200"/>
                <a:ext cx="298389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Patrón interprete</a:t>
                </a:r>
                <a:endParaRPr b="0" i="0" sz="1400" u="none" cap="none" strike="noStrike">
                  <a:solidFill>
                    <a:srgbClr val="000000"/>
                  </a:solidFill>
                  <a:latin typeface="Arial"/>
                  <a:ea typeface="Arial"/>
                  <a:cs typeface="Arial"/>
                  <a:sym typeface="Arial"/>
                </a:endParaRPr>
              </a:p>
            </p:txBody>
          </p:sp>
        </p:grpSp>
        <p:sp>
          <p:nvSpPr>
            <p:cNvPr id="137" name="Google Shape;137;p3"/>
            <p:cNvSpPr/>
            <p:nvPr/>
          </p:nvSpPr>
          <p:spPr>
            <a:xfrm>
              <a:off x="0" y="0"/>
              <a:ext cx="604478" cy="733459"/>
            </a:xfrm>
            <a:custGeom>
              <a:rect b="b" l="l" r="r" t="t"/>
              <a:pathLst>
                <a:path extrusionOk="0" h="733459" w="604478">
                  <a:moveTo>
                    <a:pt x="0" y="0"/>
                  </a:moveTo>
                  <a:lnTo>
                    <a:pt x="604478" y="0"/>
                  </a:lnTo>
                  <a:lnTo>
                    <a:pt x="604478" y="733459"/>
                  </a:lnTo>
                  <a:lnTo>
                    <a:pt x="0" y="733459"/>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4" title="Gemini_Generated_Image_sfb0qdsfb0qdsfb0.png"/>
          <p:cNvPicPr preferRelativeResize="0"/>
          <p:nvPr/>
        </p:nvPicPr>
        <p:blipFill>
          <a:blip r:embed="rId3">
            <a:alphaModFix/>
          </a:blip>
          <a:stretch>
            <a:fillRect/>
          </a:stretch>
        </p:blipFill>
        <p:spPr>
          <a:xfrm>
            <a:off x="0" y="3113989"/>
            <a:ext cx="5234360" cy="7173012"/>
          </a:xfrm>
          <a:prstGeom prst="rect">
            <a:avLst/>
          </a:prstGeom>
          <a:noFill/>
          <a:ln>
            <a:noFill/>
          </a:ln>
        </p:spPr>
      </p:pic>
      <p:sp>
        <p:nvSpPr>
          <p:cNvPr id="143" name="Google Shape;143;p4"/>
          <p:cNvSpPr txBox="1"/>
          <p:nvPr/>
        </p:nvSpPr>
        <p:spPr>
          <a:xfrm>
            <a:off x="3862667" y="4049338"/>
            <a:ext cx="10562665" cy="29413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0" i="0" lang="en-US" sz="4200" u="none" cap="none" strike="noStrike">
                <a:solidFill>
                  <a:srgbClr val="131416"/>
                </a:solidFill>
                <a:latin typeface="Open Sans"/>
                <a:ea typeface="Open Sans"/>
                <a:cs typeface="Open Sans"/>
                <a:sym typeface="Open Sans"/>
              </a:rPr>
              <a:t>Aplica el patrón Intérprete integrando validaciones semánticas y ejecución de sentencias para prototipar lenguajes de dominio específico </a:t>
            </a:r>
            <a:endParaRPr b="0" i="0" sz="1400" u="none" cap="none" strike="noStrike">
              <a:solidFill>
                <a:srgbClr val="000000"/>
              </a:solidFill>
              <a:latin typeface="Arial"/>
              <a:ea typeface="Arial"/>
              <a:cs typeface="Arial"/>
              <a:sym typeface="Arial"/>
            </a:endParaRPr>
          </a:p>
        </p:txBody>
      </p:sp>
      <p:sp>
        <p:nvSpPr>
          <p:cNvPr id="144" name="Google Shape;144;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nvSpPr>
        <p:spPr>
          <a:xfrm>
            <a:off x="1028700" y="2116140"/>
            <a:ext cx="16230600" cy="3745865"/>
          </a:xfrm>
          <a:prstGeom prst="rect">
            <a:avLst/>
          </a:prstGeom>
          <a:noFill/>
          <a:ln>
            <a:noFill/>
          </a:ln>
        </p:spPr>
        <p:txBody>
          <a:bodyPr anchorCtr="0" anchor="t" bIns="0" lIns="0" spcFirstLastPara="1" rIns="0" wrap="square" tIns="0">
            <a:spAutoFit/>
          </a:bodyPr>
          <a:lstStyle/>
          <a:p>
            <a:pPr indent="0" lvl="0" marL="0" marR="0" rtl="0" algn="just">
              <a:lnSpc>
                <a:spcPct val="173000"/>
              </a:lnSpc>
              <a:spcBef>
                <a:spcPts val="0"/>
              </a:spcBef>
              <a:spcAft>
                <a:spcPts val="0"/>
              </a:spcAft>
              <a:buClr>
                <a:srgbClr val="000000"/>
              </a:buClr>
              <a:buSzPts val="3500"/>
              <a:buFont typeface="Arial"/>
              <a:buNone/>
            </a:pPr>
            <a:r>
              <a:rPr b="0" i="0" lang="en-US" sz="3500" u="none" cap="none" strike="noStrike">
                <a:solidFill>
                  <a:srgbClr val="131416"/>
                </a:solidFill>
                <a:latin typeface="Arial"/>
                <a:ea typeface="Arial"/>
                <a:cs typeface="Arial"/>
                <a:sym typeface="Arial"/>
              </a:rPr>
              <a:t>Los patrones de diseño son elementos reutilizables creados para resolver problemas comunes. Es importante aclarar que para utilizar este tipo de soluciones debemos conocer en profundidad el sistema que estamos desarrollando, así como también el problema que queremos abordar.</a:t>
            </a:r>
            <a:endParaRPr b="0" i="0" sz="1400" u="none" cap="none" strike="noStrike">
              <a:solidFill>
                <a:srgbClr val="000000"/>
              </a:solidFill>
              <a:latin typeface="Arial"/>
              <a:ea typeface="Arial"/>
              <a:cs typeface="Arial"/>
              <a:sym typeface="Arial"/>
            </a:endParaRPr>
          </a:p>
        </p:txBody>
      </p:sp>
      <p:sp>
        <p:nvSpPr>
          <p:cNvPr id="150" name="Google Shape;150;p5"/>
          <p:cNvSpPr txBox="1"/>
          <p:nvPr/>
        </p:nvSpPr>
        <p:spPr>
          <a:xfrm>
            <a:off x="102870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PATRONES DE DISEÑO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nvSpPr>
        <p:spPr>
          <a:xfrm>
            <a:off x="485775" y="2972595"/>
            <a:ext cx="16773525" cy="7264017"/>
          </a:xfrm>
          <a:prstGeom prst="rect">
            <a:avLst/>
          </a:prstGeom>
          <a:noFill/>
          <a:ln>
            <a:noFill/>
          </a:ln>
        </p:spPr>
        <p:txBody>
          <a:bodyPr anchorCtr="0" anchor="t" bIns="0" lIns="0" spcFirstLastPara="1" rIns="0" wrap="square" tIns="0">
            <a:spAutoFit/>
          </a:bodyPr>
          <a:lstStyle/>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Nombre del Patrón</a:t>
            </a:r>
            <a:r>
              <a:rPr b="0" i="0" lang="en-US" sz="2600" u="none" cap="none" strike="noStrike">
                <a:solidFill>
                  <a:srgbClr val="131416"/>
                </a:solidFill>
                <a:latin typeface="Arial"/>
                <a:ea typeface="Arial"/>
                <a:cs typeface="Arial"/>
                <a:sym typeface="Arial"/>
              </a:rPr>
              <a:t>: Incrementa el vocabulario de diseños, nos permite describirlo con un nivel alto de abstracción, así como identificar exactamente el patrón del que se debate o propone. Encontrar buenos nombres con lleva un esfuerzo.</a:t>
            </a:r>
            <a:endParaRPr b="0" i="0" sz="1400" u="none" cap="none" strike="noStrike">
              <a:solidFill>
                <a:srgbClr val="000000"/>
              </a:solidFill>
              <a:latin typeface="Arial"/>
              <a:ea typeface="Arial"/>
              <a:cs typeface="Arial"/>
              <a:sym typeface="Arial"/>
            </a:endParaRPr>
          </a:p>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El problema</a:t>
            </a:r>
            <a:r>
              <a:rPr b="0" i="0" lang="en-US" sz="2600" u="none" cap="none" strike="noStrike">
                <a:solidFill>
                  <a:srgbClr val="131416"/>
                </a:solidFill>
                <a:latin typeface="Arial"/>
                <a:ea typeface="Arial"/>
                <a:cs typeface="Arial"/>
                <a:sym typeface="Arial"/>
              </a:rPr>
              <a:t>: Describe cuándo aplicar un patrón y en qué contexto. Representa los algoritmos en objetos. Describe una lista de condiciones que se deben cumplir para aplicar el patrón.</a:t>
            </a:r>
            <a:endParaRPr b="0" i="0" sz="1400" u="none" cap="none" strike="noStrike">
              <a:solidFill>
                <a:srgbClr val="000000"/>
              </a:solidFill>
              <a:latin typeface="Arial"/>
              <a:ea typeface="Arial"/>
              <a:cs typeface="Arial"/>
              <a:sym typeface="Arial"/>
            </a:endParaRPr>
          </a:p>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La solución</a:t>
            </a:r>
            <a:r>
              <a:rPr b="0" i="0" lang="en-US" sz="2600" u="none" cap="none" strike="noStrike">
                <a:solidFill>
                  <a:srgbClr val="131416"/>
                </a:solidFill>
                <a:latin typeface="Arial"/>
                <a:ea typeface="Arial"/>
                <a:cs typeface="Arial"/>
                <a:sym typeface="Arial"/>
              </a:rPr>
              <a:t>: Representa los elemento que forman al patrón. No describe un diseño o implementación concreta puesto que el patrón es una plantilla aplicable a diferentes situaciones.</a:t>
            </a:r>
            <a:endParaRPr b="0" i="0" sz="1400" u="none" cap="none" strike="noStrike">
              <a:solidFill>
                <a:srgbClr val="000000"/>
              </a:solidFill>
              <a:latin typeface="Arial"/>
              <a:ea typeface="Arial"/>
              <a:cs typeface="Arial"/>
              <a:sym typeface="Arial"/>
            </a:endParaRPr>
          </a:p>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Las consecuencias</a:t>
            </a:r>
            <a:r>
              <a:rPr b="0" i="0" lang="en-US" sz="2600" u="none" cap="none" strike="noStrike">
                <a:solidFill>
                  <a:srgbClr val="131416"/>
                </a:solidFill>
                <a:latin typeface="Arial"/>
                <a:ea typeface="Arial"/>
                <a:cs typeface="Arial"/>
                <a:sym typeface="Arial"/>
              </a:rPr>
              <a:t>: Son los resultados obtenidos luego de aplicar el patrón. Usualmente no lo toman en cuenta al diseñar una solución, sim embargo, son importantes para evaluar el diseño respecto a costos y beneficios.</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600"/>
              <a:buFont typeface="Arial"/>
              <a:buNone/>
            </a:pPr>
            <a:r>
              <a:t/>
            </a:r>
            <a:endParaRPr b="0" i="0" sz="2600" u="none" cap="none" strike="noStrike">
              <a:solidFill>
                <a:srgbClr val="131416"/>
              </a:solidFill>
              <a:latin typeface="Arial"/>
              <a:ea typeface="Arial"/>
              <a:cs typeface="Arial"/>
              <a:sym typeface="Arial"/>
            </a:endParaRPr>
          </a:p>
        </p:txBody>
      </p:sp>
      <p:sp>
        <p:nvSpPr>
          <p:cNvPr id="156" name="Google Shape;156;p6"/>
          <p:cNvSpPr txBox="1"/>
          <p:nvPr/>
        </p:nvSpPr>
        <p:spPr>
          <a:xfrm>
            <a:off x="1028700" y="1009650"/>
            <a:ext cx="16230600"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ELEMENTOS DE UN PATRÓN DE DISEÑO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nvSpPr>
        <p:spPr>
          <a:xfrm>
            <a:off x="485775" y="2972595"/>
            <a:ext cx="16773525" cy="6702042"/>
          </a:xfrm>
          <a:prstGeom prst="rect">
            <a:avLst/>
          </a:prstGeom>
          <a:noFill/>
          <a:ln>
            <a:noFill/>
          </a:ln>
        </p:spPr>
        <p:txBody>
          <a:bodyPr anchorCtr="0" anchor="t" bIns="0" lIns="0" spcFirstLastPara="1" rIns="0" wrap="square" tIns="0">
            <a:spAutoFit/>
          </a:bodyPr>
          <a:lstStyle/>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Creacionales</a:t>
            </a:r>
            <a:r>
              <a:rPr b="0" i="0" lang="en-US" sz="2600" u="none" cap="none" strike="noStrike">
                <a:solidFill>
                  <a:srgbClr val="131416"/>
                </a:solidFill>
                <a:latin typeface="Arial"/>
                <a:ea typeface="Arial"/>
                <a:cs typeface="Arial"/>
                <a:sym typeface="Arial"/>
              </a:rPr>
              <a:t>: Se enfocan en el proceso de la creación de objetos. Los que se basan en clases posponen parte de la creación de objetos a las subclases, mientras que los patrones de objetos creacionales lo posponen a otro objeto.</a:t>
            </a:r>
            <a:endParaRPr b="0" i="0" sz="1400" u="none" cap="none" strike="noStrike">
              <a:solidFill>
                <a:srgbClr val="000000"/>
              </a:solidFill>
              <a:latin typeface="Arial"/>
              <a:ea typeface="Arial"/>
              <a:cs typeface="Arial"/>
              <a:sym typeface="Arial"/>
            </a:endParaRPr>
          </a:p>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Estructurales</a:t>
            </a:r>
            <a:r>
              <a:rPr b="0" i="0" lang="en-US" sz="2600" u="none" cap="none" strike="noStrike">
                <a:solidFill>
                  <a:srgbClr val="131416"/>
                </a:solidFill>
                <a:latin typeface="Arial"/>
                <a:ea typeface="Arial"/>
                <a:cs typeface="Arial"/>
                <a:sym typeface="Arial"/>
              </a:rPr>
              <a:t>: Tratan con la composición de las clases u objetos. Los patrones estructurales de clase herencia para componer clases, mientras que los patrones de objetos estructurales describen formas de ensamblar objetos.</a:t>
            </a:r>
            <a:endParaRPr b="0" i="0" sz="1400" u="none" cap="none" strike="noStrike">
              <a:solidFill>
                <a:srgbClr val="000000"/>
              </a:solidFill>
              <a:latin typeface="Arial"/>
              <a:ea typeface="Arial"/>
              <a:cs typeface="Arial"/>
              <a:sym typeface="Arial"/>
            </a:endParaRPr>
          </a:p>
          <a:p>
            <a:pPr indent="-374228"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Conductuales</a:t>
            </a:r>
            <a:r>
              <a:rPr b="0" i="0" lang="en-US" sz="2600" u="none" cap="none" strike="noStrike">
                <a:solidFill>
                  <a:srgbClr val="131416"/>
                </a:solidFill>
                <a:latin typeface="Arial"/>
                <a:ea typeface="Arial"/>
                <a:cs typeface="Arial"/>
                <a:sym typeface="Arial"/>
              </a:rPr>
              <a:t>: Se enfocan en la forma en que las clases y objetos interaccionan entre sí y cómo distribuyen la responsabilidad. Los patrones de clase utilizan la herencia para describir algoritmos y el flujo de control. Los patrones de objetos describen cómo un grupo de objetos cooperan para realizar una tarea que ningún objeto puede llevar a cabo solo.</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600"/>
              <a:buFont typeface="Arial"/>
              <a:buNone/>
            </a:pPr>
            <a:r>
              <a:t/>
            </a:r>
            <a:endParaRPr b="0" i="0" sz="26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600"/>
              <a:buFont typeface="Arial"/>
              <a:buNone/>
            </a:pPr>
            <a:r>
              <a:t/>
            </a:r>
            <a:endParaRPr b="0" i="0" sz="2600" u="none" cap="none" strike="noStrike">
              <a:solidFill>
                <a:srgbClr val="131416"/>
              </a:solidFill>
              <a:latin typeface="Arial"/>
              <a:ea typeface="Arial"/>
              <a:cs typeface="Arial"/>
              <a:sym typeface="Arial"/>
            </a:endParaRPr>
          </a:p>
        </p:txBody>
      </p:sp>
      <p:sp>
        <p:nvSpPr>
          <p:cNvPr id="162" name="Google Shape;162;p7"/>
          <p:cNvSpPr txBox="1"/>
          <p:nvPr/>
        </p:nvSpPr>
        <p:spPr>
          <a:xfrm>
            <a:off x="1028700" y="1009650"/>
            <a:ext cx="11888278"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CLASIFICACIÓN POR PROPÓSITO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p:nvPr/>
        </p:nvSpPr>
        <p:spPr>
          <a:xfrm>
            <a:off x="2461492" y="3477931"/>
            <a:ext cx="13365004" cy="5780341"/>
          </a:xfrm>
          <a:custGeom>
            <a:rect b="b" l="l" r="r" t="t"/>
            <a:pathLst>
              <a:path extrusionOk="0" h="7707122" w="17820005">
                <a:moveTo>
                  <a:pt x="0" y="0"/>
                </a:moveTo>
                <a:lnTo>
                  <a:pt x="17820005" y="0"/>
                </a:lnTo>
                <a:lnTo>
                  <a:pt x="17820005" y="7707122"/>
                </a:lnTo>
                <a:lnTo>
                  <a:pt x="0" y="7707122"/>
                </a:lnTo>
                <a:lnTo>
                  <a:pt x="0" y="0"/>
                </a:lnTo>
                <a:close/>
              </a:path>
            </a:pathLst>
          </a:custGeom>
          <a:blipFill rotWithShape="1">
            <a:blip r:embed="rId3">
              <a:alphaModFix/>
            </a:blip>
            <a:stretch>
              <a:fillRect b="-27" l="0" r="0" t="-29"/>
            </a:stretch>
          </a:blipFill>
          <a:ln>
            <a:noFill/>
          </a:ln>
        </p:spPr>
      </p:sp>
      <p:sp>
        <p:nvSpPr>
          <p:cNvPr id="168" name="Google Shape;168;p8"/>
          <p:cNvSpPr txBox="1"/>
          <p:nvPr/>
        </p:nvSpPr>
        <p:spPr>
          <a:xfrm>
            <a:off x="1028700" y="1009650"/>
            <a:ext cx="11064170"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CLASIFICACIÓN DE PATRONES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nvSpPr>
        <p:spPr>
          <a:xfrm>
            <a:off x="1028700" y="1009650"/>
            <a:ext cx="16230600"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PATRÓN INTERPRETER</a:t>
            </a:r>
            <a:endParaRPr b="0" i="0" sz="1400" u="none" cap="none" strike="noStrike">
              <a:solidFill>
                <a:srgbClr val="000000"/>
              </a:solidFill>
              <a:latin typeface="Arial"/>
              <a:ea typeface="Arial"/>
              <a:cs typeface="Arial"/>
              <a:sym typeface="Arial"/>
            </a:endParaRPr>
          </a:p>
        </p:txBody>
      </p:sp>
      <p:sp>
        <p:nvSpPr>
          <p:cNvPr id="174" name="Google Shape;174;p9"/>
          <p:cNvSpPr txBox="1"/>
          <p:nvPr/>
        </p:nvSpPr>
        <p:spPr>
          <a:xfrm>
            <a:off x="1028700" y="2144715"/>
            <a:ext cx="16230600" cy="8120125"/>
          </a:xfrm>
          <a:prstGeom prst="rect">
            <a:avLst/>
          </a:prstGeom>
          <a:noFill/>
          <a:ln>
            <a:noFill/>
          </a:ln>
        </p:spPr>
        <p:txBody>
          <a:bodyPr anchorCtr="0" anchor="t" bIns="0" lIns="0" spcFirstLastPara="1" rIns="0" wrap="square" tIns="0">
            <a:spAutoFit/>
          </a:bodyPr>
          <a:lstStyle/>
          <a:p>
            <a:pPr indent="0" lvl="0" marL="0" marR="0" rtl="0" algn="just">
              <a:lnSpc>
                <a:spcPct val="173000"/>
              </a:lnSpc>
              <a:spcBef>
                <a:spcPts val="0"/>
              </a:spcBef>
              <a:spcAft>
                <a:spcPts val="0"/>
              </a:spcAft>
              <a:buClr>
                <a:srgbClr val="000000"/>
              </a:buClr>
              <a:buSzPts val="2900"/>
              <a:buFont typeface="Arial"/>
              <a:buNone/>
            </a:pPr>
            <a:r>
              <a:rPr b="0" i="0" lang="en-US" sz="2900" u="none" cap="none" strike="noStrike">
                <a:solidFill>
                  <a:srgbClr val="131416"/>
                </a:solidFill>
                <a:latin typeface="Arial"/>
                <a:ea typeface="Arial"/>
                <a:cs typeface="Arial"/>
                <a:sym typeface="Arial"/>
              </a:rPr>
              <a:t>El patrón de diseño Interpreter es un patrón de diseño estructural que se utiliza para dar una interpretación a un lenguaje específico. </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rPr b="0" i="0" lang="en-US" sz="2900" u="none" cap="none" strike="noStrike">
                <a:solidFill>
                  <a:srgbClr val="131416"/>
                </a:solidFill>
                <a:latin typeface="Arial"/>
                <a:ea typeface="Arial"/>
                <a:cs typeface="Arial"/>
                <a:sym typeface="Arial"/>
              </a:rPr>
              <a:t>Esto se logra mediante la creación de un intérprete que se encarga de analizar y ejecutar las instrucciones del lenguaje.</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rPr b="0" i="0" lang="en-US" sz="2900" u="none" cap="none" strike="noStrike">
                <a:solidFill>
                  <a:srgbClr val="131416"/>
                </a:solidFill>
                <a:latin typeface="Arial"/>
                <a:ea typeface="Arial"/>
                <a:cs typeface="Arial"/>
                <a:sym typeface="Arial"/>
              </a:rPr>
              <a:t>Este patrón es útil cuando se desea crear un lenguaje de programación propio o cuando se necesita interpretar un lenguaje de programación existente de una manera diferente.</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rPr b="0" i="0" lang="en-US" sz="2900" u="none" cap="none" strike="noStrike">
                <a:solidFill>
                  <a:srgbClr val="131416"/>
                </a:solidFill>
                <a:latin typeface="Arial"/>
                <a:ea typeface="Arial"/>
                <a:cs typeface="Arial"/>
                <a:sym typeface="Arial"/>
              </a:rPr>
              <a:t>En resumen, con este patrón evaluar un lenguaje a través de una interfaz que indique el contexto en el cual se interpreta</a:t>
            </a:r>
            <a:endParaRPr b="0" i="0" sz="1400" u="none" cap="none" strike="noStrike">
              <a:solidFill>
                <a:srgbClr val="000000"/>
              </a:solidFill>
              <a:latin typeface="Arial"/>
              <a:ea typeface="Arial"/>
              <a:cs typeface="Arial"/>
              <a:sym typeface="Arial"/>
            </a:endParaRPr>
          </a:p>
          <a:p>
            <a:pPr indent="0" lvl="0" marL="0" marR="0" rtl="0" algn="just">
              <a:lnSpc>
                <a:spcPct val="173000"/>
              </a:lnSpc>
              <a:spcBef>
                <a:spcPts val="0"/>
              </a:spcBef>
              <a:spcAft>
                <a:spcPts val="0"/>
              </a:spcAft>
              <a:buClr>
                <a:srgbClr val="000000"/>
              </a:buClr>
              <a:buSzPts val="2900"/>
              <a:buFont typeface="Arial"/>
              <a:buNone/>
            </a:pPr>
            <a:r>
              <a:t/>
            </a:r>
            <a:endParaRPr b="0" i="0" sz="290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nvSpPr>
        <p:spPr>
          <a:xfrm>
            <a:off x="1028700" y="1009650"/>
            <a:ext cx="16230600"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PATRÓN INTERPRETER</a:t>
            </a:r>
            <a:endParaRPr b="0" i="0" sz="1400" u="none" cap="none" strike="noStrike">
              <a:solidFill>
                <a:srgbClr val="000000"/>
              </a:solidFill>
              <a:latin typeface="Arial"/>
              <a:ea typeface="Arial"/>
              <a:cs typeface="Arial"/>
              <a:sym typeface="Arial"/>
            </a:endParaRPr>
          </a:p>
        </p:txBody>
      </p:sp>
      <p:sp>
        <p:nvSpPr>
          <p:cNvPr id="180" name="Google Shape;180;p10"/>
          <p:cNvSpPr/>
          <p:nvPr/>
        </p:nvSpPr>
        <p:spPr>
          <a:xfrm>
            <a:off x="4319023" y="2673386"/>
            <a:ext cx="9649968" cy="6997637"/>
          </a:xfrm>
          <a:custGeom>
            <a:rect b="b" l="l" r="r" t="t"/>
            <a:pathLst>
              <a:path extrusionOk="0" h="9330182" w="12866624">
                <a:moveTo>
                  <a:pt x="0" y="0"/>
                </a:moveTo>
                <a:lnTo>
                  <a:pt x="12866624" y="0"/>
                </a:lnTo>
                <a:lnTo>
                  <a:pt x="12866624" y="9330182"/>
                </a:lnTo>
                <a:lnTo>
                  <a:pt x="0" y="933018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nvSpPr>
        <p:spPr>
          <a:xfrm>
            <a:off x="102870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EJEMPLO PRÁCTICO</a:t>
            </a:r>
            <a:endParaRPr b="0" i="0" sz="1400" u="none" cap="none" strike="noStrike">
              <a:solidFill>
                <a:srgbClr val="000000"/>
              </a:solidFill>
              <a:latin typeface="Arial"/>
              <a:ea typeface="Arial"/>
              <a:cs typeface="Arial"/>
              <a:sym typeface="Arial"/>
            </a:endParaRPr>
          </a:p>
        </p:txBody>
      </p:sp>
      <p:grpSp>
        <p:nvGrpSpPr>
          <p:cNvPr id="186" name="Google Shape;186;p11"/>
          <p:cNvGrpSpPr/>
          <p:nvPr/>
        </p:nvGrpSpPr>
        <p:grpSpPr>
          <a:xfrm>
            <a:off x="5872015" y="2556391"/>
            <a:ext cx="6543970" cy="6512264"/>
            <a:chOff x="0" y="0"/>
            <a:chExt cx="8725294" cy="8683018"/>
          </a:xfrm>
        </p:grpSpPr>
        <p:sp>
          <p:nvSpPr>
            <p:cNvPr id="187" name="Google Shape;187;p11"/>
            <p:cNvSpPr/>
            <p:nvPr/>
          </p:nvSpPr>
          <p:spPr>
            <a:xfrm>
              <a:off x="0" y="0"/>
              <a:ext cx="2740491" cy="2740491"/>
            </a:xfrm>
            <a:custGeom>
              <a:rect b="b" l="l" r="r" t="t"/>
              <a:pathLst>
                <a:path extrusionOk="0" h="2740491" w="2740491">
                  <a:moveTo>
                    <a:pt x="0" y="0"/>
                  </a:moveTo>
                  <a:lnTo>
                    <a:pt x="2740491" y="0"/>
                  </a:lnTo>
                  <a:lnTo>
                    <a:pt x="2740491" y="2740491"/>
                  </a:lnTo>
                  <a:lnTo>
                    <a:pt x="0" y="2740491"/>
                  </a:lnTo>
                  <a:lnTo>
                    <a:pt x="0" y="0"/>
                  </a:lnTo>
                  <a:close/>
                </a:path>
              </a:pathLst>
            </a:custGeom>
            <a:blipFill rotWithShape="1">
              <a:blip r:embed="rId3">
                <a:alphaModFix/>
              </a:blip>
              <a:stretch>
                <a:fillRect b="0" l="0" r="0" t="0"/>
              </a:stretch>
            </a:blipFill>
            <a:ln>
              <a:noFill/>
            </a:ln>
          </p:spPr>
        </p:sp>
        <p:sp>
          <p:nvSpPr>
            <p:cNvPr id="188" name="Google Shape;188;p11"/>
            <p:cNvSpPr/>
            <p:nvPr/>
          </p:nvSpPr>
          <p:spPr>
            <a:xfrm>
              <a:off x="3183102" y="3252396"/>
              <a:ext cx="2359091" cy="2359091"/>
            </a:xfrm>
            <a:custGeom>
              <a:rect b="b" l="l" r="r" t="t"/>
              <a:pathLst>
                <a:path extrusionOk="0" h="2359091" w="2359091">
                  <a:moveTo>
                    <a:pt x="0" y="0"/>
                  </a:moveTo>
                  <a:lnTo>
                    <a:pt x="2359090" y="0"/>
                  </a:lnTo>
                  <a:lnTo>
                    <a:pt x="2359090" y="2359091"/>
                  </a:lnTo>
                  <a:lnTo>
                    <a:pt x="0" y="2359091"/>
                  </a:lnTo>
                  <a:lnTo>
                    <a:pt x="0" y="0"/>
                  </a:lnTo>
                  <a:close/>
                </a:path>
              </a:pathLst>
            </a:custGeom>
            <a:blipFill rotWithShape="1">
              <a:blip r:embed="rId4">
                <a:alphaModFix/>
              </a:blip>
              <a:stretch>
                <a:fillRect b="0" l="0" r="0" t="0"/>
              </a:stretch>
            </a:blipFill>
            <a:ln>
              <a:noFill/>
            </a:ln>
          </p:spPr>
        </p:sp>
        <p:sp>
          <p:nvSpPr>
            <p:cNvPr id="189" name="Google Shape;189;p11"/>
            <p:cNvSpPr/>
            <p:nvPr/>
          </p:nvSpPr>
          <p:spPr>
            <a:xfrm>
              <a:off x="5984803" y="5942527"/>
              <a:ext cx="2740491" cy="2740491"/>
            </a:xfrm>
            <a:custGeom>
              <a:rect b="b" l="l" r="r" t="t"/>
              <a:pathLst>
                <a:path extrusionOk="0" h="2740491" w="2740491">
                  <a:moveTo>
                    <a:pt x="0" y="0"/>
                  </a:moveTo>
                  <a:lnTo>
                    <a:pt x="2740491" y="0"/>
                  </a:lnTo>
                  <a:lnTo>
                    <a:pt x="2740491" y="2740491"/>
                  </a:lnTo>
                  <a:lnTo>
                    <a:pt x="0" y="2740491"/>
                  </a:lnTo>
                  <a:lnTo>
                    <a:pt x="0" y="0"/>
                  </a:lnTo>
                  <a:close/>
                </a:path>
              </a:pathLst>
            </a:custGeom>
            <a:blipFill rotWithShape="1">
              <a:blip r:embed="rId5">
                <a:alphaModFix/>
              </a:blip>
              <a:stretch>
                <a:fillRect b="0" l="0" r="0" t="0"/>
              </a:stretch>
            </a:blipFill>
            <a:ln>
              <a:noFill/>
            </a:ln>
          </p:spPr>
        </p:sp>
        <p:cxnSp>
          <p:nvCxnSpPr>
            <p:cNvPr id="190" name="Google Shape;190;p11"/>
            <p:cNvCxnSpPr/>
            <p:nvPr/>
          </p:nvCxnSpPr>
          <p:spPr>
            <a:xfrm>
              <a:off x="1370246" y="3185368"/>
              <a:ext cx="1711256" cy="1246574"/>
            </a:xfrm>
            <a:prstGeom prst="straightConnector1">
              <a:avLst/>
            </a:prstGeom>
            <a:noFill/>
            <a:ln cap="flat" cmpd="sng" w="127000">
              <a:solidFill>
                <a:srgbClr val="000000"/>
              </a:solidFill>
              <a:prstDash val="solid"/>
              <a:round/>
              <a:headEnd len="sm" w="sm" type="none"/>
              <a:tailEnd len="med" w="med" type="stealth"/>
            </a:ln>
          </p:spPr>
        </p:cxnSp>
        <p:cxnSp>
          <p:nvCxnSpPr>
            <p:cNvPr id="191" name="Google Shape;191;p11"/>
            <p:cNvCxnSpPr/>
            <p:nvPr/>
          </p:nvCxnSpPr>
          <p:spPr>
            <a:xfrm>
              <a:off x="5643792" y="4364914"/>
              <a:ext cx="1711256" cy="1246574"/>
            </a:xfrm>
            <a:prstGeom prst="straightConnector1">
              <a:avLst/>
            </a:prstGeom>
            <a:noFill/>
            <a:ln cap="flat" cmpd="sng" w="127000">
              <a:solidFill>
                <a:srgbClr val="000000"/>
              </a:solidFill>
              <a:prstDash val="solid"/>
              <a:round/>
              <a:headEnd len="sm" w="sm" type="none"/>
              <a:tailEnd len="med" w="med" type="stealth"/>
            </a:ln>
          </p:spPr>
        </p:cxn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nvSpPr>
        <p:spPr>
          <a:xfrm>
            <a:off x="1028700" y="1000125"/>
            <a:ext cx="16230600"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VALORES APLICADOS</a:t>
            </a:r>
            <a:endParaRPr b="0" i="0" sz="1400" u="none" cap="none" strike="noStrike">
              <a:solidFill>
                <a:srgbClr val="000000"/>
              </a:solidFill>
              <a:latin typeface="Arial"/>
              <a:ea typeface="Arial"/>
              <a:cs typeface="Arial"/>
              <a:sym typeface="Arial"/>
            </a:endParaRPr>
          </a:p>
        </p:txBody>
      </p:sp>
      <p:sp>
        <p:nvSpPr>
          <p:cNvPr id="197" name="Google Shape;197;p13"/>
          <p:cNvSpPr txBox="1"/>
          <p:nvPr/>
        </p:nvSpPr>
        <p:spPr>
          <a:xfrm>
            <a:off x="1028700" y="2470150"/>
            <a:ext cx="16230600" cy="4930775"/>
          </a:xfrm>
          <a:prstGeom prst="rect">
            <a:avLst/>
          </a:prstGeom>
          <a:noFill/>
          <a:ln>
            <a:noFill/>
          </a:ln>
        </p:spPr>
        <p:txBody>
          <a:bodyPr anchorCtr="0" anchor="t" bIns="0" lIns="0" spcFirstLastPara="1" rIns="0" wrap="square" tIns="0">
            <a:spAutoFit/>
          </a:bodyPr>
          <a:lstStyle/>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Innovación</a:t>
            </a:r>
            <a:r>
              <a:rPr b="0" i="0" lang="en-US" sz="3500" u="none" cap="none" strike="noStrike">
                <a:solidFill>
                  <a:srgbClr val="131416"/>
                </a:solidFill>
                <a:latin typeface="Arial"/>
                <a:ea typeface="Arial"/>
                <a:cs typeface="Arial"/>
                <a:sym typeface="Arial"/>
              </a:rPr>
              <a:t>: El estudiante explora el patrón Intérprete como una forma moderna y flexible de ejecutar lenguajes de dominio específico.</a:t>
            </a:r>
            <a:endParaRPr b="0" i="0" sz="1400" u="none" cap="none" strike="noStrike">
              <a:solidFill>
                <a:srgbClr val="000000"/>
              </a:solidFill>
              <a:latin typeface="Arial"/>
              <a:ea typeface="Arial"/>
              <a:cs typeface="Arial"/>
              <a:sym typeface="Arial"/>
            </a:endParaRPr>
          </a:p>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Responsabilidad</a:t>
            </a:r>
            <a:r>
              <a:rPr b="0" i="0" lang="en-US" sz="3500" u="none" cap="none" strike="noStrike">
                <a:solidFill>
                  <a:srgbClr val="131416"/>
                </a:solidFill>
                <a:latin typeface="Arial"/>
                <a:ea typeface="Arial"/>
                <a:cs typeface="Arial"/>
                <a:sym typeface="Arial"/>
              </a:rPr>
              <a:t>: El seguimiento de la implementación y la participación en la conferencia del laboratorio requiere compromiso</a:t>
            </a:r>
            <a:endParaRPr b="0" i="0" sz="1400" u="none" cap="none" strike="noStrike">
              <a:solidFill>
                <a:srgbClr val="000000"/>
              </a:solidFill>
              <a:latin typeface="Arial"/>
              <a:ea typeface="Arial"/>
              <a:cs typeface="Arial"/>
              <a:sym typeface="Arial"/>
            </a:endParaRPr>
          </a:p>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Resiliencia</a:t>
            </a:r>
            <a:r>
              <a:rPr b="0" i="0" lang="en-US" sz="3500" u="none" cap="none" strike="noStrike">
                <a:solidFill>
                  <a:srgbClr val="131416"/>
                </a:solidFill>
                <a:latin typeface="Arial"/>
                <a:ea typeface="Arial"/>
                <a:cs typeface="Arial"/>
                <a:sym typeface="Arial"/>
              </a:rPr>
              <a:t>: La depuración de un intérprete puede conllevar errores complejos, lo que refuerza la perseverancia del estudiante.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REFERENCIAS </a:t>
            </a:r>
            <a:endParaRPr b="0" i="0" sz="1400" u="none" cap="none" strike="noStrike">
              <a:solidFill>
                <a:srgbClr val="000000"/>
              </a:solidFill>
              <a:latin typeface="Arial"/>
              <a:ea typeface="Arial"/>
              <a:cs typeface="Arial"/>
              <a:sym typeface="Arial"/>
            </a:endParaRPr>
          </a:p>
        </p:txBody>
      </p:sp>
      <p:sp>
        <p:nvSpPr>
          <p:cNvPr id="203" name="Google Shape;203;p14"/>
          <p:cNvSpPr txBox="1"/>
          <p:nvPr/>
        </p:nvSpPr>
        <p:spPr>
          <a:xfrm>
            <a:off x="1426545" y="3735726"/>
            <a:ext cx="15434910" cy="2748874"/>
          </a:xfrm>
          <a:prstGeom prst="rect">
            <a:avLst/>
          </a:prstGeom>
          <a:noFill/>
          <a:ln>
            <a:noFill/>
          </a:ln>
        </p:spPr>
        <p:txBody>
          <a:bodyPr anchorCtr="0" anchor="t" bIns="0" lIns="0" spcFirstLastPara="1" rIns="0" wrap="square" tIns="0">
            <a:spAutoFit/>
          </a:bodyPr>
          <a:lstStyle/>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Jison / Documentation. (s. f.). https://gerhobbelt.github.io/jison/docs/</a:t>
            </a:r>
            <a:endParaRPr b="0" i="0" sz="1400" u="none" cap="none" strike="noStrike">
              <a:solidFill>
                <a:srgbClr val="000000"/>
              </a:solidFill>
              <a:latin typeface="Arial"/>
              <a:ea typeface="Arial"/>
              <a:cs typeface="Arial"/>
              <a:sym typeface="Arial"/>
            </a:endParaRPr>
          </a:p>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Compiladores : principios, técnicas y herramientas. (s. f.). Biblioteca Central USAC. https://biblos.usac.edu.gt/opac/record/271?&amp;query=@autor=FLORES%20SUAREZ,%20PEDRO&amp;recnum=1</a:t>
            </a:r>
            <a:endParaRPr b="0" i="0" sz="1400" u="none" cap="none" strike="noStrike">
              <a:solidFill>
                <a:srgbClr val="000000"/>
              </a:solidFill>
              <a:latin typeface="Arial"/>
              <a:ea typeface="Arial"/>
              <a:cs typeface="Arial"/>
              <a:sym typeface="Arial"/>
            </a:endParaRPr>
          </a:p>
          <a:p>
            <a:pPr indent="0" lvl="0" marL="0" marR="0" rtl="0" algn="just">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9f43e9c7d0_0_0"/>
          <p:cNvSpPr txBox="1"/>
          <p:nvPr/>
        </p:nvSpPr>
        <p:spPr>
          <a:xfrm>
            <a:off x="5791489" y="6796953"/>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 ¿?</a:t>
            </a:r>
            <a:endParaRPr b="0" i="0" sz="1400" u="none" cap="none" strike="noStrike">
              <a:solidFill>
                <a:srgbClr val="000000"/>
              </a:solidFill>
              <a:latin typeface="Arial"/>
              <a:ea typeface="Arial"/>
              <a:cs typeface="Arial"/>
              <a:sym typeface="Arial"/>
            </a:endParaRPr>
          </a:p>
        </p:txBody>
      </p:sp>
      <p:pic>
        <p:nvPicPr>
          <p:cNvPr id="209" name="Google Shape;209;g39f43e9c7d0_0_0" title="Gemini_Generated_Image_1od44x1od44x1od4.png"/>
          <p:cNvPicPr preferRelativeResize="0"/>
          <p:nvPr/>
        </p:nvPicPr>
        <p:blipFill rotWithShape="1">
          <a:blip r:embed="rId3">
            <a:alphaModFix/>
          </a:blip>
          <a:srcRect b="0" l="0" r="0" t="0"/>
          <a:stretch/>
        </p:blipFill>
        <p:spPr>
          <a:xfrm>
            <a:off x="4576287" y="699975"/>
            <a:ext cx="9135424" cy="56918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9f43e9c7d0_0_5"/>
          <p:cNvSpPr txBox="1"/>
          <p:nvPr/>
        </p:nvSpPr>
        <p:spPr>
          <a:xfrm>
            <a:off x="4571995" y="517605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15" name="Google Shape;215;g39f43e9c7d0_0_5"/>
          <p:cNvSpPr/>
          <p:nvPr/>
        </p:nvSpPr>
        <p:spPr>
          <a:xfrm>
            <a:off x="7765363" y="5966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16" name="Google Shape;216;g39f43e9c7d0_0_5"/>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