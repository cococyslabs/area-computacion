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y="10287000" cx="18288000"/>
  <p:notesSz cx="6858000" cy="9144000"/>
  <p:embeddedFontLst>
    <p:embeddedFont>
      <p:font typeface="Lobster"/>
      <p:regular r:id="rId22"/>
    </p:embeddedFont>
    <p:embeddedFont>
      <p:font typeface="Pacifico"/>
      <p:regular r:id="rId23"/>
    </p:embeddedFont>
    <p:embeddedFont>
      <p:font typeface="Open Sans"/>
      <p:regular r:id="rId24"/>
      <p:bold r:id="rId25"/>
      <p:italic r:id="rId26"/>
      <p:boldItalic r:id="rId2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28" roundtripDataSignature="AMtx7miwo1KqjlzRHa3mTL8ePLqQLsqNv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EE2A6C39-6FF6-47ED-B362-6C4640FCD516}">
  <a:tblStyle styleId="{EE2A6C39-6FF6-47ED-B362-6C4640FCD516}" styleName="Table_0">
    <a:wholeTbl>
      <a:tcTxStyle b="off" i="off">
        <a:font>
          <a:latin typeface="Arial"/>
          <a:ea typeface="Arial"/>
          <a:cs typeface="Arial"/>
        </a:font>
        <a:srgbClr val="000000"/>
      </a:tcTx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  <a:tblStyle styleId="{5B32E43A-21BC-4AA7-AF8F-1C642B7C9512}" styleName="Table_1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font" Target="fonts/Lobster-regular.fntdata"/><Relationship Id="rId21" Type="http://schemas.openxmlformats.org/officeDocument/2006/relationships/slide" Target="slides/slide15.xml"/><Relationship Id="rId24" Type="http://schemas.openxmlformats.org/officeDocument/2006/relationships/font" Target="fonts/OpenSans-regular.fntdata"/><Relationship Id="rId23" Type="http://schemas.openxmlformats.org/officeDocument/2006/relationships/font" Target="fonts/Pacifico-regular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OpenSans-italic.fntdata"/><Relationship Id="rId25" Type="http://schemas.openxmlformats.org/officeDocument/2006/relationships/font" Target="fonts/OpenSans-bold.fntdata"/><Relationship Id="rId28" Type="http://customschemas.google.com/relationships/presentationmetadata" Target="metadata"/><Relationship Id="rId27" Type="http://schemas.openxmlformats.org/officeDocument/2006/relationships/font" Target="fonts/OpenSans-boldItalic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64afea4f63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6" name="Google Shape;86;g364afea4f63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4" name="Google Shape;94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5" name="Google Shape;105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43" name="Google Shape;143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52" name="Google Shape;152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39ebdb8f0ba_0_1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8" name="Google Shape;158;g39ebdb8f0ba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39ebdb8f0ba_0_2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3" name="Google Shape;163;g39ebdb8f0ba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69" name="Google Shape;169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77" name="Google Shape;177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83" name="Google Shape;183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g364f262177b_0_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0" name="Google Shape;190;g364f262177b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g364afea4f63_0_14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8" name="Google Shape;198;g364afea4f63_0_1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385e2d797db_0_1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5" name="Google Shape;205;g385e2d797db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g364afea4f63_0_14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6" name="Google Shape;216;g364afea4f63_0_1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22" name="Google Shape;222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g385e2d797db_0_67"/>
          <p:cNvSpPr txBox="1"/>
          <p:nvPr>
            <p:ph type="title"/>
          </p:nvPr>
        </p:nvSpPr>
        <p:spPr>
          <a:xfrm>
            <a:off x="623400" y="890050"/>
            <a:ext cx="17041200" cy="11454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9pPr>
          </a:lstStyle>
          <a:p/>
        </p:txBody>
      </p:sp>
      <p:sp>
        <p:nvSpPr>
          <p:cNvPr id="17" name="Google Shape;17;g385e2d797db_0_67"/>
          <p:cNvSpPr txBox="1"/>
          <p:nvPr>
            <p:ph idx="1" type="body"/>
          </p:nvPr>
        </p:nvSpPr>
        <p:spPr>
          <a:xfrm>
            <a:off x="623400" y="2304950"/>
            <a:ext cx="17041200" cy="68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rmAutofit/>
          </a:bodyPr>
          <a:lstStyle>
            <a:lvl1pPr indent="-4572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Char char="●"/>
              <a:defRPr/>
            </a:lvl1pPr>
            <a:lvl2pPr indent="-4064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  <a:defRPr/>
            </a:lvl2pPr>
            <a:lvl3pPr indent="-4064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■"/>
              <a:defRPr/>
            </a:lvl3pPr>
            <a:lvl4pPr indent="-4064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  <a:defRPr/>
            </a:lvl4pPr>
            <a:lvl5pPr indent="-4064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  <a:defRPr/>
            </a:lvl5pPr>
            <a:lvl6pPr indent="-4064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■"/>
              <a:defRPr/>
            </a:lvl6pPr>
            <a:lvl7pPr indent="-4064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  <a:defRPr/>
            </a:lvl7pPr>
            <a:lvl8pPr indent="-4064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  <a:defRPr/>
            </a:lvl8pPr>
            <a:lvl9pPr indent="-4064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■"/>
              <a:defRPr/>
            </a:lvl9pPr>
          </a:lstStyle>
          <a:p/>
        </p:txBody>
      </p:sp>
      <p:sp>
        <p:nvSpPr>
          <p:cNvPr id="18" name="Google Shape;18;g385e2d797db_0_67"/>
          <p:cNvSpPr txBox="1"/>
          <p:nvPr>
            <p:ph idx="12" type="sldNum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12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12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2" name="Google Shape;22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1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13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8" name="Google Shape;28;p1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1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14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14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4" name="Google Shape;34;p1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1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1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5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40" name="Google Shape;40;p15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41" name="Google Shape;41;p1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1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16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7" name="Google Shape;47;p16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8" name="Google Shape;48;p16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9" name="Google Shape;49;p16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50" name="Google Shape;50;p1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1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1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8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8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1" name="Google Shape;61;p18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2" name="Google Shape;62;p1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1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9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9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19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9" name="Google Shape;69;p1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1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2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20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2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2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21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21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2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2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2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FFFFF">
                <a:alpha val="0"/>
              </a:srgbClr>
            </a:gs>
            <a:gs pos="72000">
              <a:srgbClr val="CCCCCC"/>
            </a:gs>
            <a:gs pos="100000">
              <a:srgbClr val="737373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0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7.png"/><Relationship Id="rId4" Type="http://schemas.openxmlformats.org/officeDocument/2006/relationships/image" Target="../media/image8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Relationship Id="rId4" Type="http://schemas.openxmlformats.org/officeDocument/2006/relationships/image" Target="../media/image1.png"/><Relationship Id="rId5" Type="http://schemas.openxmlformats.org/officeDocument/2006/relationships/image" Target="../media/image7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7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3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4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9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5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364afea4f63_0_0"/>
          <p:cNvSpPr/>
          <p:nvPr/>
        </p:nvSpPr>
        <p:spPr>
          <a:xfrm>
            <a:off x="217102" y="0"/>
            <a:ext cx="18254198" cy="10287002"/>
          </a:xfrm>
          <a:custGeom>
            <a:rect b="b" l="l" r="r" t="t"/>
            <a:pathLst>
              <a:path extrusionOk="0" h="10287002" w="18254198">
                <a:moveTo>
                  <a:pt x="0" y="0"/>
                </a:moveTo>
                <a:lnTo>
                  <a:pt x="18254198" y="0"/>
                </a:lnTo>
                <a:lnTo>
                  <a:pt x="18254198" y="10287002"/>
                </a:lnTo>
                <a:lnTo>
                  <a:pt x="0" y="1028700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aphicFrame>
        <p:nvGraphicFramePr>
          <p:cNvPr id="89" name="Google Shape;89;g364afea4f63_0_0"/>
          <p:cNvGraphicFramePr/>
          <p:nvPr/>
        </p:nvGraphicFramePr>
        <p:xfrm>
          <a:off x="10656400" y="19400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{EE2A6C39-6FF6-47ED-B362-6C4640FCD516}</a:tableStyleId>
              </a:tblPr>
              <a:tblGrid>
                <a:gridCol w="3030175"/>
                <a:gridCol w="4335825"/>
              </a:tblGrid>
              <a:tr h="7167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40"/>
                        <a:buFont typeface="Arial"/>
                        <a:buNone/>
                      </a:pPr>
                      <a:r>
                        <a:rPr b="1" lang="en-US" sz="284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Día, Fecha:</a:t>
                      </a:r>
                      <a:endParaRPr sz="1100" u="none" cap="none" strike="noStrike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2000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799"/>
                        <a:buFont typeface="Arial"/>
                        <a:buNone/>
                      </a:pPr>
                      <a:r>
                        <a:rPr lang="en-US" sz="2799"/>
                        <a:t>10/02</a:t>
                      </a:r>
                      <a:r>
                        <a:rPr lang="en-US" sz="2799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/202</a:t>
                      </a:r>
                      <a:r>
                        <a:rPr lang="en-US" sz="2799"/>
                        <a:t>6</a:t>
                      </a:r>
                      <a:endParaRPr sz="1100" u="none" cap="none" strike="noStrike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167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40"/>
                        <a:buFont typeface="Arial"/>
                        <a:buNone/>
                      </a:pPr>
                      <a:r>
                        <a:rPr b="1" lang="en-US" sz="284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Hora de inicio:</a:t>
                      </a:r>
                      <a:endParaRPr sz="1100" u="none" cap="none" strike="noStrike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2000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799"/>
                        <a:buFont typeface="Arial"/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90" name="Google Shape;90;g364afea4f63_0_0"/>
          <p:cNvSpPr/>
          <p:nvPr/>
        </p:nvSpPr>
        <p:spPr>
          <a:xfrm>
            <a:off x="3598050" y="5988675"/>
            <a:ext cx="7365000" cy="7245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0" i="0" lang="en-US" sz="2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NOMBRE DEL TUTOR</a:t>
            </a:r>
            <a:endParaRPr b="0" i="0" sz="26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g364afea4f63_0_0"/>
          <p:cNvSpPr/>
          <p:nvPr/>
        </p:nvSpPr>
        <p:spPr>
          <a:xfrm>
            <a:off x="3090925" y="4781250"/>
            <a:ext cx="10142100" cy="7245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</a:pPr>
            <a:r>
              <a:rPr b="0" i="0" lang="en-US" sz="3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Organización de Lenguajes y Compiladores 1</a:t>
            </a:r>
            <a:endParaRPr b="0" i="0" sz="3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"/>
          <p:cNvSpPr/>
          <p:nvPr/>
        </p:nvSpPr>
        <p:spPr>
          <a:xfrm>
            <a:off x="12541309" y="6021878"/>
            <a:ext cx="4160184" cy="4114800"/>
          </a:xfrm>
          <a:custGeom>
            <a:rect b="b" l="l" r="r" t="t"/>
            <a:pathLst>
              <a:path extrusionOk="0" h="4114800" w="4160184">
                <a:moveTo>
                  <a:pt x="0" y="0"/>
                </a:moveTo>
                <a:lnTo>
                  <a:pt x="4160184" y="0"/>
                </a:lnTo>
                <a:lnTo>
                  <a:pt x="416018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97" name="Google Shape;97;p1"/>
          <p:cNvSpPr txBox="1"/>
          <p:nvPr/>
        </p:nvSpPr>
        <p:spPr>
          <a:xfrm>
            <a:off x="756224" y="6021875"/>
            <a:ext cx="8526600" cy="184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</a:pPr>
            <a:r>
              <a:rPr b="1" i="0" lang="en-US" sz="5000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Organización de Lenguajes y Compiladores 1</a:t>
            </a:r>
            <a:endParaRPr b="1" i="0" sz="5000" u="none" cap="none" strike="noStrike">
              <a:solidFill>
                <a:srgbClr val="131416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98" name="Google Shape;98;p1"/>
          <p:cNvSpPr txBox="1"/>
          <p:nvPr/>
        </p:nvSpPr>
        <p:spPr>
          <a:xfrm>
            <a:off x="2591255" y="2167474"/>
            <a:ext cx="12375000" cy="14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200"/>
              <a:buFont typeface="Arial"/>
              <a:buNone/>
            </a:pPr>
            <a:r>
              <a:rPr b="1" i="0" lang="en-US" sz="9200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Tablas de Símbolos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" name="Google Shape;99;p1"/>
          <p:cNvSpPr txBox="1"/>
          <p:nvPr/>
        </p:nvSpPr>
        <p:spPr>
          <a:xfrm>
            <a:off x="1063303" y="8745251"/>
            <a:ext cx="6981379" cy="422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99"/>
              <a:buFont typeface="Arial"/>
              <a:buNone/>
            </a:pPr>
            <a:r>
              <a:rPr b="1" i="0" lang="en-US" sz="2499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Escuela de Ingenieria de Ciencias Y Sistemas</a:t>
            </a:r>
            <a:endParaRPr b="1" i="0" sz="2499" u="none" cap="none" strike="noStrike">
              <a:solidFill>
                <a:srgbClr val="131416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00" name="Google Shape;100;p1"/>
          <p:cNvSpPr txBox="1"/>
          <p:nvPr/>
        </p:nvSpPr>
        <p:spPr>
          <a:xfrm>
            <a:off x="1028700" y="9210675"/>
            <a:ext cx="6667500" cy="422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99"/>
              <a:buFont typeface="Arial"/>
              <a:buNone/>
            </a:pPr>
            <a:r>
              <a:rPr b="1" i="0" lang="en-US" sz="2499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Facultad de Ingenieria</a:t>
            </a:r>
            <a:endParaRPr b="1" i="0" sz="2499" u="none" cap="none" strike="noStrike">
              <a:solidFill>
                <a:srgbClr val="131416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01" name="Google Shape;101;p1"/>
          <p:cNvSpPr txBox="1"/>
          <p:nvPr/>
        </p:nvSpPr>
        <p:spPr>
          <a:xfrm>
            <a:off x="228600" y="9588254"/>
            <a:ext cx="8115300" cy="4193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99"/>
              <a:buFont typeface="Arial"/>
              <a:buNone/>
            </a:pPr>
            <a:r>
              <a:rPr b="1" i="0" lang="en-US" sz="2499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Universidad de San Carlos de Guatemala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2" name="Google Shape;102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044675" y="0"/>
            <a:ext cx="10243325" cy="106701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7" name="Google Shape;107;p2"/>
          <p:cNvGrpSpPr/>
          <p:nvPr/>
        </p:nvGrpSpPr>
        <p:grpSpPr>
          <a:xfrm>
            <a:off x="176619" y="4520484"/>
            <a:ext cx="4613551" cy="845566"/>
            <a:chOff x="0" y="-76200"/>
            <a:chExt cx="1964221" cy="360000"/>
          </a:xfrm>
        </p:grpSpPr>
        <p:sp>
          <p:nvSpPr>
            <p:cNvPr id="108" name="Google Shape;108;p2"/>
            <p:cNvSpPr/>
            <p:nvPr/>
          </p:nvSpPr>
          <p:spPr>
            <a:xfrm>
              <a:off x="0" y="0"/>
              <a:ext cx="1964221" cy="283723"/>
            </a:xfrm>
            <a:custGeom>
              <a:rect b="b" l="l" r="r" t="t"/>
              <a:pathLst>
                <a:path extrusionOk="0" h="283723" w="1964221">
                  <a:moveTo>
                    <a:pt x="1761021" y="0"/>
                  </a:moveTo>
                  <a:lnTo>
                    <a:pt x="0" y="0"/>
                  </a:lnTo>
                  <a:lnTo>
                    <a:pt x="0" y="283723"/>
                  </a:lnTo>
                  <a:lnTo>
                    <a:pt x="1761021" y="283723"/>
                  </a:lnTo>
                  <a:lnTo>
                    <a:pt x="1964221" y="141862"/>
                  </a:lnTo>
                  <a:lnTo>
                    <a:pt x="176102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109" name="Google Shape;109;p2"/>
            <p:cNvSpPr txBox="1"/>
            <p:nvPr/>
          </p:nvSpPr>
          <p:spPr>
            <a:xfrm>
              <a:off x="0" y="-76200"/>
              <a:ext cx="1849800" cy="36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801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799"/>
                <a:buFont typeface="Arial"/>
                <a:buNone/>
              </a:pPr>
              <a:r>
                <a:rPr b="0" i="0" lang="en-US" sz="2799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TEMA 1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10" name="Google Shape;110;p2"/>
          <p:cNvSpPr/>
          <p:nvPr/>
        </p:nvSpPr>
        <p:spPr>
          <a:xfrm>
            <a:off x="878654" y="4740441"/>
            <a:ext cx="453358" cy="550094"/>
          </a:xfrm>
          <a:custGeom>
            <a:rect b="b" l="l" r="r" t="t"/>
            <a:pathLst>
              <a:path extrusionOk="0" h="550094" w="453358">
                <a:moveTo>
                  <a:pt x="0" y="0"/>
                </a:moveTo>
                <a:lnTo>
                  <a:pt x="453359" y="0"/>
                </a:lnTo>
                <a:lnTo>
                  <a:pt x="453359" y="550094"/>
                </a:lnTo>
                <a:lnTo>
                  <a:pt x="0" y="55009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111" name="Google Shape;111;p2"/>
          <p:cNvGrpSpPr/>
          <p:nvPr/>
        </p:nvGrpSpPr>
        <p:grpSpPr>
          <a:xfrm>
            <a:off x="1866989" y="3013983"/>
            <a:ext cx="4115190" cy="1556484"/>
            <a:chOff x="0" y="-76200"/>
            <a:chExt cx="1083836" cy="409938"/>
          </a:xfrm>
        </p:grpSpPr>
        <p:sp>
          <p:nvSpPr>
            <p:cNvPr id="112" name="Google Shape;112;p2"/>
            <p:cNvSpPr/>
            <p:nvPr/>
          </p:nvSpPr>
          <p:spPr>
            <a:xfrm>
              <a:off x="0" y="0"/>
              <a:ext cx="1083836" cy="333738"/>
            </a:xfrm>
            <a:custGeom>
              <a:rect b="b" l="l" r="r" t="t"/>
              <a:pathLst>
                <a:path extrusionOk="0" h="333738" w="1083836">
                  <a:moveTo>
                    <a:pt x="880636" y="0"/>
                  </a:moveTo>
                  <a:lnTo>
                    <a:pt x="0" y="0"/>
                  </a:lnTo>
                  <a:lnTo>
                    <a:pt x="0" y="333738"/>
                  </a:lnTo>
                  <a:lnTo>
                    <a:pt x="880636" y="333738"/>
                  </a:lnTo>
                  <a:lnTo>
                    <a:pt x="1083836" y="166869"/>
                  </a:lnTo>
                  <a:lnTo>
                    <a:pt x="88063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113" name="Google Shape;113;p2"/>
            <p:cNvSpPr txBox="1"/>
            <p:nvPr/>
          </p:nvSpPr>
          <p:spPr>
            <a:xfrm>
              <a:off x="0" y="-76200"/>
              <a:ext cx="969536" cy="40993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801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799"/>
                <a:buFont typeface="Arial"/>
                <a:buNone/>
              </a:pPr>
              <a:r>
                <a:rPr b="0" i="0" lang="en-US" sz="2799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RECORDATORIOS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14" name="Google Shape;114;p2"/>
          <p:cNvSpPr/>
          <p:nvPr/>
        </p:nvSpPr>
        <p:spPr>
          <a:xfrm>
            <a:off x="651754" y="3429735"/>
            <a:ext cx="753892" cy="872928"/>
          </a:xfrm>
          <a:custGeom>
            <a:rect b="b" l="l" r="r" t="t"/>
            <a:pathLst>
              <a:path extrusionOk="0" h="872928" w="753892">
                <a:moveTo>
                  <a:pt x="0" y="0"/>
                </a:moveTo>
                <a:lnTo>
                  <a:pt x="753892" y="0"/>
                </a:lnTo>
                <a:lnTo>
                  <a:pt x="753892" y="872927"/>
                </a:lnTo>
                <a:lnTo>
                  <a:pt x="0" y="87292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15" name="Google Shape;115;p2"/>
          <p:cNvSpPr txBox="1"/>
          <p:nvPr/>
        </p:nvSpPr>
        <p:spPr>
          <a:xfrm>
            <a:off x="651749" y="490900"/>
            <a:ext cx="7710301" cy="2308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0"/>
              <a:buFont typeface="Arial"/>
              <a:buNone/>
            </a:pPr>
            <a:r>
              <a:rPr b="0" i="0" lang="en-US" sz="15000" u="none" cap="none" strike="noStrike">
                <a:solidFill>
                  <a:srgbClr val="131416"/>
                </a:solidFill>
                <a:latin typeface="Pacifico"/>
                <a:ea typeface="Pacifico"/>
                <a:cs typeface="Pacifico"/>
                <a:sym typeface="Pacifico"/>
              </a:rPr>
              <a:t>Agenda</a:t>
            </a:r>
            <a:endParaRPr b="0" i="0" sz="1400" u="none" cap="none" strike="noStrike">
              <a:solidFill>
                <a:srgbClr val="000000"/>
              </a:solidFill>
              <a:latin typeface="Pacifico"/>
              <a:ea typeface="Pacifico"/>
              <a:cs typeface="Pacifico"/>
              <a:sym typeface="Pacifico"/>
            </a:endParaRPr>
          </a:p>
        </p:txBody>
      </p:sp>
      <p:sp>
        <p:nvSpPr>
          <p:cNvPr id="116" name="Google Shape;116;p2"/>
          <p:cNvSpPr txBox="1"/>
          <p:nvPr/>
        </p:nvSpPr>
        <p:spPr>
          <a:xfrm>
            <a:off x="10105990" y="390767"/>
            <a:ext cx="8416800" cy="230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0"/>
              <a:buFont typeface="Arial"/>
              <a:buNone/>
            </a:pPr>
            <a:r>
              <a:rPr b="0" i="0" lang="en-US" sz="15000" u="none" cap="none" strike="noStrike">
                <a:solidFill>
                  <a:srgbClr val="131416"/>
                </a:solidFill>
                <a:latin typeface="Lobster"/>
                <a:ea typeface="Lobster"/>
                <a:cs typeface="Lobster"/>
                <a:sym typeface="Lobster"/>
              </a:rPr>
              <a:t>Recursos</a:t>
            </a:r>
            <a:endParaRPr b="0" i="0" sz="1400" u="none" cap="none" strike="noStrike">
              <a:solidFill>
                <a:srgbClr val="000000"/>
              </a:solidFill>
              <a:latin typeface="Lobster"/>
              <a:ea typeface="Lobster"/>
              <a:cs typeface="Lobster"/>
              <a:sym typeface="Lobster"/>
            </a:endParaRPr>
          </a:p>
        </p:txBody>
      </p:sp>
      <p:grpSp>
        <p:nvGrpSpPr>
          <p:cNvPr id="117" name="Google Shape;117;p2"/>
          <p:cNvGrpSpPr/>
          <p:nvPr/>
        </p:nvGrpSpPr>
        <p:grpSpPr>
          <a:xfrm>
            <a:off x="11739805" y="2798634"/>
            <a:ext cx="5353646" cy="1701145"/>
            <a:chOff x="0" y="-114300"/>
            <a:chExt cx="1410014" cy="448038"/>
          </a:xfrm>
        </p:grpSpPr>
        <p:sp>
          <p:nvSpPr>
            <p:cNvPr id="118" name="Google Shape;118;p2"/>
            <p:cNvSpPr/>
            <p:nvPr/>
          </p:nvSpPr>
          <p:spPr>
            <a:xfrm>
              <a:off x="0" y="0"/>
              <a:ext cx="1410014" cy="333738"/>
            </a:xfrm>
            <a:custGeom>
              <a:rect b="b" l="l" r="r" t="t"/>
              <a:pathLst>
                <a:path extrusionOk="0" h="333738" w="1410014">
                  <a:moveTo>
                    <a:pt x="1206814" y="0"/>
                  </a:moveTo>
                  <a:lnTo>
                    <a:pt x="0" y="0"/>
                  </a:lnTo>
                  <a:lnTo>
                    <a:pt x="0" y="333738"/>
                  </a:lnTo>
                  <a:lnTo>
                    <a:pt x="1206814" y="333738"/>
                  </a:lnTo>
                  <a:lnTo>
                    <a:pt x="1410014" y="166869"/>
                  </a:lnTo>
                  <a:lnTo>
                    <a:pt x="1206814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119" name="Google Shape;119;p2"/>
            <p:cNvSpPr txBox="1"/>
            <p:nvPr/>
          </p:nvSpPr>
          <p:spPr>
            <a:xfrm>
              <a:off x="0" y="-114300"/>
              <a:ext cx="1295714" cy="44803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801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499"/>
                <a:buFont typeface="Arial"/>
                <a:buNone/>
              </a:pPr>
              <a:r>
                <a:rPr b="0" i="0" lang="en-US" sz="4499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Link del Video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20" name="Google Shape;120;p2"/>
          <p:cNvGrpSpPr/>
          <p:nvPr/>
        </p:nvGrpSpPr>
        <p:grpSpPr>
          <a:xfrm>
            <a:off x="11739805" y="4598683"/>
            <a:ext cx="5353646" cy="1701145"/>
            <a:chOff x="0" y="-114300"/>
            <a:chExt cx="1410014" cy="448038"/>
          </a:xfrm>
        </p:grpSpPr>
        <p:sp>
          <p:nvSpPr>
            <p:cNvPr id="121" name="Google Shape;121;p2"/>
            <p:cNvSpPr/>
            <p:nvPr/>
          </p:nvSpPr>
          <p:spPr>
            <a:xfrm>
              <a:off x="0" y="0"/>
              <a:ext cx="1410014" cy="333738"/>
            </a:xfrm>
            <a:custGeom>
              <a:rect b="b" l="l" r="r" t="t"/>
              <a:pathLst>
                <a:path extrusionOk="0" h="333738" w="1410014">
                  <a:moveTo>
                    <a:pt x="1206814" y="0"/>
                  </a:moveTo>
                  <a:lnTo>
                    <a:pt x="0" y="0"/>
                  </a:lnTo>
                  <a:lnTo>
                    <a:pt x="0" y="333738"/>
                  </a:lnTo>
                  <a:lnTo>
                    <a:pt x="1206814" y="333738"/>
                  </a:lnTo>
                  <a:lnTo>
                    <a:pt x="1410014" y="166869"/>
                  </a:lnTo>
                  <a:lnTo>
                    <a:pt x="1206814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122" name="Google Shape;122;p2"/>
            <p:cNvSpPr txBox="1"/>
            <p:nvPr/>
          </p:nvSpPr>
          <p:spPr>
            <a:xfrm>
              <a:off x="0" y="-114300"/>
              <a:ext cx="1295714" cy="44803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801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499"/>
                <a:buFont typeface="Arial"/>
                <a:buNone/>
              </a:pPr>
              <a:r>
                <a:rPr b="0" i="0" lang="en-US" sz="4499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Link de Quizziz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23" name="Google Shape;123;p2"/>
          <p:cNvGrpSpPr/>
          <p:nvPr/>
        </p:nvGrpSpPr>
        <p:grpSpPr>
          <a:xfrm>
            <a:off x="176619" y="5444302"/>
            <a:ext cx="4613551" cy="845385"/>
            <a:chOff x="0" y="-76200"/>
            <a:chExt cx="1964221" cy="359923"/>
          </a:xfrm>
        </p:grpSpPr>
        <p:sp>
          <p:nvSpPr>
            <p:cNvPr id="124" name="Google Shape;124;p2"/>
            <p:cNvSpPr/>
            <p:nvPr/>
          </p:nvSpPr>
          <p:spPr>
            <a:xfrm>
              <a:off x="0" y="0"/>
              <a:ext cx="1964221" cy="283723"/>
            </a:xfrm>
            <a:custGeom>
              <a:rect b="b" l="l" r="r" t="t"/>
              <a:pathLst>
                <a:path extrusionOk="0" h="283723" w="1964221">
                  <a:moveTo>
                    <a:pt x="1761021" y="0"/>
                  </a:moveTo>
                  <a:lnTo>
                    <a:pt x="0" y="0"/>
                  </a:lnTo>
                  <a:lnTo>
                    <a:pt x="0" y="283723"/>
                  </a:lnTo>
                  <a:lnTo>
                    <a:pt x="1761021" y="283723"/>
                  </a:lnTo>
                  <a:lnTo>
                    <a:pt x="1964221" y="141862"/>
                  </a:lnTo>
                  <a:lnTo>
                    <a:pt x="176102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125" name="Google Shape;125;p2"/>
            <p:cNvSpPr txBox="1"/>
            <p:nvPr/>
          </p:nvSpPr>
          <p:spPr>
            <a:xfrm>
              <a:off x="0" y="-76200"/>
              <a:ext cx="1849921" cy="35992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801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799"/>
                <a:buFont typeface="Arial"/>
                <a:buNone/>
              </a:pPr>
              <a:r>
                <a:rPr b="0" i="0" lang="en-US" sz="2799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TEMA 2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26" name="Google Shape;126;p2"/>
          <p:cNvGrpSpPr/>
          <p:nvPr/>
        </p:nvGrpSpPr>
        <p:grpSpPr>
          <a:xfrm>
            <a:off x="176619" y="6425875"/>
            <a:ext cx="4613551" cy="845385"/>
            <a:chOff x="0" y="-76200"/>
            <a:chExt cx="1964221" cy="359923"/>
          </a:xfrm>
        </p:grpSpPr>
        <p:sp>
          <p:nvSpPr>
            <p:cNvPr id="127" name="Google Shape;127;p2"/>
            <p:cNvSpPr/>
            <p:nvPr/>
          </p:nvSpPr>
          <p:spPr>
            <a:xfrm>
              <a:off x="0" y="0"/>
              <a:ext cx="1964221" cy="283723"/>
            </a:xfrm>
            <a:custGeom>
              <a:rect b="b" l="l" r="r" t="t"/>
              <a:pathLst>
                <a:path extrusionOk="0" h="283723" w="1964221">
                  <a:moveTo>
                    <a:pt x="1761021" y="0"/>
                  </a:moveTo>
                  <a:lnTo>
                    <a:pt x="0" y="0"/>
                  </a:lnTo>
                  <a:lnTo>
                    <a:pt x="0" y="283723"/>
                  </a:lnTo>
                  <a:lnTo>
                    <a:pt x="1761021" y="283723"/>
                  </a:lnTo>
                  <a:lnTo>
                    <a:pt x="1964221" y="141862"/>
                  </a:lnTo>
                  <a:lnTo>
                    <a:pt x="176102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128" name="Google Shape;128;p2"/>
            <p:cNvSpPr txBox="1"/>
            <p:nvPr/>
          </p:nvSpPr>
          <p:spPr>
            <a:xfrm>
              <a:off x="0" y="-76200"/>
              <a:ext cx="1849921" cy="35992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801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799"/>
                <a:buFont typeface="Arial"/>
                <a:buNone/>
              </a:pPr>
              <a:r>
                <a:rPr b="0" i="0" lang="en-US" sz="2799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TEMA 3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29" name="Google Shape;129;p2"/>
          <p:cNvGrpSpPr/>
          <p:nvPr/>
        </p:nvGrpSpPr>
        <p:grpSpPr>
          <a:xfrm>
            <a:off x="176619" y="7349457"/>
            <a:ext cx="4613551" cy="845385"/>
            <a:chOff x="0" y="-76200"/>
            <a:chExt cx="1964221" cy="359923"/>
          </a:xfrm>
        </p:grpSpPr>
        <p:sp>
          <p:nvSpPr>
            <p:cNvPr id="130" name="Google Shape;130;p2"/>
            <p:cNvSpPr/>
            <p:nvPr/>
          </p:nvSpPr>
          <p:spPr>
            <a:xfrm>
              <a:off x="0" y="0"/>
              <a:ext cx="1964221" cy="283723"/>
            </a:xfrm>
            <a:custGeom>
              <a:rect b="b" l="l" r="r" t="t"/>
              <a:pathLst>
                <a:path extrusionOk="0" h="283723" w="1964221">
                  <a:moveTo>
                    <a:pt x="1761021" y="0"/>
                  </a:moveTo>
                  <a:lnTo>
                    <a:pt x="0" y="0"/>
                  </a:lnTo>
                  <a:lnTo>
                    <a:pt x="0" y="283723"/>
                  </a:lnTo>
                  <a:lnTo>
                    <a:pt x="1761021" y="283723"/>
                  </a:lnTo>
                  <a:lnTo>
                    <a:pt x="1964221" y="141862"/>
                  </a:lnTo>
                  <a:lnTo>
                    <a:pt x="176102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131" name="Google Shape;131;p2"/>
            <p:cNvSpPr txBox="1"/>
            <p:nvPr/>
          </p:nvSpPr>
          <p:spPr>
            <a:xfrm>
              <a:off x="0" y="-76200"/>
              <a:ext cx="1849921" cy="35992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801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799"/>
                <a:buFont typeface="Arial"/>
                <a:buNone/>
              </a:pPr>
              <a:r>
                <a:rPr b="0" i="0" lang="en-US" sz="2799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TEMA 4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32" name="Google Shape;132;p2"/>
          <p:cNvGrpSpPr/>
          <p:nvPr/>
        </p:nvGrpSpPr>
        <p:grpSpPr>
          <a:xfrm>
            <a:off x="176619" y="8412915"/>
            <a:ext cx="4613551" cy="845385"/>
            <a:chOff x="0" y="-76200"/>
            <a:chExt cx="1964221" cy="359923"/>
          </a:xfrm>
        </p:grpSpPr>
        <p:sp>
          <p:nvSpPr>
            <p:cNvPr id="133" name="Google Shape;133;p2"/>
            <p:cNvSpPr/>
            <p:nvPr/>
          </p:nvSpPr>
          <p:spPr>
            <a:xfrm>
              <a:off x="0" y="0"/>
              <a:ext cx="1964221" cy="283723"/>
            </a:xfrm>
            <a:custGeom>
              <a:rect b="b" l="l" r="r" t="t"/>
              <a:pathLst>
                <a:path extrusionOk="0" h="283723" w="1964221">
                  <a:moveTo>
                    <a:pt x="1761021" y="0"/>
                  </a:moveTo>
                  <a:lnTo>
                    <a:pt x="0" y="0"/>
                  </a:lnTo>
                  <a:lnTo>
                    <a:pt x="0" y="283723"/>
                  </a:lnTo>
                  <a:lnTo>
                    <a:pt x="1761021" y="283723"/>
                  </a:lnTo>
                  <a:lnTo>
                    <a:pt x="1964221" y="141862"/>
                  </a:lnTo>
                  <a:lnTo>
                    <a:pt x="176102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134" name="Google Shape;134;p2"/>
            <p:cNvSpPr txBox="1"/>
            <p:nvPr/>
          </p:nvSpPr>
          <p:spPr>
            <a:xfrm>
              <a:off x="0" y="-76200"/>
              <a:ext cx="1849921" cy="35992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801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799"/>
                <a:buFont typeface="Arial"/>
                <a:buNone/>
              </a:pPr>
              <a:r>
                <a:rPr b="0" i="0" lang="en-US" sz="2799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TEMA 5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35" name="Google Shape;135;p2"/>
          <p:cNvSpPr/>
          <p:nvPr/>
        </p:nvSpPr>
        <p:spPr>
          <a:xfrm>
            <a:off x="878654" y="5623280"/>
            <a:ext cx="453358" cy="550094"/>
          </a:xfrm>
          <a:custGeom>
            <a:rect b="b" l="l" r="r" t="t"/>
            <a:pathLst>
              <a:path extrusionOk="0" h="550094" w="453358">
                <a:moveTo>
                  <a:pt x="0" y="0"/>
                </a:moveTo>
                <a:lnTo>
                  <a:pt x="453359" y="0"/>
                </a:lnTo>
                <a:lnTo>
                  <a:pt x="453359" y="550094"/>
                </a:lnTo>
                <a:lnTo>
                  <a:pt x="0" y="55009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36" name="Google Shape;136;p2"/>
          <p:cNvSpPr/>
          <p:nvPr/>
        </p:nvSpPr>
        <p:spPr>
          <a:xfrm>
            <a:off x="878654" y="6604853"/>
            <a:ext cx="453358" cy="550094"/>
          </a:xfrm>
          <a:custGeom>
            <a:rect b="b" l="l" r="r" t="t"/>
            <a:pathLst>
              <a:path extrusionOk="0" h="550094" w="453358">
                <a:moveTo>
                  <a:pt x="0" y="0"/>
                </a:moveTo>
                <a:lnTo>
                  <a:pt x="453359" y="0"/>
                </a:lnTo>
                <a:lnTo>
                  <a:pt x="453359" y="550094"/>
                </a:lnTo>
                <a:lnTo>
                  <a:pt x="0" y="55009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37" name="Google Shape;137;p2"/>
          <p:cNvSpPr/>
          <p:nvPr/>
        </p:nvSpPr>
        <p:spPr>
          <a:xfrm>
            <a:off x="878654" y="7604635"/>
            <a:ext cx="453358" cy="550094"/>
          </a:xfrm>
          <a:custGeom>
            <a:rect b="b" l="l" r="r" t="t"/>
            <a:pathLst>
              <a:path extrusionOk="0" h="550094" w="453358">
                <a:moveTo>
                  <a:pt x="0" y="0"/>
                </a:moveTo>
                <a:lnTo>
                  <a:pt x="453359" y="0"/>
                </a:lnTo>
                <a:lnTo>
                  <a:pt x="453359" y="550094"/>
                </a:lnTo>
                <a:lnTo>
                  <a:pt x="0" y="55009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38" name="Google Shape;138;p2"/>
          <p:cNvSpPr/>
          <p:nvPr/>
        </p:nvSpPr>
        <p:spPr>
          <a:xfrm>
            <a:off x="878654" y="8605540"/>
            <a:ext cx="453358" cy="550094"/>
          </a:xfrm>
          <a:custGeom>
            <a:rect b="b" l="l" r="r" t="t"/>
            <a:pathLst>
              <a:path extrusionOk="0" h="550094" w="453358">
                <a:moveTo>
                  <a:pt x="0" y="0"/>
                </a:moveTo>
                <a:lnTo>
                  <a:pt x="453359" y="0"/>
                </a:lnTo>
                <a:lnTo>
                  <a:pt x="453359" y="550095"/>
                </a:lnTo>
                <a:lnTo>
                  <a:pt x="0" y="55009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39" name="Google Shape;139;p2"/>
          <p:cNvSpPr/>
          <p:nvPr/>
        </p:nvSpPr>
        <p:spPr>
          <a:xfrm>
            <a:off x="6488300" y="5365870"/>
            <a:ext cx="4626468" cy="4575998"/>
          </a:xfrm>
          <a:custGeom>
            <a:rect b="b" l="l" r="r" t="t"/>
            <a:pathLst>
              <a:path extrusionOk="0" h="4575998" w="4626468">
                <a:moveTo>
                  <a:pt x="0" y="0"/>
                </a:moveTo>
                <a:lnTo>
                  <a:pt x="4626468" y="0"/>
                </a:lnTo>
                <a:lnTo>
                  <a:pt x="4626468" y="4575997"/>
                </a:lnTo>
                <a:lnTo>
                  <a:pt x="0" y="457599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40" name="Google Shape;140;p2"/>
          <p:cNvSpPr txBox="1"/>
          <p:nvPr/>
        </p:nvSpPr>
        <p:spPr>
          <a:xfrm>
            <a:off x="7087316" y="6295138"/>
            <a:ext cx="34284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8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41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3"/>
          <p:cNvSpPr txBox="1"/>
          <p:nvPr/>
        </p:nvSpPr>
        <p:spPr>
          <a:xfrm>
            <a:off x="1374889" y="654364"/>
            <a:ext cx="13991100" cy="9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1298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98"/>
              <a:buFont typeface="Arial"/>
              <a:buNone/>
            </a:pPr>
            <a:r>
              <a:rPr b="0" i="0" lang="en-US" sz="6098" u="none" cap="none" strike="noStrike">
                <a:solidFill>
                  <a:srgbClr val="131416"/>
                </a:solidFill>
                <a:latin typeface="Impact"/>
                <a:ea typeface="Impact"/>
                <a:cs typeface="Impact"/>
                <a:sym typeface="Impact"/>
              </a:rPr>
              <a:t>COMPETENCIA(S) QUE DESARROLLAREMOS</a:t>
            </a:r>
            <a:endParaRPr b="0" i="0" sz="1400" u="none" cap="none" strike="noStrike">
              <a:solidFill>
                <a:srgbClr val="000000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146" name="Google Shape;146;p3"/>
          <p:cNvSpPr txBox="1"/>
          <p:nvPr/>
        </p:nvSpPr>
        <p:spPr>
          <a:xfrm>
            <a:off x="2557800" y="2700275"/>
            <a:ext cx="12029400" cy="27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199"/>
              <a:buFont typeface="Arial"/>
              <a:buNone/>
            </a:pPr>
            <a:r>
              <a:rPr b="1" i="0" lang="en-US" sz="3399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Diseña y aplica estructuras de datos y métodos formales que permitan analizar y traducir lenguajes de programación mediante las fases del proceso de compilación.</a:t>
            </a:r>
            <a:endParaRPr b="0" i="0" sz="2099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" name="Google Shape;147;p3"/>
          <p:cNvSpPr/>
          <p:nvPr/>
        </p:nvSpPr>
        <p:spPr>
          <a:xfrm>
            <a:off x="13447195" y="5334021"/>
            <a:ext cx="4626468" cy="4575998"/>
          </a:xfrm>
          <a:custGeom>
            <a:rect b="b" l="l" r="r" t="t"/>
            <a:pathLst>
              <a:path extrusionOk="0" h="4575998" w="4626468">
                <a:moveTo>
                  <a:pt x="0" y="0"/>
                </a:moveTo>
                <a:lnTo>
                  <a:pt x="4626468" y="0"/>
                </a:lnTo>
                <a:lnTo>
                  <a:pt x="4626468" y="4575998"/>
                </a:lnTo>
                <a:lnTo>
                  <a:pt x="0" y="457599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48" name="Google Shape;148;p3"/>
          <p:cNvSpPr txBox="1"/>
          <p:nvPr/>
        </p:nvSpPr>
        <p:spPr>
          <a:xfrm>
            <a:off x="14046211" y="6528182"/>
            <a:ext cx="34284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8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41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9" name="Google Shape;149;p3" title="Gemini_Generated_Image_sfb0qdsfb0qdsfb0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5036973"/>
            <a:ext cx="3831099" cy="525002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4"/>
          <p:cNvSpPr txBox="1"/>
          <p:nvPr/>
        </p:nvSpPr>
        <p:spPr>
          <a:xfrm>
            <a:off x="1374902" y="3027866"/>
            <a:ext cx="15390300" cy="475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7307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En el proceso de compilación, la </a:t>
            </a:r>
            <a:r>
              <a:rPr b="1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tabla de símbolos</a:t>
            </a:r>
            <a:r>
              <a:rPr b="0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es una estructura esencial que registra toda la información relacionada con los identificadores (variables, funciones, constantes, clases, etc.) del programa.</a:t>
            </a:r>
            <a:endParaRPr b="0" i="0" sz="3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7307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925"/>
              <a:buFont typeface="Arial"/>
              <a:buNone/>
            </a:pPr>
            <a:r>
              <a:rPr b="0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Actúa como la </a:t>
            </a:r>
            <a:r>
              <a:rPr b="1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memoria administrativa del compilador</a:t>
            </a:r>
            <a:r>
              <a:rPr b="0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permitiendo que durante las fases léxica, sintáctica y semántica se pueda verificar la validez de las declaraciones y los tipos de datos usados.</a:t>
            </a:r>
            <a:endParaRPr b="0" i="0" sz="3200" u="none" cap="none" strike="noStrike">
              <a:solidFill>
                <a:srgbClr val="13141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" name="Google Shape;155;p4"/>
          <p:cNvSpPr txBox="1"/>
          <p:nvPr/>
        </p:nvSpPr>
        <p:spPr>
          <a:xfrm>
            <a:off x="1374889" y="654364"/>
            <a:ext cx="13991100" cy="9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1298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98"/>
              <a:buFont typeface="Arial"/>
              <a:buNone/>
            </a:pPr>
            <a:r>
              <a:rPr b="0" i="0" lang="en-US" sz="6098" u="none" cap="none" strike="noStrike">
                <a:solidFill>
                  <a:srgbClr val="131416"/>
                </a:solidFill>
                <a:latin typeface="Impact"/>
                <a:ea typeface="Impact"/>
                <a:cs typeface="Impact"/>
                <a:sym typeface="Impact"/>
              </a:rPr>
              <a:t>CONTENIDO</a:t>
            </a:r>
            <a:endParaRPr b="0" i="0" sz="1400" u="none" cap="none" strike="noStrike">
              <a:solidFill>
                <a:srgbClr val="000000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39ebdb8f0ba_0_16"/>
          <p:cNvSpPr txBox="1"/>
          <p:nvPr/>
        </p:nvSpPr>
        <p:spPr>
          <a:xfrm>
            <a:off x="1448852" y="1251941"/>
            <a:ext cx="15390300" cy="84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Función y Propósito</a:t>
            </a:r>
            <a:endParaRPr b="1" i="0" sz="3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Su función principal es </a:t>
            </a:r>
            <a:r>
              <a:rPr b="1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almacenar y organizar información</a:t>
            </a:r>
            <a:r>
              <a:rPr b="0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de cada identificador para que el compilador pueda:</a:t>
            </a:r>
            <a:endParaRPr b="0" i="0" sz="3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3180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●"/>
            </a:pPr>
            <a:r>
              <a:rPr b="0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Validar si una variable fue declarada.</a:t>
            </a:r>
            <a:br>
              <a:rPr b="0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 b="0" i="0" sz="3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318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●"/>
            </a:pPr>
            <a:r>
              <a:rPr b="0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Verificar el tipo de dato en operaciones y asignaciones.</a:t>
            </a:r>
            <a:br>
              <a:rPr b="0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 b="0" i="0" sz="3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318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●"/>
            </a:pPr>
            <a:r>
              <a:rPr b="0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Controlar el </a:t>
            </a:r>
            <a:r>
              <a:rPr b="1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ámbito</a:t>
            </a:r>
            <a:r>
              <a:rPr b="0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(local o global) de cada símbolo.</a:t>
            </a:r>
            <a:br>
              <a:rPr b="0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 b="0" i="0" sz="3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318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●"/>
            </a:pPr>
            <a:r>
              <a:rPr b="0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Detectar errores semánticos como redeclaraciones o tipos incompatibles.</a:t>
            </a:r>
            <a:br>
              <a:rPr b="0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 b="0" i="0" sz="3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En resumen, la tabla de símbolos asegura la </a:t>
            </a:r>
            <a:r>
              <a:rPr b="1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coherencia interna</a:t>
            </a:r>
            <a:r>
              <a:rPr b="0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del programa y evita que el compilador traduzca código incorrecto.</a:t>
            </a:r>
            <a:endParaRPr b="0" i="0" sz="3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7307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3925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9ebdb8f0ba_0_21"/>
          <p:cNvSpPr txBox="1"/>
          <p:nvPr/>
        </p:nvSpPr>
        <p:spPr>
          <a:xfrm>
            <a:off x="1448852" y="1251941"/>
            <a:ext cx="15390300" cy="411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7307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925"/>
              <a:buFont typeface="Arial"/>
              <a:buNone/>
            </a:pPr>
            <a:r>
              <a:rPr b="0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Para construir una tabla de símbolos se pueden usar distintas estructuras de datos, según la complejidad del compilador:</a:t>
            </a:r>
            <a:endParaRPr b="0" i="0" sz="3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7307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925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7307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925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7307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925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166" name="Google Shape;166;g39ebdb8f0ba_0_21"/>
          <p:cNvGraphicFramePr/>
          <p:nvPr/>
        </p:nvGraphicFramePr>
        <p:xfrm>
          <a:off x="2561500" y="34290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{EE2A6C39-6FF6-47ED-B362-6C4640FCD516}</a:tableStyleId>
              </a:tblPr>
              <a:tblGrid>
                <a:gridCol w="2316200"/>
                <a:gridCol w="4648600"/>
                <a:gridCol w="4097875"/>
              </a:tblGrid>
              <a:tr h="1442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600"/>
                        <a:buFont typeface="Arial"/>
                        <a:buNone/>
                      </a:pPr>
                      <a:r>
                        <a:rPr b="1" lang="en-US" sz="2600" u="none" cap="none" strike="noStrike"/>
                        <a:t>Tipo de Estructura</a:t>
                      </a:r>
                      <a:endParaRPr b="1" sz="26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600"/>
                        <a:buFont typeface="Arial"/>
                        <a:buNone/>
                      </a:pPr>
                      <a:r>
                        <a:rPr b="1" lang="en-US" sz="2600" u="none" cap="none" strike="noStrike"/>
                        <a:t>Características</a:t>
                      </a:r>
                      <a:endParaRPr b="1" sz="26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600"/>
                        <a:buFont typeface="Arial"/>
                        <a:buNone/>
                      </a:pPr>
                      <a:r>
                        <a:rPr b="1" lang="en-US" sz="2600" u="none" cap="none" strike="noStrike"/>
                        <a:t>Uso Común</a:t>
                      </a:r>
                      <a:endParaRPr b="1" sz="2600" u="none" cap="none" strike="noStrike"/>
                    </a:p>
                  </a:txBody>
                  <a:tcPr marT="91425" marB="91425" marR="91425" marL="91425"/>
                </a:tc>
              </a:tr>
              <a:tr h="7403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600"/>
                        <a:buFont typeface="Arial"/>
                        <a:buNone/>
                      </a:pPr>
                      <a:r>
                        <a:rPr b="1" lang="en-US" sz="2600" u="none" cap="none" strike="noStrike"/>
                        <a:t>Lista o arreglo</a:t>
                      </a:r>
                      <a:endParaRPr b="1" sz="26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600"/>
                        <a:buFont typeface="Arial"/>
                        <a:buNone/>
                      </a:pPr>
                      <a:r>
                        <a:rPr b="1" lang="en-US" sz="2600" u="none" cap="none" strike="noStrike"/>
                        <a:t>Sencilla, de búsqueda secuencial</a:t>
                      </a:r>
                      <a:endParaRPr b="1" sz="26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600"/>
                        <a:buFont typeface="Arial"/>
                        <a:buNone/>
                      </a:pPr>
                      <a:r>
                        <a:rPr b="1" lang="en-US" sz="2600" u="none" cap="none" strike="noStrike"/>
                        <a:t>Compiladores pequeños</a:t>
                      </a:r>
                      <a:endParaRPr b="1" sz="2600" u="none" cap="none" strike="noStrike"/>
                    </a:p>
                  </a:txBody>
                  <a:tcPr marT="91425" marB="91425" marR="91425" marL="91425"/>
                </a:tc>
              </a:tr>
              <a:tr h="7403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600"/>
                        <a:buFont typeface="Arial"/>
                        <a:buNone/>
                      </a:pPr>
                      <a:r>
                        <a:rPr b="1" lang="en-US" sz="2600" u="none" cap="none" strike="noStrike"/>
                        <a:t>Tabla Hash</a:t>
                      </a:r>
                      <a:endParaRPr b="1" sz="26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600"/>
                        <a:buFont typeface="Arial"/>
                        <a:buNone/>
                      </a:pPr>
                      <a:r>
                        <a:rPr b="1" lang="en-US" sz="2600" u="none" cap="none" strike="noStrike"/>
                        <a:t>Permite búsqueda rápida por nombre</a:t>
                      </a:r>
                      <a:endParaRPr b="1" sz="26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600"/>
                        <a:buFont typeface="Arial"/>
                        <a:buNone/>
                      </a:pPr>
                      <a:r>
                        <a:rPr b="1" lang="en-US" sz="2600" u="none" cap="none" strike="noStrike"/>
                        <a:t>Compiladores modernos</a:t>
                      </a:r>
                      <a:endParaRPr b="1" sz="2600" u="none" cap="none" strike="noStrike"/>
                    </a:p>
                  </a:txBody>
                  <a:tcPr marT="91425" marB="91425" marR="91425" marL="91425"/>
                </a:tc>
              </a:tr>
              <a:tr h="7403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600"/>
                        <a:buFont typeface="Arial"/>
                        <a:buNone/>
                      </a:pPr>
                      <a:r>
                        <a:rPr b="1" lang="en-US" sz="2600" u="none" cap="none" strike="noStrike"/>
                        <a:t>Árbol o Mapa</a:t>
                      </a:r>
                      <a:endParaRPr b="1" sz="26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600"/>
                        <a:buFont typeface="Arial"/>
                        <a:buNone/>
                      </a:pPr>
                      <a:r>
                        <a:rPr b="1" lang="en-US" sz="2600" u="none" cap="none" strike="noStrike"/>
                        <a:t>Mantiene orden y jerarquía</a:t>
                      </a:r>
                      <a:endParaRPr b="1" sz="26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600"/>
                        <a:buFont typeface="Arial"/>
                        <a:buNone/>
                      </a:pPr>
                      <a:r>
                        <a:rPr b="1" lang="en-US" sz="2600" u="none" cap="none" strike="noStrike"/>
                        <a:t>Gestión de ámbitos anidados</a:t>
                      </a:r>
                      <a:endParaRPr b="1" sz="2600" u="none" cap="none" strike="noStrike"/>
                    </a:p>
                  </a:txBody>
                  <a:tcPr marT="91425" marB="91425" marR="91425" marL="91425"/>
                </a:tc>
              </a:tr>
              <a:tr h="10986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600"/>
                        <a:buFont typeface="Arial"/>
                        <a:buNone/>
                      </a:pPr>
                      <a:r>
                        <a:rPr b="1" lang="en-US" sz="2600" u="none" cap="none" strike="noStrike"/>
                        <a:t>Pila de Tablas</a:t>
                      </a:r>
                      <a:endParaRPr b="1" sz="26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600"/>
                        <a:buFont typeface="Arial"/>
                        <a:buNone/>
                      </a:pPr>
                      <a:r>
                        <a:rPr b="1" lang="en-US" sz="2600" u="none" cap="none" strike="noStrike"/>
                        <a:t>Se usa para manejar entornos anidados</a:t>
                      </a:r>
                      <a:endParaRPr b="1" sz="26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600"/>
                        <a:buFont typeface="Arial"/>
                        <a:buNone/>
                      </a:pPr>
                      <a:r>
                        <a:rPr b="1" lang="en-US" sz="2600" u="none" cap="none" strike="noStrike"/>
                        <a:t>Lenguajes con funciones o bloques</a:t>
                      </a:r>
                      <a:endParaRPr b="1" sz="2600" u="none" cap="none" strike="noStrike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6"/>
          <p:cNvSpPr txBox="1"/>
          <p:nvPr/>
        </p:nvSpPr>
        <p:spPr>
          <a:xfrm>
            <a:off x="2507390" y="1000125"/>
            <a:ext cx="13503300" cy="10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900"/>
              <a:buFont typeface="Arial"/>
              <a:buNone/>
            </a:pPr>
            <a:r>
              <a:rPr b="0" i="0" lang="en-US" sz="6900" u="none" cap="none" strike="noStrike">
                <a:solidFill>
                  <a:srgbClr val="131416"/>
                </a:solidFill>
                <a:latin typeface="Impact"/>
                <a:ea typeface="Impact"/>
                <a:cs typeface="Impact"/>
                <a:sym typeface="Impact"/>
              </a:rPr>
              <a:t>CONCEPTOS CLAVE APRENDIDOS </a:t>
            </a:r>
            <a:endParaRPr b="0" i="0" sz="1400" u="none" cap="none" strike="noStrike">
              <a:solidFill>
                <a:srgbClr val="000000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172" name="Google Shape;172;p6"/>
          <p:cNvSpPr txBox="1"/>
          <p:nvPr/>
        </p:nvSpPr>
        <p:spPr>
          <a:xfrm>
            <a:off x="4233196" y="2721542"/>
            <a:ext cx="9024600" cy="497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406400" lvl="0" marL="457200" marR="0" rtl="0" algn="ctr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●"/>
            </a:pP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La </a:t>
            </a:r>
            <a:r>
              <a:rPr b="1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tabla de símbolos</a:t>
            </a: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guarda la información de todos los identificadores del programa.</a:t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06400" lvl="0" marL="457200" marR="0" rtl="0" algn="ctr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●"/>
            </a:pP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Permite controlar los </a:t>
            </a:r>
            <a:r>
              <a:rPr b="1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ámbitos y tipos de datos</a:t>
            </a: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06400" lvl="0" marL="457200" marR="0" rtl="0" algn="ctr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●"/>
            </a:pP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Es esencial para </a:t>
            </a:r>
            <a:r>
              <a:rPr b="1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detectar errores semánticos</a:t>
            </a: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06400" lvl="0" marL="457200" marR="0" rtl="0" algn="ctr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●"/>
            </a:pP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Utiliza estructuras de datos como </a:t>
            </a:r>
            <a:r>
              <a:rPr b="1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tablas hash o pilas</a:t>
            </a: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b="0" i="0" sz="3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06400" lvl="0" marL="457200" marR="0" rtl="0" algn="ctr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●"/>
            </a:pP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Es la base para la </a:t>
            </a:r>
            <a:r>
              <a:rPr b="1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coherencia del compilador</a:t>
            </a: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l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51"/>
              <a:buFont typeface="Arial"/>
              <a:buNone/>
            </a:pPr>
            <a:r>
              <a:t/>
            </a:r>
            <a:endParaRPr b="0" i="0" sz="4851" u="none" cap="none" strike="noStrike">
              <a:solidFill>
                <a:srgbClr val="13141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3" name="Google Shape;173;p6"/>
          <p:cNvSpPr/>
          <p:nvPr/>
        </p:nvSpPr>
        <p:spPr>
          <a:xfrm>
            <a:off x="13447195" y="5334021"/>
            <a:ext cx="4626468" cy="4575998"/>
          </a:xfrm>
          <a:custGeom>
            <a:rect b="b" l="l" r="r" t="t"/>
            <a:pathLst>
              <a:path extrusionOk="0" h="4575998" w="4626468">
                <a:moveTo>
                  <a:pt x="0" y="0"/>
                </a:moveTo>
                <a:lnTo>
                  <a:pt x="4626468" y="0"/>
                </a:lnTo>
                <a:lnTo>
                  <a:pt x="4626468" y="4575998"/>
                </a:lnTo>
                <a:lnTo>
                  <a:pt x="0" y="457599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74" name="Google Shape;174;p6"/>
          <p:cNvSpPr txBox="1"/>
          <p:nvPr/>
        </p:nvSpPr>
        <p:spPr>
          <a:xfrm>
            <a:off x="14141311" y="6315059"/>
            <a:ext cx="32382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14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7"/>
          <p:cNvSpPr txBox="1"/>
          <p:nvPr/>
        </p:nvSpPr>
        <p:spPr>
          <a:xfrm>
            <a:off x="2507390" y="1000125"/>
            <a:ext cx="13503300" cy="10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900"/>
              <a:buFont typeface="Arial"/>
              <a:buNone/>
            </a:pPr>
            <a:r>
              <a:rPr b="0" i="0" lang="en-US" sz="6900" u="none" cap="none" strike="noStrike">
                <a:solidFill>
                  <a:srgbClr val="131416"/>
                </a:solidFill>
                <a:latin typeface="Impact"/>
                <a:ea typeface="Impact"/>
                <a:cs typeface="Impact"/>
                <a:sym typeface="Impact"/>
              </a:rPr>
              <a:t>Responsabilidad</a:t>
            </a:r>
            <a:endParaRPr b="0" i="0" sz="1400" u="none" cap="none" strike="noStrike">
              <a:solidFill>
                <a:srgbClr val="000000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180" name="Google Shape;180;p7"/>
          <p:cNvSpPr txBox="1"/>
          <p:nvPr/>
        </p:nvSpPr>
        <p:spPr>
          <a:xfrm>
            <a:off x="1853518" y="3164230"/>
            <a:ext cx="15112800" cy="355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3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Aplicación en el laboratorio:</a:t>
            </a:r>
            <a:endParaRPr b="1" i="0" sz="3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51"/>
              <a:buFont typeface="Arial"/>
              <a:buNone/>
            </a:pPr>
            <a:r>
              <a:rPr b="0" i="0" lang="en-US" sz="3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El estudiante demuestra responsabilidad al instalar correctamente las herramientas JFlex y CUP, configurando su entorno y asegurando que la tabla de símbolos funcione sin errores. Cumple con los tiempos y lineamientos establecidos.</a:t>
            </a:r>
            <a:endParaRPr b="0" i="0" sz="3500" u="none" cap="none" strike="noStrike">
              <a:solidFill>
                <a:srgbClr val="131416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8"/>
          <p:cNvSpPr txBox="1"/>
          <p:nvPr/>
        </p:nvSpPr>
        <p:spPr>
          <a:xfrm>
            <a:off x="2507390" y="1000125"/>
            <a:ext cx="13503300" cy="10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900"/>
              <a:buFont typeface="Arial"/>
              <a:buNone/>
            </a:pPr>
            <a:r>
              <a:rPr b="0" i="0" lang="en-US" sz="6900" u="none" cap="none" strike="noStrike">
                <a:solidFill>
                  <a:srgbClr val="131416"/>
                </a:solidFill>
                <a:latin typeface="Impact"/>
                <a:ea typeface="Impact"/>
                <a:cs typeface="Impact"/>
                <a:sym typeface="Impact"/>
              </a:rPr>
              <a:t>REFERENCIAS </a:t>
            </a:r>
            <a:endParaRPr b="0" i="0" sz="1400" u="none" cap="none" strike="noStrike">
              <a:solidFill>
                <a:srgbClr val="000000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186" name="Google Shape;186;p8"/>
          <p:cNvSpPr txBox="1"/>
          <p:nvPr/>
        </p:nvSpPr>
        <p:spPr>
          <a:xfrm>
            <a:off x="5255400" y="2945200"/>
            <a:ext cx="10755300" cy="506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3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Aho, A. V., Lam, M. S., Sethi, R., &amp; Ullman, J. D. (2007). </a:t>
            </a:r>
            <a:r>
              <a:rPr b="0" i="1" lang="en-US" sz="3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Compilers: Principles, Techniques, and Tools</a:t>
            </a:r>
            <a:r>
              <a:rPr b="0" i="0" lang="en-US" sz="3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 Pearson.</a:t>
            </a:r>
            <a:br>
              <a:rPr b="0" i="0" lang="en-US" sz="3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 b="0" i="0" sz="3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3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Louden, K. C. (1997). </a:t>
            </a:r>
            <a:r>
              <a:rPr b="0" i="1" lang="en-US" sz="3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Compiler Construction: Principles and Practice</a:t>
            </a:r>
            <a:r>
              <a:rPr b="0" i="0" lang="en-US" sz="3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 PWS.</a:t>
            </a:r>
            <a:endParaRPr b="0" i="0" sz="3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51"/>
              <a:buFont typeface="Arial"/>
              <a:buNone/>
            </a:pPr>
            <a:r>
              <a:t/>
            </a:r>
            <a:endParaRPr b="0" i="0" sz="3500" u="none" cap="none" strike="noStrike">
              <a:solidFill>
                <a:srgbClr val="13141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87" name="Google Shape;187;p8" title="Gemini_Generated_Image_k3gbyrk3gbyrk3gb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1198175" y="89575"/>
            <a:ext cx="7000174" cy="43614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364f262177b_0_2"/>
          <p:cNvSpPr txBox="1"/>
          <p:nvPr/>
        </p:nvSpPr>
        <p:spPr>
          <a:xfrm>
            <a:off x="2952639" y="1196114"/>
            <a:ext cx="13991100" cy="9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298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98"/>
              <a:buFont typeface="Arial"/>
              <a:buNone/>
            </a:pPr>
            <a:r>
              <a:rPr b="0" i="0" lang="en-US" sz="6098" u="none" cap="none" strike="noStrike">
                <a:solidFill>
                  <a:srgbClr val="131416"/>
                </a:solidFill>
                <a:latin typeface="Impact"/>
                <a:ea typeface="Impact"/>
                <a:cs typeface="Impact"/>
                <a:sym typeface="Impact"/>
              </a:rPr>
              <a:t>Ejemplo práctico</a:t>
            </a:r>
            <a:endParaRPr b="0" i="0" sz="1400" u="none" cap="none" strike="noStrike">
              <a:solidFill>
                <a:srgbClr val="000000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193" name="Google Shape;193;g364f262177b_0_2"/>
          <p:cNvSpPr txBox="1"/>
          <p:nvPr/>
        </p:nvSpPr>
        <p:spPr>
          <a:xfrm>
            <a:off x="14236857" y="6780527"/>
            <a:ext cx="32382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14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94" name="Google Shape;194;g364f262177b_0_2" title="Gemini_Generated_Image_u2i06ou2i06ou2i0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797450" y="1340328"/>
            <a:ext cx="4695574" cy="6434676"/>
          </a:xfrm>
          <a:prstGeom prst="rect">
            <a:avLst/>
          </a:prstGeom>
          <a:noFill/>
          <a:ln>
            <a:noFill/>
          </a:ln>
        </p:spPr>
      </p:pic>
      <p:sp>
        <p:nvSpPr>
          <p:cNvPr id="195" name="Google Shape;195;g364f262177b_0_2"/>
          <p:cNvSpPr txBox="1"/>
          <p:nvPr/>
        </p:nvSpPr>
        <p:spPr>
          <a:xfrm>
            <a:off x="3898125" y="1999325"/>
            <a:ext cx="12196800" cy="709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0" i="0" lang="en-US" sz="2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Durante la ejecución del compilador, se analiza el siguiente código:</a:t>
            </a:r>
            <a:endParaRPr b="0" i="0" sz="2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t/>
            </a:r>
            <a:endParaRPr b="0" i="0" sz="2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0" i="0" lang="en-US" sz="2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int x = 5;</a:t>
            </a:r>
            <a:endParaRPr b="0" i="0" sz="2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0" i="0" lang="en-US" sz="2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{</a:t>
            </a:r>
            <a:endParaRPr b="0" i="0" sz="2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0" i="0" lang="en-US" sz="2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int x = 10;</a:t>
            </a:r>
            <a:endParaRPr b="0" i="0" sz="2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0" i="0" lang="en-US" sz="2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print(x);</a:t>
            </a:r>
            <a:endParaRPr b="0" i="0" sz="2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0" i="0" lang="en-US" sz="2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}</a:t>
            </a:r>
            <a:endParaRPr b="0" i="0" sz="2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0" i="0" lang="en-US" sz="2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print(x);</a:t>
            </a:r>
            <a:endParaRPr b="0" i="0" sz="2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t/>
            </a:r>
            <a:endParaRPr b="0" i="0" sz="2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t/>
            </a:r>
            <a:endParaRPr b="0" i="0" sz="2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1" i="0" lang="en-US" sz="2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Resultado esperado:</a:t>
            </a:r>
            <a:endParaRPr b="1" i="0" sz="2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8735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"/>
              <a:buChar char="●"/>
            </a:pPr>
            <a:r>
              <a:rPr b="0" i="0" lang="en-US" sz="2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En el ámbito local se imprime </a:t>
            </a:r>
            <a:r>
              <a:rPr b="1" i="0" lang="en-US" sz="2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10</a:t>
            </a:r>
            <a:r>
              <a:rPr b="0" i="0" lang="en-US" sz="2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br>
              <a:rPr b="0" i="0" lang="en-US" sz="2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 b="0" i="0" sz="2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873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"/>
              <a:buChar char="●"/>
            </a:pPr>
            <a:r>
              <a:rPr b="0" i="0" lang="en-US" sz="2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En el ámbito global se imprime </a:t>
            </a:r>
            <a:r>
              <a:rPr b="1" i="0" lang="en-US" sz="2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r>
              <a:rPr b="0" i="0" lang="en-US" sz="2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br>
              <a:rPr b="0" i="0" lang="en-US" sz="2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2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Esto demuestra cómo la tabla de símbolos gestiona distintos niveles de alcance.</a:t>
            </a:r>
            <a:endParaRPr b="0" i="0" sz="2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t/>
            </a:r>
            <a:endParaRPr b="0" i="0" sz="2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364afea4f63_0_148"/>
          <p:cNvSpPr txBox="1"/>
          <p:nvPr/>
        </p:nvSpPr>
        <p:spPr>
          <a:xfrm>
            <a:off x="3294964" y="425414"/>
            <a:ext cx="13991100" cy="9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298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98"/>
              <a:buFont typeface="Arial"/>
              <a:buNone/>
            </a:pPr>
            <a:r>
              <a:rPr b="0" i="0" lang="en-US" sz="6098" u="none" cap="none" strike="noStrike">
                <a:solidFill>
                  <a:srgbClr val="131416"/>
                </a:solidFill>
                <a:latin typeface="Impact"/>
                <a:ea typeface="Impact"/>
                <a:cs typeface="Impact"/>
                <a:sym typeface="Impact"/>
              </a:rPr>
              <a:t>Practiquemos lo aprendido</a:t>
            </a:r>
            <a:endParaRPr b="0" i="0" sz="1400" u="none" cap="none" strike="noStrike">
              <a:solidFill>
                <a:srgbClr val="000000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pic>
        <p:nvPicPr>
          <p:cNvPr id="201" name="Google Shape;201;g364afea4f63_0_148" title="Gemini_Generated_Image_mopnfwmopnfwmopn (1)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-5"/>
            <a:ext cx="4077824" cy="4077824"/>
          </a:xfrm>
          <a:prstGeom prst="rect">
            <a:avLst/>
          </a:prstGeom>
          <a:noFill/>
          <a:ln>
            <a:noFill/>
          </a:ln>
        </p:spPr>
      </p:pic>
      <p:sp>
        <p:nvSpPr>
          <p:cNvPr id="202" name="Google Shape;202;g364afea4f63_0_148"/>
          <p:cNvSpPr txBox="1"/>
          <p:nvPr/>
        </p:nvSpPr>
        <p:spPr>
          <a:xfrm>
            <a:off x="3789825" y="2551800"/>
            <a:ext cx="13001400" cy="518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3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Actividad:</a:t>
            </a:r>
            <a:r>
              <a:rPr b="0" i="0" lang="en-US" sz="3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Diseña una tabla de símbolos funcional en pseudocódigo o C++ que permita:</a:t>
            </a:r>
            <a:endParaRPr b="0" i="0" sz="3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5085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rial"/>
              <a:buChar char="●"/>
            </a:pPr>
            <a:r>
              <a:rPr b="0" i="0" lang="en-US" sz="3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Insertar un identificador.</a:t>
            </a:r>
            <a:br>
              <a:rPr b="0" i="0" lang="en-US" sz="3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 b="0" i="0" sz="3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508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rial"/>
              <a:buChar char="●"/>
            </a:pPr>
            <a:r>
              <a:rPr b="0" i="0" lang="en-US" sz="3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Buscar un identificador.</a:t>
            </a:r>
            <a:br>
              <a:rPr b="0" i="0" lang="en-US" sz="3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 b="0" i="0" sz="3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508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rial"/>
              <a:buChar char="●"/>
            </a:pPr>
            <a:r>
              <a:rPr b="0" i="0" lang="en-US" sz="3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Eliminar un identificador al salir de un ámbito.</a:t>
            </a:r>
            <a:endParaRPr b="0" i="0" sz="3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40019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014"/>
              <a:buFont typeface="Arial"/>
              <a:buNone/>
            </a:pPr>
            <a:r>
              <a:t/>
            </a:r>
            <a:endParaRPr b="0" i="0" sz="3500" u="none" cap="none" strike="noStrike">
              <a:solidFill>
                <a:srgbClr val="131416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7" name="Google Shape;207;g385e2d797db_0_12"/>
          <p:cNvPicPr preferRelativeResize="0"/>
          <p:nvPr/>
        </p:nvPicPr>
        <p:blipFill rotWithShape="1">
          <a:blip r:embed="rId3">
            <a:alphaModFix amt="62000"/>
          </a:blip>
          <a:srcRect b="0" l="0" r="0" t="0"/>
          <a:stretch/>
        </p:blipFill>
        <p:spPr>
          <a:xfrm>
            <a:off x="16902" y="0"/>
            <a:ext cx="18254198" cy="10287001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08" name="Google Shape;208;g385e2d797db_0_12"/>
          <p:cNvGraphicFramePr/>
          <p:nvPr/>
        </p:nvGraphicFramePr>
        <p:xfrm>
          <a:off x="16900" y="15072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{5B32E43A-21BC-4AA7-AF8F-1C642B7C9512}</a:tableStyleId>
              </a:tblPr>
              <a:tblGrid>
                <a:gridCol w="5533100"/>
                <a:gridCol w="4926650"/>
              </a:tblGrid>
              <a:tr h="6449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r>
                        <a:rPr b="1" lang="en-US" sz="2800" u="none" cap="none" strike="noStrike">
                          <a:solidFill>
                            <a:schemeClr val="dk1"/>
                          </a:solidFill>
                        </a:rPr>
                        <a:t>Nombre de la actividad:</a:t>
                      </a:r>
                      <a:endParaRPr b="1" sz="2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182850" marB="182850" marR="182850" marL="18285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r>
                        <a:t/>
                      </a:r>
                      <a:endParaRPr sz="2800" u="none" cap="none" strike="noStrike"/>
                    </a:p>
                  </a:txBody>
                  <a:tcPr marT="182850" marB="182850" marR="182850" marL="18285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262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r>
                        <a:rPr b="1" lang="en-US" sz="2800" u="none" cap="none" strike="noStrike">
                          <a:solidFill>
                            <a:schemeClr val="dk1"/>
                          </a:solidFill>
                        </a:rPr>
                        <a:t>Cantidad de participantes:</a:t>
                      </a:r>
                      <a:endParaRPr b="1" sz="2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182850" marB="182850" marR="182850" marL="18285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r>
                        <a:t/>
                      </a:r>
                      <a:endParaRPr sz="2800" u="none" cap="none" strike="noStrike"/>
                    </a:p>
                  </a:txBody>
                  <a:tcPr marT="182850" marB="182850" marR="182850" marL="18285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572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r>
                        <a:rPr b="1" lang="en-US" sz="2800" u="none" cap="none" strike="noStrike">
                          <a:solidFill>
                            <a:schemeClr val="dk1"/>
                          </a:solidFill>
                        </a:rPr>
                        <a:t>Doy fe que esta actividad está planificada en dtt (Sí/No):</a:t>
                      </a:r>
                      <a:endParaRPr b="1" sz="2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182850" marB="182850" marR="182850" marL="18285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r>
                        <a:t/>
                      </a:r>
                      <a:endParaRPr sz="2800" u="none" cap="none" strike="noStrike"/>
                    </a:p>
                  </a:txBody>
                  <a:tcPr marT="182850" marB="182850" marR="182850" marL="18285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09" name="Google Shape;209;g385e2d797db_0_12"/>
          <p:cNvSpPr txBox="1"/>
          <p:nvPr/>
        </p:nvSpPr>
        <p:spPr>
          <a:xfrm>
            <a:off x="0" y="4281900"/>
            <a:ext cx="180378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Participantes: llenar las siguientes cajas de texto (tomar información del chat del meet)</a:t>
            </a:r>
            <a:endParaRPr b="1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0" name="Google Shape;210;g385e2d797db_0_12"/>
          <p:cNvSpPr txBox="1"/>
          <p:nvPr/>
        </p:nvSpPr>
        <p:spPr>
          <a:xfrm>
            <a:off x="16900" y="4955800"/>
            <a:ext cx="6167400" cy="7389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82850" lIns="182850" spcFirstLastPara="1" rIns="182850" wrap="square" tIns="1828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211" name="Google Shape;211;g385e2d797db_0_12"/>
          <p:cNvGraphicFramePr/>
          <p:nvPr/>
        </p:nvGraphicFramePr>
        <p:xfrm>
          <a:off x="10656400" y="19400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{5B32E43A-21BC-4AA7-AF8F-1C642B7C9512}</a:tableStyleId>
              </a:tblPr>
              <a:tblGrid>
                <a:gridCol w="3036400"/>
                <a:gridCol w="4344750"/>
              </a:tblGrid>
              <a:tr h="6449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r>
                        <a:rPr b="1" lang="en-US" sz="2800" u="none" cap="none" strike="noStrike">
                          <a:solidFill>
                            <a:schemeClr val="dk1"/>
                          </a:solidFill>
                        </a:rPr>
                        <a:t>Hora de inicio:</a:t>
                      </a:r>
                      <a:endParaRPr b="1" sz="2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182850" marB="182850" marR="182850" marL="18285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r>
                        <a:t/>
                      </a:r>
                      <a:endParaRPr sz="2800" u="none" cap="none" strike="noStrike"/>
                    </a:p>
                  </a:txBody>
                  <a:tcPr marT="182850" marB="182850" marR="182850" marL="18285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262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r>
                        <a:rPr b="1" lang="en-US" sz="2800" u="none" cap="none" strike="noStrike">
                          <a:solidFill>
                            <a:schemeClr val="dk1"/>
                          </a:solidFill>
                        </a:rPr>
                        <a:t>Hora de fin:</a:t>
                      </a:r>
                      <a:endParaRPr b="1" sz="2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182850" marB="182850" marR="182850" marL="18285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r>
                        <a:t/>
                      </a:r>
                      <a:endParaRPr sz="2800" u="none" cap="none" strike="noStrike"/>
                    </a:p>
                  </a:txBody>
                  <a:tcPr marT="182850" marB="182850" marR="182850" marL="18285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572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b="1" lang="en-US" sz="2800" u="none" cap="none" strike="noStrike">
                          <a:solidFill>
                            <a:schemeClr val="dk1"/>
                          </a:solidFill>
                        </a:rPr>
                        <a:t>Duración (min):</a:t>
                      </a:r>
                      <a:endParaRPr b="1" sz="1000" u="none" cap="none" strike="noStrike"/>
                    </a:p>
                  </a:txBody>
                  <a:tcPr marT="182850" marB="182850" marR="182850" marL="18285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r>
                        <a:t/>
                      </a:r>
                      <a:endParaRPr sz="2800" u="none" cap="none" strike="noStrike"/>
                    </a:p>
                  </a:txBody>
                  <a:tcPr marT="182850" marB="182850" marR="182850" marL="18285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12" name="Google Shape;212;g385e2d797db_0_12"/>
          <p:cNvSpPr txBox="1"/>
          <p:nvPr/>
        </p:nvSpPr>
        <p:spPr>
          <a:xfrm>
            <a:off x="6261600" y="4955800"/>
            <a:ext cx="6167400" cy="7389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82850" lIns="182850" spcFirstLastPara="1" rIns="182850" wrap="square" tIns="1828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3" name="Google Shape;213;g385e2d797db_0_12"/>
          <p:cNvSpPr txBox="1"/>
          <p:nvPr/>
        </p:nvSpPr>
        <p:spPr>
          <a:xfrm>
            <a:off x="12506300" y="4955800"/>
            <a:ext cx="5764800" cy="7389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82850" lIns="182850" spcFirstLastPara="1" rIns="182850" wrap="square" tIns="1828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364afea4f63_0_141"/>
          <p:cNvSpPr txBox="1"/>
          <p:nvPr/>
        </p:nvSpPr>
        <p:spPr>
          <a:xfrm>
            <a:off x="5791489" y="6796953"/>
            <a:ext cx="6705000" cy="7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</a:pPr>
            <a:r>
              <a:rPr b="0" i="0" lang="en-US" sz="5000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DUDAS ¿?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19" name="Google Shape;219;g364afea4f63_0_141" title="Gemini_Generated_Image_1od44x1od44x1od4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6287" y="699975"/>
            <a:ext cx="9135424" cy="56918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9"/>
          <p:cNvSpPr txBox="1"/>
          <p:nvPr/>
        </p:nvSpPr>
        <p:spPr>
          <a:xfrm>
            <a:off x="4571995" y="5176054"/>
            <a:ext cx="8658900" cy="1915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99"/>
              <a:buFont typeface="Arial"/>
              <a:buNone/>
            </a:pPr>
            <a:r>
              <a:rPr b="0" i="0" lang="en-US" sz="6099" u="none" cap="none" strike="noStrike">
                <a:solidFill>
                  <a:srgbClr val="131416"/>
                </a:solidFill>
                <a:latin typeface="Impact"/>
                <a:ea typeface="Impact"/>
                <a:cs typeface="Impact"/>
                <a:sym typeface="Impact"/>
              </a:rPr>
              <a:t>¡GRACIAS POR SU  ATENCIÓN!</a:t>
            </a:r>
            <a:endParaRPr b="0" i="0" sz="1400" u="none" cap="none" strike="noStrike">
              <a:solidFill>
                <a:srgbClr val="000000"/>
              </a:solidFill>
              <a:latin typeface="Impact"/>
              <a:ea typeface="Impact"/>
              <a:cs typeface="Impact"/>
              <a:sym typeface="Impact"/>
            </a:endParaRPr>
          </a:p>
          <a:p>
            <a:pPr indent="0" lvl="0" marL="0" marR="0" rtl="0" algn="just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99"/>
              <a:buFont typeface="Arial"/>
              <a:buNone/>
            </a:pPr>
            <a:r>
              <a:t/>
            </a:r>
            <a:endParaRPr b="0" i="0" sz="6099" u="none" cap="none" strike="noStrike">
              <a:solidFill>
                <a:srgbClr val="131416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225" name="Google Shape;225;p9"/>
          <p:cNvSpPr/>
          <p:nvPr/>
        </p:nvSpPr>
        <p:spPr>
          <a:xfrm>
            <a:off x="7765363" y="596600"/>
            <a:ext cx="2757268" cy="3770970"/>
          </a:xfrm>
          <a:custGeom>
            <a:rect b="b" l="l" r="r" t="t"/>
            <a:pathLst>
              <a:path extrusionOk="0" h="3770970" w="2757268">
                <a:moveTo>
                  <a:pt x="0" y="0"/>
                </a:moveTo>
                <a:lnTo>
                  <a:pt x="2757268" y="0"/>
                </a:lnTo>
                <a:lnTo>
                  <a:pt x="2757268" y="3770970"/>
                </a:lnTo>
                <a:lnTo>
                  <a:pt x="0" y="377097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26" name="Google Shape;226;p9"/>
          <p:cNvSpPr txBox="1"/>
          <p:nvPr/>
        </p:nvSpPr>
        <p:spPr>
          <a:xfrm>
            <a:off x="2411098" y="7899735"/>
            <a:ext cx="13465804" cy="7194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RECUERDA QUE TENEMOS NUESTRO FORO SEMANAL DONDE PUEDES CONSULTAR CUALQUIER DUDA QUE TE SURJA EN LA SEMANA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</cp:coreProperties>
</file>