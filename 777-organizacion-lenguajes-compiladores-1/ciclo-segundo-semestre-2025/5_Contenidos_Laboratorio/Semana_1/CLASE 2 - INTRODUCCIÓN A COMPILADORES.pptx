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10287000" cx="18288000"/>
  <p:notesSz cx="6858000" cy="9144000"/>
  <p:embeddedFontLst>
    <p:embeddedFont>
      <p:font typeface="Poppins"/>
      <p:regular r:id="rId24"/>
      <p:bold r:id="rId25"/>
      <p:italic r:id="rId26"/>
      <p:boldItalic r:id="rId27"/>
    </p:embeddedFont>
    <p:embeddedFont>
      <p:font typeface="Poppins Light"/>
      <p:regular r:id="rId28"/>
      <p:bold r:id="rId29"/>
      <p:italic r:id="rId30"/>
      <p:boldItalic r:id="rId31"/>
    </p:embeddedFont>
    <p:embeddedFont>
      <p:font typeface="Poppins Medium"/>
      <p:regular r:id="rId32"/>
      <p:bold r:id="rId33"/>
      <p:italic r:id="rId34"/>
      <p:boldItalic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0" roundtripDataSignature="AMtx7mi4xV1DF7tyRkVRpbKjATd0ovD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71B9370-EEE3-47C2-81CD-DFC95F25EE27}">
  <a:tblStyle styleId="{971B9370-EEE3-47C2-81CD-DFC95F25EE2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Poppins-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oppins-italic.fntdata"/><Relationship Id="rId25" Type="http://schemas.openxmlformats.org/officeDocument/2006/relationships/font" Target="fonts/Poppins-bold.fntdata"/><Relationship Id="rId28" Type="http://schemas.openxmlformats.org/officeDocument/2006/relationships/font" Target="fonts/PoppinsLight-regular.fntdata"/><Relationship Id="rId27" Type="http://schemas.openxmlformats.org/officeDocument/2006/relationships/font" Target="fonts/Poppi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Light-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Light-boldItalic.fntdata"/><Relationship Id="rId30" Type="http://schemas.openxmlformats.org/officeDocument/2006/relationships/font" Target="fonts/PoppinsLight-italic.fntdata"/><Relationship Id="rId11" Type="http://schemas.openxmlformats.org/officeDocument/2006/relationships/slide" Target="slides/slide5.xml"/><Relationship Id="rId33" Type="http://schemas.openxmlformats.org/officeDocument/2006/relationships/font" Target="fonts/PoppinsMedium-bold.fntdata"/><Relationship Id="rId10" Type="http://schemas.openxmlformats.org/officeDocument/2006/relationships/slide" Target="slides/slide4.xml"/><Relationship Id="rId32" Type="http://schemas.openxmlformats.org/officeDocument/2006/relationships/font" Target="fonts/PoppinsMedium-regular.fntdata"/><Relationship Id="rId13" Type="http://schemas.openxmlformats.org/officeDocument/2006/relationships/slide" Target="slides/slide7.xml"/><Relationship Id="rId35" Type="http://schemas.openxmlformats.org/officeDocument/2006/relationships/font" Target="fonts/PoppinsMedium-boldItalic.fntdata"/><Relationship Id="rId12" Type="http://schemas.openxmlformats.org/officeDocument/2006/relationships/slide" Target="slides/slide6.xml"/><Relationship Id="rId34" Type="http://schemas.openxmlformats.org/officeDocument/2006/relationships/font" Target="fonts/PoppinsMedium-italic.fntdata"/><Relationship Id="rId15" Type="http://schemas.openxmlformats.org/officeDocument/2006/relationships/slide" Target="slides/slide9.xml"/><Relationship Id="rId37" Type="http://schemas.openxmlformats.org/officeDocument/2006/relationships/font" Target="fonts/OpenSans-bold.fntdata"/><Relationship Id="rId14" Type="http://schemas.openxmlformats.org/officeDocument/2006/relationships/slide" Target="slides/slide8.xml"/><Relationship Id="rId36" Type="http://schemas.openxmlformats.org/officeDocument/2006/relationships/font" Target="fonts/OpenSans-regular.fntdata"/><Relationship Id="rId17" Type="http://schemas.openxmlformats.org/officeDocument/2006/relationships/slide" Target="slides/slide11.xml"/><Relationship Id="rId39" Type="http://schemas.openxmlformats.org/officeDocument/2006/relationships/font" Target="fonts/OpenSans-boldItalic.fntdata"/><Relationship Id="rId16" Type="http://schemas.openxmlformats.org/officeDocument/2006/relationships/slide" Target="slides/slide10.xml"/><Relationship Id="rId38" Type="http://schemas.openxmlformats.org/officeDocument/2006/relationships/font" Target="fonts/OpenSans-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5c674cd51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g35c674cd51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5c69f9a5c4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g35c69f9a5c4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5c69f9a5c4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g35c69f9a5c4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3" name="Google Shape;25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5eff497a53_1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g35eff497a53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3"/>
          <p:cNvSpPr/>
          <p:nvPr>
            <p:ph idx="2" type="pic"/>
          </p:nvPr>
        </p:nvSpPr>
        <p:spPr>
          <a:xfrm>
            <a:off x="1792288" y="612775"/>
            <a:ext cx="5486400" cy="4114800"/>
          </a:xfrm>
          <a:prstGeom prst="rect">
            <a:avLst/>
          </a:prstGeom>
          <a:noFill/>
          <a:ln>
            <a:noFill/>
          </a:ln>
        </p:spPr>
      </p:sp>
      <p:sp>
        <p:nvSpPr>
          <p:cNvPr id="64" name="Google Shape;64;p2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217102" y="0"/>
            <a:ext cx="18254198" cy="10287002"/>
          </a:xfrm>
          <a:custGeom>
            <a:rect b="b" l="l" r="r" t="t"/>
            <a:pathLst>
              <a:path extrusionOk="0" h="10287002" w="18254198">
                <a:moveTo>
                  <a:pt x="0" y="0"/>
                </a:moveTo>
                <a:lnTo>
                  <a:pt x="18254198" y="0"/>
                </a:lnTo>
                <a:lnTo>
                  <a:pt x="18254198" y="10287002"/>
                </a:lnTo>
                <a:lnTo>
                  <a:pt x="0" y="10287002"/>
                </a:lnTo>
                <a:lnTo>
                  <a:pt x="0" y="0"/>
                </a:lnTo>
                <a:close/>
              </a:path>
            </a:pathLst>
          </a:custGeom>
          <a:blipFill rotWithShape="1">
            <a:blip r:embed="rId3">
              <a:alphaModFix/>
            </a:blip>
            <a:stretch>
              <a:fillRect b="0" l="0" r="0" t="0"/>
            </a:stretch>
          </a:blipFill>
          <a:ln>
            <a:noFill/>
          </a:ln>
        </p:spPr>
      </p:sp>
      <p:graphicFrame>
        <p:nvGraphicFramePr>
          <p:cNvPr id="85" name="Google Shape;85;p1"/>
          <p:cNvGraphicFramePr/>
          <p:nvPr/>
        </p:nvGraphicFramePr>
        <p:xfrm>
          <a:off x="10656400" y="1940050"/>
          <a:ext cx="3000000" cy="3000000"/>
        </p:xfrm>
        <a:graphic>
          <a:graphicData uri="http://schemas.openxmlformats.org/drawingml/2006/table">
            <a:tbl>
              <a:tblPr>
                <a:noFill/>
                <a:tableStyleId>{971B9370-EEE3-47C2-81CD-DFC95F25EE27}</a:tableStyleId>
              </a:tblPr>
              <a:tblGrid>
                <a:gridCol w="3030175"/>
                <a:gridCol w="4335825"/>
              </a:tblGrid>
              <a:tr h="716750">
                <a:tc>
                  <a:txBody>
                    <a:bodyPr/>
                    <a:lstStyle/>
                    <a:p>
                      <a:pPr indent="0" lvl="0" marL="0" marR="0" rtl="0" algn="l">
                        <a:lnSpc>
                          <a:spcPct val="120000"/>
                        </a:lnSpc>
                        <a:spcBef>
                          <a:spcPts val="0"/>
                        </a:spcBef>
                        <a:spcAft>
                          <a:spcPts val="0"/>
                        </a:spcAft>
                        <a:buClr>
                          <a:srgbClr val="000000"/>
                        </a:buClr>
                        <a:buSzPts val="2840"/>
                        <a:buFont typeface="Arial"/>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marR="0" rtl="0" algn="l">
                        <a:lnSpc>
                          <a:spcPct val="120007"/>
                        </a:lnSpc>
                        <a:spcBef>
                          <a:spcPts val="0"/>
                        </a:spcBef>
                        <a:spcAft>
                          <a:spcPts val="0"/>
                        </a:spcAft>
                        <a:buClr>
                          <a:srgbClr val="000000"/>
                        </a:buClr>
                        <a:buSzPts val="2799"/>
                        <a:buFont typeface="Arial"/>
                        <a:buNone/>
                      </a:pPr>
                      <a:r>
                        <a:rPr lang="en-US" sz="2799"/>
                        <a:t>10/02</a:t>
                      </a:r>
                      <a:r>
                        <a:rPr lang="en-US" sz="2799" u="none" cap="none" strike="noStrike">
                          <a:solidFill>
                            <a:srgbClr val="000000"/>
                          </a:solidFill>
                          <a:latin typeface="Arial"/>
                          <a:ea typeface="Arial"/>
                          <a:cs typeface="Arial"/>
                          <a:sym typeface="Arial"/>
                        </a:rPr>
                        <a:t>/202</a:t>
                      </a:r>
                      <a:r>
                        <a:rPr lang="en-US" sz="2799"/>
                        <a:t>6</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r>
              <a:tr h="716750">
                <a:tc>
                  <a:txBody>
                    <a:bodyPr/>
                    <a:lstStyle/>
                    <a:p>
                      <a:pPr indent="0" lvl="0" marL="0" marR="0" rtl="0" algn="l">
                        <a:lnSpc>
                          <a:spcPct val="120000"/>
                        </a:lnSpc>
                        <a:spcBef>
                          <a:spcPts val="0"/>
                        </a:spcBef>
                        <a:spcAft>
                          <a:spcPts val="0"/>
                        </a:spcAft>
                        <a:buClr>
                          <a:srgbClr val="000000"/>
                        </a:buClr>
                        <a:buSzPts val="2840"/>
                        <a:buFont typeface="Arial"/>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c>
                  <a:txBody>
                    <a:bodyPr/>
                    <a:lstStyle/>
                    <a:p>
                      <a:pPr indent="0" lvl="0" marL="0" marR="0" rtl="0" algn="l">
                        <a:lnSpc>
                          <a:spcPct val="120007"/>
                        </a:lnSpc>
                        <a:spcBef>
                          <a:spcPts val="0"/>
                        </a:spcBef>
                        <a:spcAft>
                          <a:spcPts val="0"/>
                        </a:spcAft>
                        <a:buClr>
                          <a:srgbClr val="000000"/>
                        </a:buClr>
                        <a:buSzPts val="2799"/>
                        <a:buFont typeface="Arial"/>
                        <a:buNone/>
                      </a:pPr>
                      <a:r>
                        <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noFill/>
                  </a:tcPr>
                </a:tc>
              </a:tr>
            </a:tbl>
          </a:graphicData>
        </a:graphic>
      </p:graphicFrame>
      <p:sp>
        <p:nvSpPr>
          <p:cNvPr id="86" name="Google Shape;86;p1"/>
          <p:cNvSpPr txBox="1"/>
          <p:nvPr/>
        </p:nvSpPr>
        <p:spPr>
          <a:xfrm>
            <a:off x="2971773" y="4512775"/>
            <a:ext cx="14140200" cy="16929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Clr>
                <a:srgbClr val="000000"/>
              </a:buClr>
              <a:buSzPts val="4999"/>
              <a:buFont typeface="Arial"/>
              <a:buNone/>
            </a:pPr>
            <a:r>
              <a:rPr b="0" i="0" lang="en-US" sz="4999" u="none" cap="none" strike="noStrike">
                <a:solidFill>
                  <a:srgbClr val="000000"/>
                </a:solidFill>
                <a:latin typeface="Arial"/>
                <a:ea typeface="Arial"/>
                <a:cs typeface="Arial"/>
                <a:sym typeface="Arial"/>
              </a:rPr>
              <a:t>Organización de Lenguajes y Compiladores 1</a:t>
            </a:r>
            <a:br>
              <a:rPr b="0" i="0" lang="en-US" sz="4999" u="none" cap="none" strike="noStrike">
                <a:solidFill>
                  <a:srgbClr val="000000"/>
                </a:solidFill>
                <a:latin typeface="Arial"/>
                <a:ea typeface="Arial"/>
                <a:cs typeface="Arial"/>
                <a:sym typeface="Arial"/>
              </a:rPr>
            </a:br>
            <a:r>
              <a:rPr b="0" i="0" lang="en-US" sz="4999" u="none" cap="none" strike="noStrike">
                <a:solidFill>
                  <a:srgbClr val="000000"/>
                </a:solidFill>
                <a:latin typeface="Arial"/>
                <a:ea typeface="Arial"/>
                <a:cs typeface="Arial"/>
                <a:sym typeface="Arial"/>
              </a:rPr>
              <a:t>[&lt;SECCION&gt;]</a:t>
            </a:r>
            <a:endParaRPr b="0" i="0" sz="1400" u="none" cap="none" strike="noStrike">
              <a:solidFill>
                <a:srgbClr val="000000"/>
              </a:solidFill>
              <a:latin typeface="Arial"/>
              <a:ea typeface="Arial"/>
              <a:cs typeface="Arial"/>
              <a:sym typeface="Arial"/>
            </a:endParaRPr>
          </a:p>
        </p:txBody>
      </p:sp>
      <p:sp>
        <p:nvSpPr>
          <p:cNvPr id="87" name="Google Shape;87;p1"/>
          <p:cNvSpPr txBox="1"/>
          <p:nvPr/>
        </p:nvSpPr>
        <p:spPr>
          <a:xfrm>
            <a:off x="3648825" y="6381450"/>
            <a:ext cx="10990500" cy="615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&lt;NOMBRE&gt;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35c674cd51b_0_0"/>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93" name="Google Shape;93;g35c674cd51b_0_0"/>
          <p:cNvSpPr txBox="1"/>
          <p:nvPr/>
        </p:nvSpPr>
        <p:spPr>
          <a:xfrm>
            <a:off x="1063300" y="6439750"/>
            <a:ext cx="138753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Laboratorio Organización de Lenguajes y Compiladores 1</a:t>
            </a:r>
            <a:endParaRPr b="1" i="0" sz="5000" u="none" cap="none" strike="noStrike">
              <a:solidFill>
                <a:srgbClr val="131416"/>
              </a:solidFill>
              <a:latin typeface="Open Sans"/>
              <a:ea typeface="Open Sans"/>
              <a:cs typeface="Open Sans"/>
              <a:sym typeface="Open Sans"/>
            </a:endParaRPr>
          </a:p>
        </p:txBody>
      </p:sp>
      <p:sp>
        <p:nvSpPr>
          <p:cNvPr id="94" name="Google Shape;94;g35c674cd51b_0_0"/>
          <p:cNvSpPr txBox="1"/>
          <p:nvPr/>
        </p:nvSpPr>
        <p:spPr>
          <a:xfrm>
            <a:off x="2506650" y="2479350"/>
            <a:ext cx="13274700" cy="3398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chemeClr val="dk1"/>
              </a:buClr>
              <a:buSzPts val="1100"/>
              <a:buFont typeface="Arial"/>
              <a:buNone/>
            </a:pPr>
            <a:r>
              <a:rPr b="1" i="0" lang="en-US" sz="9200" u="none" cap="none" strike="noStrike">
                <a:solidFill>
                  <a:srgbClr val="131416"/>
                </a:solidFill>
                <a:latin typeface="Open Sans"/>
                <a:ea typeface="Open Sans"/>
                <a:cs typeface="Open Sans"/>
                <a:sym typeface="Open Sans"/>
              </a:rPr>
              <a:t>Introducción a la compilación</a:t>
            </a:r>
            <a:endParaRPr b="1" i="0" sz="9200" u="none" cap="none" strike="noStrike">
              <a:solidFill>
                <a:srgbClr val="131416"/>
              </a:solidFill>
              <a:latin typeface="Open Sans"/>
              <a:ea typeface="Open Sans"/>
              <a:cs typeface="Open Sans"/>
              <a:sym typeface="Open Sans"/>
            </a:endParaRPr>
          </a:p>
        </p:txBody>
      </p:sp>
      <p:sp>
        <p:nvSpPr>
          <p:cNvPr id="95" name="Google Shape;95;g35c674cd51b_0_0"/>
          <p:cNvSpPr txBox="1"/>
          <p:nvPr/>
        </p:nvSpPr>
        <p:spPr>
          <a:xfrm>
            <a:off x="1063303" y="8745251"/>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Ingeniería de Ciencias Y Sistemas</a:t>
            </a:r>
            <a:endParaRPr b="1" i="0" sz="2499" u="none" cap="none" strike="noStrike">
              <a:solidFill>
                <a:srgbClr val="131416"/>
              </a:solidFill>
              <a:latin typeface="Open Sans"/>
              <a:ea typeface="Open Sans"/>
              <a:cs typeface="Open Sans"/>
              <a:sym typeface="Open Sans"/>
            </a:endParaRPr>
          </a:p>
        </p:txBody>
      </p:sp>
      <p:sp>
        <p:nvSpPr>
          <p:cNvPr id="96" name="Google Shape;96;g35c674cd51b_0_0"/>
          <p:cNvSpPr txBox="1"/>
          <p:nvPr/>
        </p:nvSpPr>
        <p:spPr>
          <a:xfrm>
            <a:off x="1028700" y="9210675"/>
            <a:ext cx="66675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Ingeniería</a:t>
            </a:r>
            <a:endParaRPr b="1" i="0" sz="2499" u="none" cap="none" strike="noStrike">
              <a:solidFill>
                <a:srgbClr val="131416"/>
              </a:solidFill>
              <a:latin typeface="Open Sans"/>
              <a:ea typeface="Open Sans"/>
              <a:cs typeface="Open Sans"/>
              <a:sym typeface="Open Sans"/>
            </a:endParaRPr>
          </a:p>
        </p:txBody>
      </p:sp>
      <p:sp>
        <p:nvSpPr>
          <p:cNvPr id="97" name="Google Shape;97;g35c674cd51b_0_0"/>
          <p:cNvSpPr txBox="1"/>
          <p:nvPr/>
        </p:nvSpPr>
        <p:spPr>
          <a:xfrm>
            <a:off x="228600" y="9588254"/>
            <a:ext cx="811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35c69f9a5c4_0_20"/>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 QUE DESARROLLAREMOS</a:t>
            </a:r>
            <a:endParaRPr b="0" i="0" sz="1400" u="none" cap="none" strike="noStrike">
              <a:solidFill>
                <a:srgbClr val="000000"/>
              </a:solidFill>
              <a:latin typeface="Impact"/>
              <a:ea typeface="Impact"/>
              <a:cs typeface="Impact"/>
              <a:sym typeface="Impact"/>
            </a:endParaRPr>
          </a:p>
        </p:txBody>
      </p:sp>
      <p:sp>
        <p:nvSpPr>
          <p:cNvPr id="103" name="Google Shape;103;g35c69f9a5c4_0_20"/>
          <p:cNvSpPr txBox="1"/>
          <p:nvPr/>
        </p:nvSpPr>
        <p:spPr>
          <a:xfrm>
            <a:off x="2043415" y="3220150"/>
            <a:ext cx="14372700" cy="52818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chemeClr val="dk1"/>
              </a:buClr>
              <a:buSzPts val="1100"/>
              <a:buFont typeface="Arial"/>
              <a:buNone/>
            </a:pPr>
            <a:r>
              <a:rPr b="1" i="0" lang="en-US" sz="5199" u="none" cap="none" strike="noStrike">
                <a:solidFill>
                  <a:srgbClr val="131416"/>
                </a:solidFill>
                <a:latin typeface="Open Sans"/>
                <a:ea typeface="Open Sans"/>
                <a:cs typeface="Open Sans"/>
                <a:sym typeface="Open Sans"/>
              </a:rPr>
              <a:t>Integra lenguajes y herramientas de programación mediante estrategias de diseño y prueba con pensamiento crítico y visión sistémica</a:t>
            </a:r>
            <a:endParaRPr b="1" i="0" sz="5199" u="none" cap="none" strike="noStrike">
              <a:solidFill>
                <a:srgbClr val="131416"/>
              </a:solidFill>
              <a:latin typeface="Open Sans"/>
              <a:ea typeface="Open Sans"/>
              <a:cs typeface="Open Sans"/>
              <a:sym typeface="Open Sans"/>
            </a:endParaRPr>
          </a:p>
          <a:p>
            <a:pPr indent="0" lvl="0" marL="0" marR="0" rtl="0" algn="ctr">
              <a:lnSpc>
                <a:spcPct val="140007"/>
              </a:lnSpc>
              <a:spcBef>
                <a:spcPts val="0"/>
              </a:spcBef>
              <a:spcAft>
                <a:spcPts val="0"/>
              </a:spcAft>
              <a:buClr>
                <a:srgbClr val="000000"/>
              </a:buClr>
              <a:buSzPts val="5199"/>
              <a:buFont typeface="Arial"/>
              <a:buNone/>
            </a:pPr>
            <a:r>
              <a:t/>
            </a:r>
            <a:endParaRPr b="1" i="0" sz="5199" u="none" cap="none" strike="noStrike">
              <a:solidFill>
                <a:srgbClr val="131416"/>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07" name="Shape 107"/>
        <p:cNvGrpSpPr/>
        <p:nvPr/>
      </p:nvGrpSpPr>
      <p:grpSpPr>
        <a:xfrm>
          <a:off x="0" y="0"/>
          <a:ext cx="0" cy="0"/>
          <a:chOff x="0" y="0"/>
          <a:chExt cx="0" cy="0"/>
        </a:xfrm>
      </p:grpSpPr>
      <p:sp>
        <p:nvSpPr>
          <p:cNvPr id="108" name="Google Shape;108;p2"/>
          <p:cNvSpPr/>
          <p:nvPr/>
        </p:nvSpPr>
        <p:spPr>
          <a:xfrm rot="-5400000">
            <a:off x="4813056" y="4060775"/>
            <a:ext cx="6173936" cy="2165449"/>
          </a:xfrm>
          <a:custGeom>
            <a:rect b="b" l="l" r="r" t="t"/>
            <a:pathLst>
              <a:path extrusionOk="0" h="2165449" w="6173936">
                <a:moveTo>
                  <a:pt x="0" y="0"/>
                </a:moveTo>
                <a:lnTo>
                  <a:pt x="6173936" y="0"/>
                </a:lnTo>
                <a:lnTo>
                  <a:pt x="6173936" y="2165450"/>
                </a:lnTo>
                <a:lnTo>
                  <a:pt x="0" y="2165450"/>
                </a:lnTo>
                <a:lnTo>
                  <a:pt x="0" y="0"/>
                </a:lnTo>
                <a:close/>
              </a:path>
            </a:pathLst>
          </a:custGeom>
          <a:blipFill rotWithShape="1">
            <a:blip r:embed="rId3">
              <a:alphaModFix/>
            </a:blip>
            <a:stretch>
              <a:fillRect b="0" l="0" r="0" t="0"/>
            </a:stretch>
          </a:blipFill>
          <a:ln>
            <a:noFill/>
          </a:ln>
        </p:spPr>
      </p:sp>
      <p:sp>
        <p:nvSpPr>
          <p:cNvPr id="109" name="Google Shape;109;p2"/>
          <p:cNvSpPr txBox="1"/>
          <p:nvPr/>
        </p:nvSpPr>
        <p:spPr>
          <a:xfrm>
            <a:off x="1028700" y="4457700"/>
            <a:ext cx="6077873" cy="1371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9000"/>
              <a:buFont typeface="Arial"/>
              <a:buNone/>
            </a:pPr>
            <a:r>
              <a:rPr b="1" i="0" lang="en-US" sz="9000" u="none" cap="none" strike="noStrike">
                <a:solidFill>
                  <a:srgbClr val="FFFFFF"/>
                </a:solidFill>
                <a:latin typeface="Poppins"/>
                <a:ea typeface="Poppins"/>
                <a:cs typeface="Poppins"/>
                <a:sym typeface="Poppins"/>
              </a:rPr>
              <a:t>AGENDA</a:t>
            </a:r>
            <a:endParaRPr b="0" i="0" sz="1400" u="none" cap="none" strike="noStrike">
              <a:solidFill>
                <a:srgbClr val="000000"/>
              </a:solidFill>
              <a:latin typeface="Arial"/>
              <a:ea typeface="Arial"/>
              <a:cs typeface="Arial"/>
              <a:sym typeface="Arial"/>
            </a:endParaRPr>
          </a:p>
        </p:txBody>
      </p:sp>
      <p:grpSp>
        <p:nvGrpSpPr>
          <p:cNvPr id="110" name="Google Shape;110;p2"/>
          <p:cNvGrpSpPr/>
          <p:nvPr/>
        </p:nvGrpSpPr>
        <p:grpSpPr>
          <a:xfrm>
            <a:off x="11401952" y="2903387"/>
            <a:ext cx="5887372" cy="1247775"/>
            <a:chOff x="0" y="12700"/>
            <a:chExt cx="7849830" cy="1663700"/>
          </a:xfrm>
        </p:grpSpPr>
        <p:cxnSp>
          <p:nvCxnSpPr>
            <p:cNvPr id="111" name="Google Shape;111;p2"/>
            <p:cNvCxnSpPr/>
            <p:nvPr/>
          </p:nvCxnSpPr>
          <p:spPr>
            <a:xfrm>
              <a:off x="0" y="12700"/>
              <a:ext cx="7849830" cy="0"/>
            </a:xfrm>
            <a:prstGeom prst="straightConnector1">
              <a:avLst/>
            </a:prstGeom>
            <a:noFill/>
            <a:ln cap="rnd" cmpd="sng" w="25400">
              <a:solidFill>
                <a:srgbClr val="10B5BF"/>
              </a:solidFill>
              <a:prstDash val="solid"/>
              <a:round/>
              <a:headEnd len="sm" w="sm" type="none"/>
              <a:tailEnd len="sm" w="sm" type="none"/>
            </a:ln>
          </p:spPr>
        </p:cxnSp>
        <p:cxnSp>
          <p:nvCxnSpPr>
            <p:cNvPr id="112" name="Google Shape;112;p2"/>
            <p:cNvCxnSpPr/>
            <p:nvPr/>
          </p:nvCxnSpPr>
          <p:spPr>
            <a:xfrm>
              <a:off x="0" y="1676400"/>
              <a:ext cx="7849830" cy="0"/>
            </a:xfrm>
            <a:prstGeom prst="straightConnector1">
              <a:avLst/>
            </a:prstGeom>
            <a:noFill/>
            <a:ln cap="rnd" cmpd="sng" w="25400">
              <a:solidFill>
                <a:srgbClr val="10B5BF"/>
              </a:solidFill>
              <a:prstDash val="solid"/>
              <a:round/>
              <a:headEnd len="sm" w="sm" type="none"/>
              <a:tailEnd len="sm" w="sm" type="none"/>
            </a:ln>
          </p:spPr>
        </p:cxnSp>
        <p:sp>
          <p:nvSpPr>
            <p:cNvPr id="113" name="Google Shape;113;p2"/>
            <p:cNvSpPr txBox="1"/>
            <p:nvPr/>
          </p:nvSpPr>
          <p:spPr>
            <a:xfrm>
              <a:off x="0" y="488950"/>
              <a:ext cx="7849800" cy="6156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b="0" i="0" lang="en-US" sz="2999" u="none" cap="none" strike="noStrike">
                  <a:solidFill>
                    <a:srgbClr val="FFFFFF"/>
                  </a:solidFill>
                  <a:latin typeface="Poppins Light"/>
                  <a:ea typeface="Poppins Light"/>
                  <a:cs typeface="Poppins Light"/>
                  <a:sym typeface="Poppins Light"/>
                </a:rPr>
                <a:t>Video</a:t>
              </a:r>
              <a:endParaRPr b="0" i="0" sz="1400" u="none" cap="none" strike="noStrike">
                <a:solidFill>
                  <a:srgbClr val="000000"/>
                </a:solidFill>
                <a:latin typeface="Arial"/>
                <a:ea typeface="Arial"/>
                <a:cs typeface="Arial"/>
                <a:sym typeface="Arial"/>
              </a:endParaRPr>
            </a:p>
          </p:txBody>
        </p:sp>
      </p:grpSp>
      <p:grpSp>
        <p:nvGrpSpPr>
          <p:cNvPr id="114" name="Google Shape;114;p2"/>
          <p:cNvGrpSpPr/>
          <p:nvPr/>
        </p:nvGrpSpPr>
        <p:grpSpPr>
          <a:xfrm>
            <a:off x="11401952" y="1655612"/>
            <a:ext cx="5887350" cy="1247775"/>
            <a:chOff x="0" y="12700"/>
            <a:chExt cx="7849800" cy="1663700"/>
          </a:xfrm>
        </p:grpSpPr>
        <p:cxnSp>
          <p:nvCxnSpPr>
            <p:cNvPr id="115" name="Google Shape;115;p2"/>
            <p:cNvCxnSpPr/>
            <p:nvPr/>
          </p:nvCxnSpPr>
          <p:spPr>
            <a:xfrm>
              <a:off x="0" y="12700"/>
              <a:ext cx="7849800" cy="0"/>
            </a:xfrm>
            <a:prstGeom prst="straightConnector1">
              <a:avLst/>
            </a:prstGeom>
            <a:noFill/>
            <a:ln cap="rnd" cmpd="sng" w="25400">
              <a:solidFill>
                <a:srgbClr val="10B5BF"/>
              </a:solidFill>
              <a:prstDash val="solid"/>
              <a:round/>
              <a:headEnd len="sm" w="sm" type="none"/>
              <a:tailEnd len="sm" w="sm" type="none"/>
            </a:ln>
          </p:spPr>
        </p:cxnSp>
        <p:cxnSp>
          <p:nvCxnSpPr>
            <p:cNvPr id="116" name="Google Shape;116;p2"/>
            <p:cNvCxnSpPr/>
            <p:nvPr/>
          </p:nvCxnSpPr>
          <p:spPr>
            <a:xfrm>
              <a:off x="0" y="1676400"/>
              <a:ext cx="7849800" cy="0"/>
            </a:xfrm>
            <a:prstGeom prst="straightConnector1">
              <a:avLst/>
            </a:prstGeom>
            <a:noFill/>
            <a:ln cap="rnd" cmpd="sng" w="25400">
              <a:solidFill>
                <a:srgbClr val="10B5BF"/>
              </a:solidFill>
              <a:prstDash val="solid"/>
              <a:round/>
              <a:headEnd len="sm" w="sm" type="none"/>
              <a:tailEnd len="sm" w="sm" type="none"/>
            </a:ln>
          </p:spPr>
        </p:cxnSp>
        <p:sp>
          <p:nvSpPr>
            <p:cNvPr id="117" name="Google Shape;117;p2"/>
            <p:cNvSpPr txBox="1"/>
            <p:nvPr/>
          </p:nvSpPr>
          <p:spPr>
            <a:xfrm>
              <a:off x="0" y="488950"/>
              <a:ext cx="7849800" cy="6156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b="0" i="0" lang="en-US" sz="2999" u="none" cap="none" strike="noStrike">
                  <a:solidFill>
                    <a:srgbClr val="FFFFFF"/>
                  </a:solidFill>
                  <a:latin typeface="Poppins Light"/>
                  <a:ea typeface="Poppins Light"/>
                  <a:cs typeface="Poppins Light"/>
                  <a:sym typeface="Poppins Light"/>
                </a:rPr>
                <a:t>Introducción a la compilación</a:t>
              </a:r>
              <a:endParaRPr b="0" i="0" sz="1400" u="none" cap="none" strike="noStrike">
                <a:solidFill>
                  <a:srgbClr val="000000"/>
                </a:solidFill>
                <a:latin typeface="Arial"/>
                <a:ea typeface="Arial"/>
                <a:cs typeface="Arial"/>
                <a:sym typeface="Arial"/>
              </a:endParaRPr>
            </a:p>
          </p:txBody>
        </p:sp>
      </p:grpSp>
      <p:grpSp>
        <p:nvGrpSpPr>
          <p:cNvPr id="118" name="Google Shape;118;p2"/>
          <p:cNvGrpSpPr/>
          <p:nvPr/>
        </p:nvGrpSpPr>
        <p:grpSpPr>
          <a:xfrm>
            <a:off x="11401952" y="4151162"/>
            <a:ext cx="5887350" cy="1247775"/>
            <a:chOff x="0" y="12700"/>
            <a:chExt cx="7849800" cy="1663700"/>
          </a:xfrm>
        </p:grpSpPr>
        <p:cxnSp>
          <p:nvCxnSpPr>
            <p:cNvPr id="119" name="Google Shape;119;p2"/>
            <p:cNvCxnSpPr/>
            <p:nvPr/>
          </p:nvCxnSpPr>
          <p:spPr>
            <a:xfrm>
              <a:off x="0" y="12700"/>
              <a:ext cx="7849800" cy="0"/>
            </a:xfrm>
            <a:prstGeom prst="straightConnector1">
              <a:avLst/>
            </a:prstGeom>
            <a:noFill/>
            <a:ln cap="rnd" cmpd="sng" w="25400">
              <a:solidFill>
                <a:srgbClr val="10B5BF"/>
              </a:solidFill>
              <a:prstDash val="solid"/>
              <a:round/>
              <a:headEnd len="sm" w="sm" type="none"/>
              <a:tailEnd len="sm" w="sm" type="none"/>
            </a:ln>
          </p:spPr>
        </p:cxnSp>
        <p:cxnSp>
          <p:nvCxnSpPr>
            <p:cNvPr id="120" name="Google Shape;120;p2"/>
            <p:cNvCxnSpPr/>
            <p:nvPr/>
          </p:nvCxnSpPr>
          <p:spPr>
            <a:xfrm>
              <a:off x="0" y="1676400"/>
              <a:ext cx="7849800" cy="0"/>
            </a:xfrm>
            <a:prstGeom prst="straightConnector1">
              <a:avLst/>
            </a:prstGeom>
            <a:noFill/>
            <a:ln cap="rnd" cmpd="sng" w="25400">
              <a:solidFill>
                <a:srgbClr val="10B5BF"/>
              </a:solidFill>
              <a:prstDash val="solid"/>
              <a:round/>
              <a:headEnd len="sm" w="sm" type="none"/>
              <a:tailEnd len="sm" w="sm" type="none"/>
            </a:ln>
          </p:spPr>
        </p:cxnSp>
        <p:sp>
          <p:nvSpPr>
            <p:cNvPr id="121" name="Google Shape;121;p2"/>
            <p:cNvSpPr txBox="1"/>
            <p:nvPr/>
          </p:nvSpPr>
          <p:spPr>
            <a:xfrm>
              <a:off x="0" y="488950"/>
              <a:ext cx="7849800" cy="6156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b="0" i="0" lang="en-US" sz="2999" u="none" cap="none" strike="noStrike">
                  <a:solidFill>
                    <a:srgbClr val="FFFFFF"/>
                  </a:solidFill>
                  <a:latin typeface="Poppins Light"/>
                  <a:ea typeface="Poppins Light"/>
                  <a:cs typeface="Poppins Light"/>
                  <a:sym typeface="Poppins Light"/>
                </a:rPr>
                <a:t>Lectura</a:t>
              </a:r>
              <a:endParaRPr b="0" i="0" sz="1400" u="none" cap="none" strike="noStrike">
                <a:solidFill>
                  <a:srgbClr val="000000"/>
                </a:solidFill>
                <a:latin typeface="Arial"/>
                <a:ea typeface="Arial"/>
                <a:cs typeface="Arial"/>
                <a:sym typeface="Arial"/>
              </a:endParaRPr>
            </a:p>
          </p:txBody>
        </p:sp>
      </p:grpSp>
      <p:grpSp>
        <p:nvGrpSpPr>
          <p:cNvPr id="122" name="Google Shape;122;p2"/>
          <p:cNvGrpSpPr/>
          <p:nvPr/>
        </p:nvGrpSpPr>
        <p:grpSpPr>
          <a:xfrm>
            <a:off x="11340340" y="6646712"/>
            <a:ext cx="5887350" cy="1247775"/>
            <a:chOff x="0" y="12700"/>
            <a:chExt cx="7849800" cy="1663700"/>
          </a:xfrm>
        </p:grpSpPr>
        <p:cxnSp>
          <p:nvCxnSpPr>
            <p:cNvPr id="123" name="Google Shape;123;p2"/>
            <p:cNvCxnSpPr/>
            <p:nvPr/>
          </p:nvCxnSpPr>
          <p:spPr>
            <a:xfrm>
              <a:off x="0" y="12700"/>
              <a:ext cx="7849800" cy="0"/>
            </a:xfrm>
            <a:prstGeom prst="straightConnector1">
              <a:avLst/>
            </a:prstGeom>
            <a:noFill/>
            <a:ln cap="rnd" cmpd="sng" w="25400">
              <a:solidFill>
                <a:srgbClr val="10B5BF"/>
              </a:solidFill>
              <a:prstDash val="solid"/>
              <a:round/>
              <a:headEnd len="sm" w="sm" type="none"/>
              <a:tailEnd len="sm" w="sm" type="none"/>
            </a:ln>
          </p:spPr>
        </p:cxnSp>
        <p:cxnSp>
          <p:nvCxnSpPr>
            <p:cNvPr id="124" name="Google Shape;124;p2"/>
            <p:cNvCxnSpPr/>
            <p:nvPr/>
          </p:nvCxnSpPr>
          <p:spPr>
            <a:xfrm>
              <a:off x="0" y="1676400"/>
              <a:ext cx="7849800" cy="0"/>
            </a:xfrm>
            <a:prstGeom prst="straightConnector1">
              <a:avLst/>
            </a:prstGeom>
            <a:noFill/>
            <a:ln cap="rnd" cmpd="sng" w="25400">
              <a:solidFill>
                <a:srgbClr val="10B5BF"/>
              </a:solidFill>
              <a:prstDash val="solid"/>
              <a:round/>
              <a:headEnd len="sm" w="sm" type="none"/>
              <a:tailEnd len="sm" w="sm" type="none"/>
            </a:ln>
          </p:spPr>
        </p:cxnSp>
        <p:sp>
          <p:nvSpPr>
            <p:cNvPr id="125" name="Google Shape;125;p2"/>
            <p:cNvSpPr txBox="1"/>
            <p:nvPr/>
          </p:nvSpPr>
          <p:spPr>
            <a:xfrm>
              <a:off x="0" y="488950"/>
              <a:ext cx="7849800" cy="6156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b="0" i="0" lang="en-US" sz="2999" u="none" cap="none" strike="noStrike">
                  <a:solidFill>
                    <a:srgbClr val="FFFFFF"/>
                  </a:solidFill>
                  <a:latin typeface="Poppins Light"/>
                  <a:ea typeface="Poppins Light"/>
                  <a:cs typeface="Poppins Light"/>
                  <a:sym typeface="Poppins Light"/>
                </a:rPr>
                <a:t>Actividad</a:t>
              </a:r>
              <a:endParaRPr b="0" i="0" sz="1400" u="none" cap="none" strike="noStrike">
                <a:solidFill>
                  <a:srgbClr val="000000"/>
                </a:solidFill>
                <a:latin typeface="Arial"/>
                <a:ea typeface="Arial"/>
                <a:cs typeface="Arial"/>
                <a:sym typeface="Arial"/>
              </a:endParaRPr>
            </a:p>
          </p:txBody>
        </p:sp>
      </p:grpSp>
      <p:grpSp>
        <p:nvGrpSpPr>
          <p:cNvPr id="126" name="Google Shape;126;p2"/>
          <p:cNvGrpSpPr/>
          <p:nvPr/>
        </p:nvGrpSpPr>
        <p:grpSpPr>
          <a:xfrm>
            <a:off x="11340340" y="7894487"/>
            <a:ext cx="5887350" cy="1247775"/>
            <a:chOff x="0" y="12700"/>
            <a:chExt cx="7849800" cy="1663700"/>
          </a:xfrm>
        </p:grpSpPr>
        <p:cxnSp>
          <p:nvCxnSpPr>
            <p:cNvPr id="127" name="Google Shape;127;p2"/>
            <p:cNvCxnSpPr/>
            <p:nvPr/>
          </p:nvCxnSpPr>
          <p:spPr>
            <a:xfrm>
              <a:off x="0" y="12700"/>
              <a:ext cx="7849800" cy="0"/>
            </a:xfrm>
            <a:prstGeom prst="straightConnector1">
              <a:avLst/>
            </a:prstGeom>
            <a:noFill/>
            <a:ln cap="rnd" cmpd="sng" w="25400">
              <a:solidFill>
                <a:srgbClr val="10B5BF"/>
              </a:solidFill>
              <a:prstDash val="solid"/>
              <a:round/>
              <a:headEnd len="sm" w="sm" type="none"/>
              <a:tailEnd len="sm" w="sm" type="none"/>
            </a:ln>
          </p:spPr>
        </p:cxnSp>
        <p:cxnSp>
          <p:nvCxnSpPr>
            <p:cNvPr id="128" name="Google Shape;128;p2"/>
            <p:cNvCxnSpPr/>
            <p:nvPr/>
          </p:nvCxnSpPr>
          <p:spPr>
            <a:xfrm>
              <a:off x="0" y="1676400"/>
              <a:ext cx="7849800" cy="0"/>
            </a:xfrm>
            <a:prstGeom prst="straightConnector1">
              <a:avLst/>
            </a:prstGeom>
            <a:noFill/>
            <a:ln cap="rnd" cmpd="sng" w="25400">
              <a:solidFill>
                <a:srgbClr val="10B5BF"/>
              </a:solidFill>
              <a:prstDash val="solid"/>
              <a:round/>
              <a:headEnd len="sm" w="sm" type="none"/>
              <a:tailEnd len="sm" w="sm" type="none"/>
            </a:ln>
          </p:spPr>
        </p:cxnSp>
        <p:sp>
          <p:nvSpPr>
            <p:cNvPr id="129" name="Google Shape;129;p2"/>
            <p:cNvSpPr txBox="1"/>
            <p:nvPr/>
          </p:nvSpPr>
          <p:spPr>
            <a:xfrm>
              <a:off x="0" y="488950"/>
              <a:ext cx="7849800" cy="6156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b="0" i="0" lang="en-US" sz="2999" u="none" cap="none" strike="noStrike">
                  <a:solidFill>
                    <a:srgbClr val="FFFFFF"/>
                  </a:solidFill>
                  <a:latin typeface="Poppins Light"/>
                  <a:ea typeface="Poppins Light"/>
                  <a:cs typeface="Poppins Light"/>
                  <a:sym typeface="Poppins Light"/>
                </a:rPr>
                <a:t>Cuestionario</a:t>
              </a:r>
              <a:endParaRPr b="0" i="0" sz="1400" u="none" cap="none" strike="noStrike">
                <a:solidFill>
                  <a:srgbClr val="000000"/>
                </a:solidFill>
                <a:latin typeface="Arial"/>
                <a:ea typeface="Arial"/>
                <a:cs typeface="Arial"/>
                <a:sym typeface="Arial"/>
              </a:endParaRPr>
            </a:p>
          </p:txBody>
        </p:sp>
      </p:grpSp>
      <p:grpSp>
        <p:nvGrpSpPr>
          <p:cNvPr id="130" name="Google Shape;130;p2"/>
          <p:cNvGrpSpPr/>
          <p:nvPr/>
        </p:nvGrpSpPr>
        <p:grpSpPr>
          <a:xfrm>
            <a:off x="11401952" y="5398937"/>
            <a:ext cx="5887350" cy="1247775"/>
            <a:chOff x="0" y="12700"/>
            <a:chExt cx="7849800" cy="1663700"/>
          </a:xfrm>
        </p:grpSpPr>
        <p:cxnSp>
          <p:nvCxnSpPr>
            <p:cNvPr id="131" name="Google Shape;131;p2"/>
            <p:cNvCxnSpPr/>
            <p:nvPr/>
          </p:nvCxnSpPr>
          <p:spPr>
            <a:xfrm>
              <a:off x="0" y="12700"/>
              <a:ext cx="7849800" cy="0"/>
            </a:xfrm>
            <a:prstGeom prst="straightConnector1">
              <a:avLst/>
            </a:prstGeom>
            <a:noFill/>
            <a:ln cap="rnd" cmpd="sng" w="25400">
              <a:solidFill>
                <a:srgbClr val="10B5BF"/>
              </a:solidFill>
              <a:prstDash val="solid"/>
              <a:round/>
              <a:headEnd len="sm" w="sm" type="none"/>
              <a:tailEnd len="sm" w="sm" type="none"/>
            </a:ln>
          </p:spPr>
        </p:cxnSp>
        <p:cxnSp>
          <p:nvCxnSpPr>
            <p:cNvPr id="132" name="Google Shape;132;p2"/>
            <p:cNvCxnSpPr/>
            <p:nvPr/>
          </p:nvCxnSpPr>
          <p:spPr>
            <a:xfrm>
              <a:off x="0" y="1676400"/>
              <a:ext cx="7849800" cy="0"/>
            </a:xfrm>
            <a:prstGeom prst="straightConnector1">
              <a:avLst/>
            </a:prstGeom>
            <a:noFill/>
            <a:ln cap="rnd" cmpd="sng" w="25400">
              <a:solidFill>
                <a:srgbClr val="10B5BF"/>
              </a:solidFill>
              <a:prstDash val="solid"/>
              <a:round/>
              <a:headEnd len="sm" w="sm" type="none"/>
              <a:tailEnd len="sm" w="sm" type="none"/>
            </a:ln>
          </p:spPr>
        </p:cxnSp>
        <p:sp>
          <p:nvSpPr>
            <p:cNvPr id="133" name="Google Shape;133;p2"/>
            <p:cNvSpPr txBox="1"/>
            <p:nvPr/>
          </p:nvSpPr>
          <p:spPr>
            <a:xfrm>
              <a:off x="0" y="488950"/>
              <a:ext cx="7849800" cy="6156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b="0" i="0" lang="en-US" sz="2999" u="none" cap="none" strike="noStrike">
                  <a:solidFill>
                    <a:srgbClr val="FFFFFF"/>
                  </a:solidFill>
                  <a:latin typeface="Poppins Light"/>
                  <a:ea typeface="Poppins Light"/>
                  <a:cs typeface="Poppins Light"/>
                  <a:sym typeface="Poppins Light"/>
                </a:rPr>
                <a:t>Ejercicio</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37" name="Shape 137"/>
        <p:cNvGrpSpPr/>
        <p:nvPr/>
      </p:nvGrpSpPr>
      <p:grpSpPr>
        <a:xfrm>
          <a:off x="0" y="0"/>
          <a:ext cx="0" cy="0"/>
          <a:chOff x="0" y="0"/>
          <a:chExt cx="0" cy="0"/>
        </a:xfrm>
      </p:grpSpPr>
      <p:sp>
        <p:nvSpPr>
          <p:cNvPr id="138" name="Google Shape;138;p3"/>
          <p:cNvSpPr/>
          <p:nvPr/>
        </p:nvSpPr>
        <p:spPr>
          <a:xfrm>
            <a:off x="4400083" y="4380230"/>
            <a:ext cx="4144945" cy="4114800"/>
          </a:xfrm>
          <a:custGeom>
            <a:rect b="b" l="l" r="r" t="t"/>
            <a:pathLst>
              <a:path extrusionOk="0" h="4114800" w="4144945">
                <a:moveTo>
                  <a:pt x="0" y="0"/>
                </a:moveTo>
                <a:lnTo>
                  <a:pt x="4144945" y="0"/>
                </a:lnTo>
                <a:lnTo>
                  <a:pt x="4144945" y="4114800"/>
                </a:lnTo>
                <a:lnTo>
                  <a:pt x="0" y="4114800"/>
                </a:lnTo>
                <a:lnTo>
                  <a:pt x="0" y="0"/>
                </a:lnTo>
                <a:close/>
              </a:path>
            </a:pathLst>
          </a:custGeom>
          <a:blipFill rotWithShape="1">
            <a:blip r:embed="rId3">
              <a:alphaModFix/>
            </a:blip>
            <a:stretch>
              <a:fillRect b="0" l="0" r="0" t="0"/>
            </a:stretch>
          </a:blipFill>
          <a:ln>
            <a:noFill/>
          </a:ln>
        </p:spPr>
      </p:sp>
      <p:sp>
        <p:nvSpPr>
          <p:cNvPr id="139" name="Google Shape;139;p3"/>
          <p:cNvSpPr/>
          <p:nvPr/>
        </p:nvSpPr>
        <p:spPr>
          <a:xfrm>
            <a:off x="7844421" y="-156579"/>
            <a:ext cx="10443579" cy="10443579"/>
          </a:xfrm>
          <a:custGeom>
            <a:rect b="b" l="l" r="r" t="t"/>
            <a:pathLst>
              <a:path extrusionOk="0" h="10443579" w="10443579">
                <a:moveTo>
                  <a:pt x="0" y="0"/>
                </a:moveTo>
                <a:lnTo>
                  <a:pt x="10443579" y="0"/>
                </a:lnTo>
                <a:lnTo>
                  <a:pt x="10443579" y="10443579"/>
                </a:lnTo>
                <a:lnTo>
                  <a:pt x="0" y="10443579"/>
                </a:lnTo>
                <a:lnTo>
                  <a:pt x="0" y="0"/>
                </a:lnTo>
                <a:close/>
              </a:path>
            </a:pathLst>
          </a:custGeom>
          <a:blipFill rotWithShape="1">
            <a:blip r:embed="rId4">
              <a:alphaModFix/>
            </a:blip>
            <a:stretch>
              <a:fillRect b="0" l="0" r="0" t="0"/>
            </a:stretch>
          </a:blipFill>
          <a:ln>
            <a:noFill/>
          </a:ln>
        </p:spPr>
      </p:sp>
      <p:sp>
        <p:nvSpPr>
          <p:cNvPr id="140" name="Google Shape;140;p3"/>
          <p:cNvSpPr txBox="1"/>
          <p:nvPr/>
        </p:nvSpPr>
        <p:spPr>
          <a:xfrm>
            <a:off x="1028700" y="1218716"/>
            <a:ext cx="11646135" cy="29051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9500"/>
              <a:buFont typeface="Arial"/>
              <a:buNone/>
            </a:pPr>
            <a:r>
              <a:rPr b="1" i="0" lang="en-US" sz="9500" u="none" cap="none" strike="noStrike">
                <a:solidFill>
                  <a:srgbClr val="20E5F6"/>
                </a:solidFill>
                <a:latin typeface="Poppins"/>
                <a:ea typeface="Poppins"/>
                <a:cs typeface="Poppins"/>
                <a:sym typeface="Poppins"/>
              </a:rPr>
              <a:t>INTRODUCCIÓN A LA COMPILACIÓN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44" name="Shape 144"/>
        <p:cNvGrpSpPr/>
        <p:nvPr/>
      </p:nvGrpSpPr>
      <p:grpSpPr>
        <a:xfrm>
          <a:off x="0" y="0"/>
          <a:ext cx="0" cy="0"/>
          <a:chOff x="0" y="0"/>
          <a:chExt cx="0" cy="0"/>
        </a:xfrm>
      </p:grpSpPr>
      <p:sp>
        <p:nvSpPr>
          <p:cNvPr id="145" name="Google Shape;145;p4"/>
          <p:cNvSpPr txBox="1"/>
          <p:nvPr/>
        </p:nvSpPr>
        <p:spPr>
          <a:xfrm>
            <a:off x="5399521" y="1028700"/>
            <a:ext cx="7488957" cy="9048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975"/>
              <a:buFont typeface="Arial"/>
              <a:buNone/>
            </a:pPr>
            <a:r>
              <a:rPr b="1" i="0" lang="en-US" sz="5975" u="none" cap="none" strike="noStrike">
                <a:solidFill>
                  <a:srgbClr val="FFFFFF"/>
                </a:solidFill>
                <a:latin typeface="Poppins"/>
                <a:ea typeface="Poppins"/>
                <a:cs typeface="Poppins"/>
                <a:sym typeface="Poppins"/>
              </a:rPr>
              <a:t>Conceptos Básicos</a:t>
            </a:r>
            <a:endParaRPr b="0" i="0" sz="1400" u="none" cap="none" strike="noStrike">
              <a:solidFill>
                <a:srgbClr val="000000"/>
              </a:solidFill>
              <a:latin typeface="Arial"/>
              <a:ea typeface="Arial"/>
              <a:cs typeface="Arial"/>
              <a:sym typeface="Arial"/>
            </a:endParaRPr>
          </a:p>
        </p:txBody>
      </p:sp>
      <p:grpSp>
        <p:nvGrpSpPr>
          <p:cNvPr id="146" name="Google Shape;146;p4"/>
          <p:cNvGrpSpPr/>
          <p:nvPr/>
        </p:nvGrpSpPr>
        <p:grpSpPr>
          <a:xfrm>
            <a:off x="2301465" y="2731538"/>
            <a:ext cx="13685071" cy="6193440"/>
            <a:chOff x="0" y="-9525"/>
            <a:chExt cx="18246761" cy="8257921"/>
          </a:xfrm>
        </p:grpSpPr>
        <p:sp>
          <p:nvSpPr>
            <p:cNvPr id="147" name="Google Shape;147;p4"/>
            <p:cNvSpPr txBox="1"/>
            <p:nvPr/>
          </p:nvSpPr>
          <p:spPr>
            <a:xfrm>
              <a:off x="3148831" y="5339252"/>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SINTAXIS </a:t>
              </a:r>
              <a:endParaRPr b="0" i="0" sz="1400" u="none" cap="none" strike="noStrike">
                <a:solidFill>
                  <a:srgbClr val="000000"/>
                </a:solidFill>
                <a:latin typeface="Arial"/>
                <a:ea typeface="Arial"/>
                <a:cs typeface="Arial"/>
                <a:sym typeface="Arial"/>
              </a:endParaRPr>
            </a:p>
          </p:txBody>
        </p:sp>
        <p:sp>
          <p:nvSpPr>
            <p:cNvPr id="148" name="Google Shape;148;p4"/>
            <p:cNvSpPr txBox="1"/>
            <p:nvPr/>
          </p:nvSpPr>
          <p:spPr>
            <a:xfrm>
              <a:off x="3148831" y="6868329"/>
              <a:ext cx="5768411" cy="138006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Conjunto de reglas necesarias para construir frases correctas en un lenguaje.</a:t>
              </a:r>
              <a:endParaRPr b="0" i="0" sz="1400" u="none" cap="none" strike="noStrike">
                <a:solidFill>
                  <a:srgbClr val="000000"/>
                </a:solidFill>
                <a:latin typeface="Arial"/>
                <a:ea typeface="Arial"/>
                <a:cs typeface="Arial"/>
                <a:sym typeface="Arial"/>
              </a:endParaRPr>
            </a:p>
          </p:txBody>
        </p:sp>
        <p:cxnSp>
          <p:nvCxnSpPr>
            <p:cNvPr id="149" name="Google Shape;149;p4"/>
            <p:cNvCxnSpPr/>
            <p:nvPr/>
          </p:nvCxnSpPr>
          <p:spPr>
            <a:xfrm>
              <a:off x="3148831" y="6435225"/>
              <a:ext cx="5768411" cy="0"/>
            </a:xfrm>
            <a:prstGeom prst="straightConnector1">
              <a:avLst/>
            </a:prstGeom>
            <a:noFill/>
            <a:ln cap="rnd" cmpd="sng" w="25400">
              <a:solidFill>
                <a:srgbClr val="10B5BF"/>
              </a:solidFill>
              <a:prstDash val="solid"/>
              <a:round/>
              <a:headEnd len="sm" w="sm" type="none"/>
              <a:tailEnd len="sm" w="sm" type="none"/>
            </a:ln>
          </p:spPr>
        </p:cxnSp>
        <p:sp>
          <p:nvSpPr>
            <p:cNvPr id="150" name="Google Shape;150;p4"/>
            <p:cNvSpPr txBox="1"/>
            <p:nvPr/>
          </p:nvSpPr>
          <p:spPr>
            <a:xfrm>
              <a:off x="9329519" y="5339252"/>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SEMÁNTICA</a:t>
              </a:r>
              <a:endParaRPr b="0" i="0" sz="1400" u="none" cap="none" strike="noStrike">
                <a:solidFill>
                  <a:srgbClr val="000000"/>
                </a:solidFill>
                <a:latin typeface="Arial"/>
                <a:ea typeface="Arial"/>
                <a:cs typeface="Arial"/>
                <a:sym typeface="Arial"/>
              </a:endParaRPr>
            </a:p>
          </p:txBody>
        </p:sp>
        <p:sp>
          <p:nvSpPr>
            <p:cNvPr id="151" name="Google Shape;151;p4"/>
            <p:cNvSpPr txBox="1"/>
            <p:nvPr/>
          </p:nvSpPr>
          <p:spPr>
            <a:xfrm>
              <a:off x="9329519" y="6868329"/>
              <a:ext cx="5768411" cy="91016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Significado de frases generadas por la sintaxis y el léxico.</a:t>
              </a:r>
              <a:endParaRPr b="0" i="0" sz="1400" u="none" cap="none" strike="noStrike">
                <a:solidFill>
                  <a:srgbClr val="000000"/>
                </a:solidFill>
                <a:latin typeface="Arial"/>
                <a:ea typeface="Arial"/>
                <a:cs typeface="Arial"/>
                <a:sym typeface="Arial"/>
              </a:endParaRPr>
            </a:p>
          </p:txBody>
        </p:sp>
        <p:cxnSp>
          <p:nvCxnSpPr>
            <p:cNvPr id="152" name="Google Shape;152;p4"/>
            <p:cNvCxnSpPr/>
            <p:nvPr/>
          </p:nvCxnSpPr>
          <p:spPr>
            <a:xfrm>
              <a:off x="9329519" y="6435225"/>
              <a:ext cx="5768411" cy="0"/>
            </a:xfrm>
            <a:prstGeom prst="straightConnector1">
              <a:avLst/>
            </a:prstGeom>
            <a:noFill/>
            <a:ln cap="rnd" cmpd="sng" w="25400">
              <a:solidFill>
                <a:srgbClr val="10B5BF"/>
              </a:solidFill>
              <a:prstDash val="solid"/>
              <a:round/>
              <a:headEnd len="sm" w="sm" type="none"/>
              <a:tailEnd len="sm" w="sm" type="none"/>
            </a:ln>
          </p:spPr>
        </p:cxnSp>
        <p:sp>
          <p:nvSpPr>
            <p:cNvPr id="153" name="Google Shape;153;p4"/>
            <p:cNvSpPr txBox="1"/>
            <p:nvPr/>
          </p:nvSpPr>
          <p:spPr>
            <a:xfrm>
              <a:off x="6240039" y="-9525"/>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LEXICO</a:t>
              </a:r>
              <a:endParaRPr b="0" i="0" sz="1400" u="none" cap="none" strike="noStrike">
                <a:solidFill>
                  <a:srgbClr val="000000"/>
                </a:solidFill>
                <a:latin typeface="Arial"/>
                <a:ea typeface="Arial"/>
                <a:cs typeface="Arial"/>
                <a:sym typeface="Arial"/>
              </a:endParaRPr>
            </a:p>
          </p:txBody>
        </p:sp>
        <p:sp>
          <p:nvSpPr>
            <p:cNvPr id="154" name="Google Shape;154;p4"/>
            <p:cNvSpPr txBox="1"/>
            <p:nvPr/>
          </p:nvSpPr>
          <p:spPr>
            <a:xfrm>
              <a:off x="6240047" y="1519559"/>
              <a:ext cx="5768400" cy="1559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Vocabulario es un conjunto de</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palabras que forman parte de un lenguaje específico</a:t>
              </a:r>
              <a:endParaRPr b="0" i="0" sz="1400" u="none" cap="none" strike="noStrike">
                <a:solidFill>
                  <a:srgbClr val="000000"/>
                </a:solidFill>
                <a:latin typeface="Arial"/>
                <a:ea typeface="Arial"/>
                <a:cs typeface="Arial"/>
                <a:sym typeface="Arial"/>
              </a:endParaRPr>
            </a:p>
          </p:txBody>
        </p:sp>
        <p:cxnSp>
          <p:nvCxnSpPr>
            <p:cNvPr id="155" name="Google Shape;155;p4"/>
            <p:cNvCxnSpPr/>
            <p:nvPr/>
          </p:nvCxnSpPr>
          <p:spPr>
            <a:xfrm>
              <a:off x="6240039" y="1086448"/>
              <a:ext cx="5768411" cy="0"/>
            </a:xfrm>
            <a:prstGeom prst="straightConnector1">
              <a:avLst/>
            </a:prstGeom>
            <a:noFill/>
            <a:ln cap="rnd" cmpd="sng" w="25400">
              <a:solidFill>
                <a:srgbClr val="10B5BF"/>
              </a:solidFill>
              <a:prstDash val="solid"/>
              <a:round/>
              <a:headEnd len="sm" w="sm" type="none"/>
              <a:tailEnd len="sm" w="sm" type="none"/>
            </a:ln>
          </p:spPr>
        </p:cxnSp>
        <p:sp>
          <p:nvSpPr>
            <p:cNvPr id="156" name="Google Shape;156;p4"/>
            <p:cNvSpPr txBox="1"/>
            <p:nvPr/>
          </p:nvSpPr>
          <p:spPr>
            <a:xfrm>
              <a:off x="12478350" y="-9525"/>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GRAMÁTICA</a:t>
              </a:r>
              <a:endParaRPr b="0" i="0" sz="1400" u="none" cap="none" strike="noStrike">
                <a:solidFill>
                  <a:srgbClr val="000000"/>
                </a:solidFill>
                <a:latin typeface="Arial"/>
                <a:ea typeface="Arial"/>
                <a:cs typeface="Arial"/>
                <a:sym typeface="Arial"/>
              </a:endParaRPr>
            </a:p>
          </p:txBody>
        </p:sp>
        <p:sp>
          <p:nvSpPr>
            <p:cNvPr id="157" name="Google Shape;157;p4"/>
            <p:cNvSpPr txBox="1"/>
            <p:nvPr/>
          </p:nvSpPr>
          <p:spPr>
            <a:xfrm>
              <a:off x="12478350" y="1519552"/>
              <a:ext cx="5768411" cy="184996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Agrupa los elementos de forma,</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estructura y significado que permiten expresarse en un lenguaje determinado.</a:t>
              </a:r>
              <a:endParaRPr b="0" i="0" sz="1400" u="none" cap="none" strike="noStrike">
                <a:solidFill>
                  <a:srgbClr val="000000"/>
                </a:solidFill>
                <a:latin typeface="Arial"/>
                <a:ea typeface="Arial"/>
                <a:cs typeface="Arial"/>
                <a:sym typeface="Arial"/>
              </a:endParaRPr>
            </a:p>
          </p:txBody>
        </p:sp>
        <p:cxnSp>
          <p:nvCxnSpPr>
            <p:cNvPr id="158" name="Google Shape;158;p4"/>
            <p:cNvCxnSpPr/>
            <p:nvPr/>
          </p:nvCxnSpPr>
          <p:spPr>
            <a:xfrm>
              <a:off x="12478350" y="1086448"/>
              <a:ext cx="5768411" cy="0"/>
            </a:xfrm>
            <a:prstGeom prst="straightConnector1">
              <a:avLst/>
            </a:prstGeom>
            <a:noFill/>
            <a:ln cap="rnd" cmpd="sng" w="25400">
              <a:solidFill>
                <a:srgbClr val="10B5BF"/>
              </a:solidFill>
              <a:prstDash val="solid"/>
              <a:round/>
              <a:headEnd len="sm" w="sm" type="none"/>
              <a:tailEnd len="sm" w="sm" type="none"/>
            </a:ln>
          </p:spPr>
        </p:cxnSp>
        <p:sp>
          <p:nvSpPr>
            <p:cNvPr id="159" name="Google Shape;159;p4"/>
            <p:cNvSpPr txBox="1"/>
            <p:nvPr/>
          </p:nvSpPr>
          <p:spPr>
            <a:xfrm>
              <a:off x="0" y="-9525"/>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LENGUAJE</a:t>
              </a:r>
              <a:endParaRPr b="0" i="0" sz="1400" u="none" cap="none" strike="noStrike">
                <a:solidFill>
                  <a:srgbClr val="000000"/>
                </a:solidFill>
                <a:latin typeface="Arial"/>
                <a:ea typeface="Arial"/>
                <a:cs typeface="Arial"/>
                <a:sym typeface="Arial"/>
              </a:endParaRPr>
            </a:p>
          </p:txBody>
        </p:sp>
        <p:sp>
          <p:nvSpPr>
            <p:cNvPr id="160" name="Google Shape;160;p4"/>
            <p:cNvSpPr txBox="1"/>
            <p:nvPr/>
          </p:nvSpPr>
          <p:spPr>
            <a:xfrm>
              <a:off x="0" y="1519552"/>
              <a:ext cx="5768411" cy="231986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Conjunto de símbolos y reglas que</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permiten la comunicación, es decir transmiten una idea o mensaje</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t/>
              </a:r>
              <a:endParaRPr b="0" i="0" sz="2000" u="none" cap="none" strike="noStrike">
                <a:solidFill>
                  <a:srgbClr val="FFFFFF"/>
                </a:solidFill>
                <a:latin typeface="Poppins Light"/>
                <a:ea typeface="Poppins Light"/>
                <a:cs typeface="Poppins Light"/>
                <a:sym typeface="Poppins Light"/>
              </a:endParaRPr>
            </a:p>
          </p:txBody>
        </p:sp>
        <p:cxnSp>
          <p:nvCxnSpPr>
            <p:cNvPr id="161" name="Google Shape;161;p4"/>
            <p:cNvCxnSpPr/>
            <p:nvPr/>
          </p:nvCxnSpPr>
          <p:spPr>
            <a:xfrm>
              <a:off x="0" y="1086448"/>
              <a:ext cx="5768411" cy="0"/>
            </a:xfrm>
            <a:prstGeom prst="straightConnector1">
              <a:avLst/>
            </a:prstGeom>
            <a:noFill/>
            <a:ln cap="rnd" cmpd="sng" w="25400">
              <a:solidFill>
                <a:srgbClr val="10B5BF"/>
              </a:solidFill>
              <a:prstDash val="solid"/>
              <a:round/>
              <a:headEnd len="sm" w="sm" type="none"/>
              <a:tailEnd len="sm" w="sm" type="none"/>
            </a:ln>
          </p:spPr>
        </p:cxn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65" name="Shape 165"/>
        <p:cNvGrpSpPr/>
        <p:nvPr/>
      </p:nvGrpSpPr>
      <p:grpSpPr>
        <a:xfrm>
          <a:off x="0" y="0"/>
          <a:ext cx="0" cy="0"/>
          <a:chOff x="0" y="0"/>
          <a:chExt cx="0" cy="0"/>
        </a:xfrm>
      </p:grpSpPr>
      <p:grpSp>
        <p:nvGrpSpPr>
          <p:cNvPr id="166" name="Google Shape;166;p5"/>
          <p:cNvGrpSpPr/>
          <p:nvPr/>
        </p:nvGrpSpPr>
        <p:grpSpPr>
          <a:xfrm>
            <a:off x="1738415" y="1027642"/>
            <a:ext cx="14811170" cy="5060038"/>
            <a:chOff x="0" y="-1411"/>
            <a:chExt cx="19748227" cy="6746717"/>
          </a:xfrm>
        </p:grpSpPr>
        <p:sp>
          <p:nvSpPr>
            <p:cNvPr id="167" name="Google Shape;167;p5"/>
            <p:cNvSpPr txBox="1"/>
            <p:nvPr/>
          </p:nvSpPr>
          <p:spPr>
            <a:xfrm>
              <a:off x="0" y="3517906"/>
              <a:ext cx="19748100" cy="322740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 Un intérprete es un programa informático que procesa el código fuente de un proyecto de software durante su tiempo de ejecución, es decir, mientras el software se esta ejecutando, y actúa como una interfaz entre ese proyecto y el procesador. </a:t>
              </a:r>
              <a:endParaRPr b="0" i="0" sz="1400" u="none" cap="none" strike="noStrike">
                <a:solidFill>
                  <a:srgbClr val="000000"/>
                </a:solidFill>
                <a:latin typeface="Arial"/>
                <a:ea typeface="Arial"/>
                <a:cs typeface="Arial"/>
                <a:sym typeface="Arial"/>
              </a:endParaRPr>
            </a:p>
          </p:txBody>
        </p:sp>
        <p:sp>
          <p:nvSpPr>
            <p:cNvPr id="168" name="Google Shape;168;p5"/>
            <p:cNvSpPr txBox="1"/>
            <p:nvPr/>
          </p:nvSpPr>
          <p:spPr>
            <a:xfrm>
              <a:off x="0" y="-1411"/>
              <a:ext cx="19748227" cy="1409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Interprete</a:t>
              </a:r>
              <a:endParaRPr b="0" i="0" sz="1400" u="none" cap="none" strike="noStrike">
                <a:solidFill>
                  <a:srgbClr val="000000"/>
                </a:solidFill>
                <a:latin typeface="Arial"/>
                <a:ea typeface="Arial"/>
                <a:cs typeface="Arial"/>
                <a:sym typeface="Arial"/>
              </a:endParaRPr>
            </a:p>
          </p:txBody>
        </p:sp>
        <p:cxnSp>
          <p:nvCxnSpPr>
            <p:cNvPr id="169" name="Google Shape;169;p5"/>
            <p:cNvCxnSpPr/>
            <p:nvPr/>
          </p:nvCxnSpPr>
          <p:spPr>
            <a:xfrm>
              <a:off x="0" y="2191016"/>
              <a:ext cx="19748227" cy="0"/>
            </a:xfrm>
            <a:prstGeom prst="straightConnector1">
              <a:avLst/>
            </a:prstGeom>
            <a:noFill/>
            <a:ln cap="rnd" cmpd="sng" w="25400">
              <a:solidFill>
                <a:srgbClr val="10B5BF"/>
              </a:solidFill>
              <a:prstDash val="solid"/>
              <a:round/>
              <a:headEnd len="sm" w="sm" type="none"/>
              <a:tailEnd len="sm" w="sm" type="none"/>
            </a:ln>
          </p:spPr>
        </p:cxnSp>
      </p:grpSp>
      <p:sp>
        <p:nvSpPr>
          <p:cNvPr id="170" name="Google Shape;170;p5"/>
          <p:cNvSpPr/>
          <p:nvPr/>
        </p:nvSpPr>
        <p:spPr>
          <a:xfrm>
            <a:off x="3928464" y="7047366"/>
            <a:ext cx="10431072" cy="2210934"/>
          </a:xfrm>
          <a:custGeom>
            <a:rect b="b" l="l" r="r" t="t"/>
            <a:pathLst>
              <a:path extrusionOk="0" h="2210934" w="10431072">
                <a:moveTo>
                  <a:pt x="0" y="0"/>
                </a:moveTo>
                <a:lnTo>
                  <a:pt x="10431072" y="0"/>
                </a:lnTo>
                <a:lnTo>
                  <a:pt x="10431072" y="2210934"/>
                </a:lnTo>
                <a:lnTo>
                  <a:pt x="0" y="221093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74" name="Shape 174"/>
        <p:cNvGrpSpPr/>
        <p:nvPr/>
      </p:nvGrpSpPr>
      <p:grpSpPr>
        <a:xfrm>
          <a:off x="0" y="0"/>
          <a:ext cx="0" cy="0"/>
          <a:chOff x="0" y="0"/>
          <a:chExt cx="0" cy="0"/>
        </a:xfrm>
      </p:grpSpPr>
      <p:grpSp>
        <p:nvGrpSpPr>
          <p:cNvPr id="175" name="Google Shape;175;p6"/>
          <p:cNvGrpSpPr/>
          <p:nvPr/>
        </p:nvGrpSpPr>
        <p:grpSpPr>
          <a:xfrm>
            <a:off x="1738415" y="1027642"/>
            <a:ext cx="14811170" cy="4746260"/>
            <a:chOff x="0" y="-1411"/>
            <a:chExt cx="19748227" cy="6328346"/>
          </a:xfrm>
        </p:grpSpPr>
        <p:sp>
          <p:nvSpPr>
            <p:cNvPr id="176" name="Google Shape;176;p6"/>
            <p:cNvSpPr txBox="1"/>
            <p:nvPr/>
          </p:nvSpPr>
          <p:spPr>
            <a:xfrm>
              <a:off x="0" y="3517906"/>
              <a:ext cx="19748227" cy="2809029"/>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Un compilador es un programa informático que traduce todo el código fuente del proyecto de software a código maquina para posteriormente ejecutarlo.</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Al producir el código, el compilador determina qué instrucciones van a enviarse al procesador  en qué orden. </a:t>
              </a:r>
              <a:endParaRPr b="0" i="0" sz="1400" u="none" cap="none" strike="noStrike">
                <a:solidFill>
                  <a:srgbClr val="000000"/>
                </a:solidFill>
                <a:latin typeface="Arial"/>
                <a:ea typeface="Arial"/>
                <a:cs typeface="Arial"/>
                <a:sym typeface="Arial"/>
              </a:endParaRPr>
            </a:p>
          </p:txBody>
        </p:sp>
        <p:sp>
          <p:nvSpPr>
            <p:cNvPr id="177" name="Google Shape;177;p6"/>
            <p:cNvSpPr txBox="1"/>
            <p:nvPr/>
          </p:nvSpPr>
          <p:spPr>
            <a:xfrm>
              <a:off x="0" y="-1411"/>
              <a:ext cx="19748227" cy="1409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Compilador</a:t>
              </a:r>
              <a:endParaRPr b="0" i="0" sz="1400" u="none" cap="none" strike="noStrike">
                <a:solidFill>
                  <a:srgbClr val="000000"/>
                </a:solidFill>
                <a:latin typeface="Arial"/>
                <a:ea typeface="Arial"/>
                <a:cs typeface="Arial"/>
                <a:sym typeface="Arial"/>
              </a:endParaRPr>
            </a:p>
          </p:txBody>
        </p:sp>
        <p:cxnSp>
          <p:nvCxnSpPr>
            <p:cNvPr id="178" name="Google Shape;178;p6"/>
            <p:cNvCxnSpPr/>
            <p:nvPr/>
          </p:nvCxnSpPr>
          <p:spPr>
            <a:xfrm>
              <a:off x="0" y="2191016"/>
              <a:ext cx="19748227" cy="0"/>
            </a:xfrm>
            <a:prstGeom prst="straightConnector1">
              <a:avLst/>
            </a:prstGeom>
            <a:noFill/>
            <a:ln cap="rnd" cmpd="sng" w="25400">
              <a:solidFill>
                <a:srgbClr val="10B5BF"/>
              </a:solidFill>
              <a:prstDash val="solid"/>
              <a:round/>
              <a:headEnd len="sm" w="sm" type="none"/>
              <a:tailEnd len="sm" w="sm" type="none"/>
            </a:ln>
          </p:spPr>
        </p:cxnSp>
      </p:grpSp>
      <p:sp>
        <p:nvSpPr>
          <p:cNvPr id="179" name="Google Shape;179;p6"/>
          <p:cNvSpPr/>
          <p:nvPr/>
        </p:nvSpPr>
        <p:spPr>
          <a:xfrm>
            <a:off x="9677867" y="6354545"/>
            <a:ext cx="2893365" cy="3406280"/>
          </a:xfrm>
          <a:custGeom>
            <a:rect b="b" l="l" r="r" t="t"/>
            <a:pathLst>
              <a:path extrusionOk="0" h="3406280" w="2893365">
                <a:moveTo>
                  <a:pt x="0" y="0"/>
                </a:moveTo>
                <a:lnTo>
                  <a:pt x="2893366" y="0"/>
                </a:lnTo>
                <a:lnTo>
                  <a:pt x="2893366" y="3406280"/>
                </a:lnTo>
                <a:lnTo>
                  <a:pt x="0" y="340628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83" name="Shape 183"/>
        <p:cNvGrpSpPr/>
        <p:nvPr/>
      </p:nvGrpSpPr>
      <p:grpSpPr>
        <a:xfrm>
          <a:off x="0" y="0"/>
          <a:ext cx="0" cy="0"/>
          <a:chOff x="0" y="0"/>
          <a:chExt cx="0" cy="0"/>
        </a:xfrm>
      </p:grpSpPr>
      <p:grpSp>
        <p:nvGrpSpPr>
          <p:cNvPr id="184" name="Google Shape;184;p7"/>
          <p:cNvGrpSpPr/>
          <p:nvPr/>
        </p:nvGrpSpPr>
        <p:grpSpPr>
          <a:xfrm>
            <a:off x="1738415" y="2806217"/>
            <a:ext cx="14811170" cy="5315050"/>
            <a:chOff x="0" y="0"/>
            <a:chExt cx="19748227" cy="7086733"/>
          </a:xfrm>
        </p:grpSpPr>
        <p:cxnSp>
          <p:nvCxnSpPr>
            <p:cNvPr id="185" name="Google Shape;185;p7"/>
            <p:cNvCxnSpPr/>
            <p:nvPr/>
          </p:nvCxnSpPr>
          <p:spPr>
            <a:xfrm rot="10800000">
              <a:off x="9874113" y="0"/>
              <a:ext cx="0" cy="7086733"/>
            </a:xfrm>
            <a:prstGeom prst="straightConnector1">
              <a:avLst/>
            </a:prstGeom>
            <a:noFill/>
            <a:ln cap="rnd" cmpd="sng" w="25400">
              <a:solidFill>
                <a:srgbClr val="10B5BF"/>
              </a:solidFill>
              <a:prstDash val="solid"/>
              <a:round/>
              <a:headEnd len="sm" w="sm" type="none"/>
              <a:tailEnd len="sm" w="sm" type="none"/>
            </a:ln>
          </p:spPr>
        </p:cxnSp>
        <p:cxnSp>
          <p:nvCxnSpPr>
            <p:cNvPr id="186" name="Google Shape;186;p7"/>
            <p:cNvCxnSpPr/>
            <p:nvPr/>
          </p:nvCxnSpPr>
          <p:spPr>
            <a:xfrm>
              <a:off x="0" y="1905133"/>
              <a:ext cx="19748227" cy="0"/>
            </a:xfrm>
            <a:prstGeom prst="straightConnector1">
              <a:avLst/>
            </a:prstGeom>
            <a:noFill/>
            <a:ln cap="rnd" cmpd="sng" w="25400">
              <a:solidFill>
                <a:srgbClr val="10B5BF"/>
              </a:solidFill>
              <a:prstDash val="solid"/>
              <a:round/>
              <a:headEnd len="sm" w="sm" type="none"/>
              <a:tailEnd len="sm" w="sm" type="none"/>
            </a:ln>
          </p:spPr>
        </p:cxnSp>
        <p:sp>
          <p:nvSpPr>
            <p:cNvPr id="187" name="Google Shape;187;p7"/>
            <p:cNvSpPr txBox="1"/>
            <p:nvPr/>
          </p:nvSpPr>
          <p:spPr>
            <a:xfrm>
              <a:off x="2156425" y="0"/>
              <a:ext cx="4377589" cy="1600200"/>
            </a:xfrm>
            <a:prstGeom prst="rect">
              <a:avLst/>
            </a:prstGeom>
            <a:noFill/>
            <a:ln>
              <a:noFill/>
            </a:ln>
          </p:spPr>
          <p:txBody>
            <a:bodyPr anchorCtr="0" anchor="t" bIns="0" lIns="0" spcFirstLastPara="1" rIns="0" wrap="square" tIns="0">
              <a:spAutoFit/>
            </a:bodyPr>
            <a:lstStyle/>
            <a:p>
              <a:pPr indent="0" lvl="0" marL="0" marR="0" rtl="0" algn="l">
                <a:lnSpc>
                  <a:spcPct val="26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20005"/>
                </a:lnSpc>
                <a:spcBef>
                  <a:spcPts val="0"/>
                </a:spcBef>
                <a:spcAft>
                  <a:spcPts val="0"/>
                </a:spcAft>
                <a:buClr>
                  <a:srgbClr val="000000"/>
                </a:buClr>
                <a:buSzPts val="3999"/>
                <a:buFont typeface="Arial"/>
                <a:buNone/>
              </a:pPr>
              <a:r>
                <a:rPr b="0" i="0" lang="en-US" sz="3999" u="none" cap="none" strike="noStrike">
                  <a:solidFill>
                    <a:srgbClr val="10B5BF"/>
                  </a:solidFill>
                  <a:latin typeface="Poppins Medium"/>
                  <a:ea typeface="Poppins Medium"/>
                  <a:cs typeface="Poppins Medium"/>
                  <a:sym typeface="Poppins Medium"/>
                </a:rPr>
                <a:t>Compilador</a:t>
              </a:r>
              <a:endParaRPr b="0" i="0" sz="1400" u="none" cap="none" strike="noStrike">
                <a:solidFill>
                  <a:srgbClr val="000000"/>
                </a:solidFill>
                <a:latin typeface="Arial"/>
                <a:ea typeface="Arial"/>
                <a:cs typeface="Arial"/>
                <a:sym typeface="Arial"/>
              </a:endParaRPr>
            </a:p>
          </p:txBody>
        </p:sp>
        <p:sp>
          <p:nvSpPr>
            <p:cNvPr id="188" name="Google Shape;188;p7"/>
            <p:cNvSpPr txBox="1"/>
            <p:nvPr/>
          </p:nvSpPr>
          <p:spPr>
            <a:xfrm>
              <a:off x="13214213" y="800100"/>
              <a:ext cx="3419479" cy="8001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3999"/>
                <a:buFont typeface="Arial"/>
                <a:buNone/>
              </a:pPr>
              <a:r>
                <a:rPr b="0" i="0" lang="en-US" sz="3999" u="none" cap="none" strike="noStrike">
                  <a:solidFill>
                    <a:srgbClr val="10B5BF"/>
                  </a:solidFill>
                  <a:latin typeface="Poppins Medium"/>
                  <a:ea typeface="Poppins Medium"/>
                  <a:cs typeface="Poppins Medium"/>
                  <a:sym typeface="Poppins Medium"/>
                </a:rPr>
                <a:t>Interprete</a:t>
              </a:r>
              <a:endParaRPr b="0" i="0" sz="1400" u="none" cap="none" strike="noStrike">
                <a:solidFill>
                  <a:srgbClr val="000000"/>
                </a:solidFill>
                <a:latin typeface="Arial"/>
                <a:ea typeface="Arial"/>
                <a:cs typeface="Arial"/>
                <a:sym typeface="Arial"/>
              </a:endParaRPr>
            </a:p>
          </p:txBody>
        </p:sp>
        <p:sp>
          <p:nvSpPr>
            <p:cNvPr id="189" name="Google Shape;189;p7"/>
            <p:cNvSpPr txBox="1"/>
            <p:nvPr/>
          </p:nvSpPr>
          <p:spPr>
            <a:xfrm>
              <a:off x="0" y="2200408"/>
              <a:ext cx="9384880" cy="4886325"/>
            </a:xfrm>
            <a:prstGeom prst="rect">
              <a:avLst/>
            </a:prstGeom>
            <a:noFill/>
            <a:ln>
              <a:noFill/>
            </a:ln>
          </p:spPr>
          <p:txBody>
            <a:bodyPr anchorCtr="0" anchor="t" bIns="0" lIns="0" spcFirstLastPara="1" rIns="0" wrap="square" tIns="0">
              <a:spAutoFit/>
            </a:bodyPr>
            <a:lstStyle/>
            <a:p>
              <a:pPr indent="0" lvl="0" marL="0" marR="0" rtl="0" algn="just">
                <a:lnSpc>
                  <a:spcPct val="2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323850" lvl="1" marL="647700" marR="0" rtl="0" algn="just">
                <a:lnSpc>
                  <a:spcPct val="12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Medium"/>
                  <a:ea typeface="Poppins Medium"/>
                  <a:cs typeface="Poppins Medium"/>
                  <a:sym typeface="Poppins Medium"/>
                </a:rPr>
                <a:t>Se compila una vez, se ejecuta n veces</a:t>
              </a:r>
              <a:endParaRPr b="0" i="0" sz="1400" u="none" cap="none" strike="noStrike">
                <a:solidFill>
                  <a:srgbClr val="000000"/>
                </a:solidFill>
                <a:latin typeface="Arial"/>
                <a:ea typeface="Arial"/>
                <a:cs typeface="Arial"/>
                <a:sym typeface="Arial"/>
              </a:endParaRPr>
            </a:p>
            <a:p>
              <a:pPr indent="-323850" lvl="1" marL="647700" marR="0" rtl="0" algn="just">
                <a:lnSpc>
                  <a:spcPct val="12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Medium"/>
                  <a:ea typeface="Poppins Medium"/>
                  <a:cs typeface="Poppins Medium"/>
                  <a:sym typeface="Poppins Medium"/>
                </a:rPr>
                <a:t>El proceso de compilación tiene una visión global de todo el programa, por lo cual la gestión de errores es más eficiente</a:t>
              </a:r>
              <a:endParaRPr b="0" i="0" sz="1400" u="none" cap="none" strike="noStrike">
                <a:solidFill>
                  <a:srgbClr val="000000"/>
                </a:solidFill>
                <a:latin typeface="Arial"/>
                <a:ea typeface="Arial"/>
                <a:cs typeface="Arial"/>
                <a:sym typeface="Arial"/>
              </a:endParaRPr>
            </a:p>
            <a:p>
              <a:pPr indent="-323850" lvl="1" marL="647700" marR="0" rtl="0" algn="just">
                <a:lnSpc>
                  <a:spcPct val="12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Medium"/>
                  <a:ea typeface="Poppins Medium"/>
                  <a:cs typeface="Poppins Medium"/>
                  <a:sym typeface="Poppins Medium"/>
                </a:rPr>
                <a:t>La ejecución es más rápida</a:t>
              </a:r>
              <a:endParaRPr b="0" i="0" sz="1400" u="none" cap="none" strike="noStrike">
                <a:solidFill>
                  <a:srgbClr val="000000"/>
                </a:solidFill>
                <a:latin typeface="Arial"/>
                <a:ea typeface="Arial"/>
                <a:cs typeface="Arial"/>
                <a:sym typeface="Arial"/>
              </a:endParaRPr>
            </a:p>
          </p:txBody>
        </p:sp>
        <p:sp>
          <p:nvSpPr>
            <p:cNvPr id="190" name="Google Shape;190;p7"/>
            <p:cNvSpPr txBox="1"/>
            <p:nvPr/>
          </p:nvSpPr>
          <p:spPr>
            <a:xfrm>
              <a:off x="10363346" y="2200408"/>
              <a:ext cx="9384880" cy="4276725"/>
            </a:xfrm>
            <a:prstGeom prst="rect">
              <a:avLst/>
            </a:prstGeom>
            <a:noFill/>
            <a:ln>
              <a:noFill/>
            </a:ln>
          </p:spPr>
          <p:txBody>
            <a:bodyPr anchorCtr="0" anchor="t" bIns="0" lIns="0" spcFirstLastPara="1" rIns="0" wrap="square" tIns="0">
              <a:spAutoFit/>
            </a:bodyPr>
            <a:lstStyle/>
            <a:p>
              <a:pPr indent="0" lvl="0" marL="0" marR="0" rtl="0" algn="just">
                <a:lnSpc>
                  <a:spcPct val="2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323850" lvl="1" marL="647700" marR="0" rtl="0" algn="just">
                <a:lnSpc>
                  <a:spcPct val="12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Medium"/>
                  <a:ea typeface="Poppins Medium"/>
                  <a:cs typeface="Poppins Medium"/>
                  <a:sym typeface="Poppins Medium"/>
                </a:rPr>
                <a:t>Se traduce cada vez que se ejecuta</a:t>
              </a:r>
              <a:endParaRPr b="0" i="0" sz="1400" u="none" cap="none" strike="noStrike">
                <a:solidFill>
                  <a:srgbClr val="000000"/>
                </a:solidFill>
                <a:latin typeface="Arial"/>
                <a:ea typeface="Arial"/>
                <a:cs typeface="Arial"/>
                <a:sym typeface="Arial"/>
              </a:endParaRPr>
            </a:p>
            <a:p>
              <a:pPr indent="-323850" lvl="1" marL="647700" marR="0" rtl="0" algn="just">
                <a:lnSpc>
                  <a:spcPct val="12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Medium"/>
                  <a:ea typeface="Poppins Medium"/>
                  <a:cs typeface="Poppins Medium"/>
                  <a:sym typeface="Poppins Medium"/>
                </a:rPr>
                <a:t>Permite interaccionar más con el código en tiempo de ejecución</a:t>
              </a:r>
              <a:endParaRPr b="0" i="0" sz="1400" u="none" cap="none" strike="noStrike">
                <a:solidFill>
                  <a:srgbClr val="000000"/>
                </a:solidFill>
                <a:latin typeface="Arial"/>
                <a:ea typeface="Arial"/>
                <a:cs typeface="Arial"/>
                <a:sym typeface="Arial"/>
              </a:endParaRPr>
            </a:p>
            <a:p>
              <a:pPr indent="-323850" lvl="1" marL="647700" marR="0" rtl="0" algn="just">
                <a:lnSpc>
                  <a:spcPct val="12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Medium"/>
                  <a:ea typeface="Poppins Medium"/>
                  <a:cs typeface="Poppins Medium"/>
                  <a:sym typeface="Poppins Medium"/>
                </a:rPr>
                <a:t>Necesita menos memoria</a:t>
              </a:r>
              <a:endParaRPr b="0" i="0" sz="1400" u="none" cap="none" strike="noStrike">
                <a:solidFill>
                  <a:srgbClr val="000000"/>
                </a:solidFill>
                <a:latin typeface="Arial"/>
                <a:ea typeface="Arial"/>
                <a:cs typeface="Arial"/>
                <a:sym typeface="Arial"/>
              </a:endParaRPr>
            </a:p>
          </p:txBody>
        </p:sp>
      </p:grpSp>
      <p:sp>
        <p:nvSpPr>
          <p:cNvPr id="191" name="Google Shape;191;p7"/>
          <p:cNvSpPr txBox="1"/>
          <p:nvPr/>
        </p:nvSpPr>
        <p:spPr>
          <a:xfrm>
            <a:off x="1738415" y="1028700"/>
            <a:ext cx="14811170" cy="800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1" i="0" lang="en-US" sz="5300" u="none" cap="none" strike="noStrike">
                <a:solidFill>
                  <a:srgbClr val="FFFFFF"/>
                </a:solidFill>
                <a:latin typeface="Poppins"/>
                <a:ea typeface="Poppins"/>
                <a:cs typeface="Poppins"/>
                <a:sym typeface="Poppins"/>
              </a:rPr>
              <a:t>Diferencias entre interprete y compilador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95" name="Shape 195"/>
        <p:cNvGrpSpPr/>
        <p:nvPr/>
      </p:nvGrpSpPr>
      <p:grpSpPr>
        <a:xfrm>
          <a:off x="0" y="0"/>
          <a:ext cx="0" cy="0"/>
          <a:chOff x="0" y="0"/>
          <a:chExt cx="0" cy="0"/>
        </a:xfrm>
      </p:grpSpPr>
      <p:grpSp>
        <p:nvGrpSpPr>
          <p:cNvPr id="196" name="Google Shape;196;p8"/>
          <p:cNvGrpSpPr/>
          <p:nvPr/>
        </p:nvGrpSpPr>
        <p:grpSpPr>
          <a:xfrm>
            <a:off x="4663088" y="6868401"/>
            <a:ext cx="8961825" cy="2181859"/>
            <a:chOff x="0" y="-9525"/>
            <a:chExt cx="11949099" cy="2909144"/>
          </a:xfrm>
        </p:grpSpPr>
        <p:sp>
          <p:nvSpPr>
            <p:cNvPr id="197" name="Google Shape;197;p8"/>
            <p:cNvSpPr txBox="1"/>
            <p:nvPr/>
          </p:nvSpPr>
          <p:spPr>
            <a:xfrm>
              <a:off x="0" y="-9525"/>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DE VARIAS PASADAS</a:t>
              </a:r>
              <a:endParaRPr b="0" i="0" sz="1400" u="none" cap="none" strike="noStrike">
                <a:solidFill>
                  <a:srgbClr val="000000"/>
                </a:solidFill>
                <a:latin typeface="Arial"/>
                <a:ea typeface="Arial"/>
                <a:cs typeface="Arial"/>
                <a:sym typeface="Arial"/>
              </a:endParaRPr>
            </a:p>
          </p:txBody>
        </p:sp>
        <p:sp>
          <p:nvSpPr>
            <p:cNvPr id="198" name="Google Shape;198;p8"/>
            <p:cNvSpPr txBox="1"/>
            <p:nvPr/>
          </p:nvSpPr>
          <p:spPr>
            <a:xfrm>
              <a:off x="0" y="1519552"/>
              <a:ext cx="5768411" cy="138006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Realiza varias lecturas del código fuente para producir y optimizar el código fuente</a:t>
              </a:r>
              <a:endParaRPr b="0" i="0" sz="1400" u="none" cap="none" strike="noStrike">
                <a:solidFill>
                  <a:srgbClr val="000000"/>
                </a:solidFill>
                <a:latin typeface="Arial"/>
                <a:ea typeface="Arial"/>
                <a:cs typeface="Arial"/>
                <a:sym typeface="Arial"/>
              </a:endParaRPr>
            </a:p>
          </p:txBody>
        </p:sp>
        <p:cxnSp>
          <p:nvCxnSpPr>
            <p:cNvPr id="199" name="Google Shape;199;p8"/>
            <p:cNvCxnSpPr/>
            <p:nvPr/>
          </p:nvCxnSpPr>
          <p:spPr>
            <a:xfrm>
              <a:off x="21079" y="1099148"/>
              <a:ext cx="5768411" cy="0"/>
            </a:xfrm>
            <a:prstGeom prst="straightConnector1">
              <a:avLst/>
            </a:prstGeom>
            <a:noFill/>
            <a:ln cap="rnd" cmpd="sng" w="25400">
              <a:solidFill>
                <a:srgbClr val="10B5BF"/>
              </a:solidFill>
              <a:prstDash val="solid"/>
              <a:round/>
              <a:headEnd len="sm" w="sm" type="none"/>
              <a:tailEnd len="sm" w="sm" type="none"/>
            </a:ln>
          </p:spPr>
        </p:cxnSp>
        <p:sp>
          <p:nvSpPr>
            <p:cNvPr id="200" name="Google Shape;200;p8"/>
            <p:cNvSpPr txBox="1"/>
            <p:nvPr/>
          </p:nvSpPr>
          <p:spPr>
            <a:xfrm>
              <a:off x="6180688" y="-9525"/>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JIT (JUST IN TIME)</a:t>
              </a:r>
              <a:endParaRPr b="0" i="0" sz="1400" u="none" cap="none" strike="noStrike">
                <a:solidFill>
                  <a:srgbClr val="000000"/>
                </a:solidFill>
                <a:latin typeface="Arial"/>
                <a:ea typeface="Arial"/>
                <a:cs typeface="Arial"/>
                <a:sym typeface="Arial"/>
              </a:endParaRPr>
            </a:p>
          </p:txBody>
        </p:sp>
        <p:sp>
          <p:nvSpPr>
            <p:cNvPr id="201" name="Google Shape;201;p8"/>
            <p:cNvSpPr txBox="1"/>
            <p:nvPr/>
          </p:nvSpPr>
          <p:spPr>
            <a:xfrm>
              <a:off x="6180688" y="1519552"/>
              <a:ext cx="5768411" cy="138006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Forman parte de un interprete y compilan partes del código según se necesita</a:t>
              </a:r>
              <a:endParaRPr b="0" i="0" sz="1400" u="none" cap="none" strike="noStrike">
                <a:solidFill>
                  <a:srgbClr val="000000"/>
                </a:solidFill>
                <a:latin typeface="Arial"/>
                <a:ea typeface="Arial"/>
                <a:cs typeface="Arial"/>
                <a:sym typeface="Arial"/>
              </a:endParaRPr>
            </a:p>
          </p:txBody>
        </p:sp>
        <p:cxnSp>
          <p:nvCxnSpPr>
            <p:cNvPr id="202" name="Google Shape;202;p8"/>
            <p:cNvCxnSpPr/>
            <p:nvPr/>
          </p:nvCxnSpPr>
          <p:spPr>
            <a:xfrm>
              <a:off x="6180688" y="1086448"/>
              <a:ext cx="5768411" cy="0"/>
            </a:xfrm>
            <a:prstGeom prst="straightConnector1">
              <a:avLst/>
            </a:prstGeom>
            <a:noFill/>
            <a:ln cap="rnd" cmpd="sng" w="25400">
              <a:solidFill>
                <a:srgbClr val="10B5BF"/>
              </a:solidFill>
              <a:prstDash val="solid"/>
              <a:round/>
              <a:headEnd len="sm" w="sm" type="none"/>
              <a:tailEnd len="sm" w="sm" type="none"/>
            </a:ln>
          </p:spPr>
        </p:cxnSp>
      </p:grpSp>
      <p:grpSp>
        <p:nvGrpSpPr>
          <p:cNvPr id="203" name="Google Shape;203;p8"/>
          <p:cNvGrpSpPr/>
          <p:nvPr/>
        </p:nvGrpSpPr>
        <p:grpSpPr>
          <a:xfrm>
            <a:off x="2301465" y="3133847"/>
            <a:ext cx="13685071" cy="2534284"/>
            <a:chOff x="0" y="-9525"/>
            <a:chExt cx="18246761" cy="3379044"/>
          </a:xfrm>
        </p:grpSpPr>
        <p:sp>
          <p:nvSpPr>
            <p:cNvPr id="204" name="Google Shape;204;p8"/>
            <p:cNvSpPr txBox="1"/>
            <p:nvPr/>
          </p:nvSpPr>
          <p:spPr>
            <a:xfrm>
              <a:off x="6240039" y="-9525"/>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OPTIMIZADORES</a:t>
              </a:r>
              <a:endParaRPr b="0" i="0" sz="1400" u="none" cap="none" strike="noStrike">
                <a:solidFill>
                  <a:srgbClr val="000000"/>
                </a:solidFill>
                <a:latin typeface="Arial"/>
                <a:ea typeface="Arial"/>
                <a:cs typeface="Arial"/>
                <a:sym typeface="Arial"/>
              </a:endParaRPr>
            </a:p>
          </p:txBody>
        </p:sp>
        <p:sp>
          <p:nvSpPr>
            <p:cNvPr id="205" name="Google Shape;205;p8"/>
            <p:cNvSpPr txBox="1"/>
            <p:nvPr/>
          </p:nvSpPr>
          <p:spPr>
            <a:xfrm>
              <a:off x="6240039" y="1519552"/>
              <a:ext cx="5768411" cy="138006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Optimizan el lenguaje, manteniendo su funcionalidad original</a:t>
              </a:r>
              <a:endParaRPr b="0" i="0" sz="1400" u="none" cap="none" strike="noStrike">
                <a:solidFill>
                  <a:srgbClr val="000000"/>
                </a:solidFill>
                <a:latin typeface="Arial"/>
                <a:ea typeface="Arial"/>
                <a:cs typeface="Arial"/>
                <a:sym typeface="Arial"/>
              </a:endParaRPr>
            </a:p>
          </p:txBody>
        </p:sp>
        <p:cxnSp>
          <p:nvCxnSpPr>
            <p:cNvPr id="206" name="Google Shape;206;p8"/>
            <p:cNvCxnSpPr/>
            <p:nvPr/>
          </p:nvCxnSpPr>
          <p:spPr>
            <a:xfrm>
              <a:off x="6240039" y="1086448"/>
              <a:ext cx="5768411" cy="0"/>
            </a:xfrm>
            <a:prstGeom prst="straightConnector1">
              <a:avLst/>
            </a:prstGeom>
            <a:noFill/>
            <a:ln cap="rnd" cmpd="sng" w="25400">
              <a:solidFill>
                <a:srgbClr val="10B5BF"/>
              </a:solidFill>
              <a:prstDash val="solid"/>
              <a:round/>
              <a:headEnd len="sm" w="sm" type="none"/>
              <a:tailEnd len="sm" w="sm" type="none"/>
            </a:ln>
          </p:spPr>
        </p:cxnSp>
        <p:sp>
          <p:nvSpPr>
            <p:cNvPr id="207" name="Google Shape;207;p8"/>
            <p:cNvSpPr txBox="1"/>
            <p:nvPr/>
          </p:nvSpPr>
          <p:spPr>
            <a:xfrm>
              <a:off x="12478350" y="-9525"/>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DE UNA SOLA PASADA</a:t>
              </a:r>
              <a:endParaRPr b="0" i="0" sz="1400" u="none" cap="none" strike="noStrike">
                <a:solidFill>
                  <a:srgbClr val="000000"/>
                </a:solidFill>
                <a:latin typeface="Arial"/>
                <a:ea typeface="Arial"/>
                <a:cs typeface="Arial"/>
                <a:sym typeface="Arial"/>
              </a:endParaRPr>
            </a:p>
          </p:txBody>
        </p:sp>
        <p:sp>
          <p:nvSpPr>
            <p:cNvPr id="208" name="Google Shape;208;p8"/>
            <p:cNvSpPr txBox="1"/>
            <p:nvPr/>
          </p:nvSpPr>
          <p:spPr>
            <a:xfrm>
              <a:off x="12478350" y="1519552"/>
              <a:ext cx="5768411" cy="91016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Examina el código fuente una sola vez, generando el código objeto</a:t>
              </a:r>
              <a:endParaRPr b="0" i="0" sz="1400" u="none" cap="none" strike="noStrike">
                <a:solidFill>
                  <a:srgbClr val="000000"/>
                </a:solidFill>
                <a:latin typeface="Arial"/>
                <a:ea typeface="Arial"/>
                <a:cs typeface="Arial"/>
                <a:sym typeface="Arial"/>
              </a:endParaRPr>
            </a:p>
          </p:txBody>
        </p:sp>
        <p:cxnSp>
          <p:nvCxnSpPr>
            <p:cNvPr id="209" name="Google Shape;209;p8"/>
            <p:cNvCxnSpPr/>
            <p:nvPr/>
          </p:nvCxnSpPr>
          <p:spPr>
            <a:xfrm>
              <a:off x="12478350" y="1086448"/>
              <a:ext cx="5768411" cy="0"/>
            </a:xfrm>
            <a:prstGeom prst="straightConnector1">
              <a:avLst/>
            </a:prstGeom>
            <a:noFill/>
            <a:ln cap="rnd" cmpd="sng" w="25400">
              <a:solidFill>
                <a:srgbClr val="10B5BF"/>
              </a:solidFill>
              <a:prstDash val="solid"/>
              <a:round/>
              <a:headEnd len="sm" w="sm" type="none"/>
              <a:tailEnd len="sm" w="sm" type="none"/>
            </a:ln>
          </p:spPr>
        </p:cxnSp>
        <p:sp>
          <p:nvSpPr>
            <p:cNvPr id="210" name="Google Shape;210;p8"/>
            <p:cNvSpPr txBox="1"/>
            <p:nvPr/>
          </p:nvSpPr>
          <p:spPr>
            <a:xfrm>
              <a:off x="0" y="-9525"/>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CRUZADOS</a:t>
              </a:r>
              <a:endParaRPr b="0" i="0" sz="1400" u="none" cap="none" strike="noStrike">
                <a:solidFill>
                  <a:srgbClr val="000000"/>
                </a:solidFill>
                <a:latin typeface="Arial"/>
                <a:ea typeface="Arial"/>
                <a:cs typeface="Arial"/>
                <a:sym typeface="Arial"/>
              </a:endParaRPr>
            </a:p>
          </p:txBody>
        </p:sp>
        <p:sp>
          <p:nvSpPr>
            <p:cNvPr id="211" name="Google Shape;211;p8"/>
            <p:cNvSpPr txBox="1"/>
            <p:nvPr/>
          </p:nvSpPr>
          <p:spPr>
            <a:xfrm>
              <a:off x="0" y="1519552"/>
              <a:ext cx="5768411" cy="184996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Generan un código ejecutable para un ordenador distinto de aquel en que se realiza la compilación</a:t>
              </a:r>
              <a:endParaRPr b="0" i="0" sz="1400" u="none" cap="none" strike="noStrike">
                <a:solidFill>
                  <a:srgbClr val="000000"/>
                </a:solidFill>
                <a:latin typeface="Arial"/>
                <a:ea typeface="Arial"/>
                <a:cs typeface="Arial"/>
                <a:sym typeface="Arial"/>
              </a:endParaRPr>
            </a:p>
          </p:txBody>
        </p:sp>
        <p:cxnSp>
          <p:nvCxnSpPr>
            <p:cNvPr id="212" name="Google Shape;212;p8"/>
            <p:cNvCxnSpPr/>
            <p:nvPr/>
          </p:nvCxnSpPr>
          <p:spPr>
            <a:xfrm>
              <a:off x="0" y="1086448"/>
              <a:ext cx="5768411" cy="0"/>
            </a:xfrm>
            <a:prstGeom prst="straightConnector1">
              <a:avLst/>
            </a:prstGeom>
            <a:noFill/>
            <a:ln cap="rnd" cmpd="sng" w="25400">
              <a:solidFill>
                <a:srgbClr val="10B5BF"/>
              </a:solidFill>
              <a:prstDash val="solid"/>
              <a:round/>
              <a:headEnd len="sm" w="sm" type="none"/>
              <a:tailEnd len="sm" w="sm" type="none"/>
            </a:ln>
          </p:spPr>
        </p:cxnSp>
      </p:grpSp>
      <p:sp>
        <p:nvSpPr>
          <p:cNvPr id="213" name="Google Shape;213;p8"/>
          <p:cNvSpPr txBox="1"/>
          <p:nvPr/>
        </p:nvSpPr>
        <p:spPr>
          <a:xfrm>
            <a:off x="4524941" y="1028700"/>
            <a:ext cx="9238117" cy="9048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975"/>
              <a:buFont typeface="Arial"/>
              <a:buNone/>
            </a:pPr>
            <a:r>
              <a:rPr b="1" i="0" lang="en-US" sz="5975" u="none" cap="none" strike="noStrike">
                <a:solidFill>
                  <a:srgbClr val="FFFFFF"/>
                </a:solidFill>
                <a:latin typeface="Poppins"/>
                <a:ea typeface="Poppins"/>
                <a:cs typeface="Poppins"/>
                <a:sym typeface="Poppins"/>
              </a:rPr>
              <a:t>Tipos de compiladores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17" name="Shape 217"/>
        <p:cNvGrpSpPr/>
        <p:nvPr/>
      </p:nvGrpSpPr>
      <p:grpSpPr>
        <a:xfrm>
          <a:off x="0" y="0"/>
          <a:ext cx="0" cy="0"/>
          <a:chOff x="0" y="0"/>
          <a:chExt cx="0" cy="0"/>
        </a:xfrm>
      </p:grpSpPr>
      <p:sp>
        <p:nvSpPr>
          <p:cNvPr id="218" name="Google Shape;218;p9"/>
          <p:cNvSpPr/>
          <p:nvPr/>
        </p:nvSpPr>
        <p:spPr>
          <a:xfrm>
            <a:off x="10043525" y="1028700"/>
            <a:ext cx="6075314" cy="8229600"/>
          </a:xfrm>
          <a:custGeom>
            <a:rect b="b" l="l" r="r" t="t"/>
            <a:pathLst>
              <a:path extrusionOk="0" h="8229600" w="6075314">
                <a:moveTo>
                  <a:pt x="0" y="0"/>
                </a:moveTo>
                <a:lnTo>
                  <a:pt x="6075314" y="0"/>
                </a:lnTo>
                <a:lnTo>
                  <a:pt x="6075314" y="8229600"/>
                </a:lnTo>
                <a:lnTo>
                  <a:pt x="0" y="8229600"/>
                </a:lnTo>
                <a:lnTo>
                  <a:pt x="0" y="0"/>
                </a:lnTo>
                <a:close/>
              </a:path>
            </a:pathLst>
          </a:custGeom>
          <a:blipFill rotWithShape="1">
            <a:blip r:embed="rId3">
              <a:alphaModFix/>
            </a:blip>
            <a:stretch>
              <a:fillRect b="0" l="0" r="0" t="0"/>
            </a:stretch>
          </a:blipFill>
          <a:ln>
            <a:noFill/>
          </a:ln>
        </p:spPr>
      </p:sp>
      <p:sp>
        <p:nvSpPr>
          <p:cNvPr id="219" name="Google Shape;219;p9"/>
          <p:cNvSpPr txBox="1"/>
          <p:nvPr/>
        </p:nvSpPr>
        <p:spPr>
          <a:xfrm>
            <a:off x="2225421" y="4086225"/>
            <a:ext cx="5605070" cy="21145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Fases del compilador</a:t>
            </a:r>
            <a:endParaRPr b="0" i="0" sz="1400" u="none" cap="none" strike="noStrike">
              <a:solidFill>
                <a:srgbClr val="000000"/>
              </a:solidFill>
              <a:latin typeface="Arial"/>
              <a:ea typeface="Arial"/>
              <a:cs typeface="Arial"/>
              <a:sym typeface="Arial"/>
            </a:endParaRPr>
          </a:p>
        </p:txBody>
      </p:sp>
      <p:cxnSp>
        <p:nvCxnSpPr>
          <p:cNvPr id="220" name="Google Shape;220;p9"/>
          <p:cNvCxnSpPr/>
          <p:nvPr/>
        </p:nvCxnSpPr>
        <p:spPr>
          <a:xfrm rot="10800000">
            <a:off x="8424380" y="1324305"/>
            <a:ext cx="0" cy="7638389"/>
          </a:xfrm>
          <a:prstGeom prst="straightConnector1">
            <a:avLst/>
          </a:prstGeom>
          <a:noFill/>
          <a:ln cap="rnd" cmpd="sng" w="19050">
            <a:solidFill>
              <a:srgbClr val="10B5BF"/>
            </a:solidFill>
            <a:prstDash val="solid"/>
            <a:round/>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24" name="Shape 224"/>
        <p:cNvGrpSpPr/>
        <p:nvPr/>
      </p:nvGrpSpPr>
      <p:grpSpPr>
        <a:xfrm>
          <a:off x="0" y="0"/>
          <a:ext cx="0" cy="0"/>
          <a:chOff x="0" y="0"/>
          <a:chExt cx="0" cy="0"/>
        </a:xfrm>
      </p:grpSpPr>
      <p:sp>
        <p:nvSpPr>
          <p:cNvPr id="225" name="Google Shape;225;p10"/>
          <p:cNvSpPr txBox="1"/>
          <p:nvPr/>
        </p:nvSpPr>
        <p:spPr>
          <a:xfrm>
            <a:off x="1337271" y="2173937"/>
            <a:ext cx="14811170" cy="235966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725"/>
              <a:buFont typeface="Arial"/>
              <a:buNone/>
            </a:pPr>
            <a:r>
              <a:rPr b="0" i="0" lang="en-US" sz="2725" u="none" cap="none" strike="noStrike">
                <a:solidFill>
                  <a:srgbClr val="FFFFFF"/>
                </a:solidFill>
                <a:latin typeface="Poppins Light"/>
                <a:ea typeface="Poppins Light"/>
                <a:cs typeface="Poppins Light"/>
                <a:sym typeface="Poppins Light"/>
              </a:rPr>
              <a:t>Es la primera fase del compilador, también llamado escaneo. Esta lee el flujo de caracteres que componen el programa fuente y los agrupa en secuencias significativas, conocidas como lexemas. Para cada lexema, el analizador léxico produce como salida un token de la forma: nombre-token, valor-atributo, que pasa a la fase siguiente, el análisis de la sintaxis. </a:t>
            </a:r>
            <a:endParaRPr b="0" i="0" sz="1400" u="none" cap="none" strike="noStrike">
              <a:solidFill>
                <a:srgbClr val="000000"/>
              </a:solidFill>
              <a:latin typeface="Arial"/>
              <a:ea typeface="Arial"/>
              <a:cs typeface="Arial"/>
              <a:sym typeface="Arial"/>
            </a:endParaRPr>
          </a:p>
        </p:txBody>
      </p:sp>
      <p:sp>
        <p:nvSpPr>
          <p:cNvPr id="226" name="Google Shape;226;p10"/>
          <p:cNvSpPr txBox="1"/>
          <p:nvPr/>
        </p:nvSpPr>
        <p:spPr>
          <a:xfrm>
            <a:off x="1337271" y="1297637"/>
            <a:ext cx="14811300" cy="924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000"/>
              <a:buFont typeface="Arial"/>
              <a:buNone/>
            </a:pPr>
            <a:r>
              <a:rPr b="1" i="0" lang="en-US" sz="6000" u="none" cap="none" strike="noStrike">
                <a:solidFill>
                  <a:srgbClr val="FFFFFF"/>
                </a:solidFill>
                <a:latin typeface="Poppins"/>
                <a:ea typeface="Poppins"/>
                <a:cs typeface="Poppins"/>
                <a:sym typeface="Poppins"/>
              </a:rPr>
              <a:t>Análisis Léxico</a:t>
            </a:r>
            <a:endParaRPr b="0" i="0" sz="1400" u="none" cap="none" strike="noStrike">
              <a:solidFill>
                <a:srgbClr val="000000"/>
              </a:solidFill>
              <a:latin typeface="Arial"/>
              <a:ea typeface="Arial"/>
              <a:cs typeface="Arial"/>
              <a:sym typeface="Arial"/>
            </a:endParaRPr>
          </a:p>
        </p:txBody>
      </p:sp>
      <p:sp>
        <p:nvSpPr>
          <p:cNvPr id="227" name="Google Shape;227;p10"/>
          <p:cNvSpPr txBox="1"/>
          <p:nvPr/>
        </p:nvSpPr>
        <p:spPr>
          <a:xfrm>
            <a:off x="1337271" y="6319837"/>
            <a:ext cx="14811170" cy="188341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725"/>
              <a:buFont typeface="Arial"/>
              <a:buNone/>
            </a:pPr>
            <a:r>
              <a:rPr b="0" i="0" lang="en-US" sz="2725" u="none" cap="none" strike="noStrike">
                <a:solidFill>
                  <a:srgbClr val="FFFFFF"/>
                </a:solidFill>
                <a:latin typeface="Poppins Light"/>
                <a:ea typeface="Poppins Light"/>
                <a:cs typeface="Poppins Light"/>
                <a:sym typeface="Poppins Light"/>
              </a:rPr>
              <a:t>Es la segunda fase del compilador, también llamada parser. Este utiliza los primeros componentes de los tokens producidos por el analizador de léxico para crear una representación intermedia en forma de árbol que describa la estructura gramatical del flujo de tokens.</a:t>
            </a:r>
            <a:endParaRPr b="0" i="0" sz="1400" u="none" cap="none" strike="noStrike">
              <a:solidFill>
                <a:srgbClr val="000000"/>
              </a:solidFill>
              <a:latin typeface="Arial"/>
              <a:ea typeface="Arial"/>
              <a:cs typeface="Arial"/>
              <a:sym typeface="Arial"/>
            </a:endParaRPr>
          </a:p>
        </p:txBody>
      </p:sp>
      <p:sp>
        <p:nvSpPr>
          <p:cNvPr id="228" name="Google Shape;228;p10"/>
          <p:cNvSpPr txBox="1"/>
          <p:nvPr/>
        </p:nvSpPr>
        <p:spPr>
          <a:xfrm>
            <a:off x="1337271" y="5205413"/>
            <a:ext cx="14811170" cy="9239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000"/>
              <a:buFont typeface="Arial"/>
              <a:buNone/>
            </a:pPr>
            <a:r>
              <a:rPr b="1" i="0" lang="en-US" sz="6000" u="none" cap="none" strike="noStrike">
                <a:solidFill>
                  <a:srgbClr val="FFFFFF"/>
                </a:solidFill>
                <a:latin typeface="Poppins"/>
                <a:ea typeface="Poppins"/>
                <a:cs typeface="Poppins"/>
                <a:sym typeface="Poppins"/>
              </a:rPr>
              <a:t>Análisis Sintáctico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32" name="Shape 232"/>
        <p:cNvGrpSpPr/>
        <p:nvPr/>
      </p:nvGrpSpPr>
      <p:grpSpPr>
        <a:xfrm>
          <a:off x="0" y="0"/>
          <a:ext cx="0" cy="0"/>
          <a:chOff x="0" y="0"/>
          <a:chExt cx="0" cy="0"/>
        </a:xfrm>
      </p:grpSpPr>
      <p:sp>
        <p:nvSpPr>
          <p:cNvPr id="233" name="Google Shape;233;p11"/>
          <p:cNvSpPr txBox="1"/>
          <p:nvPr/>
        </p:nvSpPr>
        <p:spPr>
          <a:xfrm>
            <a:off x="1337271" y="2173937"/>
            <a:ext cx="14811170" cy="235966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725"/>
              <a:buFont typeface="Arial"/>
              <a:buNone/>
            </a:pPr>
            <a:r>
              <a:rPr b="0" i="0" lang="en-US" sz="2725" u="none" cap="none" strike="noStrike">
                <a:solidFill>
                  <a:srgbClr val="FFFFFF"/>
                </a:solidFill>
                <a:latin typeface="Poppins Light"/>
                <a:ea typeface="Poppins Light"/>
                <a:cs typeface="Poppins Light"/>
                <a:sym typeface="Poppins Light"/>
              </a:rPr>
              <a:t>Es la tercera fase del compilador y esta utiliza el árbol sintáctico y la información en la tabla de símbolos para comprobar la consistencia semántica del programa fuente con la definición del lenguaje. También recopila información sobre el tipo y la guarda, ya sea en el árbol sintáctico o en la tabla de símbolos, para usarla más tarde durante la generación de código intermedio</a:t>
            </a:r>
            <a:endParaRPr b="0" i="0" sz="1400" u="none" cap="none" strike="noStrike">
              <a:solidFill>
                <a:srgbClr val="000000"/>
              </a:solidFill>
              <a:latin typeface="Arial"/>
              <a:ea typeface="Arial"/>
              <a:cs typeface="Arial"/>
              <a:sym typeface="Arial"/>
            </a:endParaRPr>
          </a:p>
        </p:txBody>
      </p:sp>
      <p:sp>
        <p:nvSpPr>
          <p:cNvPr id="234" name="Google Shape;234;p11"/>
          <p:cNvSpPr txBox="1"/>
          <p:nvPr/>
        </p:nvSpPr>
        <p:spPr>
          <a:xfrm>
            <a:off x="1337271" y="1297637"/>
            <a:ext cx="14811170" cy="9239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000"/>
              <a:buFont typeface="Arial"/>
              <a:buNone/>
            </a:pPr>
            <a:r>
              <a:rPr b="1" i="0" lang="en-US" sz="6000" u="none" cap="none" strike="noStrike">
                <a:solidFill>
                  <a:srgbClr val="FFFFFF"/>
                </a:solidFill>
                <a:latin typeface="Poppins"/>
                <a:ea typeface="Poppins"/>
                <a:cs typeface="Poppins"/>
                <a:sym typeface="Poppins"/>
              </a:rPr>
              <a:t>Análisis Semántico</a:t>
            </a:r>
            <a:endParaRPr b="0" i="0" sz="1400" u="none" cap="none" strike="noStrike">
              <a:solidFill>
                <a:srgbClr val="000000"/>
              </a:solidFill>
              <a:latin typeface="Arial"/>
              <a:ea typeface="Arial"/>
              <a:cs typeface="Arial"/>
              <a:sym typeface="Arial"/>
            </a:endParaRPr>
          </a:p>
        </p:txBody>
      </p:sp>
      <p:sp>
        <p:nvSpPr>
          <p:cNvPr id="235" name="Google Shape;235;p11"/>
          <p:cNvSpPr txBox="1"/>
          <p:nvPr/>
        </p:nvSpPr>
        <p:spPr>
          <a:xfrm>
            <a:off x="1337271" y="6341457"/>
            <a:ext cx="14811170" cy="93091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725"/>
              <a:buFont typeface="Arial"/>
              <a:buNone/>
            </a:pPr>
            <a:r>
              <a:rPr b="0" i="0" lang="en-US" sz="2725" u="none" cap="none" strike="noStrike">
                <a:solidFill>
                  <a:srgbClr val="FFFFFF"/>
                </a:solidFill>
                <a:latin typeface="Poppins Light"/>
                <a:ea typeface="Poppins Light"/>
                <a:cs typeface="Poppins Light"/>
                <a:sym typeface="Poppins Light"/>
              </a:rPr>
              <a:t>Es la cuarta fase del compilador y esta puede construir una o más representaciones intermedias, las cuales pueden tener una variedad de formas. </a:t>
            </a:r>
            <a:endParaRPr b="0" i="0" sz="1400" u="none" cap="none" strike="noStrike">
              <a:solidFill>
                <a:srgbClr val="000000"/>
              </a:solidFill>
              <a:latin typeface="Arial"/>
              <a:ea typeface="Arial"/>
              <a:cs typeface="Arial"/>
              <a:sym typeface="Arial"/>
            </a:endParaRPr>
          </a:p>
        </p:txBody>
      </p:sp>
      <p:sp>
        <p:nvSpPr>
          <p:cNvPr id="236" name="Google Shape;236;p11"/>
          <p:cNvSpPr txBox="1"/>
          <p:nvPr/>
        </p:nvSpPr>
        <p:spPr>
          <a:xfrm>
            <a:off x="1337271" y="5205413"/>
            <a:ext cx="14811170" cy="9239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000"/>
              <a:buFont typeface="Arial"/>
              <a:buNone/>
            </a:pPr>
            <a:r>
              <a:rPr b="1" i="0" lang="en-US" sz="6000" u="none" cap="none" strike="noStrike">
                <a:solidFill>
                  <a:srgbClr val="FFFFFF"/>
                </a:solidFill>
                <a:latin typeface="Poppins"/>
                <a:ea typeface="Poppins"/>
                <a:cs typeface="Poppins"/>
                <a:sym typeface="Poppins"/>
              </a:rPr>
              <a:t>Generación de código intermedio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40" name="Shape 240"/>
        <p:cNvGrpSpPr/>
        <p:nvPr/>
      </p:nvGrpSpPr>
      <p:grpSpPr>
        <a:xfrm>
          <a:off x="0" y="0"/>
          <a:ext cx="0" cy="0"/>
          <a:chOff x="0" y="0"/>
          <a:chExt cx="0" cy="0"/>
        </a:xfrm>
      </p:grpSpPr>
      <p:sp>
        <p:nvSpPr>
          <p:cNvPr id="241" name="Google Shape;241;p12"/>
          <p:cNvSpPr txBox="1"/>
          <p:nvPr/>
        </p:nvSpPr>
        <p:spPr>
          <a:xfrm>
            <a:off x="1337271" y="2412062"/>
            <a:ext cx="14811170" cy="188341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725"/>
              <a:buFont typeface="Arial"/>
              <a:buNone/>
            </a:pPr>
            <a:r>
              <a:rPr b="0" i="0" lang="en-US" sz="2725" u="none" cap="none" strike="noStrike">
                <a:solidFill>
                  <a:srgbClr val="FFFFFF"/>
                </a:solidFill>
                <a:latin typeface="Poppins Light"/>
                <a:ea typeface="Poppins Light"/>
                <a:cs typeface="Poppins Light"/>
                <a:sym typeface="Poppins Light"/>
              </a:rPr>
              <a:t>Esta trata de mejorar el código intermedio, de manera que se produzca un mejor código destino. Por lo general, mejor significa más rápido, pero pueden lograrse otros objetivos, como un código más corto, o un código de destino que consuma menos poder.</a:t>
            </a:r>
            <a:endParaRPr b="0" i="0" sz="1400" u="none" cap="none" strike="noStrike">
              <a:solidFill>
                <a:srgbClr val="000000"/>
              </a:solidFill>
              <a:latin typeface="Arial"/>
              <a:ea typeface="Arial"/>
              <a:cs typeface="Arial"/>
              <a:sym typeface="Arial"/>
            </a:endParaRPr>
          </a:p>
        </p:txBody>
      </p:sp>
      <p:sp>
        <p:nvSpPr>
          <p:cNvPr id="242" name="Google Shape;242;p12"/>
          <p:cNvSpPr txBox="1"/>
          <p:nvPr/>
        </p:nvSpPr>
        <p:spPr>
          <a:xfrm>
            <a:off x="1337271" y="1297637"/>
            <a:ext cx="14811170" cy="9239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000"/>
              <a:buFont typeface="Arial"/>
              <a:buNone/>
            </a:pPr>
            <a:r>
              <a:rPr b="1" i="0" lang="en-US" sz="6000" u="none" cap="none" strike="noStrike">
                <a:solidFill>
                  <a:srgbClr val="FFFFFF"/>
                </a:solidFill>
                <a:latin typeface="Poppins"/>
                <a:ea typeface="Poppins"/>
                <a:cs typeface="Poppins"/>
                <a:sym typeface="Poppins"/>
              </a:rPr>
              <a:t>Optimización de código</a:t>
            </a:r>
            <a:endParaRPr b="0" i="0" sz="1400" u="none" cap="none" strike="noStrike">
              <a:solidFill>
                <a:srgbClr val="000000"/>
              </a:solidFill>
              <a:latin typeface="Arial"/>
              <a:ea typeface="Arial"/>
              <a:cs typeface="Arial"/>
              <a:sym typeface="Arial"/>
            </a:endParaRPr>
          </a:p>
        </p:txBody>
      </p:sp>
      <p:sp>
        <p:nvSpPr>
          <p:cNvPr id="243" name="Google Shape;243;p12"/>
          <p:cNvSpPr txBox="1"/>
          <p:nvPr/>
        </p:nvSpPr>
        <p:spPr>
          <a:xfrm>
            <a:off x="1337271" y="6081713"/>
            <a:ext cx="14811170" cy="235966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725"/>
              <a:buFont typeface="Arial"/>
              <a:buNone/>
            </a:pPr>
            <a:r>
              <a:rPr b="0" i="0" lang="en-US" sz="2725" u="none" cap="none" strike="noStrike">
                <a:solidFill>
                  <a:srgbClr val="FFFFFF"/>
                </a:solidFill>
                <a:latin typeface="Poppins Light"/>
                <a:ea typeface="Poppins Light"/>
                <a:cs typeface="Poppins Light"/>
                <a:sym typeface="Poppins Light"/>
              </a:rPr>
              <a:t>Esta fase recibe como o entrada una representación intermedia del programa fuente y la asigna al lenguaje destino. Si el lenguaje destino es código máquina, se seleccionan registros o ubicaciones (localidades) de memoria para cada una de las variables que utiliza el programa. Después, las instrucciones intermedias se traducen en secuencias de instrucciones de máquina que realizan la misma tarea.</a:t>
            </a:r>
            <a:endParaRPr b="0" i="0" sz="1400" u="none" cap="none" strike="noStrike">
              <a:solidFill>
                <a:srgbClr val="000000"/>
              </a:solidFill>
              <a:latin typeface="Arial"/>
              <a:ea typeface="Arial"/>
              <a:cs typeface="Arial"/>
              <a:sym typeface="Arial"/>
            </a:endParaRPr>
          </a:p>
        </p:txBody>
      </p:sp>
      <p:sp>
        <p:nvSpPr>
          <p:cNvPr id="244" name="Google Shape;244;p12"/>
          <p:cNvSpPr txBox="1"/>
          <p:nvPr/>
        </p:nvSpPr>
        <p:spPr>
          <a:xfrm>
            <a:off x="1337271" y="5205413"/>
            <a:ext cx="14811170" cy="9239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000"/>
              <a:buFont typeface="Arial"/>
              <a:buNone/>
            </a:pPr>
            <a:r>
              <a:rPr b="1" i="0" lang="en-US" sz="6000" u="none" cap="none" strike="noStrike">
                <a:solidFill>
                  <a:srgbClr val="FFFFFF"/>
                </a:solidFill>
                <a:latin typeface="Poppins"/>
                <a:ea typeface="Poppins"/>
                <a:cs typeface="Poppins"/>
                <a:sym typeface="Poppins"/>
              </a:rPr>
              <a:t>Generación de código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5c69f9a5c4_0_103"/>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VALORES Y ACTITUD</a:t>
            </a:r>
            <a:endParaRPr b="0" i="0" sz="1400" u="none" cap="none" strike="noStrike">
              <a:solidFill>
                <a:srgbClr val="000000"/>
              </a:solidFill>
              <a:latin typeface="Impact"/>
              <a:ea typeface="Impact"/>
              <a:cs typeface="Impact"/>
              <a:sym typeface="Impact"/>
            </a:endParaRPr>
          </a:p>
        </p:txBody>
      </p:sp>
      <p:sp>
        <p:nvSpPr>
          <p:cNvPr id="250" name="Google Shape;250;g35c69f9a5c4_0_103"/>
          <p:cNvSpPr txBox="1"/>
          <p:nvPr/>
        </p:nvSpPr>
        <p:spPr>
          <a:xfrm>
            <a:off x="1116325" y="2896175"/>
            <a:ext cx="16685700" cy="5917800"/>
          </a:xfrm>
          <a:prstGeom prst="rect">
            <a:avLst/>
          </a:prstGeom>
          <a:noFill/>
          <a:ln>
            <a:noFill/>
          </a:ln>
        </p:spPr>
        <p:txBody>
          <a:bodyPr anchorCtr="0" anchor="t" bIns="0" lIns="0" spcFirstLastPara="1" rIns="0" wrap="square" tIns="0">
            <a:spAutoFit/>
          </a:bodyPr>
          <a:lstStyle/>
          <a:p>
            <a:pPr indent="-428687" lvl="0" marL="457200" marR="0" rtl="0" algn="ctr">
              <a:lnSpc>
                <a:spcPct val="140019"/>
              </a:lnSpc>
              <a:spcBef>
                <a:spcPts val="0"/>
              </a:spcBef>
              <a:spcAft>
                <a:spcPts val="0"/>
              </a:spcAft>
              <a:buClr>
                <a:srgbClr val="131416"/>
              </a:buClr>
              <a:buSzPts val="3151"/>
              <a:buFont typeface="Arial"/>
              <a:buChar char="●"/>
            </a:pPr>
            <a:r>
              <a:rPr b="1" i="0" lang="en-US" sz="3151" u="none" cap="none" strike="noStrike">
                <a:solidFill>
                  <a:srgbClr val="131416"/>
                </a:solidFill>
                <a:latin typeface="Arial"/>
                <a:ea typeface="Arial"/>
                <a:cs typeface="Arial"/>
                <a:sym typeface="Arial"/>
              </a:rPr>
              <a:t>Responsabilidad</a:t>
            </a:r>
            <a:r>
              <a:rPr b="0" i="0" lang="en-US" sz="3151" u="none" cap="none" strike="noStrike">
                <a:solidFill>
                  <a:srgbClr val="131416"/>
                </a:solidFill>
                <a:latin typeface="Arial"/>
                <a:ea typeface="Arial"/>
                <a:cs typeface="Arial"/>
                <a:sym typeface="Arial"/>
              </a:rPr>
              <a:t>: Cumplir con las actividades, prepararse para cada sesión y aprovechar al máximo el tiempo planificado.</a:t>
            </a:r>
            <a:endParaRPr b="0" i="0" sz="3151" u="none" cap="none" strike="noStrike">
              <a:solidFill>
                <a:srgbClr val="131416"/>
              </a:solidFill>
              <a:latin typeface="Arial"/>
              <a:ea typeface="Arial"/>
              <a:cs typeface="Arial"/>
              <a:sym typeface="Arial"/>
            </a:endParaRPr>
          </a:p>
          <a:p>
            <a:pPr indent="-428687" lvl="0" marL="457200" marR="0" rtl="0" algn="ctr">
              <a:lnSpc>
                <a:spcPct val="140019"/>
              </a:lnSpc>
              <a:spcBef>
                <a:spcPts val="0"/>
              </a:spcBef>
              <a:spcAft>
                <a:spcPts val="0"/>
              </a:spcAft>
              <a:buClr>
                <a:srgbClr val="131416"/>
              </a:buClr>
              <a:buSzPts val="3151"/>
              <a:buFont typeface="Arial"/>
              <a:buChar char="●"/>
            </a:pPr>
            <a:r>
              <a:rPr b="1" i="0" lang="en-US" sz="3151" u="none" cap="none" strike="noStrike">
                <a:solidFill>
                  <a:srgbClr val="131416"/>
                </a:solidFill>
                <a:latin typeface="Arial"/>
                <a:ea typeface="Arial"/>
                <a:cs typeface="Arial"/>
                <a:sym typeface="Arial"/>
              </a:rPr>
              <a:t>Participación afectiva:</a:t>
            </a:r>
            <a:r>
              <a:rPr b="0" i="0" lang="en-US" sz="3151" u="none" cap="none" strike="noStrike">
                <a:solidFill>
                  <a:srgbClr val="131416"/>
                </a:solidFill>
                <a:latin typeface="Arial"/>
                <a:ea typeface="Arial"/>
                <a:cs typeface="Arial"/>
                <a:sym typeface="Arial"/>
              </a:rPr>
              <a:t> Involucrarse en ejercicios, cuestionarios y discusiones para construir el aprendizaje de forma práctica.</a:t>
            </a:r>
            <a:endParaRPr b="0" i="0" sz="3151" u="none" cap="none" strike="noStrike">
              <a:solidFill>
                <a:srgbClr val="131416"/>
              </a:solidFill>
              <a:latin typeface="Arial"/>
              <a:ea typeface="Arial"/>
              <a:cs typeface="Arial"/>
              <a:sym typeface="Arial"/>
            </a:endParaRPr>
          </a:p>
          <a:p>
            <a:pPr indent="-428687" lvl="0" marL="457200" marR="0" rtl="0" algn="ctr">
              <a:lnSpc>
                <a:spcPct val="140019"/>
              </a:lnSpc>
              <a:spcBef>
                <a:spcPts val="0"/>
              </a:spcBef>
              <a:spcAft>
                <a:spcPts val="0"/>
              </a:spcAft>
              <a:buClr>
                <a:srgbClr val="131416"/>
              </a:buClr>
              <a:buSzPts val="3151"/>
              <a:buFont typeface="Arial"/>
              <a:buChar char="●"/>
            </a:pPr>
            <a:r>
              <a:rPr b="1" i="0" lang="en-US" sz="3151" u="none" cap="none" strike="noStrike">
                <a:solidFill>
                  <a:srgbClr val="131416"/>
                </a:solidFill>
                <a:latin typeface="Arial"/>
                <a:ea typeface="Arial"/>
                <a:cs typeface="Arial"/>
                <a:sym typeface="Arial"/>
              </a:rPr>
              <a:t>Disciplina:</a:t>
            </a:r>
            <a:r>
              <a:rPr b="0" i="0" lang="en-US" sz="3151" u="none" cap="none" strike="noStrike">
                <a:solidFill>
                  <a:srgbClr val="131416"/>
                </a:solidFill>
                <a:latin typeface="Arial"/>
                <a:ea typeface="Arial"/>
                <a:cs typeface="Arial"/>
                <a:sym typeface="Arial"/>
              </a:rPr>
              <a:t> Seguir el cronograma, respetar tiempos y mantenerse constante en el trabajo del laboratorio.</a:t>
            </a:r>
            <a:endParaRPr b="0" i="0" sz="3151" u="none" cap="none" strike="noStrike">
              <a:solidFill>
                <a:srgbClr val="131416"/>
              </a:solidFill>
              <a:latin typeface="Arial"/>
              <a:ea typeface="Arial"/>
              <a:cs typeface="Arial"/>
              <a:sym typeface="Arial"/>
            </a:endParaRPr>
          </a:p>
          <a:p>
            <a:pPr indent="-428687" lvl="0" marL="457200" marR="0" rtl="0" algn="ctr">
              <a:lnSpc>
                <a:spcPct val="140019"/>
              </a:lnSpc>
              <a:spcBef>
                <a:spcPts val="0"/>
              </a:spcBef>
              <a:spcAft>
                <a:spcPts val="0"/>
              </a:spcAft>
              <a:buClr>
                <a:srgbClr val="131416"/>
              </a:buClr>
              <a:buSzPts val="3151"/>
              <a:buFont typeface="Arial"/>
              <a:buChar char="●"/>
            </a:pPr>
            <a:r>
              <a:rPr b="1" i="0" lang="en-US" sz="3151" u="none" cap="none" strike="noStrike">
                <a:solidFill>
                  <a:srgbClr val="131416"/>
                </a:solidFill>
                <a:latin typeface="Arial"/>
                <a:ea typeface="Arial"/>
                <a:cs typeface="Arial"/>
                <a:sym typeface="Arial"/>
              </a:rPr>
              <a:t>Adaptabilidad:</a:t>
            </a:r>
            <a:r>
              <a:rPr b="0" i="0" lang="en-US" sz="3151" u="none" cap="none" strike="noStrike">
                <a:solidFill>
                  <a:srgbClr val="131416"/>
                </a:solidFill>
                <a:latin typeface="Arial"/>
                <a:ea typeface="Arial"/>
                <a:cs typeface="Arial"/>
                <a:sym typeface="Arial"/>
              </a:rPr>
              <a:t> Ajustarse a diferentes recursos y métodos como videos, simuladores o exposiciones.</a:t>
            </a:r>
            <a:endParaRPr b="0" i="0" sz="3151" u="none" cap="none" strike="noStrike">
              <a:solidFill>
                <a:srgbClr val="131416"/>
              </a:solidFill>
              <a:latin typeface="Arial"/>
              <a:ea typeface="Arial"/>
              <a:cs typeface="Arial"/>
              <a:sym typeface="Arial"/>
            </a:endParaRPr>
          </a:p>
          <a:p>
            <a:pPr indent="-428687" lvl="0" marL="457200" marR="0" rtl="0" algn="ctr">
              <a:lnSpc>
                <a:spcPct val="140019"/>
              </a:lnSpc>
              <a:spcBef>
                <a:spcPts val="0"/>
              </a:spcBef>
              <a:spcAft>
                <a:spcPts val="0"/>
              </a:spcAft>
              <a:buClr>
                <a:srgbClr val="131416"/>
              </a:buClr>
              <a:buSzPts val="3151"/>
              <a:buFont typeface="Arial"/>
              <a:buChar char="●"/>
            </a:pPr>
            <a:r>
              <a:rPr b="1" i="0" lang="en-US" sz="3151" u="none" cap="none" strike="noStrike">
                <a:solidFill>
                  <a:srgbClr val="131416"/>
                </a:solidFill>
                <a:latin typeface="Arial"/>
                <a:ea typeface="Arial"/>
                <a:cs typeface="Arial"/>
                <a:sym typeface="Arial"/>
              </a:rPr>
              <a:t>Colaboración:</a:t>
            </a:r>
            <a:r>
              <a:rPr b="0" i="0" lang="en-US" sz="3151" u="none" cap="none" strike="noStrike">
                <a:solidFill>
                  <a:srgbClr val="131416"/>
                </a:solidFill>
                <a:latin typeface="Arial"/>
                <a:ea typeface="Arial"/>
                <a:cs typeface="Arial"/>
                <a:sym typeface="Arial"/>
              </a:rPr>
              <a:t> Trabajar en equipo, compartir ideas y resolver dudas de forma conjunta.</a:t>
            </a:r>
            <a:endParaRPr b="0" i="0" sz="3151" u="none" cap="none" strike="noStrike">
              <a:solidFill>
                <a:srgbClr val="131416"/>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54" name="Shape 254"/>
        <p:cNvGrpSpPr/>
        <p:nvPr/>
      </p:nvGrpSpPr>
      <p:grpSpPr>
        <a:xfrm>
          <a:off x="0" y="0"/>
          <a:ext cx="0" cy="0"/>
          <a:chOff x="0" y="0"/>
          <a:chExt cx="0" cy="0"/>
        </a:xfrm>
      </p:grpSpPr>
      <p:sp>
        <p:nvSpPr>
          <p:cNvPr id="255" name="Google Shape;255;p13"/>
          <p:cNvSpPr/>
          <p:nvPr/>
        </p:nvSpPr>
        <p:spPr>
          <a:xfrm>
            <a:off x="2818011" y="899336"/>
            <a:ext cx="12651979" cy="8488328"/>
          </a:xfrm>
          <a:custGeom>
            <a:rect b="b" l="l" r="r" t="t"/>
            <a:pathLst>
              <a:path extrusionOk="0" h="8488328" w="12651979">
                <a:moveTo>
                  <a:pt x="0" y="0"/>
                </a:moveTo>
                <a:lnTo>
                  <a:pt x="12651978" y="0"/>
                </a:lnTo>
                <a:lnTo>
                  <a:pt x="12651978" y="8488328"/>
                </a:lnTo>
                <a:lnTo>
                  <a:pt x="0" y="8488328"/>
                </a:lnTo>
                <a:lnTo>
                  <a:pt x="0" y="0"/>
                </a:lnTo>
                <a:close/>
              </a:path>
            </a:pathLst>
          </a:custGeom>
          <a:blipFill rotWithShape="1">
            <a:blip r:embed="rId3">
              <a:alphaModFix/>
            </a:blip>
            <a:stretch>
              <a:fillRect b="0" l="0" r="0" t="0"/>
            </a:stretch>
          </a:blipFill>
          <a:ln>
            <a:noFill/>
          </a:ln>
        </p:spPr>
      </p:sp>
      <p:sp>
        <p:nvSpPr>
          <p:cNvPr id="256" name="Google Shape;256;p13"/>
          <p:cNvSpPr txBox="1"/>
          <p:nvPr/>
        </p:nvSpPr>
        <p:spPr>
          <a:xfrm>
            <a:off x="4095126" y="3888189"/>
            <a:ext cx="10097749" cy="2510622"/>
          </a:xfrm>
          <a:prstGeom prst="rect">
            <a:avLst/>
          </a:prstGeom>
          <a:noFill/>
          <a:ln>
            <a:noFill/>
          </a:ln>
        </p:spPr>
        <p:txBody>
          <a:bodyPr anchorCtr="0" anchor="t" bIns="0" lIns="0" spcFirstLastPara="1" rIns="0" wrap="square" tIns="0">
            <a:spAutoFit/>
          </a:bodyPr>
          <a:lstStyle/>
          <a:p>
            <a:pPr indent="0" lvl="0" marL="0" marR="0" rtl="0" algn="ctr">
              <a:lnSpc>
                <a:spcPct val="119995"/>
              </a:lnSpc>
              <a:spcBef>
                <a:spcPts val="0"/>
              </a:spcBef>
              <a:spcAft>
                <a:spcPts val="0"/>
              </a:spcAft>
              <a:buClr>
                <a:srgbClr val="000000"/>
              </a:buClr>
              <a:buSzPts val="8237"/>
              <a:buFont typeface="Arial"/>
              <a:buNone/>
            </a:pPr>
            <a:r>
              <a:rPr b="1" i="0" lang="en-US" sz="8237" u="none" cap="none" strike="noStrike">
                <a:solidFill>
                  <a:srgbClr val="20E5F6"/>
                </a:solidFill>
                <a:latin typeface="Poppins"/>
                <a:ea typeface="Poppins"/>
                <a:cs typeface="Poppins"/>
                <a:sym typeface="Poppins"/>
              </a:rPr>
              <a:t>GRACIAS POR SU ATENCIÓN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60" name="Shape 260"/>
        <p:cNvGrpSpPr/>
        <p:nvPr/>
      </p:nvGrpSpPr>
      <p:grpSpPr>
        <a:xfrm>
          <a:off x="0" y="0"/>
          <a:ext cx="0" cy="0"/>
          <a:chOff x="0" y="0"/>
          <a:chExt cx="0" cy="0"/>
        </a:xfrm>
      </p:grpSpPr>
      <p:sp>
        <p:nvSpPr>
          <p:cNvPr id="261" name="Google Shape;261;g35eff497a53_1_3"/>
          <p:cNvSpPr/>
          <p:nvPr/>
        </p:nvSpPr>
        <p:spPr>
          <a:xfrm>
            <a:off x="7844421" y="-156579"/>
            <a:ext cx="10443579" cy="10443579"/>
          </a:xfrm>
          <a:custGeom>
            <a:rect b="b" l="l" r="r" t="t"/>
            <a:pathLst>
              <a:path extrusionOk="0" h="10443579" w="10443579">
                <a:moveTo>
                  <a:pt x="0" y="0"/>
                </a:moveTo>
                <a:lnTo>
                  <a:pt x="10443579" y="0"/>
                </a:lnTo>
                <a:lnTo>
                  <a:pt x="10443579" y="10443579"/>
                </a:lnTo>
                <a:lnTo>
                  <a:pt x="0" y="10443579"/>
                </a:lnTo>
                <a:lnTo>
                  <a:pt x="0" y="0"/>
                </a:lnTo>
                <a:close/>
              </a:path>
            </a:pathLst>
          </a:custGeom>
          <a:blipFill rotWithShape="1">
            <a:blip r:embed="rId3">
              <a:alphaModFix/>
            </a:blip>
            <a:stretch>
              <a:fillRect b="0" l="0" r="0" t="0"/>
            </a:stretch>
          </a:blipFill>
          <a:ln>
            <a:noFill/>
          </a:ln>
        </p:spPr>
      </p:sp>
      <p:sp>
        <p:nvSpPr>
          <p:cNvPr id="262" name="Google Shape;262;g35eff497a53_1_3"/>
          <p:cNvSpPr txBox="1"/>
          <p:nvPr/>
        </p:nvSpPr>
        <p:spPr>
          <a:xfrm>
            <a:off x="1028700" y="1218716"/>
            <a:ext cx="11646000" cy="1462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9500"/>
              <a:buFont typeface="Arial"/>
              <a:buNone/>
            </a:pPr>
            <a:r>
              <a:rPr b="1" i="0" lang="en-US" sz="9500" u="none" cap="none" strike="noStrike">
                <a:solidFill>
                  <a:srgbClr val="20E5F6"/>
                </a:solidFill>
                <a:latin typeface="Poppins"/>
                <a:ea typeface="Poppins"/>
                <a:cs typeface="Poppins"/>
                <a:sym typeface="Poppins"/>
              </a:rPr>
              <a:t>REFERENCIAS</a:t>
            </a:r>
            <a:endParaRPr b="0" i="0" sz="1400" u="none" cap="none" strike="noStrike">
              <a:solidFill>
                <a:srgbClr val="000000"/>
              </a:solidFill>
              <a:latin typeface="Arial"/>
              <a:ea typeface="Arial"/>
              <a:cs typeface="Arial"/>
              <a:sym typeface="Arial"/>
            </a:endParaRPr>
          </a:p>
        </p:txBody>
      </p:sp>
      <p:sp>
        <p:nvSpPr>
          <p:cNvPr id="263" name="Google Shape;263;g35eff497a53_1_3"/>
          <p:cNvSpPr txBox="1"/>
          <p:nvPr/>
        </p:nvSpPr>
        <p:spPr>
          <a:xfrm>
            <a:off x="1419825" y="4071950"/>
            <a:ext cx="15430500" cy="1191300"/>
          </a:xfrm>
          <a:prstGeom prst="rect">
            <a:avLst/>
          </a:prstGeom>
          <a:noFill/>
          <a:ln>
            <a:noFill/>
          </a:ln>
        </p:spPr>
        <p:txBody>
          <a:bodyPr anchorCtr="0" anchor="t" bIns="91425" lIns="91425" spcFirstLastPara="1" rIns="91425" wrap="square" tIns="91425">
            <a:spAutoFit/>
          </a:bodyPr>
          <a:lstStyle/>
          <a:p>
            <a:pPr indent="-401637" lvl="0" marL="457200" marR="0" rtl="0" algn="just">
              <a:lnSpc>
                <a:spcPct val="140000"/>
              </a:lnSpc>
              <a:spcBef>
                <a:spcPts val="0"/>
              </a:spcBef>
              <a:spcAft>
                <a:spcPts val="0"/>
              </a:spcAft>
              <a:buClr>
                <a:schemeClr val="lt1"/>
              </a:buClr>
              <a:buSzPts val="2725"/>
              <a:buFont typeface="Poppins Light"/>
              <a:buChar char="●"/>
            </a:pPr>
            <a:r>
              <a:rPr b="0" i="0" lang="en-US" sz="2725" u="none" cap="none" strike="noStrike">
                <a:solidFill>
                  <a:schemeClr val="lt1"/>
                </a:solidFill>
                <a:latin typeface="Poppins Light"/>
                <a:ea typeface="Poppins Light"/>
                <a:cs typeface="Poppins Light"/>
                <a:sym typeface="Poppins Light"/>
              </a:rPr>
              <a:t>Aho, Alfred V. Compiladores. Principios, Técnicas Y Herramientas. Segunda edición Pears on education, México, (2008) ISBN: 978-970-26-1133-2</a:t>
            </a:r>
            <a:endParaRPr b="0" i="0" sz="14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