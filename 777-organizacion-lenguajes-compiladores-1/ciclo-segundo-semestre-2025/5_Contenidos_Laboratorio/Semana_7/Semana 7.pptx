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Lobster"/>
      <p:regular r:id="rId25"/>
    </p:embeddedFont>
    <p:embeddedFont>
      <p:font typeface="Pacifico"/>
      <p:regular r:id="rId26"/>
    </p:embeddedFont>
    <p:embeddedFont>
      <p:font typeface="Roboto Mono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g9QYWQ/LVUhYp9Ppdy9HIQ2uaO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99DBCF-4016-470B-BDAA-74B0FAB8423D}">
  <a:tblStyle styleId="{A799DBCF-4016-470B-BDAA-74B0FAB8423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acifico-regular.fntdata"/><Relationship Id="rId25" Type="http://schemas.openxmlformats.org/officeDocument/2006/relationships/font" Target="fonts/Lobster-regular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64afea4f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ebdb8f0b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9ebdb8f0b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ebdb8f0ba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9ebdb8f0b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f033f205a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9f033f205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f2aabf56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9f2aabf56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f2aabf560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9f2aabf56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4f262177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64f262177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4afea4f63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64afea4f6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5e2d797db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85e2d797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4afea4f63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5e2d797db_0_6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7" name="Google Shape;17;g385e2d797db_0_6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8" name="Google Shape;18;g385e2d797db_0_6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64afea4f6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Organización de Lenguajes y Compiladores 1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12541309" y="6021878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 txBox="1"/>
          <p:nvPr/>
        </p:nvSpPr>
        <p:spPr>
          <a:xfrm>
            <a:off x="756224" y="6021875"/>
            <a:ext cx="8526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638149" y="1530825"/>
            <a:ext cx="15011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6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Gramáticas Independientes del Contexto – Análisis Sintáctico con CUP y Jison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"/>
          <p:cNvGrpSpPr/>
          <p:nvPr/>
        </p:nvGrpSpPr>
        <p:grpSpPr>
          <a:xfrm>
            <a:off x="176619" y="4520484"/>
            <a:ext cx="4613551" cy="845566"/>
            <a:chOff x="0" y="-76200"/>
            <a:chExt cx="1964221" cy="360000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0" name="Google Shape;110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1" name="Google Shape;121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4" name="Google Shape;12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7" name="Google Shape;127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" name="Google Shape;130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3" name="Google Shape;133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6488300" y="536587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2"/>
          <p:cNvSpPr txBox="1"/>
          <p:nvPr/>
        </p:nvSpPr>
        <p:spPr>
          <a:xfrm>
            <a:off x="7087316" y="6295138"/>
            <a:ext cx="342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3227950" y="2679675"/>
            <a:ext cx="120294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General: Domina los fundamentos del compilador y el diseño de traductores.</a:t>
            </a:r>
            <a:endParaRPr b="1" sz="33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Específica: Desarrolla analizadores sintácticos con CUP y Jison, utilizando gramáticas LL/LR para validar la estructura del lenguaje.</a:t>
            </a:r>
            <a:endParaRPr b="1" sz="33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14720495" y="674357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3"/>
          <p:cNvSpPr txBox="1"/>
          <p:nvPr/>
        </p:nvSpPr>
        <p:spPr>
          <a:xfrm>
            <a:off x="14046211" y="6528182"/>
            <a:ext cx="342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 title="Gemini_Generated_Image_sfb0qdsfb0qdsfb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3150" y="4668373"/>
            <a:ext cx="3831099" cy="5250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/>
          <p:nvPr/>
        </p:nvSpPr>
        <p:spPr>
          <a:xfrm>
            <a:off x="1917950" y="1727125"/>
            <a:ext cx="14847300" cy="79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>
                <a:solidFill>
                  <a:schemeClr val="dk1"/>
                </a:solidFill>
              </a:rPr>
              <a:t>Temas: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Definición de gramática.</a:t>
            </a:r>
            <a:br>
              <a:rPr lang="en-US" sz="2900">
                <a:solidFill>
                  <a:schemeClr val="dk1"/>
                </a:solidFill>
              </a:rPr>
            </a:b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Funciones PRIMERO y SIGUIENTE.</a:t>
            </a:r>
            <a:br>
              <a:rPr lang="en-US" sz="2900">
                <a:solidFill>
                  <a:schemeClr val="dk1"/>
                </a:solidFill>
              </a:rPr>
            </a:b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Gramáticas descendentes (LL).</a:t>
            </a:r>
            <a:br>
              <a:rPr lang="en-US" sz="2900">
                <a:solidFill>
                  <a:schemeClr val="dk1"/>
                </a:solidFill>
              </a:rPr>
            </a:b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Gramáticas ascendentes (LR).</a:t>
            </a:r>
            <a:br>
              <a:rPr lang="en-US" sz="2900">
                <a:solidFill>
                  <a:schemeClr val="dk1"/>
                </a:solidFill>
              </a:rPr>
            </a:b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Reescrituras gramaticales.</a:t>
            </a:r>
            <a:br>
              <a:rPr lang="en-US" sz="2900">
                <a:solidFill>
                  <a:schemeClr val="dk1"/>
                </a:solidFill>
              </a:rPr>
            </a:b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>
                <a:solidFill>
                  <a:schemeClr val="dk1"/>
                </a:solidFill>
              </a:rPr>
              <a:t>Objetivo:</a:t>
            </a:r>
            <a:r>
              <a:rPr lang="en-US" sz="2900">
                <a:solidFill>
                  <a:schemeClr val="dk1"/>
                </a:solidFill>
              </a:rPr>
              <a:t> comprender cómo las gramáticas permiten validar la estructura y orden de los programas.</a:t>
            </a:r>
            <a:endParaRPr sz="2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1" sz="5600">
              <a:solidFill>
                <a:schemeClr val="dk1"/>
              </a:solidFill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ebdb8f0ba_0_16"/>
          <p:cNvSpPr txBox="1"/>
          <p:nvPr/>
        </p:nvSpPr>
        <p:spPr>
          <a:xfrm>
            <a:off x="1448850" y="502623"/>
            <a:ext cx="15390300" cy="83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DEFINICIÓN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</a:rPr>
              <a:t>Una gramática define la </a:t>
            </a:r>
            <a:r>
              <a:rPr b="1" lang="en-US" sz="3400">
                <a:solidFill>
                  <a:schemeClr val="dk1"/>
                </a:solidFill>
              </a:rPr>
              <a:t>estructura del lenguaje</a:t>
            </a:r>
            <a:r>
              <a:rPr lang="en-US" sz="3400">
                <a:solidFill>
                  <a:schemeClr val="dk1"/>
                </a:solidFill>
              </a:rPr>
              <a:t> mediante reglas que indican cómo se combinan los tokens.</a:t>
            </a:r>
            <a:br>
              <a:rPr lang="en-US" sz="3400">
                <a:solidFill>
                  <a:schemeClr val="dk1"/>
                </a:solidFill>
              </a:rPr>
            </a:br>
            <a:r>
              <a:rPr lang="en-US" sz="3400">
                <a:solidFill>
                  <a:schemeClr val="dk1"/>
                </a:solidFill>
              </a:rPr>
              <a:t> </a:t>
            </a:r>
            <a:r>
              <a:rPr b="1" lang="en-US" sz="3400">
                <a:solidFill>
                  <a:schemeClr val="dk1"/>
                </a:solidFill>
              </a:rPr>
              <a:t>Ejemplo:</a:t>
            </a:r>
            <a:endParaRPr b="1" sz="3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 → E + T | T</a:t>
            </a:r>
            <a:endParaRPr sz="3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 → T * F | F</a:t>
            </a:r>
            <a:endParaRPr sz="3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 → (E) | id</a:t>
            </a:r>
            <a:endParaRPr sz="3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</a:rPr>
              <a:t>Permite generar el árbol sintáctico del código fuente.</a:t>
            </a:r>
            <a:endParaRPr sz="3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6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ebdb8f0ba_0_21"/>
          <p:cNvSpPr txBox="1"/>
          <p:nvPr/>
        </p:nvSpPr>
        <p:spPr>
          <a:xfrm>
            <a:off x="1448852" y="1788066"/>
            <a:ext cx="15390300" cy="3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100">
                <a:solidFill>
                  <a:schemeClr val="dk1"/>
                </a:solidFill>
              </a:rPr>
              <a:t>FUNCIONES PRIMERO Y SIGUIENTE</a:t>
            </a:r>
            <a:endParaRPr b="1" sz="4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500">
                <a:solidFill>
                  <a:schemeClr val="dk1"/>
                </a:solidFill>
              </a:rPr>
              <a:t>PRIMERO(X):</a:t>
            </a:r>
            <a:r>
              <a:rPr lang="en-US" sz="3500">
                <a:solidFill>
                  <a:schemeClr val="dk1"/>
                </a:solidFill>
              </a:rPr>
              <a:t> terminales que pueden aparecer al inicio de una derivación.</a:t>
            </a:r>
            <a:br>
              <a:rPr lang="en-US" sz="3500">
                <a:solidFill>
                  <a:schemeClr val="dk1"/>
                </a:solidFill>
              </a:rPr>
            </a:br>
            <a:r>
              <a:rPr lang="en-US" sz="3500">
                <a:solidFill>
                  <a:schemeClr val="dk1"/>
                </a:solidFill>
              </a:rPr>
              <a:t> </a:t>
            </a:r>
            <a:r>
              <a:rPr b="1" lang="en-US" sz="3500">
                <a:solidFill>
                  <a:schemeClr val="dk1"/>
                </a:solidFill>
              </a:rPr>
              <a:t>SIGUIENTE(X):</a:t>
            </a:r>
            <a:r>
              <a:rPr lang="en-US" sz="3500">
                <a:solidFill>
                  <a:schemeClr val="dk1"/>
                </a:solidFill>
              </a:rPr>
              <a:t> terminales que pueden aparecer después de un no terminal.</a:t>
            </a:r>
            <a:br>
              <a:rPr lang="en-US" sz="3500">
                <a:solidFill>
                  <a:schemeClr val="dk1"/>
                </a:solidFill>
              </a:rPr>
            </a:br>
            <a:r>
              <a:rPr lang="en-US" sz="3500">
                <a:solidFill>
                  <a:schemeClr val="dk1"/>
                </a:solidFill>
              </a:rPr>
              <a:t> Ayudan a eliminar ambigüedades y construir tablas predictivas.</a:t>
            </a:r>
            <a:endParaRPr sz="3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1" sz="6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f033f205a_0_13"/>
          <p:cNvSpPr txBox="1"/>
          <p:nvPr/>
        </p:nvSpPr>
        <p:spPr>
          <a:xfrm>
            <a:off x="2972975" y="1262850"/>
            <a:ext cx="11044500" cy="7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 GRAMÁTICAS DESCENDENTES (LL)</a:t>
            </a:r>
            <a:endParaRPr b="1" sz="38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Análisis de arriba hacia abajo.</a:t>
            </a:r>
            <a:br>
              <a:rPr lang="en-US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Construye derivaciones por la izquierda.</a:t>
            </a:r>
            <a:br>
              <a:rPr lang="en-US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Se usa en </a:t>
            </a:r>
            <a:r>
              <a:rPr b="1" lang="en-US" sz="3200">
                <a:solidFill>
                  <a:schemeClr val="dk1"/>
                </a:solidFill>
              </a:rPr>
              <a:t>Jison</a:t>
            </a:r>
            <a:r>
              <a:rPr lang="en-US" sz="3200">
                <a:solidFill>
                  <a:schemeClr val="dk1"/>
                </a:solidFill>
              </a:rPr>
              <a:t>.</a:t>
            </a:r>
            <a:br>
              <a:rPr lang="en-US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No acepta recursividad izquierda.</a:t>
            </a:r>
            <a:br>
              <a:rPr lang="en-US" sz="3200">
                <a:solidFill>
                  <a:schemeClr val="dk1"/>
                </a:solidFill>
              </a:rPr>
            </a:br>
            <a:r>
              <a:rPr lang="en-US" sz="3200">
                <a:solidFill>
                  <a:schemeClr val="dk1"/>
                </a:solidFill>
              </a:rPr>
              <a:t> </a:t>
            </a:r>
            <a:r>
              <a:rPr b="1" lang="en-US" sz="3200">
                <a:solidFill>
                  <a:schemeClr val="dk1"/>
                </a:solidFill>
              </a:rPr>
              <a:t>Ejemplo:</a:t>
            </a:r>
            <a:br>
              <a:rPr b="1" lang="en-US" sz="3200">
                <a:solidFill>
                  <a:schemeClr val="dk1"/>
                </a:solidFill>
              </a:rPr>
            </a:b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 → T E’</a:t>
            </a:r>
            <a:endParaRPr sz="3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E’ → + T E’ | ε</a:t>
            </a:r>
            <a:endParaRPr sz="3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f2aabf560_0_8"/>
          <p:cNvSpPr txBox="1"/>
          <p:nvPr/>
        </p:nvSpPr>
        <p:spPr>
          <a:xfrm>
            <a:off x="2688050" y="1206300"/>
            <a:ext cx="12401700" cy="8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</a:rPr>
              <a:t>GRAMÁTICAS ASCENDENTES (LR)</a:t>
            </a:r>
            <a:endParaRPr b="1" sz="4400">
              <a:solidFill>
                <a:schemeClr val="dk1"/>
              </a:solidFill>
            </a:endParaRPr>
          </a:p>
          <a:p>
            <a:pPr indent="-469900" lvl="0" marL="457200" rtl="0" algn="l">
              <a:lnSpc>
                <a:spcPct val="115000"/>
              </a:lnSpc>
              <a:spcBef>
                <a:spcPts val="380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b="1" lang="en-US" sz="3800">
                <a:solidFill>
                  <a:schemeClr val="dk1"/>
                </a:solidFill>
              </a:rPr>
              <a:t>Análisis de abajo hacia arriba.</a:t>
            </a:r>
            <a:br>
              <a:rPr b="1" lang="en-US" sz="3800">
                <a:solidFill>
                  <a:schemeClr val="dk1"/>
                </a:solidFill>
              </a:rPr>
            </a:br>
            <a:endParaRPr b="1" sz="3800">
              <a:solidFill>
                <a:schemeClr val="dk1"/>
              </a:solidFill>
            </a:endParaRPr>
          </a:p>
          <a:p>
            <a:pPr indent="-469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b="1" lang="en-US" sz="3800">
                <a:solidFill>
                  <a:schemeClr val="dk1"/>
                </a:solidFill>
              </a:rPr>
              <a:t>Reconoce patrones y los reduce.</a:t>
            </a:r>
            <a:br>
              <a:rPr b="1" lang="en-US" sz="3800">
                <a:solidFill>
                  <a:schemeClr val="dk1"/>
                </a:solidFill>
              </a:rPr>
            </a:br>
            <a:endParaRPr b="1" sz="3800">
              <a:solidFill>
                <a:schemeClr val="dk1"/>
              </a:solidFill>
            </a:endParaRPr>
          </a:p>
          <a:p>
            <a:pPr indent="-469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b="1" lang="en-US" sz="3800">
                <a:solidFill>
                  <a:schemeClr val="dk1"/>
                </a:solidFill>
              </a:rPr>
              <a:t>Se usa en CUP.</a:t>
            </a:r>
            <a:br>
              <a:rPr b="1" lang="en-US" sz="3800">
                <a:solidFill>
                  <a:schemeClr val="dk1"/>
                </a:solidFill>
              </a:rPr>
            </a:br>
            <a:r>
              <a:rPr b="1" lang="en-US" sz="3800">
                <a:solidFill>
                  <a:schemeClr val="dk1"/>
                </a:solidFill>
              </a:rPr>
              <a:t> Ejemplo CUP:</a:t>
            </a:r>
            <a:br>
              <a:rPr b="1" lang="en-US" sz="3800">
                <a:solidFill>
                  <a:schemeClr val="dk1"/>
                </a:solidFill>
              </a:rPr>
            </a:br>
            <a:endParaRPr b="1"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80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 ::= E PLUS T | T;</a:t>
            </a:r>
            <a:endParaRPr b="1" sz="3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 ::= T MULT F | F;</a:t>
            </a:r>
            <a:endParaRPr b="1" sz="3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 ::= ID | NUM | LPAREN E RPAREN;</a:t>
            </a:r>
            <a:endParaRPr b="1" sz="3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f2aabf560_0_15"/>
          <p:cNvSpPr txBox="1"/>
          <p:nvPr/>
        </p:nvSpPr>
        <p:spPr>
          <a:xfrm>
            <a:off x="1574875" y="502625"/>
            <a:ext cx="13883400" cy="9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</a:rPr>
              <a:t>REESCRITURAS GRAMATICALES</a:t>
            </a:r>
            <a:endParaRPr b="1" sz="4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80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Se reestructuran para:</a:t>
            </a:r>
            <a:endParaRPr b="1" sz="3800">
              <a:solidFill>
                <a:schemeClr val="dk1"/>
              </a:solidFill>
            </a:endParaRPr>
          </a:p>
          <a:p>
            <a:pPr indent="-469900" lvl="0" marL="457200" rtl="0" algn="l">
              <a:lnSpc>
                <a:spcPct val="115000"/>
              </a:lnSpc>
              <a:spcBef>
                <a:spcPts val="380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b="1" lang="en-US" sz="3800">
                <a:solidFill>
                  <a:schemeClr val="dk1"/>
                </a:solidFill>
              </a:rPr>
              <a:t>Eliminar recursividad a la izquierda.</a:t>
            </a:r>
            <a:br>
              <a:rPr b="1" lang="en-US" sz="3800">
                <a:solidFill>
                  <a:schemeClr val="dk1"/>
                </a:solidFill>
              </a:rPr>
            </a:br>
            <a:endParaRPr b="1" sz="3800">
              <a:solidFill>
                <a:schemeClr val="dk1"/>
              </a:solidFill>
            </a:endParaRPr>
          </a:p>
          <a:p>
            <a:pPr indent="-469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b="1" lang="en-US" sz="3800">
                <a:solidFill>
                  <a:schemeClr val="dk1"/>
                </a:solidFill>
              </a:rPr>
              <a:t>Evitar ambigüedades.</a:t>
            </a:r>
            <a:br>
              <a:rPr b="1" lang="en-US" sz="3800">
                <a:solidFill>
                  <a:schemeClr val="dk1"/>
                </a:solidFill>
              </a:rPr>
            </a:br>
            <a:endParaRPr b="1" sz="3800">
              <a:solidFill>
                <a:schemeClr val="dk1"/>
              </a:solidFill>
            </a:endParaRPr>
          </a:p>
          <a:p>
            <a:pPr indent="-469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b="1" lang="en-US" sz="3800">
                <a:solidFill>
                  <a:schemeClr val="dk1"/>
                </a:solidFill>
              </a:rPr>
              <a:t>Factorizar reglas repetitivas.</a:t>
            </a:r>
            <a:br>
              <a:rPr b="1" lang="en-US" sz="3800">
                <a:solidFill>
                  <a:schemeClr val="dk1"/>
                </a:solidFill>
              </a:rPr>
            </a:br>
            <a:endParaRPr b="1" sz="3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80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Ejemplo:</a:t>
            </a:r>
            <a:endParaRPr b="1" sz="3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80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 → E + T | T   →   E → T E’, E’ → + T E’ | ε</a:t>
            </a:r>
            <a:endParaRPr b="1" sz="3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6"/>
          <p:cNvSpPr txBox="1"/>
          <p:nvPr/>
        </p:nvSpPr>
        <p:spPr>
          <a:xfrm>
            <a:off x="14141311" y="6315059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3216775" y="3429000"/>
            <a:ext cx="99966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Gramática: conjunto de reglas del lenguaje.</a:t>
            </a:r>
            <a:br>
              <a:rPr b="1" lang="en-US" sz="2700">
                <a:solidFill>
                  <a:schemeClr val="dk1"/>
                </a:solidFill>
              </a:rPr>
            </a:b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PRIMERO/SIGUIENTE: funciones predictivas.</a:t>
            </a:r>
            <a:br>
              <a:rPr b="1" lang="en-US" sz="2700">
                <a:solidFill>
                  <a:schemeClr val="dk1"/>
                </a:solidFill>
              </a:rPr>
            </a:b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LL/LR: tipos de analizadores.</a:t>
            </a:r>
            <a:br>
              <a:rPr b="1" lang="en-US" sz="2700">
                <a:solidFill>
                  <a:schemeClr val="dk1"/>
                </a:solidFill>
              </a:rPr>
            </a:b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AST: representación jerárquica del programa.</a:t>
            </a:r>
            <a:br>
              <a:rPr b="1" lang="en-US" sz="2700">
                <a:solidFill>
                  <a:schemeClr val="dk1"/>
                </a:solidFill>
              </a:rPr>
            </a:b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Perseverancia: mejorar gramáticas paso a paso.</a:t>
            </a:r>
            <a:endParaRPr b="1"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Perseverancia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1853518" y="3164230"/>
            <a:ext cx="15112800" cy="52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200">
                <a:solidFill>
                  <a:schemeClr val="dk1"/>
                </a:solidFill>
              </a:rPr>
              <a:t>Aplicación:</a:t>
            </a:r>
            <a:r>
              <a:rPr lang="en-US" sz="4200">
                <a:solidFill>
                  <a:schemeClr val="dk1"/>
                </a:solidFill>
              </a:rPr>
              <a:t> el estudiante demuestra constancia al probar su gramática, corregir errores y lograr un analizador funcional.</a:t>
            </a:r>
            <a:endParaRPr sz="4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>
                <a:solidFill>
                  <a:schemeClr val="dk1"/>
                </a:solidFill>
              </a:rPr>
              <a:t>“Compilar es insistir hasta que el lenguaje hable correctamente.”</a:t>
            </a:r>
            <a:endParaRPr sz="4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1" sz="6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5255400" y="2945200"/>
            <a:ext cx="10755300" cy="50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Aho, A. V., Lam, M. S., Sethi, R., &amp; Ullman, J. D. (2007). </a:t>
            </a:r>
            <a:r>
              <a:rPr b="0" i="1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Compilers: Principles, Techniques, and Tools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Pearson.</a:t>
            </a:r>
            <a:b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Louden, K. C. (1997). </a:t>
            </a:r>
            <a:r>
              <a:rPr b="0" i="1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Construction: Principles and Practice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PWS.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8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05775" y="-649600"/>
            <a:ext cx="7000174" cy="436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4f262177b_0_2"/>
          <p:cNvSpPr txBox="1"/>
          <p:nvPr/>
        </p:nvSpPr>
        <p:spPr>
          <a:xfrm>
            <a:off x="2952639" y="11961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6" name="Google Shape;206;g364f262177b_0_2"/>
          <p:cNvSpPr txBox="1"/>
          <p:nvPr/>
        </p:nvSpPr>
        <p:spPr>
          <a:xfrm>
            <a:off x="14236857" y="6780527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364f262177b_0_2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97450" y="1340328"/>
            <a:ext cx="4695574" cy="643467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64f262177b_0_2"/>
          <p:cNvSpPr txBox="1"/>
          <p:nvPr/>
        </p:nvSpPr>
        <p:spPr>
          <a:xfrm>
            <a:off x="3365700" y="2814700"/>
            <a:ext cx="14922300" cy="60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70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Objetivo:</a:t>
            </a:r>
            <a:r>
              <a:rPr lang="en-US" sz="3700">
                <a:solidFill>
                  <a:schemeClr val="dk1"/>
                </a:solidFill>
              </a:rPr>
              <a:t> Crear una gramática base para expresiones aritméticas.</a:t>
            </a:r>
            <a:br>
              <a:rPr lang="en-US" sz="3700">
                <a:solidFill>
                  <a:schemeClr val="dk1"/>
                </a:solidFill>
              </a:rPr>
            </a:br>
            <a:r>
              <a:rPr lang="en-US" sz="3700">
                <a:solidFill>
                  <a:schemeClr val="dk1"/>
                </a:solidFill>
              </a:rPr>
              <a:t> </a:t>
            </a:r>
            <a:r>
              <a:rPr b="1" lang="en-US" sz="3700">
                <a:solidFill>
                  <a:schemeClr val="dk1"/>
                </a:solidFill>
              </a:rPr>
              <a:t>Archivo CUP:</a:t>
            </a:r>
            <a:endParaRPr b="1" sz="3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70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 ::= E PLUS T | T;</a:t>
            </a:r>
            <a:endParaRPr sz="3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 ::= T MULT F | F;</a:t>
            </a:r>
            <a:endParaRPr sz="3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 ::= LPAREN E RPAREN | NUM;</a:t>
            </a:r>
            <a:endParaRPr sz="3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700"/>
              </a:spcBef>
              <a:spcAft>
                <a:spcPts val="370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Resultado esperado:</a:t>
            </a:r>
            <a:br>
              <a:rPr b="1" lang="en-US" sz="3700">
                <a:solidFill>
                  <a:schemeClr val="dk1"/>
                </a:solidFill>
              </a:rPr>
            </a:br>
            <a:r>
              <a:rPr lang="en-US" sz="3700">
                <a:solidFill>
                  <a:schemeClr val="dk1"/>
                </a:solidFill>
              </a:rPr>
              <a:t> Entrada: </a:t>
            </a: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 + 2 * 4</a:t>
            </a:r>
            <a:r>
              <a:rPr lang="en-US" sz="3700">
                <a:solidFill>
                  <a:schemeClr val="dk1"/>
                </a:solidFill>
              </a:rPr>
              <a:t> → Árbol sintáctico correcto.</a:t>
            </a:r>
            <a:endParaRPr sz="3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4afea4f63_0_148"/>
          <p:cNvSpPr txBox="1"/>
          <p:nvPr/>
        </p:nvSpPr>
        <p:spPr>
          <a:xfrm>
            <a:off x="3294964" y="4254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14" name="Google Shape;214;g364afea4f63_0_148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64afea4f63_0_148"/>
          <p:cNvSpPr txBox="1"/>
          <p:nvPr/>
        </p:nvSpPr>
        <p:spPr>
          <a:xfrm>
            <a:off x="4077825" y="1848150"/>
            <a:ext cx="13001400" cy="6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700">
                <a:solidFill>
                  <a:schemeClr val="dk1"/>
                </a:solidFill>
              </a:rPr>
              <a:t>Actividad:</a:t>
            </a:r>
            <a:r>
              <a:rPr lang="en-US" sz="3700">
                <a:solidFill>
                  <a:schemeClr val="dk1"/>
                </a:solidFill>
              </a:rPr>
              <a:t> Desarrollar una gramática inicial referente al proyecto.</a:t>
            </a:r>
            <a:br>
              <a:rPr lang="en-US" sz="3700">
                <a:solidFill>
                  <a:schemeClr val="dk1"/>
                </a:solidFill>
              </a:rPr>
            </a:br>
            <a:r>
              <a:rPr lang="en-US" sz="3700">
                <a:solidFill>
                  <a:schemeClr val="dk1"/>
                </a:solidFill>
              </a:rPr>
              <a:t> Debe incluir:</a:t>
            </a:r>
            <a:endParaRPr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>
                <a:solidFill>
                  <a:schemeClr val="dk1"/>
                </a:solidFill>
              </a:rPr>
              <a:t>Reglas básicas del lenguaje.</a:t>
            </a:r>
            <a:br>
              <a:rPr lang="en-US" sz="3700">
                <a:solidFill>
                  <a:schemeClr val="dk1"/>
                </a:solidFill>
              </a:rPr>
            </a:br>
            <a:endParaRPr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>
                <a:solidFill>
                  <a:schemeClr val="dk1"/>
                </a:solidFill>
              </a:rPr>
              <a:t>Jerarquía de operadores.</a:t>
            </a:r>
            <a:br>
              <a:rPr lang="en-US" sz="3700">
                <a:solidFill>
                  <a:schemeClr val="dk1"/>
                </a:solidFill>
              </a:rPr>
            </a:br>
            <a:endParaRPr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>
                <a:solidFill>
                  <a:schemeClr val="dk1"/>
                </a:solidFill>
              </a:rPr>
              <a:t>Eliminación de recursividad izquierda.</a:t>
            </a:r>
            <a:endParaRPr sz="3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1" sz="5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g385e2d797db_0_1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g385e2d797db_0_12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{A799DBCF-4016-470B-BDAA-74B0FAB8423D}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4" name="Google Shape;224;g385e2d797db_0_12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{A799DBCF-4016-470B-BDAA-74B0FAB8423D}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