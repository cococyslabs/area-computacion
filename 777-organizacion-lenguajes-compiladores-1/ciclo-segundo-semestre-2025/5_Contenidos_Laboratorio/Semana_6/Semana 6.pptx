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0287000" cx="18288000"/>
  <p:notesSz cx="6858000" cy="9144000"/>
  <p:embeddedFontLst>
    <p:embeddedFont>
      <p:font typeface="Lobster"/>
      <p:regular r:id="rId23"/>
    </p:embeddedFont>
    <p:embeddedFont>
      <p:font typeface="Pacifico"/>
      <p:regular r:id="rId24"/>
    </p:embeddedFont>
    <p:embeddedFont>
      <p:font typeface="Roboto Mono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kwAv52dVKV1Mrr9aSh7pLvpl+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CFCD80-2D0F-4DEE-A02D-585407540D2C}">
  <a:tblStyle styleId="{74CFCD80-2D0F-4DEE-A02D-585407540D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acifico-regular.fntdata"/><Relationship Id="rId23" Type="http://schemas.openxmlformats.org/officeDocument/2006/relationships/font" Target="fonts/Lobs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ebdb8f0b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9ebdb8f0b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ebdb8f0ba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9ebdb8f0b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033f205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f033f20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4f262177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64f26217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4afea4f63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64afea4f6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5e2d797db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85e2d797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4afea4f63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e2d797db_0_6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7" name="Google Shape;17;g385e2d797db_0_6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8" name="Google Shape;18;g385e2d797db_0_6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96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de Lenguajes y Compiladores 1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 txBox="1"/>
          <p:nvPr/>
        </p:nvSpPr>
        <p:spPr>
          <a:xfrm>
            <a:off x="756224" y="6021875"/>
            <a:ext cx="8526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638149" y="1530825"/>
            <a:ext cx="15011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6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Comunicación con el entorno y manejo de errores en analizadores léxicos y sintácticos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"/>
          <p:cNvGrpSpPr/>
          <p:nvPr/>
        </p:nvGrpSpPr>
        <p:grpSpPr>
          <a:xfrm>
            <a:off x="176619" y="4520484"/>
            <a:ext cx="4613551" cy="845566"/>
            <a:chOff x="0" y="-76200"/>
            <a:chExt cx="1964221" cy="36000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0" name="Google Shape;11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6488300" y="536587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7087316" y="6295138"/>
            <a:ext cx="34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3129300" y="1795550"/>
            <a:ext cx="12029400" cy="7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 general:</a:t>
            </a:r>
            <a:endParaRPr b="1" sz="33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Domina los conceptos fundamentales del compilador para analizar y diseñar traductores en proyectos de software que requieran procesamiento de lenguajes.</a:t>
            </a:r>
            <a:endParaRPr b="1" sz="33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t/>
            </a:r>
            <a:endParaRPr b="1" sz="33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 específica:</a:t>
            </a:r>
            <a:endParaRPr b="1" sz="33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 analizadores léxicos y sintácticos con JFlex y CUP, integrándolos correctamente al entorno de programación para manejar entradas, acciones y errores.</a:t>
            </a:r>
            <a:endParaRPr b="1" sz="33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14720495" y="674357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3"/>
          <p:cNvSpPr txBox="1"/>
          <p:nvPr/>
        </p:nvSpPr>
        <p:spPr>
          <a:xfrm>
            <a:off x="14046211" y="6528182"/>
            <a:ext cx="342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6125" y="5673623"/>
            <a:ext cx="3831099" cy="5250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/>
        </p:nvSpPr>
        <p:spPr>
          <a:xfrm>
            <a:off x="1448850" y="1593075"/>
            <a:ext cx="14847300" cy="7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800">
                <a:solidFill>
                  <a:schemeClr val="dk1"/>
                </a:solidFill>
              </a:rPr>
              <a:t> COMUNICACIÓN CON EL ENTORNO</a:t>
            </a:r>
            <a:endParaRPr b="1" sz="38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El analizador léxico (JFlex) se comunica con el analizador sintáctico (CUP) por medio del </a:t>
            </a:r>
            <a:r>
              <a:rPr b="1" lang="en-US" sz="3200">
                <a:solidFill>
                  <a:schemeClr val="dk1"/>
                </a:solidFill>
              </a:rPr>
              <a:t>flujo de tokens</a:t>
            </a:r>
            <a:r>
              <a:rPr lang="en-US" sz="3200">
                <a:solidFill>
                  <a:schemeClr val="dk1"/>
                </a:solidFill>
              </a:rPr>
              <a:t>.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CUP recibe los tokens y los organiza según las reglas gramaticales definidas.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Ambas herramientas deben compartir las mismas </a:t>
            </a:r>
            <a:r>
              <a:rPr b="1" lang="en-US" sz="3200">
                <a:solidFill>
                  <a:schemeClr val="dk1"/>
                </a:solidFill>
              </a:rPr>
              <a:t>clases de símbolos (</a:t>
            </a:r>
            <a:r>
              <a:rPr b="1" lang="en-US" sz="3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sym.java</a:t>
            </a:r>
            <a:r>
              <a:rPr b="1" lang="en-US" sz="3200">
                <a:solidFill>
                  <a:schemeClr val="dk1"/>
                </a:solidFill>
              </a:rPr>
              <a:t>)</a:t>
            </a:r>
            <a:r>
              <a:rPr lang="en-US" sz="3200">
                <a:solidFill>
                  <a:schemeClr val="dk1"/>
                </a:solidFill>
              </a:rPr>
              <a:t>.</a:t>
            </a:r>
            <a:br>
              <a:rPr lang="en-US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Es posible integrar la salida del parser con una interfaz o consola que muestre los resultados en tiempo real.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ebdb8f0ba_0_16"/>
          <p:cNvSpPr txBox="1"/>
          <p:nvPr/>
        </p:nvSpPr>
        <p:spPr>
          <a:xfrm>
            <a:off x="1448850" y="502623"/>
            <a:ext cx="153903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ACCIONES GRAMATICALES</a:t>
            </a:r>
            <a:endParaRPr b="1" sz="4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</a:rPr>
              <a:t>Las acciones gramaticales son </a:t>
            </a:r>
            <a:r>
              <a:rPr b="1" lang="en-US" sz="3400">
                <a:solidFill>
                  <a:schemeClr val="dk1"/>
                </a:solidFill>
              </a:rPr>
              <a:t>bloques de código Java</a:t>
            </a:r>
            <a:r>
              <a:rPr lang="en-US" sz="3400">
                <a:solidFill>
                  <a:schemeClr val="dk1"/>
                </a:solidFill>
              </a:rPr>
              <a:t> que se ejecutan cuando una regla de la gramática se cumple.</a:t>
            </a:r>
            <a:br>
              <a:rPr lang="en-US" sz="3400">
                <a:solidFill>
                  <a:schemeClr val="dk1"/>
                </a:solidFill>
              </a:rPr>
            </a:br>
            <a:r>
              <a:rPr lang="en-US" sz="3400">
                <a:solidFill>
                  <a:schemeClr val="dk1"/>
                </a:solidFill>
              </a:rPr>
              <a:t> Permiten construir estructuras, validar tipos o realizar cálculos.</a:t>
            </a:r>
            <a:endParaRPr sz="3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solidFill>
                <a:schemeClr val="dk1"/>
              </a:solidFill>
            </a:endParaRPr>
          </a:p>
        </p:txBody>
      </p:sp>
      <p:sp>
        <p:nvSpPr>
          <p:cNvPr id="160" name="Google Shape;160;g39ebdb8f0ba_0_16"/>
          <p:cNvSpPr txBox="1"/>
          <p:nvPr/>
        </p:nvSpPr>
        <p:spPr>
          <a:xfrm>
            <a:off x="2580125" y="4423075"/>
            <a:ext cx="11068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E ::= E PLUS T</a:t>
            </a:r>
            <a:endParaRPr sz="4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       {: RESULT = new Integer(((Integer)$1 + (Integer)$3)); :}</a:t>
            </a:r>
            <a:endParaRPr sz="4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   | T</a:t>
            </a:r>
            <a:endParaRPr sz="4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</a:rPr>
              <a:t>       {: RESULT = $1; :};</a:t>
            </a:r>
            <a:endParaRPr sz="4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ebdb8f0ba_0_21"/>
          <p:cNvSpPr txBox="1"/>
          <p:nvPr/>
        </p:nvSpPr>
        <p:spPr>
          <a:xfrm>
            <a:off x="1448852" y="1251941"/>
            <a:ext cx="15390300" cy="3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</a:rPr>
              <a:t>MANEJO DE ERRORES</a:t>
            </a:r>
            <a:endParaRPr b="1" sz="36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CUP permite definir acciones cuando ocurre un error de sintaxis usando la palabra reservada </a:t>
            </a:r>
            <a:r>
              <a:rPr b="1" lang="en-US" sz="3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</a:t>
            </a:r>
            <a:r>
              <a:rPr lang="en-US" sz="3000">
                <a:solidFill>
                  <a:schemeClr val="dk1"/>
                </a:solidFill>
              </a:rPr>
              <a:t>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Se pueden combinar con reglas específicas para intentar </a:t>
            </a:r>
            <a:r>
              <a:rPr b="1" lang="en-US" sz="3000">
                <a:solidFill>
                  <a:schemeClr val="dk1"/>
                </a:solidFill>
              </a:rPr>
              <a:t>recuperarse del fallo</a:t>
            </a:r>
            <a:r>
              <a:rPr lang="en-US" sz="3000">
                <a:solidFill>
                  <a:schemeClr val="dk1"/>
                </a:solidFill>
              </a:rPr>
              <a:t>.</a:t>
            </a:r>
            <a:endParaRPr sz="3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sz="5100">
              <a:solidFill>
                <a:schemeClr val="dk1"/>
              </a:solidFill>
            </a:endParaRPr>
          </a:p>
        </p:txBody>
      </p:sp>
      <p:sp>
        <p:nvSpPr>
          <p:cNvPr id="166" name="Google Shape;166;g39ebdb8f0ba_0_21"/>
          <p:cNvSpPr txBox="1"/>
          <p:nvPr/>
        </p:nvSpPr>
        <p:spPr>
          <a:xfrm>
            <a:off x="2211525" y="4589400"/>
            <a:ext cx="12610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stmt ::= error ';' 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        {: System.err.println("Error sintáctico recuperado."); :};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67" name="Google Shape;167;g39ebdb8f0ba_0_21"/>
          <p:cNvSpPr txBox="1"/>
          <p:nvPr/>
        </p:nvSpPr>
        <p:spPr>
          <a:xfrm>
            <a:off x="2379100" y="6121300"/>
            <a:ext cx="93264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Buenas prácticas:</a:t>
            </a:r>
            <a:endParaRPr b="1"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Mostrar línea y columna del error.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No detener el proceso; continuar analizando.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Registrar los errores en un archivo de log.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f033f205a_0_13"/>
          <p:cNvSpPr txBox="1"/>
          <p:nvPr/>
        </p:nvSpPr>
        <p:spPr>
          <a:xfrm>
            <a:off x="1448852" y="1251941"/>
            <a:ext cx="1539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FLUJO COMPLETO DEL COMPILADOR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9f033f205a_0_13"/>
          <p:cNvSpPr txBox="1"/>
          <p:nvPr/>
        </p:nvSpPr>
        <p:spPr>
          <a:xfrm>
            <a:off x="5595875" y="2312050"/>
            <a:ext cx="6578700" cy="6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Código Fuente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      ↓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Analizador Léxico (JFlex)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      ↓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Tokens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      ↓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Analizador Sintáctico (CUP)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      ↓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Acciones Semánticas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      ↓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Salida o Árbol Sintáctico</a:t>
            </a:r>
            <a:endParaRPr sz="3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4233196" y="2721542"/>
            <a:ext cx="9024600" cy="7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Acciones gramaticales:</a:t>
            </a:r>
            <a:r>
              <a:rPr lang="en-US" sz="2700">
                <a:solidFill>
                  <a:schemeClr val="dk1"/>
                </a:solidFill>
              </a:rPr>
              <a:t> código ejecutado dentro del parser.</a:t>
            </a:r>
            <a:br>
              <a:rPr lang="en-US" sz="2700">
                <a:solidFill>
                  <a:schemeClr val="dk1"/>
                </a:solidFill>
              </a:rPr>
            </a:b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Comunicación con el entorno:</a:t>
            </a:r>
            <a:r>
              <a:rPr lang="en-US" sz="2700">
                <a:solidFill>
                  <a:schemeClr val="dk1"/>
                </a:solidFill>
              </a:rPr>
              <a:t> flujo de tokens entre JFlex y CUP.</a:t>
            </a:r>
            <a:br>
              <a:rPr lang="en-US" sz="2700">
                <a:solidFill>
                  <a:schemeClr val="dk1"/>
                </a:solidFill>
              </a:rPr>
            </a:b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Manejo de errores:</a:t>
            </a:r>
            <a:r>
              <a:rPr lang="en-US" sz="2700">
                <a:solidFill>
                  <a:schemeClr val="dk1"/>
                </a:solidFill>
              </a:rPr>
              <a:t> detección, reporte y recuperación de errores léxicos y sintácticos.</a:t>
            </a:r>
            <a:br>
              <a:rPr lang="en-US" sz="2700">
                <a:solidFill>
                  <a:schemeClr val="dk1"/>
                </a:solidFill>
              </a:rPr>
            </a:b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Entorno de desarrollo:</a:t>
            </a:r>
            <a:r>
              <a:rPr lang="en-US" sz="2700">
                <a:solidFill>
                  <a:schemeClr val="dk1"/>
                </a:solidFill>
              </a:rPr>
              <a:t> Java + JFlex + CUP.</a:t>
            </a:r>
            <a:br>
              <a:rPr lang="en-US" sz="2700">
                <a:solidFill>
                  <a:schemeClr val="dk1"/>
                </a:solidFill>
              </a:rPr>
            </a:b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b="1" lang="en-US" sz="2700">
                <a:solidFill>
                  <a:schemeClr val="dk1"/>
                </a:solidFill>
              </a:rPr>
              <a:t>Responsabilidad:</a:t>
            </a:r>
            <a:r>
              <a:rPr lang="en-US" sz="2700">
                <a:solidFill>
                  <a:schemeClr val="dk1"/>
                </a:solidFill>
              </a:rPr>
              <a:t> configurar y ejecutar correctamente las herramientas.</a:t>
            </a:r>
            <a:br>
              <a:rPr lang="en-US" sz="2700">
                <a:solidFill>
                  <a:schemeClr val="dk1"/>
                </a:solidFill>
              </a:rPr>
            </a:br>
            <a:endParaRPr sz="27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6"/>
          <p:cNvSpPr txBox="1"/>
          <p:nvPr/>
        </p:nvSpPr>
        <p:spPr>
          <a:xfrm>
            <a:off x="14141311" y="6315059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1853518" y="3164230"/>
            <a:ext cx="15112800" cy="6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</a:rPr>
              <a:t>El estudiante demuestra responsabilidad al:</a:t>
            </a:r>
            <a:endParaRPr b="1" sz="35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3500">
                <a:solidFill>
                  <a:schemeClr val="dk1"/>
                </a:solidFill>
              </a:rPr>
              <a:t>Configurar correctamente su entorno Java y herramientas.</a:t>
            </a:r>
            <a:br>
              <a:rPr b="1" lang="en-US" sz="3500">
                <a:solidFill>
                  <a:schemeClr val="dk1"/>
                </a:solidFill>
              </a:rPr>
            </a:br>
            <a:endParaRPr b="1" sz="35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3500">
                <a:solidFill>
                  <a:schemeClr val="dk1"/>
                </a:solidFill>
              </a:rPr>
              <a:t>Cumplir los plazos establecidos para generar los analizadores.</a:t>
            </a:r>
            <a:br>
              <a:rPr b="1" lang="en-US" sz="3500">
                <a:solidFill>
                  <a:schemeClr val="dk1"/>
                </a:solidFill>
              </a:rPr>
            </a:br>
            <a:endParaRPr b="1" sz="35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3500">
                <a:solidFill>
                  <a:schemeClr val="dk1"/>
                </a:solidFill>
              </a:rPr>
              <a:t>Verificar la precisión de su salida y reportar errores encontrados.</a:t>
            </a:r>
            <a:br>
              <a:rPr b="1" lang="en-US" sz="3500">
                <a:solidFill>
                  <a:schemeClr val="dk1"/>
                </a:solidFill>
              </a:rPr>
            </a:br>
            <a:endParaRPr b="1" sz="35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>
                <a:solidFill>
                  <a:schemeClr val="dk1"/>
                </a:solidFill>
              </a:rPr>
              <a:t>“Ser responsable es garantizar que tu código funcione, no solo que compile.”</a:t>
            </a:r>
            <a:endParaRPr b="1" sz="3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1" sz="3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5255400" y="2945200"/>
            <a:ext cx="10755300" cy="50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Aho, A. V., Lam, M. S., Sethi, R., &amp; Ullman, J. D. (2007). </a:t>
            </a:r>
            <a:r>
              <a:rPr b="0" i="1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Compilers: Principles, Techniques, and Tools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Pearson.</a:t>
            </a:r>
            <a:b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Louden, K. C. (1997). </a:t>
            </a:r>
            <a:r>
              <a:rPr b="0" i="1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Construction: Principles and Practice</a:t>
            </a:r>
            <a:r>
              <a:rPr b="0" i="0" lang="en-US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PWS.</a:t>
            </a:r>
            <a:endParaRPr b="0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8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05775" y="-649600"/>
            <a:ext cx="7000174" cy="43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4f262177b_0_2"/>
          <p:cNvSpPr txBox="1"/>
          <p:nvPr/>
        </p:nvSpPr>
        <p:spPr>
          <a:xfrm>
            <a:off x="2952639" y="11961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0" name="Google Shape;200;g364f262177b_0_2"/>
          <p:cNvSpPr txBox="1"/>
          <p:nvPr/>
        </p:nvSpPr>
        <p:spPr>
          <a:xfrm>
            <a:off x="14236857" y="6780527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64f262177b_0_2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97450" y="1340328"/>
            <a:ext cx="4695574" cy="643467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64f262177b_0_2"/>
          <p:cNvSpPr txBox="1"/>
          <p:nvPr/>
        </p:nvSpPr>
        <p:spPr>
          <a:xfrm>
            <a:off x="4746950" y="3211725"/>
            <a:ext cx="12196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</a:rPr>
              <a:t>Objetivo:</a:t>
            </a:r>
            <a:r>
              <a:rPr lang="en-US" sz="3400">
                <a:solidFill>
                  <a:schemeClr val="dk1"/>
                </a:solidFill>
              </a:rPr>
              <a:t> Implementar un analizador léxico y sintáctico que reconozca expresiones aritméticas simples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64f262177b_0_2"/>
          <p:cNvSpPr txBox="1"/>
          <p:nvPr/>
        </p:nvSpPr>
        <p:spPr>
          <a:xfrm>
            <a:off x="5394650" y="4802625"/>
            <a:ext cx="109014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dk1"/>
                </a:solidFill>
              </a:rPr>
              <a:t>[0-9]+     { return new Symbol(sym.NUM, new Integer(yytext())); }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dk1"/>
                </a:solidFill>
              </a:rPr>
              <a:t>"*"        { return new Symbol(sym.MULT); }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dk1"/>
                </a:solidFill>
              </a:rPr>
              <a:t>"+"        { return new Symbol(sym.PLUS); }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dk1"/>
                </a:solidFill>
              </a:rPr>
              <a:t>\n         { }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dk1"/>
                </a:solidFill>
              </a:rPr>
              <a:t>.          { System.err.println("Error: " + yytext()); }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4afea4f63_0_148"/>
          <p:cNvSpPr txBox="1"/>
          <p:nvPr/>
        </p:nvSpPr>
        <p:spPr>
          <a:xfrm>
            <a:off x="3294964" y="4254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9" name="Google Shape;209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64afea4f63_0_148"/>
          <p:cNvSpPr txBox="1"/>
          <p:nvPr/>
        </p:nvSpPr>
        <p:spPr>
          <a:xfrm>
            <a:off x="4077825" y="1848150"/>
            <a:ext cx="13001400" cy="6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Actividad:</a:t>
            </a:r>
            <a:br>
              <a:rPr b="1"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 Desarrollar un analizador léxico y sintáctico con las herramientas vistas.</a:t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 Debe reconocer expresiones, validar la sintaxis y reportar errores.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Pasos sugeridos: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Crear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lexer.flex</a:t>
            </a:r>
            <a:r>
              <a:rPr lang="en-US" sz="2800">
                <a:solidFill>
                  <a:schemeClr val="dk1"/>
                </a:solidFill>
              </a:rPr>
              <a:t> y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grammar.cup</a:t>
            </a:r>
            <a:r>
              <a:rPr lang="en-US" sz="2800">
                <a:solidFill>
                  <a:schemeClr val="dk1"/>
                </a:solidFill>
              </a:rPr>
              <a:t>.</a:t>
            </a:r>
            <a:br>
              <a:rPr lang="en-US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Generar archivos con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java -jar jflex.jar</a:t>
            </a:r>
            <a:r>
              <a:rPr lang="en-US" sz="2800">
                <a:solidFill>
                  <a:schemeClr val="dk1"/>
                </a:solidFill>
              </a:rPr>
              <a:t> y </a:t>
            </a:r>
            <a:r>
              <a:rPr lang="en-US" sz="2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java -jar java_cup.jar</a:t>
            </a:r>
            <a:r>
              <a:rPr lang="en-US" sz="2800">
                <a:solidFill>
                  <a:schemeClr val="dk1"/>
                </a:solidFill>
              </a:rPr>
              <a:t>.</a:t>
            </a:r>
            <a:br>
              <a:rPr lang="en-US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Ejecutar y validar el flujo completo.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1" sz="5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g385e2d797db_0_1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6" name="Google Shape;216;g385e2d797db_0_12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{74CFCD80-2D0F-4DEE-A02D-585407540D2C}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9" name="Google Shape;219;g385e2d797db_0_1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{74CFCD80-2D0F-4DEE-A02D-585407540D2C}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