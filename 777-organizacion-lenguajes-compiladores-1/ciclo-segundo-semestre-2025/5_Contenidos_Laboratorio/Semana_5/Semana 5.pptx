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10287000" cx="18288000"/>
  <p:notesSz cx="6858000" cy="9144000"/>
  <p:embeddedFontLst>
    <p:embeddedFont>
      <p:font typeface="Lobster"/>
      <p:regular r:id="rId23"/>
    </p:embeddedFont>
    <p:embeddedFont>
      <p:font typeface="Pacifico"/>
      <p:regular r:id="rId24"/>
    </p:embeddedFont>
    <p:embeddedFont>
      <p:font typeface="Open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g7p1RyK6obaLUagqnVepqSmjWO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FA59083-615A-4493-B26D-76D5CBFCBAEC}">
  <a:tblStyle styleId="{4FA59083-615A-4493-B26D-76D5CBFCBAE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acifico-regular.fntdata"/><Relationship Id="rId23" Type="http://schemas.openxmlformats.org/officeDocument/2006/relationships/font" Target="fonts/Lobst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penSans-bold.fntdata"/><Relationship Id="rId25" Type="http://schemas.openxmlformats.org/officeDocument/2006/relationships/font" Target="fonts/OpenSans-regular.fntdata"/><Relationship Id="rId28" Type="http://schemas.openxmlformats.org/officeDocument/2006/relationships/font" Target="fonts/OpenSans-boldItalic.fntdata"/><Relationship Id="rId27" Type="http://schemas.openxmlformats.org/officeDocument/2006/relationships/font" Target="fonts/Open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4afea4f6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64afea4f6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ebdb8f0ba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9ebdb8f0b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ebdb8f0ba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9ebdb8f0b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f033f205a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9f033f205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64f262177b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64f262177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64afea4f63_0_1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364afea4f63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85e2d797db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385e2d797d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4afea4f63_0_1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64afea4f63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85e2d797db_0_67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7" name="Google Shape;17;g385e2d797db_0_67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8" name="Google Shape;18;g385e2d797db_0_6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64afea4f6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64afea4f63_0_0"/>
          <p:cNvSpPr/>
          <p:nvPr/>
        </p:nvSpPr>
        <p:spPr>
          <a:xfrm>
            <a:off x="3598050" y="5988675"/>
            <a:ext cx="7365000" cy="7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NOMBRE DEL TUTOR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64afea4f63_0_0"/>
          <p:cNvSpPr/>
          <p:nvPr/>
        </p:nvSpPr>
        <p:spPr>
          <a:xfrm>
            <a:off x="3090925" y="4781250"/>
            <a:ext cx="10142100" cy="7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Organización de Lenguajes y Compiladores 1</a:t>
            </a:r>
            <a:endParaRPr b="0" i="0" sz="3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/>
          <p:nvPr/>
        </p:nvSpPr>
        <p:spPr>
          <a:xfrm>
            <a:off x="12541309" y="6021878"/>
            <a:ext cx="4160184" cy="4114800"/>
          </a:xfrm>
          <a:custGeom>
            <a:rect b="b" l="l" r="r" t="t"/>
            <a:pathLst>
              <a:path extrusionOk="0"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p1"/>
          <p:cNvSpPr txBox="1"/>
          <p:nvPr/>
        </p:nvSpPr>
        <p:spPr>
          <a:xfrm>
            <a:off x="756224" y="6021875"/>
            <a:ext cx="8526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Organización de Lenguajes y Compiladores 1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2591255" y="2167474"/>
            <a:ext cx="12375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Tablas de Símbolos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44675" y="0"/>
            <a:ext cx="10243325" cy="1067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2"/>
          <p:cNvGrpSpPr/>
          <p:nvPr/>
        </p:nvGrpSpPr>
        <p:grpSpPr>
          <a:xfrm>
            <a:off x="176619" y="4520484"/>
            <a:ext cx="4613551" cy="845566"/>
            <a:chOff x="0" y="-76200"/>
            <a:chExt cx="1964221" cy="360000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8" name="Google Shape;108;p2"/>
            <p:cNvSpPr txBox="1"/>
            <p:nvPr/>
          </p:nvSpPr>
          <p:spPr>
            <a:xfrm>
              <a:off x="0" y="-76200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" name="Google Shape;109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0" name="Google Shape;110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2" name="Google Shape;112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16" name="Google Shape;116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17" name="Google Shape;117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8" name="Google Shape;118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del Video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20" name="Google Shape;120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1" name="Google Shape;121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" name="Google Shape;122;p2"/>
          <p:cNvGrpSpPr/>
          <p:nvPr/>
        </p:nvGrpSpPr>
        <p:grpSpPr>
          <a:xfrm>
            <a:off x="176619" y="5444302"/>
            <a:ext cx="4613551" cy="845385"/>
            <a:chOff x="0" y="-76200"/>
            <a:chExt cx="1964221" cy="359923"/>
          </a:xfrm>
        </p:grpSpPr>
        <p:sp>
          <p:nvSpPr>
            <p:cNvPr id="123" name="Google Shape;123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4" name="Google Shape;124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" name="Google Shape;125;p2"/>
          <p:cNvGrpSpPr/>
          <p:nvPr/>
        </p:nvGrpSpPr>
        <p:grpSpPr>
          <a:xfrm>
            <a:off x="176619" y="6425875"/>
            <a:ext cx="4613551" cy="845385"/>
            <a:chOff x="0" y="-76200"/>
            <a:chExt cx="1964221" cy="359923"/>
          </a:xfrm>
        </p:grpSpPr>
        <p:sp>
          <p:nvSpPr>
            <p:cNvPr id="126" name="Google Shape;126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7" name="Google Shape;127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" name="Google Shape;128;p2"/>
          <p:cNvGrpSpPr/>
          <p:nvPr/>
        </p:nvGrpSpPr>
        <p:grpSpPr>
          <a:xfrm>
            <a:off x="176619" y="7349457"/>
            <a:ext cx="4613551" cy="845385"/>
            <a:chOff x="0" y="-76200"/>
            <a:chExt cx="1964221" cy="359923"/>
          </a:xfrm>
        </p:grpSpPr>
        <p:sp>
          <p:nvSpPr>
            <p:cNvPr id="129" name="Google Shape;12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0" name="Google Shape;130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" name="Google Shape;131;p2"/>
          <p:cNvGrpSpPr/>
          <p:nvPr/>
        </p:nvGrpSpPr>
        <p:grpSpPr>
          <a:xfrm>
            <a:off x="176619" y="8412915"/>
            <a:ext cx="4613551" cy="845385"/>
            <a:chOff x="0" y="-76200"/>
            <a:chExt cx="1964221" cy="359923"/>
          </a:xfrm>
        </p:grpSpPr>
        <p:sp>
          <p:nvSpPr>
            <p:cNvPr id="132" name="Google Shape;132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3" name="Google Shape;133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" name="Google Shape;134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2"/>
          <p:cNvSpPr/>
          <p:nvPr/>
        </p:nvSpPr>
        <p:spPr>
          <a:xfrm>
            <a:off x="6488300" y="5365870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7"/>
                </a:lnTo>
                <a:lnTo>
                  <a:pt x="0" y="4575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2"/>
          <p:cNvSpPr txBox="1"/>
          <p:nvPr/>
        </p:nvSpPr>
        <p:spPr>
          <a:xfrm>
            <a:off x="7087316" y="6295138"/>
            <a:ext cx="3428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5" name="Google Shape;145;p3"/>
          <p:cNvSpPr txBox="1"/>
          <p:nvPr/>
        </p:nvSpPr>
        <p:spPr>
          <a:xfrm>
            <a:off x="2557800" y="2700275"/>
            <a:ext cx="120294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lang="en-US" sz="33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General: Diseña herramientas que permiten analizar y traducir lenguajes de programación.</a:t>
            </a:r>
            <a:endParaRPr b="1" sz="33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lang="en-US" sz="33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Específica: Implementa analizadores léxicos mediante expresiones regulares y JFlex para tokenizar entradas definidas y manejar errores léxicos.</a:t>
            </a:r>
            <a:endParaRPr b="1" sz="33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3"/>
          <p:cNvSpPr txBox="1"/>
          <p:nvPr/>
        </p:nvSpPr>
        <p:spPr>
          <a:xfrm>
            <a:off x="14046211" y="6528182"/>
            <a:ext cx="3428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3" title="Gemini_Generated_Image_sfb0qdsfb0qdsfb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5036973"/>
            <a:ext cx="3831099" cy="5250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"/>
          <p:cNvSpPr txBox="1"/>
          <p:nvPr/>
        </p:nvSpPr>
        <p:spPr>
          <a:xfrm>
            <a:off x="1448850" y="1593075"/>
            <a:ext cx="14847300" cy="81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2900">
                <a:solidFill>
                  <a:schemeClr val="dk1"/>
                </a:solidFill>
              </a:rPr>
              <a:t>1. ¿Qué es el Analizador Léxico?</a:t>
            </a:r>
            <a:endParaRPr sz="2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2900">
                <a:solidFill>
                  <a:schemeClr val="dk1"/>
                </a:solidFill>
              </a:rPr>
              <a:t>Es la primera fase del compilador.</a:t>
            </a:r>
            <a:endParaRPr sz="2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2900">
                <a:solidFill>
                  <a:schemeClr val="dk1"/>
                </a:solidFill>
              </a:rPr>
              <a:t>Convierte el texto fuente en tokens: las unidades mínimas de significado.</a:t>
            </a:r>
            <a:endParaRPr sz="2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2900">
                <a:solidFill>
                  <a:schemeClr val="dk1"/>
                </a:solidFill>
              </a:rPr>
              <a:t>Usa expresiones regulares para reconocer patrones.</a:t>
            </a:r>
            <a:endParaRPr sz="2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2900">
                <a:solidFill>
                  <a:schemeClr val="dk1"/>
                </a:solidFill>
              </a:rPr>
              <a:t>2. ¿Qué es JFlex?</a:t>
            </a:r>
            <a:endParaRPr sz="2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2900">
                <a:solidFill>
                  <a:schemeClr val="dk1"/>
                </a:solidFill>
              </a:rPr>
              <a:t>Es un generador automático de analizadores léxicos en Java.</a:t>
            </a:r>
            <a:endParaRPr sz="2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2900">
                <a:solidFill>
                  <a:schemeClr val="dk1"/>
                </a:solidFill>
              </a:rPr>
              <a:t>Utiliza un archivo .flex que define los patrones de reconocimiento y las acciones asociadas.</a:t>
            </a:r>
            <a:endParaRPr sz="2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2900">
                <a:solidFill>
                  <a:schemeClr val="dk1"/>
                </a:solidFill>
              </a:rPr>
              <a:t>3. ¿Qué es CUP?</a:t>
            </a:r>
            <a:endParaRPr sz="2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2900">
                <a:solidFill>
                  <a:schemeClr val="dk1"/>
                </a:solidFill>
              </a:rPr>
              <a:t>“Constructor of Useful Parsers”.</a:t>
            </a:r>
            <a:endParaRPr sz="2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2900">
                <a:solidFill>
                  <a:schemeClr val="dk1"/>
                </a:solidFill>
              </a:rPr>
              <a:t>Se usa junto a JFlex para procesar los tokens y crear el analizador sintáctico.</a:t>
            </a:r>
            <a:endParaRPr sz="2900">
              <a:solidFill>
                <a:schemeClr val="dk1"/>
              </a:solidFill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CONTENIDO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ebdb8f0ba_0_16"/>
          <p:cNvSpPr txBox="1"/>
          <p:nvPr/>
        </p:nvSpPr>
        <p:spPr>
          <a:xfrm>
            <a:off x="1448850" y="502623"/>
            <a:ext cx="15390300" cy="88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ESTRUCTURA DE UN ARCHIVO .flex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7307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%% 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7307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%class Lexer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7307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%unicode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7307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%cup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7307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%line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7307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%column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7307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%{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7307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  // Código Java opcional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7307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%}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7307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%%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7307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[a-zA-Z][a-zA-Z0-9_]*  { return new Symbol(sym.ID, yytext()); }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7307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[0-9]+                  { return new Symbol(sym.NUM, yytext()); }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7307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.                       { System.err.println("Error léxico: " + yytext()); }</a:t>
            </a:r>
            <a:endParaRPr b="1"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ebdb8f0ba_0_21"/>
          <p:cNvSpPr txBox="1"/>
          <p:nvPr/>
        </p:nvSpPr>
        <p:spPr>
          <a:xfrm>
            <a:off x="1448852" y="1251941"/>
            <a:ext cx="15390300" cy="73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</a:rPr>
              <a:t>EXPRESIONES REGULARES</a:t>
            </a:r>
            <a:endParaRPr b="1" sz="3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200">
                <a:solidFill>
                  <a:schemeClr val="dk1"/>
                </a:solidFill>
              </a:rPr>
              <a:t>[0-9]+ → reconoce números enteros.</a:t>
            </a:r>
            <a:endParaRPr sz="3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200">
                <a:solidFill>
                  <a:schemeClr val="dk1"/>
                </a:solidFill>
              </a:rPr>
              <a:t>[a-zA-Z_][a-zA-Z0-9_]* → reconoce identificadores.</a:t>
            </a:r>
            <a:endParaRPr sz="3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200">
                <a:solidFill>
                  <a:schemeClr val="dk1"/>
                </a:solidFill>
              </a:rPr>
              <a:t>"if", "else", "while" → reconoce palabras reservadas.</a:t>
            </a:r>
            <a:endParaRPr sz="3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200">
                <a:solidFill>
                  <a:schemeClr val="dk1"/>
                </a:solidFill>
              </a:rPr>
              <a:t>"\"[^\"]*\"" → reconoce cadenas de texto.</a:t>
            </a:r>
            <a:endParaRPr sz="3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200">
                <a:solidFill>
                  <a:schemeClr val="dk1"/>
                </a:solidFill>
              </a:rPr>
              <a:t>las expresiones regulares definen los patrones del lenguaje y deben ser diseñadas con precisión.</a:t>
            </a:r>
            <a:endParaRPr sz="3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f033f205a_0_13"/>
          <p:cNvSpPr txBox="1"/>
          <p:nvPr/>
        </p:nvSpPr>
        <p:spPr>
          <a:xfrm>
            <a:off x="1448852" y="1251941"/>
            <a:ext cx="15390300" cy="81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</a:rPr>
              <a:t>INTEGRACIÓN CON CUP</a:t>
            </a:r>
            <a:endParaRPr b="1" sz="3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t/>
            </a:r>
            <a:endParaRPr b="1" sz="3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200">
                <a:solidFill>
                  <a:schemeClr val="dk1"/>
                </a:solidFill>
              </a:rPr>
              <a:t>JFlex genera la clase Lexer.java.</a:t>
            </a:r>
            <a:endParaRPr sz="3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200">
                <a:solidFill>
                  <a:schemeClr val="dk1"/>
                </a:solidFill>
              </a:rPr>
              <a:t>CUP genera parser.java y sym.java.</a:t>
            </a:r>
            <a:endParaRPr sz="3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200">
                <a:solidFill>
                  <a:schemeClr val="dk1"/>
                </a:solidFill>
              </a:rPr>
              <a:t>Ambos trabajan juntos para analizar el código fuente.</a:t>
            </a:r>
            <a:endParaRPr sz="3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200">
                <a:solidFill>
                  <a:schemeClr val="dk1"/>
                </a:solidFill>
              </a:rPr>
              <a:t>Diagrama del flujo:</a:t>
            </a:r>
            <a:endParaRPr sz="3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200">
                <a:solidFill>
                  <a:schemeClr val="dk1"/>
                </a:solidFill>
              </a:rPr>
              <a:t>Código Fuente → Analizador Léxico (JFlex) → Tokens → Analizador Sintáctico (CUP)</a:t>
            </a:r>
            <a:endParaRPr sz="3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5" name="Google Shape;175;p6"/>
          <p:cNvSpPr txBox="1"/>
          <p:nvPr/>
        </p:nvSpPr>
        <p:spPr>
          <a:xfrm>
            <a:off x="4233196" y="2721542"/>
            <a:ext cx="9024600" cy="6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El analizador léxico convierte texto en tokens.</a:t>
            </a:r>
            <a:endParaRPr sz="2800">
              <a:solidFill>
                <a:schemeClr val="dk1"/>
              </a:solidFill>
            </a:endParaRPr>
          </a:p>
          <a:p>
            <a:pPr indent="0" lvl="0" marL="9144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-406400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Las expresiones regulares definen patrones de reconocimiento.</a:t>
            </a:r>
            <a:endParaRPr sz="2800">
              <a:solidFill>
                <a:schemeClr val="dk1"/>
              </a:solidFill>
            </a:endParaRPr>
          </a:p>
          <a:p>
            <a:pPr indent="0" lvl="0" marL="9144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-406400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JFlex automatiza la generación de analizadores.</a:t>
            </a:r>
            <a:endParaRPr sz="2800">
              <a:solidFill>
                <a:schemeClr val="dk1"/>
              </a:solidFill>
            </a:endParaRPr>
          </a:p>
          <a:p>
            <a:pPr indent="0" lvl="0" marL="9144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-406400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CUP construye el analizador sintáctico.</a:t>
            </a:r>
            <a:endParaRPr sz="2800">
              <a:solidFill>
                <a:schemeClr val="dk1"/>
              </a:solidFill>
            </a:endParaRPr>
          </a:p>
          <a:p>
            <a:pPr indent="0" lvl="0" marL="9144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-406400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Los errores léxicos se pueden capturar y manejar sin detener el proceso.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6"/>
          <p:cNvSpPr txBox="1"/>
          <p:nvPr/>
        </p:nvSpPr>
        <p:spPr>
          <a:xfrm>
            <a:off x="14141311" y="6315059"/>
            <a:ext cx="3238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 Pensamiento Crítico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3" name="Google Shape;183;p7"/>
          <p:cNvSpPr txBox="1"/>
          <p:nvPr/>
        </p:nvSpPr>
        <p:spPr>
          <a:xfrm>
            <a:off x="1853518" y="3164230"/>
            <a:ext cx="15112800" cy="20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lang="en-US" sz="3500">
                <a:solidFill>
                  <a:schemeClr val="dk1"/>
                </a:solidFill>
              </a:rPr>
              <a:t>Aplicación: Cuestionar y evaluar los patrones definidos en el analizador, detectar inconsistencias y proponer mejoras en el reconocimiento de tokens</a:t>
            </a:r>
            <a:endParaRPr b="0" i="0" sz="35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9" name="Google Shape;189;p8"/>
          <p:cNvSpPr txBox="1"/>
          <p:nvPr/>
        </p:nvSpPr>
        <p:spPr>
          <a:xfrm>
            <a:off x="5255400" y="2945200"/>
            <a:ext cx="10755300" cy="50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Aho, A. V., Lam, M. S., Sethi, R., &amp; Ullman, J. D. (2007). </a:t>
            </a:r>
            <a:r>
              <a:rPr b="0" i="1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Compilers: Principles, Techniques, and Tools</a:t>
            </a:r>
            <a:r>
              <a:rPr b="0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Pearson.</a:t>
            </a:r>
            <a:br>
              <a:rPr b="0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Louden, K. C. (1997). </a:t>
            </a:r>
            <a:r>
              <a:rPr b="0" i="1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Compiler Construction: Principles and Practice</a:t>
            </a:r>
            <a:r>
              <a:rPr b="0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PWS.</a:t>
            </a:r>
            <a:endParaRPr b="0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p8" title="Gemini_Generated_Image_k3gbyrk3gbyrk3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05775" y="-649600"/>
            <a:ext cx="7000174" cy="4361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64f262177b_0_2"/>
          <p:cNvSpPr txBox="1"/>
          <p:nvPr/>
        </p:nvSpPr>
        <p:spPr>
          <a:xfrm>
            <a:off x="2952639" y="119611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Ejemplo práctico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6" name="Google Shape;196;g364f262177b_0_2"/>
          <p:cNvSpPr txBox="1"/>
          <p:nvPr/>
        </p:nvSpPr>
        <p:spPr>
          <a:xfrm>
            <a:off x="14236857" y="6780527"/>
            <a:ext cx="3238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g364f262177b_0_2" title="Gemini_Generated_Image_u2i06ou2i06ou2i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97450" y="1340328"/>
            <a:ext cx="4695574" cy="6434676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364f262177b_0_2"/>
          <p:cNvSpPr txBox="1"/>
          <p:nvPr/>
        </p:nvSpPr>
        <p:spPr>
          <a:xfrm>
            <a:off x="4746950" y="3211725"/>
            <a:ext cx="12196800" cy="54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</a:rPr>
              <a:t>Objetivo: Construir un analizador que reconozca identificadores, números y errores.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</a:rPr>
              <a:t>[a-zA-Z_][a-zA-Z0-9_]*  { return new Symbol(sym.ID, yytext()); }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</a:rPr>
              <a:t>[0-9]+                  { return new Symbol(sym.NUM, yytext()); }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</a:rPr>
              <a:t>.                       { System.err.println("Error léxico: " + yytext()); }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</a:rPr>
              <a:t>Este fragmento define identificadores, números y manejo de errores.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64afea4f63_0_148"/>
          <p:cNvSpPr txBox="1"/>
          <p:nvPr/>
        </p:nvSpPr>
        <p:spPr>
          <a:xfrm>
            <a:off x="3294964" y="42541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Practiquemos lo aprendido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04" name="Google Shape;204;g364afea4f63_0_148" title="Gemini_Generated_Image_mopnfwmopnfwmopn 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"/>
            <a:ext cx="4077824" cy="4077824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364afea4f63_0_148"/>
          <p:cNvSpPr txBox="1"/>
          <p:nvPr/>
        </p:nvSpPr>
        <p:spPr>
          <a:xfrm>
            <a:off x="3153175" y="4964400"/>
            <a:ext cx="13001400" cy="19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Actividad:</a:t>
            </a:r>
            <a:r>
              <a:rPr b="0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500">
                <a:solidFill>
                  <a:schemeClr val="dk1"/>
                </a:solidFill>
              </a:rPr>
              <a:t>Instala JFlex y genera un analizador léxico que reconozca números enteros, decimales e identificadores.</a:t>
            </a:r>
            <a:endParaRPr b="0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g385e2d797db_0_12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2" y="0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1" name="Google Shape;211;g385e2d797db_0_12"/>
          <p:cNvGraphicFramePr/>
          <p:nvPr/>
        </p:nvGraphicFramePr>
        <p:xfrm>
          <a:off x="16900" y="150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{4FA59083-615A-4493-B26D-76D5CBFCBAEC}</a:tableStyleId>
              </a:tblPr>
              <a:tblGrid>
                <a:gridCol w="5533100"/>
                <a:gridCol w="49266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2" name="Google Shape;212;g385e2d797db_0_12"/>
          <p:cNvSpPr txBox="1"/>
          <p:nvPr/>
        </p:nvSpPr>
        <p:spPr>
          <a:xfrm>
            <a:off x="0" y="4281900"/>
            <a:ext cx="1803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85e2d797db_0_12"/>
          <p:cNvSpPr txBox="1"/>
          <p:nvPr/>
        </p:nvSpPr>
        <p:spPr>
          <a:xfrm>
            <a:off x="16900" y="4955800"/>
            <a:ext cx="61674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4" name="Google Shape;214;g385e2d797db_0_12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{4FA59083-615A-4493-B26D-76D5CBFCBAEC}</a:tableStyleId>
              </a:tblPr>
              <a:tblGrid>
                <a:gridCol w="3036400"/>
                <a:gridCol w="43447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b="1" sz="10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5" name="Google Shape;215;g385e2d797db_0_12"/>
          <p:cNvSpPr txBox="1"/>
          <p:nvPr/>
        </p:nvSpPr>
        <p:spPr>
          <a:xfrm>
            <a:off x="6261600" y="4955800"/>
            <a:ext cx="61674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85e2d797db_0_12"/>
          <p:cNvSpPr txBox="1"/>
          <p:nvPr/>
        </p:nvSpPr>
        <p:spPr>
          <a:xfrm>
            <a:off x="12506300" y="4955800"/>
            <a:ext cx="57648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64afea4f63_0_141"/>
          <p:cNvSpPr txBox="1"/>
          <p:nvPr/>
        </p:nvSpPr>
        <p:spPr>
          <a:xfrm>
            <a:off x="5791489" y="6796953"/>
            <a:ext cx="6705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g364afea4f63_0_141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6287" y="699975"/>
            <a:ext cx="9135424" cy="56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"/>
          <p:cNvSpPr txBox="1"/>
          <p:nvPr/>
        </p:nvSpPr>
        <p:spPr>
          <a:xfrm>
            <a:off x="4571995" y="517605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7765363" y="5966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